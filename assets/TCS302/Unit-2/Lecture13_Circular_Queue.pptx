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4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22D012-Manoj Kaushik 2022-PHD-Earth&amp;SpaceScience" userId="78d50035-fc00-4ea2-995b-b881e10649a1" providerId="ADAL" clId="{29B47332-549A-4FC0-A3ED-D31212E60846}"/>
    <pc:docChg chg="modSld">
      <pc:chgData name="SC22D012-Manoj Kaushik 2022-PHD-Earth&amp;SpaceScience" userId="78d50035-fc00-4ea2-995b-b881e10649a1" providerId="ADAL" clId="{29B47332-549A-4FC0-A3ED-D31212E60846}" dt="2026-08-07T03:54:21.301" v="3" actId="20577"/>
      <pc:docMkLst>
        <pc:docMk/>
      </pc:docMkLst>
      <pc:sldChg chg="modSp mod">
        <pc:chgData name="SC22D012-Manoj Kaushik 2022-PHD-Earth&amp;SpaceScience" userId="78d50035-fc00-4ea2-995b-b881e10649a1" providerId="ADAL" clId="{29B47332-549A-4FC0-A3ED-D31212E60846}" dt="2026-08-07T03:44:41.128" v="1" actId="20577"/>
        <pc:sldMkLst>
          <pc:docMk/>
          <pc:sldMk cId="0" sldId="261"/>
        </pc:sldMkLst>
        <pc:spChg chg="mod">
          <ac:chgData name="SC22D012-Manoj Kaushik 2022-PHD-Earth&amp;SpaceScience" userId="78d50035-fc00-4ea2-995b-b881e10649a1" providerId="ADAL" clId="{29B47332-549A-4FC0-A3ED-D31212E60846}" dt="2026-08-07T03:44:41.128" v="1" actId="20577"/>
          <ac:spMkLst>
            <pc:docMk/>
            <pc:sldMk cId="0" sldId="261"/>
            <ac:spMk id="8" creationId="{00000000-0000-0000-0000-000000000000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8-07T03:54:21.301" v="3" actId="20577"/>
        <pc:sldMkLst>
          <pc:docMk/>
          <pc:sldMk cId="0" sldId="262"/>
        </pc:sldMkLst>
        <pc:spChg chg="mod">
          <ac:chgData name="SC22D012-Manoj Kaushik 2022-PHD-Earth&amp;SpaceScience" userId="78d50035-fc00-4ea2-995b-b881e10649a1" providerId="ADAL" clId="{29B47332-549A-4FC0-A3ED-D31212E60846}" dt="2026-08-07T03:54:21.301" v="3" actId="20577"/>
          <ac:spMkLst>
            <pc:docMk/>
            <pc:sldMk cId="0" sldId="262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6102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lecture pays off Lecture 11's cliffhanger. Open by asking the class to recall: what went wrong with the plain array queue? Someone should say 'false overflow' — today we fix exactly that, with one small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answer: slot 0 — the freed slot right after front. That instinct is exactly the circular queue.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Physically show that index 4 is followed by index 0 by drawing the arrow. This single mental shift is the entire lecture; everything else is just making it precise in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answer: (4+1)%5 = 0 (wraps), (2+1)%5 = 3 (normal step). Have students compute both by hand before revealing — the operator should feel completely mechanical by the end of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hardest slide of the lecture — slow down here. Draw the clock with front and rear one apart and ask: if we enqueue one more, where does rear land? On front's slot — which must never happen, or empty and full become indistinguishable.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explicitly how little changed — this reduces anxiety. The circular queue is a small, precise patch, not a rewrite.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answer: (4+1)%5 = 0 — index 0, which Lecture 11 had frozen out forever. This is the moment students should feel the fix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Flag display as a genuine gotcha: for (i = front; i &lt;= rear; i++) silently does nothing when front &gt; rear after a wrap. Build anticipation for the fix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silent-failure trap is a favourite viva question. The fix's key idea: stop condition is 'did I just print rear', not an index comparison, because index comparison assumes front &lt;= rear, which wrapping breaks.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verified output of the demo program — not invented. Compare directly with the false-overflow slide from Lecture 11: identical starting sequence, opposite 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final state from the trace table, drawn spatially. Ask a student to point at the array in reading order (30,40,50,60,70) versus queue order starting from front (60,70,30,40,50) — the difference IS the wrap.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answer: circular queue — the ring shape and forward-only reuse is the whole metaphor. Ring buffers in real systems (audio buffers, network buffers) are literally this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unifying idea: 'runs forever, fixed memory' is the signature use-case for a circular queue, because indices must eventually reuse space rather than growing without bound.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 answer (verified by running the code): enqueue(1) f=0,r=0; enqueue(2) f=0,r=1; enqueue(3) f=0,r=2; dequeue-&gt;1 f=1,r=2; dequeue-&gt;2 f=2,r=2; enqueue(4) f=2,r=3; enqueue(5) f=2,r=0 (wraps); enqueue(6) f=2,r=1 (wraps again). All three final enqueues SUCCEED - no overflow occurs in this trace. A good follow-up question for fast finishers: what is the smallest additional enqueue call that WOULD overflow here?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DATA STRUCTURES WITH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Circular Queue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False Overflow — Wrap Around Instead of Running Off the Edge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  •  Lecture 13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39712" y="2816352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578911" y="3353412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296562" y="4222392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382862" y="4222392"/>
            <a:ext cx="402336" cy="402336"/>
          </a:xfrm>
          <a:prstGeom prst="ellipse">
            <a:avLst/>
          </a:prstGeom>
          <a:solidFill>
            <a:srgbClr val="2A357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100513" y="3353412"/>
            <a:ext cx="402336" cy="402336"/>
          </a:xfrm>
          <a:prstGeom prst="ellipse">
            <a:avLst/>
          </a:prstGeom>
          <a:solidFill>
            <a:srgbClr val="2A357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17920" y="3520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0..4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to 0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the problem we left unsolved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051560"/>
          </a:xfrm>
          <a:prstGeom prst="roundRect">
            <a:avLst>
              <a:gd name="adj" fmla="val 6087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1792" y="1307592"/>
            <a:ext cx="790041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Lecture 11
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= 2, rear = 4 in a queue of size 5. Two slots (0 and 1) are empty. But enqueue(60) still says "Queue Overflow" — because rear has hit the last index and never comes back.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array never had a real shortage of space — the space was just on the WRONG side.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and rear only ever moved right (rear = rear + 1), so once rear reaches the end, it is stuck.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fix is one idea: let rear (and front) come back to slot 0 after the last slot. That is a circular queue.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idea: an array bent into a circle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the array is still a straight row: queue[0] to queue[MAX-1].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only change how we THINK about the last slot: after queue[MAX-1] comes queue[0] again — like a clock face.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and rear now move in a loop, not a straight line.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memory, no new struct — just a different rule for 'what comes next'.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65976" y="1408176"/>
            <a:ext cx="566928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665976" y="1408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 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666069" y="2134786"/>
            <a:ext cx="566928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666069" y="213478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 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284067" y="3310466"/>
            <a:ext cx="566928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284067" y="331046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 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47885" y="3310466"/>
            <a:ext cx="566928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47885" y="331046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 3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5883" y="2134786"/>
            <a:ext cx="566928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665883" y="213478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 4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0" y="254203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= 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wrap rule: one operator does it all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1005840"/>
          </a:xfrm>
          <a:prstGeom prst="roundRect">
            <a:avLst>
              <a:gd name="adj" fmla="val 6364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1792" y="1353312"/>
            <a:ext cx="790041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= (index + 1) % MAX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is the remainder (modulo) operator: a % b is what is left after dividing a by b.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index is less than MAX - 1, adding 1 and taking % MAX changes nothing — it behaves exactly like before.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index reaches MAX - 1, adding 1 gives MAX, and MAX % MAX = 0 — it wraps to the start automatically.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tricky part: how do we know it's FULL now?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1737360"/>
          </a:xfrm>
          <a:prstGeom prst="roundRect">
            <a:avLst>
              <a:gd name="adj" fmla="val 3684"/>
            </a:avLst>
          </a:prstGeom>
          <a:solidFill>
            <a:srgbClr val="F0F7F7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1792" y="1307592"/>
            <a:ext cx="369417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rule (wrong here)
</a:t>
            </a: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== MAX - 1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immediately: rear now legally revisits every index, including MAX - 1, while NOT full.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1737360"/>
          </a:xfrm>
          <a:prstGeom prst="roundRect">
            <a:avLst>
              <a:gd name="adj" fmla="val 3684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28032" y="1307592"/>
            <a:ext cx="369417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rule
</a:t>
            </a:r>
            <a:r>
              <a:rPr lang="en-US" sz="15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(rear + 1) % MAX == front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the NEXT slot rear would move into is where front is standing, there is no room left."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now means: rear has looped all the way around and is about to bump into front.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one genuinely new idea in circular queues — everyone gets it wrong on the first try.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isEmpty does NOT change: front == -1 still means empty, exactly as before.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code: only two lines actually change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754880" cy="3520440"/>
          </a:xfrm>
          <a:prstGeom prst="roundRect">
            <a:avLst>
              <a:gd name="adj" fmla="val 1818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44805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MAX 5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queue[MAX];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front = -1;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rear  = -1;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isEmpty(void)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front == -1;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isFull(void)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(rear + 1) % MAX == front;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0" y="137160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Declarations: identical to Lecture 11.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isEmpty: identical to Lecture 11.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isFull: the ONE line that is genuinely new - boxed on the previous slide.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0" y="3657600"/>
            <a:ext cx="3200400" cy="914400"/>
          </a:xfrm>
          <a:prstGeom prst="roundRect">
            <a:avLst>
              <a:gd name="adj" fmla="val 7000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650992" y="3730752"/>
            <a:ext cx="28712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Reassuring fact: most of Lecture 11 survives unchanged.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enqueue( ) — the other line that changes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754880" cy="3520440"/>
          </a:xfrm>
          <a:prstGeom prst="roundRect">
            <a:avLst>
              <a:gd name="adj" fmla="val 1818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44805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enqueue(int x)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(isFull())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printf("Queue Overflow\n");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(front == -1)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front = 0;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rear = (rear + 1) % MAX;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queue[rear] = x;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0" y="137160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Guard, first-element wake-up: identical to Lecture 11.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= rear + 1  becomes  rear = (rear + 1) % MAX - the only change in the whole function.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one % is what lets rear reuse a freed slot instead of refusing to move.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dequeue( ) and display( ) — same small patch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754880" cy="3611880"/>
          </a:xfrm>
          <a:prstGeom prst="roundRect">
            <a:avLst>
              <a:gd name="adj" fmla="val 1772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44805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dequeue(void)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(isEmpty())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printf("Queue Underflow\n");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-1;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x = queue[front];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(front == rear)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front = -1;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rear  = -1;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front = (front + 1) % MAX;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x;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0" y="132588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identical to Lecture 11 except one line: front = (front + 1) % MAX.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last-element reset (front = rear = -1) is UNCHANGED — empty still means empty the same way.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cannot use a simple for-loop anymore, since front can now be BIGGER than rear (the queue wraps). It needs a different walk — next slide.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display( ): why the old loop breaks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1554480"/>
          </a:xfrm>
          <a:prstGeom prst="roundRect">
            <a:avLst>
              <a:gd name="adj" fmla="val 4118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1792" y="1307592"/>
            <a:ext cx="369417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
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= 3, rear = 1 (wrapped).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(i = front; i &lt;= rear; i++)</a:t>
            </a:r>
            <a:endParaRPr lang="en-US" sz="1250" dirty="0"/>
          </a:p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3 &lt;= 1 — false immediately.</a:t>
            </a:r>
            <a:endParaRPr lang="en-US" sz="1250" dirty="0"/>
          </a:p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body never runs. Silence, not a crash.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1867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00600" y="1280160"/>
            <a:ext cx="37490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display(void)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(isEmpty()) { ... return; }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 = front;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(1)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printf("%d ", queue[i]);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(i == rear)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 = (i + 1) % MAX;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idea: start at front and step with % MAX, and stop only when you PRINT the rear slot — not by comparing indices with &lt;=.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Trace: watch the wrap actually happen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07238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[0..4]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fill 10,20,30,40,50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10 20 30 40 50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enqueue(60)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OVERFLOW — genuinely full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dequeue → 10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·  20 30 40 50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dequeue → 20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·  ·  30 40 50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D4A0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enqueue(60)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4A0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 ·  30 40 50  (60 at index 0!)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4A0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4A0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D4A0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enqueue(70)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4A0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 70 30 40 50  (70 at index 1!)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4A0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4A0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 rows are the payoff: 60 lands at index 0, 70 at index 1 — slots Lecture 11 could never reach again.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trace, drawn as a clock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288536" y="1133856"/>
            <a:ext cx="566928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288536" y="1133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593005" y="2081608"/>
            <a:ext cx="566928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593005" y="2081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556429" y="17981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94742" y="3615104"/>
            <a:ext cx="566928" cy="566928"/>
          </a:xfrm>
          <a:prstGeom prst="rect">
            <a:avLst/>
          </a:prstGeom>
          <a:solidFill>
            <a:srgbClr val="D4A01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94742" y="36151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58166" y="41911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82330" y="3615104"/>
            <a:ext cx="566928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482330" y="36151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84067" y="2081608"/>
            <a:ext cx="566928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984067" y="2081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0" y="4389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(index 2) → rear (index 1), the long way around through 3, 4, 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circular queue sits: quick comparison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1945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Ends used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reuse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flaw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(top)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one end never wastes space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Queue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(front, rear)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(Lect. 11)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overflow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Circular Queue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Two, wrapping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reuse (today)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isFull needs the % trick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Circular queues run continuously, all around you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1234440"/>
          </a:xfrm>
          <a:prstGeom prst="roundRect">
            <a:avLst>
              <a:gd name="adj" fmla="val 5185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1792" y="1353312"/>
            <a:ext cx="369417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round-robin scheduling
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sit in a ring; the CPU serves each in turn and loops back to the first.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1234440"/>
          </a:xfrm>
          <a:prstGeom prst="roundRect">
            <a:avLst>
              <a:gd name="adj" fmla="val 5185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28032" y="1353312"/>
            <a:ext cx="369417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/ video buffering
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fixed-size ring buffer keeps writing new samples over old ones that were already played.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4023360" cy="1234440"/>
          </a:xfrm>
          <a:prstGeom prst="roundRect">
            <a:avLst>
              <a:gd name="adj" fmla="val 5185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1792" y="2770632"/>
            <a:ext cx="369417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 control
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cycle of signals repeats forever — conceptually a circular queue of states.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2697480"/>
            <a:ext cx="4023360" cy="1234440"/>
          </a:xfrm>
          <a:prstGeom prst="roundRect">
            <a:avLst>
              <a:gd name="adj" fmla="val 5185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28032" y="2770632"/>
            <a:ext cx="369417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/ network buffers
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ring buffer holds recent input; old, already-read data is safely overwritten.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system that runs forever, with fixed memory, tends to use a ring buffer — exactly this idea.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13  • 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operator fixes false overflow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circular queue treats the array as a ring: after index MAX - 1 comes index 0 again.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wrap rule: index = (index + 1) % MAX — used in both enqueue's rear step and dequeue's front step.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isFull changes to (rear + 1) % MAX == front — full means rear is about to catch up to front.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must walk with the wrap rule too, stopping when it PRINTS rear, not by comparing indices.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7863840" cy="1051560"/>
          </a:xfrm>
          <a:prstGeom prst="roundRect">
            <a:avLst>
              <a:gd name="adj" fmla="val 6087"/>
            </a:avLst>
          </a:prstGeom>
          <a:solidFill>
            <a:srgbClr val="2A3575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374904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= 4. Starting empty: enqueue(1), enqueue(2), enqueue(3), dequeue, dequeue, enqueue(4), enqueue(5), enqueue(6). Give front and rear after each step, and say which enqueue call fails, if any.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2204</Words>
  <Application>Microsoft Macintosh PowerPoint</Application>
  <PresentationFormat>On-screen Show (16:9)</PresentationFormat>
  <Paragraphs>253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SC22D012-Manoj Kaushik 2022-PHD-Earth&amp;SpaceScience</cp:lastModifiedBy>
  <cp:revision>2</cp:revision>
  <dcterms:created xsi:type="dcterms:W3CDTF">2026-08-07T03:16:04Z</dcterms:created>
  <dcterms:modified xsi:type="dcterms:W3CDTF">2026-09-03T10:37:09Z</dcterms:modified>
</cp:coreProperties>
</file>