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6"/>
  </p:normalViewPr>
  <p:slideViewPr>
    <p:cSldViewPr snapToGrid="0" snapToObjects="1">
      <p:cViewPr varScale="1">
        <p:scale>
          <a:sx n="108" d="100"/>
          <a:sy n="108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9B47332-549A-4FC0-A3ED-D31212E60846}"/>
    <pc:docChg chg="custSel modSld">
      <pc:chgData name="SC22D012-Manoj Kaushik 2022-PHD-Earth&amp;SpaceScience" userId="78d50035-fc00-4ea2-995b-b881e10649a1" providerId="ADAL" clId="{29B47332-549A-4FC0-A3ED-D31212E60846}" dt="2026-07-22T01:59:36.208" v="142" actId="478"/>
      <pc:docMkLst>
        <pc:docMk/>
      </pc:docMkLst>
      <pc:sldChg chg="modSp mod">
        <pc:chgData name="SC22D012-Manoj Kaushik 2022-PHD-Earth&amp;SpaceScience" userId="78d50035-fc00-4ea2-995b-b881e10649a1" providerId="ADAL" clId="{29B47332-549A-4FC0-A3ED-D31212E60846}" dt="2026-07-22T01:53:32.056" v="0" actId="14100"/>
        <pc:sldMkLst>
          <pc:docMk/>
          <pc:sldMk cId="1898119976" sldId="257"/>
        </pc:sldMkLst>
        <pc:spChg chg="mod">
          <ac:chgData name="SC22D012-Manoj Kaushik 2022-PHD-Earth&amp;SpaceScience" userId="78d50035-fc00-4ea2-995b-b881e10649a1" providerId="ADAL" clId="{29B47332-549A-4FC0-A3ED-D31212E60846}" dt="2026-07-22T01:53:32.056" v="0" actId="14100"/>
          <ac:spMkLst>
            <pc:docMk/>
            <pc:sldMk cId="1898119976" sldId="257"/>
            <ac:spMk id="11" creationId="{75B21786-F39B-421D-B26F-82C9ABD9F183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2T01:54:12.612" v="10" actId="27636"/>
        <pc:sldMkLst>
          <pc:docMk/>
          <pc:sldMk cId="1781142310" sldId="258"/>
        </pc:sldMkLst>
        <pc:spChg chg="mod">
          <ac:chgData name="SC22D012-Manoj Kaushik 2022-PHD-Earth&amp;SpaceScience" userId="78d50035-fc00-4ea2-995b-b881e10649a1" providerId="ADAL" clId="{29B47332-549A-4FC0-A3ED-D31212E60846}" dt="2026-07-22T01:53:57.851" v="3" actId="403"/>
          <ac:spMkLst>
            <pc:docMk/>
            <pc:sldMk cId="1781142310" sldId="258"/>
            <ac:spMk id="9" creationId="{3E1D562A-B0EB-420D-93D6-B1B8AFEC8E8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4:12.612" v="10" actId="27636"/>
          <ac:spMkLst>
            <pc:docMk/>
            <pc:sldMk cId="1781142310" sldId="258"/>
            <ac:spMk id="15" creationId="{EE48E6A8-2256-47D8-9D04-ABFE2577B17D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2T01:55:31.376" v="34" actId="1036"/>
        <pc:sldMkLst>
          <pc:docMk/>
          <pc:sldMk cId="1727811396" sldId="260"/>
        </pc:sldMkLst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7" creationId="{E95C412D-F87F-4285-BF5B-3125574B5C8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06.199" v="12" actId="403"/>
          <ac:spMkLst>
            <pc:docMk/>
            <pc:sldMk cId="1727811396" sldId="260"/>
            <ac:spMk id="8" creationId="{DDEBD979-DAAF-4258-8124-C306436C9356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11" creationId="{E8ED5F93-8A5F-4967-8C71-5AACEBA16A6F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14" creationId="{34F25CBC-A134-45CA-B936-20689F63A5E4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16" creationId="{8BA349D5-B718-4FA0-AD30-B6CEA70AE4E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17" creationId="{07772F07-FD2D-49DF-BFE4-56CF701E404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19" creationId="{287EDF70-E8E2-4C50-B9D7-D42516E0BD4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44" creationId="{FA550896-6D72-49BB-83C0-2961B10D9F17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45" creationId="{46E99429-5055-4885-B067-99CA1741D5F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46" creationId="{41C3F45E-1465-4D98-9191-CF6218D206A8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5:31.376" v="34" actId="1036"/>
          <ac:spMkLst>
            <pc:docMk/>
            <pc:sldMk cId="1727811396" sldId="260"/>
            <ac:spMk id="48" creationId="{93AE2060-8F3B-47CD-9B27-4C2722C70528}"/>
          </ac:spMkLst>
        </pc:spChg>
      </pc:sldChg>
      <pc:sldChg chg="modSp mod">
        <pc:chgData name="SC22D012-Manoj Kaushik 2022-PHD-Earth&amp;SpaceScience" userId="78d50035-fc00-4ea2-995b-b881e10649a1" providerId="ADAL" clId="{29B47332-549A-4FC0-A3ED-D31212E60846}" dt="2026-07-22T01:57:45.207" v="62" actId="1035"/>
        <pc:sldMkLst>
          <pc:docMk/>
          <pc:sldMk cId="1897447308" sldId="262"/>
        </pc:sldMkLst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8" creationId="{AF996F67-0350-4DFD-BAC5-6DB7E893BDE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0" creationId="{6BCCD8C0-1A2E-47A6-ACA4-3F60B43D0C86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1" creationId="{27F803A0-9DA5-435F-86EA-BFDAAAB7A3E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4" creationId="{63528381-75ED-4E81-83CF-5D7C6ED6C4C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5" creationId="{8C31398F-9974-4855-959D-CEB30897506B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6" creationId="{6385CBD4-B78D-4423-9945-19E32331465F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7" creationId="{D90D74AE-44B0-4966-A671-BCF299DE636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8" creationId="{19AD2876-25B2-4914-907D-478C8438ED7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19" creationId="{CBBF7D03-30B4-466F-9DE8-51C71A400F2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7:45.207" v="62" actId="1035"/>
          <ac:spMkLst>
            <pc:docMk/>
            <pc:sldMk cId="1897447308" sldId="262"/>
            <ac:spMk id="20" creationId="{1FBB9B9A-EB29-49FB-B2E4-4E4E2FBCFF3A}"/>
          </ac:spMkLst>
        </pc:spChg>
      </pc:sldChg>
      <pc:sldChg chg="delSp modSp mod">
        <pc:chgData name="SC22D012-Manoj Kaushik 2022-PHD-Earth&amp;SpaceScience" userId="78d50035-fc00-4ea2-995b-b881e10649a1" providerId="ADAL" clId="{29B47332-549A-4FC0-A3ED-D31212E60846}" dt="2026-07-22T01:59:36.208" v="142" actId="478"/>
        <pc:sldMkLst>
          <pc:docMk/>
          <pc:sldMk cId="2011776384" sldId="264"/>
        </pc:sldMkLst>
        <pc:spChg chg="mod">
          <ac:chgData name="SC22D012-Manoj Kaushik 2022-PHD-Earth&amp;SpaceScience" userId="78d50035-fc00-4ea2-995b-b881e10649a1" providerId="ADAL" clId="{29B47332-549A-4FC0-A3ED-D31212E60846}" dt="2026-07-22T01:59:30.215" v="140" actId="1035"/>
          <ac:spMkLst>
            <pc:docMk/>
            <pc:sldMk cId="2011776384" sldId="264"/>
            <ac:spMk id="7" creationId="{02CCAB43-0509-4DCF-993D-A296BAF9D70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13.315" v="112" actId="1036"/>
          <ac:spMkLst>
            <pc:docMk/>
            <pc:sldMk cId="2011776384" sldId="264"/>
            <ac:spMk id="8" creationId="{BBFDC5DE-A012-42F3-BA28-115776CCF37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30.215" v="140" actId="1035"/>
          <ac:spMkLst>
            <pc:docMk/>
            <pc:sldMk cId="2011776384" sldId="264"/>
            <ac:spMk id="9" creationId="{2E09487E-A275-47EC-BBB3-6C8812376C5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13.315" v="112" actId="1036"/>
          <ac:spMkLst>
            <pc:docMk/>
            <pc:sldMk cId="2011776384" sldId="264"/>
            <ac:spMk id="10" creationId="{02C9D27C-CF22-479D-9477-375BCEC6602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30.215" v="140" actId="1035"/>
          <ac:spMkLst>
            <pc:docMk/>
            <pc:sldMk cId="2011776384" sldId="264"/>
            <ac:spMk id="11" creationId="{94F7DB7C-C2C1-4C33-9C54-B000D3FFFCD6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13.315" v="112" actId="1036"/>
          <ac:spMkLst>
            <pc:docMk/>
            <pc:sldMk cId="2011776384" sldId="264"/>
            <ac:spMk id="12" creationId="{259860F9-89AD-44F7-846B-E6D74C01D8B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78" v="72" actId="27636"/>
          <ac:spMkLst>
            <pc:docMk/>
            <pc:sldMk cId="2011776384" sldId="264"/>
            <ac:spMk id="14" creationId="{7FB3019E-F2A8-468F-9759-64B73FEE042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78" v="73" actId="27636"/>
          <ac:spMkLst>
            <pc:docMk/>
            <pc:sldMk cId="2011776384" sldId="264"/>
            <ac:spMk id="16" creationId="{0827849F-3C50-4A83-B1C3-475456F3BE53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17" creationId="{C074A9FA-26EA-4589-B841-9B66E8044C3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62" v="69" actId="27636"/>
          <ac:spMkLst>
            <pc:docMk/>
            <pc:sldMk cId="2011776384" sldId="264"/>
            <ac:spMk id="18" creationId="{137912D4-8223-46B7-81AC-A0DB6643158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19" creationId="{2A13CC96-443F-43C7-B643-AFA9EDA13A9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94" v="74" actId="27636"/>
          <ac:spMkLst>
            <pc:docMk/>
            <pc:sldMk cId="2011776384" sldId="264"/>
            <ac:spMk id="20" creationId="{E6482D18-C4B5-4D40-8285-41CE8A250F6C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326" v="81" actId="27636"/>
          <ac:spMkLst>
            <pc:docMk/>
            <pc:sldMk cId="2011776384" sldId="264"/>
            <ac:spMk id="22" creationId="{E2AD1AFC-628F-4C07-8DA4-D80BDF4F343E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23" creationId="{5DCB31FA-E94E-4463-B6C0-E6E5A895383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314" v="80" actId="27636"/>
          <ac:spMkLst>
            <pc:docMk/>
            <pc:sldMk cId="2011776384" sldId="264"/>
            <ac:spMk id="24" creationId="{FE53CC86-9EDE-4117-A790-B6A0BDE62467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25" creationId="{B23FD3DC-995B-4AD7-8978-3E16421F272F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26" creationId="{8A2B5047-EE4D-4F4D-91ED-408A2DA3A867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314" v="79" actId="27636"/>
          <ac:spMkLst>
            <pc:docMk/>
            <pc:sldMk cId="2011776384" sldId="264"/>
            <ac:spMk id="28" creationId="{A2E5BF38-988E-4A56-B8F0-E308EE02057A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36" v="64" actId="27636"/>
          <ac:spMkLst>
            <pc:docMk/>
            <pc:sldMk cId="2011776384" sldId="264"/>
            <ac:spMk id="30" creationId="{A7AD4868-3E91-4BD0-8B95-0DDF6B76DDE7}"/>
          </ac:spMkLst>
        </pc:spChg>
        <pc:spChg chg="del mod">
          <ac:chgData name="SC22D012-Manoj Kaushik 2022-PHD-Earth&amp;SpaceScience" userId="78d50035-fc00-4ea2-995b-b881e10649a1" providerId="ADAL" clId="{29B47332-549A-4FC0-A3ED-D31212E60846}" dt="2026-07-22T01:59:36.208" v="142" actId="478"/>
          <ac:spMkLst>
            <pc:docMk/>
            <pc:sldMk cId="2011776384" sldId="264"/>
            <ac:spMk id="61" creationId="{8201A6D7-7C09-41FB-8E4A-4B167FD2333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13.315" v="112" actId="1036"/>
          <ac:spMkLst>
            <pc:docMk/>
            <pc:sldMk cId="2011776384" sldId="264"/>
            <ac:spMk id="62" creationId="{502F47B7-B4C2-48BF-A60D-D5BA7731D07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30.215" v="140" actId="1035"/>
          <ac:spMkLst>
            <pc:docMk/>
            <pc:sldMk cId="2011776384" sldId="264"/>
            <ac:spMk id="63" creationId="{BD14F360-2446-4CA6-8041-59ECAEB24B8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13.315" v="112" actId="1036"/>
          <ac:spMkLst>
            <pc:docMk/>
            <pc:sldMk cId="2011776384" sldId="264"/>
            <ac:spMk id="64" creationId="{4BFB7A43-70F8-4D8E-A8EC-EEFB98B55C14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65" creationId="{7041434D-1CCB-47FA-BCAF-2B43DC856E22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46" v="66" actId="27636"/>
          <ac:spMkLst>
            <pc:docMk/>
            <pc:sldMk cId="2011776384" sldId="264"/>
            <ac:spMk id="66" creationId="{D9B53FA1-342C-4A89-A23C-CC172CE6FFB0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62" v="68" actId="27636"/>
          <ac:spMkLst>
            <pc:docMk/>
            <pc:sldMk cId="2011776384" sldId="264"/>
            <ac:spMk id="68" creationId="{73981EEA-DB19-45D9-873E-13FC4512B503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69" creationId="{23ABC15B-FB2F-48E5-9D9F-AE9FB4F1C8E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314" v="78" actId="27636"/>
          <ac:spMkLst>
            <pc:docMk/>
            <pc:sldMk cId="2011776384" sldId="264"/>
            <ac:spMk id="70" creationId="{E56ACA94-EF80-48EB-84DE-ABE8C06AC6B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71" creationId="{7754EF48-C2A9-417E-82C0-4B63BB7D0E2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311" v="77" actId="27636"/>
          <ac:spMkLst>
            <pc:docMk/>
            <pc:sldMk cId="2011776384" sldId="264"/>
            <ac:spMk id="72" creationId="{C86E429E-0987-4764-9214-F0D466F184D9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62" v="70" actId="27636"/>
          <ac:spMkLst>
            <pc:docMk/>
            <pc:sldMk cId="2011776384" sldId="264"/>
            <ac:spMk id="74" creationId="{EB5D29DD-61EE-49DC-A2F8-9AED48C0F28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78" v="71" actId="27636"/>
          <ac:spMkLst>
            <pc:docMk/>
            <pc:sldMk cId="2011776384" sldId="264"/>
            <ac:spMk id="76" creationId="{0AFE645F-8F7D-46A3-BE13-F8BF212E23E6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46" v="67" actId="27636"/>
          <ac:spMkLst>
            <pc:docMk/>
            <pc:sldMk cId="2011776384" sldId="264"/>
            <ac:spMk id="78" creationId="{A1AC00A5-E0C6-4F92-A069-1B59705E7F61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79" creationId="{83351060-C0DB-416D-BA37-6484F2F192ED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94" v="76" actId="27636"/>
          <ac:spMkLst>
            <pc:docMk/>
            <pc:sldMk cId="2011776384" sldId="264"/>
            <ac:spMk id="80" creationId="{134962B6-C7F0-4EB6-BA3A-EF154897D783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6.401" v="106" actId="1036"/>
          <ac:spMkLst>
            <pc:docMk/>
            <pc:sldMk cId="2011776384" sldId="264"/>
            <ac:spMk id="81" creationId="{A3994617-0724-4F76-9AFB-11A08700F66F}"/>
          </ac:spMkLst>
        </pc:spChg>
        <pc:spChg chg="mod">
          <ac:chgData name="SC22D012-Manoj Kaushik 2022-PHD-Earth&amp;SpaceScience" userId="78d50035-fc00-4ea2-995b-b881e10649a1" providerId="ADAL" clId="{29B47332-549A-4FC0-A3ED-D31212E60846}" dt="2026-07-22T01:59:02.294" v="75" actId="27636"/>
          <ac:spMkLst>
            <pc:docMk/>
            <pc:sldMk cId="2011776384" sldId="264"/>
            <ac:spMk id="82" creationId="{8C556A1B-571D-4D3F-A0ED-4D01F9E3A2E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rcRect l="23811" r="23811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0F49918-A435-4AE3-BA22-777B972AA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508760" cy="457200"/>
          </a:xfrm>
          <a:prstGeom prst="rect">
            <a:avLst/>
          </a:prstGeom>
        </p:spPr>
      </p:pic>
      <p:pic>
        <p:nvPicPr>
          <p:cNvPr id="2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"/>
            <a:ext cx="1508760" cy="4572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3A157C0-A3EE-4C14-ADE2-A49038026BDF}"/>
              </a:ext>
            </a:extLst>
          </p:cNvPr>
          <p:cNvSpPr>
            <a:spLocks noGrp="1"/>
          </p:cNvSpPr>
          <p:nvPr/>
        </p:nvSpPr>
        <p:spPr>
          <a:xfrm>
            <a:off x="685800" y="13258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175CD3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2E3A74E-FAB6-4AED-8B39-FE97D3CFD65E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Unit 1, Lectures 3 &amp; 4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47B1177-5648-49B9-B350-23E6BA6CB957}"/>
              </a:ext>
            </a:extLst>
          </p:cNvPr>
          <p:cNvSpPr>
            <a:spLocks noGrp="1"/>
          </p:cNvSpPr>
          <p:nvPr/>
        </p:nvSpPr>
        <p:spPr>
          <a:xfrm>
            <a:off x="685800" y="23317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62"/>
          </a:bodyPr>
          <a:lstStyle/>
          <a:p>
            <a:pPr marL="0" indent="0">
              <a:buNone/>
            </a:pPr>
            <a:r>
              <a:rPr sz="42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Pointers, Structures, Dynamic Memory and Algorithm Complexity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311B0C0-1447-44A2-9443-7F38A39FAD7D}"/>
              </a:ext>
            </a:extLst>
          </p:cNvPr>
          <p:cNvSpPr>
            <a:spLocks noGrp="1"/>
          </p:cNvSpPr>
          <p:nvPr/>
        </p:nvSpPr>
        <p:spPr>
          <a:xfrm>
            <a:off x="548640" y="3794760"/>
            <a:ext cx="4937760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fontScale="83933" lnSpcReduction="10000"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How C memory tools influence program performance and design.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5CF7A3E-C4DF-4ADE-90C8-EAA0E533AE66}"/>
              </a:ext>
            </a:extLst>
          </p:cNvPr>
          <p:cNvSpPr>
            <a:spLocks noGrp="1"/>
          </p:cNvSpPr>
          <p:nvPr/>
        </p:nvSpPr>
        <p:spPr>
          <a:xfrm>
            <a:off x="731520" y="562356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Manoj Kaushik</a:t>
            </a:r>
          </a:p>
          <a:p>
            <a:pPr marL="0" indent="0">
              <a:buNone/>
            </a:pPr>
            <a:r>
              <a:rPr sz="25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59503BA-9144-4F16-9700-E7B3D7368E4D}"/>
              </a:ext>
            </a:extLst>
          </p:cNvPr>
          <p:cNvSpPr>
            <a:spLocks noGrp="1"/>
          </p:cNvSpPr>
          <p:nvPr/>
        </p:nvSpPr>
        <p:spPr>
          <a:xfrm>
            <a:off x="731520" y="562356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Manoj Kaushik</a:t>
            </a:r>
          </a:p>
          <a:p>
            <a:pPr marL="0" indent="0">
              <a:buNone/>
            </a:pPr>
            <a:r>
              <a:rPr sz="25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14698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CE873E-3087-4E45-B6CC-E16BB9A258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2A40D4-7E06-4669-9258-B3FC73915A2B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933C2E-7AA5-4E58-ACF8-597625B0307D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839058-BA49-4A57-8A15-CC065973F02E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Where Are We in Unit 1?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3D07A7-A665-4A19-A604-D6705F37F5D9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We now connect C memory organization with algorithm performance.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A7470E-A78F-46AE-99A3-1198F1D98D20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552426D-CEEB-42D0-8862-AE549EBB1328}"/>
              </a:ext>
            </a:extLst>
          </p:cNvPr>
          <p:cNvSpPr>
            <a:spLocks noGrp="1"/>
          </p:cNvSpPr>
          <p:nvPr/>
        </p:nvSpPr>
        <p:spPr>
          <a:xfrm>
            <a:off x="1005840" y="1975104"/>
            <a:ext cx="269748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Lecture 1</a:t>
            </a:r>
          </a:p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Basic terminology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F6D3782-3ADF-44EE-9A6D-F8722FB599B7}"/>
              </a:ext>
            </a:extLst>
          </p:cNvPr>
          <p:cNvSpPr>
            <a:spLocks noGrp="1"/>
          </p:cNvSpPr>
          <p:nvPr/>
        </p:nvSpPr>
        <p:spPr>
          <a:xfrm>
            <a:off x="4617720" y="187452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60FC11-02C5-4B6B-B61A-E6D8B02846F2}"/>
              </a:ext>
            </a:extLst>
          </p:cNvPr>
          <p:cNvSpPr>
            <a:spLocks noGrp="1"/>
          </p:cNvSpPr>
          <p:nvPr/>
        </p:nvSpPr>
        <p:spPr>
          <a:xfrm>
            <a:off x="4754880" y="1975104"/>
            <a:ext cx="269748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Lecture 2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Operations + ADT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5B21786-F39B-421D-B26F-82C9ABD9F183}"/>
              </a:ext>
            </a:extLst>
          </p:cNvPr>
          <p:cNvSpPr>
            <a:spLocks noGrp="1"/>
          </p:cNvSpPr>
          <p:nvPr/>
        </p:nvSpPr>
        <p:spPr>
          <a:xfrm>
            <a:off x="8366760" y="1874520"/>
            <a:ext cx="2971800" cy="1143000"/>
          </a:xfrm>
          <a:prstGeom prst="roundRect">
            <a:avLst>
              <a:gd name="adj" fmla="val 5455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7C6AFD-CF56-4D4E-B488-CC1C9AB55398}"/>
              </a:ext>
            </a:extLst>
          </p:cNvPr>
          <p:cNvSpPr>
            <a:spLocks noGrp="1"/>
          </p:cNvSpPr>
          <p:nvPr/>
        </p:nvSpPr>
        <p:spPr>
          <a:xfrm>
            <a:off x="8503920" y="1975104"/>
            <a:ext cx="269748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90508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Lectures 3 &amp; 4</a:t>
            </a:r>
          </a:p>
          <a:p>
            <a:pPr marL="0" indent="0" algn="ctr">
              <a:buNone/>
            </a:pPr>
            <a:r>
              <a:rPr sz="250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Memory + complexity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0C6CA3D-3557-4C69-9767-E6C8C2F7A7F1}"/>
              </a:ext>
            </a:extLst>
          </p:cNvPr>
          <p:cNvSpPr>
            <a:spLocks noGrp="1"/>
          </p:cNvSpPr>
          <p:nvPr/>
        </p:nvSpPr>
        <p:spPr>
          <a:xfrm>
            <a:off x="1051560" y="3657600"/>
            <a:ext cx="10332720" cy="123444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Pointers access memory through addresses.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Structures group related fields into records.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Dynamic allocation creates data at run time.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B70AEDE-DEAD-4C32-8C28-5A5EBC25197C}"/>
              </a:ext>
            </a:extLst>
          </p:cNvPr>
          <p:cNvSpPr>
            <a:spLocks noGrp="1"/>
          </p:cNvSpPr>
          <p:nvPr/>
        </p:nvSpPr>
        <p:spPr>
          <a:xfrm>
            <a:off x="822960" y="565099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8435AFE-748A-40DF-B3C1-AC2F60D5CE4B}"/>
              </a:ext>
            </a:extLst>
          </p:cNvPr>
          <p:cNvSpPr>
            <a:spLocks noGrp="1"/>
          </p:cNvSpPr>
          <p:nvPr/>
        </p:nvSpPr>
        <p:spPr>
          <a:xfrm>
            <a:off x="1051560" y="577900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Question: Why must a data-structure programmer understand memory addresses?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5826363-32B9-48A5-AB7F-DF9E2E376DC0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811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8C0E6-0381-43DF-AC6E-286A8AFB9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4BE2AA-B1FB-4551-ABE0-8D3CFDEC8A76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ACE18F-3D78-4911-9F3F-D1AC90B49F4D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9627090-27B2-4BBC-BF69-7FE9D3D4EB57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Learning Outcomes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6D6B4D3-9ECB-44AB-8ECF-23E18B2A99A4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By the end of this combined lecture, students should be able to: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36D8E5-B857-4FEC-BEA0-F5FA63333AF3}"/>
              </a:ext>
            </a:extLst>
          </p:cNvPr>
          <p:cNvSpPr>
            <a:spLocks noGrp="1"/>
          </p:cNvSpPr>
          <p:nvPr/>
        </p:nvSpPr>
        <p:spPr>
          <a:xfrm>
            <a:off x="1097280" y="19202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C6AC583-CDE9-4BBD-8704-DEB1208202A1}"/>
              </a:ext>
            </a:extLst>
          </p:cNvPr>
          <p:cNvSpPr>
            <a:spLocks noGrp="1"/>
          </p:cNvSpPr>
          <p:nvPr/>
        </p:nvSpPr>
        <p:spPr>
          <a:xfrm>
            <a:off x="1097280" y="20665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E1D562A-B0EB-420D-93D6-B1B8AFEC8E89}"/>
              </a:ext>
            </a:extLst>
          </p:cNvPr>
          <p:cNvSpPr>
            <a:spLocks noGrp="1"/>
          </p:cNvSpPr>
          <p:nvPr/>
        </p:nvSpPr>
        <p:spPr>
          <a:xfrm>
            <a:off x="1965960" y="1965960"/>
            <a:ext cx="3931920" cy="795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Use address and dereference operators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7908E1A-92D8-486A-8C45-9642C1D1B4F2}"/>
              </a:ext>
            </a:extLst>
          </p:cNvPr>
          <p:cNvSpPr>
            <a:spLocks noGrp="1"/>
          </p:cNvSpPr>
          <p:nvPr/>
        </p:nvSpPr>
        <p:spPr>
          <a:xfrm>
            <a:off x="1097280" y="35204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8CD6FD-EE30-479B-8616-BA1005EA8EAE}"/>
              </a:ext>
            </a:extLst>
          </p:cNvPr>
          <p:cNvSpPr>
            <a:spLocks noGrp="1"/>
          </p:cNvSpPr>
          <p:nvPr/>
        </p:nvSpPr>
        <p:spPr>
          <a:xfrm>
            <a:off x="1097280" y="36667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57E26CB-0920-456E-AE01-FCC4F88FC02E}"/>
              </a:ext>
            </a:extLst>
          </p:cNvPr>
          <p:cNvSpPr>
            <a:spLocks noGrp="1"/>
          </p:cNvSpPr>
          <p:nvPr/>
        </p:nvSpPr>
        <p:spPr>
          <a:xfrm>
            <a:off x="1965960" y="3566160"/>
            <a:ext cx="3931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500" b="1" dirty="0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Build and access structures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3470C05-FF8E-42E0-B5FE-3DB8CE41D51C}"/>
              </a:ext>
            </a:extLst>
          </p:cNvPr>
          <p:cNvSpPr>
            <a:spLocks noGrp="1"/>
          </p:cNvSpPr>
          <p:nvPr/>
        </p:nvSpPr>
        <p:spPr>
          <a:xfrm>
            <a:off x="6400800" y="19202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18133CC-38F4-4258-85E6-2486B49D8002}"/>
              </a:ext>
            </a:extLst>
          </p:cNvPr>
          <p:cNvSpPr>
            <a:spLocks noGrp="1"/>
          </p:cNvSpPr>
          <p:nvPr/>
        </p:nvSpPr>
        <p:spPr>
          <a:xfrm>
            <a:off x="6400800" y="20665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E48E6A8-2256-47D8-9D04-ABFE2577B17D}"/>
              </a:ext>
            </a:extLst>
          </p:cNvPr>
          <p:cNvSpPr>
            <a:spLocks noGrp="1"/>
          </p:cNvSpPr>
          <p:nvPr/>
        </p:nvSpPr>
        <p:spPr>
          <a:xfrm>
            <a:off x="7269480" y="1965959"/>
            <a:ext cx="4233672" cy="987551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9532"/>
          </a:bodyPr>
          <a:lstStyle/>
          <a:p>
            <a:pPr marL="0" indent="0">
              <a:buNone/>
            </a:pPr>
            <a:r>
              <a:rPr sz="2400" b="1" dirty="0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Allocate and release heap memory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A3E91EB-FE67-42EB-BF88-5B502080977D}"/>
              </a:ext>
            </a:extLst>
          </p:cNvPr>
          <p:cNvSpPr>
            <a:spLocks noGrp="1"/>
          </p:cNvSpPr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2F491D1-0508-4FC2-A594-946B141BEA2D}"/>
              </a:ext>
            </a:extLst>
          </p:cNvPr>
          <p:cNvSpPr>
            <a:spLocks noGrp="1"/>
          </p:cNvSpPr>
          <p:nvPr/>
        </p:nvSpPr>
        <p:spPr>
          <a:xfrm>
            <a:off x="6400800" y="36667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ADC2DA7-86B5-48EC-A056-2CC65FDE9A1D}"/>
              </a:ext>
            </a:extLst>
          </p:cNvPr>
          <p:cNvSpPr>
            <a:spLocks noGrp="1"/>
          </p:cNvSpPr>
          <p:nvPr/>
        </p:nvSpPr>
        <p:spPr>
          <a:xfrm>
            <a:off x="7269480" y="3566160"/>
            <a:ext cx="3931920" cy="7132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3600" lnSpcReduction="10000"/>
          </a:bodyPr>
          <a:lstStyle/>
          <a:p>
            <a:pPr marL="0" indent="0">
              <a:buNone/>
            </a:pPr>
            <a:r>
              <a:rPr sz="2500" b="1" dirty="0" err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Analyse</a:t>
            </a:r>
            <a:r>
              <a:rPr sz="2500" b="1" dirty="0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 time and space growth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8C4C9DC-D25F-4469-88E5-59F477AFCAFB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7D52A1-B5F2-45A2-B7D1-161CB0403E0E}"/>
              </a:ext>
            </a:extLst>
          </p:cNvPr>
          <p:cNvSpPr>
            <a:spLocks noGrp="1"/>
          </p:cNvSpPr>
          <p:nvPr/>
        </p:nvSpPr>
        <p:spPr>
          <a:xfrm>
            <a:off x="1051560" y="575157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Class rule: draw the memory picture before tracing pointer code.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83D2EDB-5F24-49A1-AFA7-429226AB6691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1142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91A1B4-FDD1-4B73-9104-3446508095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5FEFA1-39A5-435D-AD61-FA5FD04F9556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E5B9AE-CAB8-4E82-9628-B4925D366C31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26D379-C715-44C8-A166-90F16795E72E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Pointer Vocabulary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BF992F1-8756-4D33-AD8F-B4268E4E17AF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A pointer is a typed variable that stores a memory address.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9111520-4B32-4AD9-BF67-101D96BA59FD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21000C5-4286-426F-9419-B146EE0D0C41}"/>
              </a:ext>
            </a:extLst>
          </p:cNvPr>
          <p:cNvSpPr>
            <a:spLocks noGrp="1"/>
          </p:cNvSpPr>
          <p:nvPr/>
        </p:nvSpPr>
        <p:spPr>
          <a:xfrm>
            <a:off x="1051560" y="192938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Address (&amp;)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6C2542-6AB9-4A64-AE94-E5E02F475719}"/>
              </a:ext>
            </a:extLst>
          </p:cNvPr>
          <p:cNvSpPr>
            <a:spLocks noGrp="1"/>
          </p:cNvSpPr>
          <p:nvPr/>
        </p:nvSpPr>
        <p:spPr>
          <a:xfrm>
            <a:off x="352044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FEF5D2-02FB-45E2-8BE0-313DC3C2CFDE}"/>
              </a:ext>
            </a:extLst>
          </p:cNvPr>
          <p:cNvSpPr>
            <a:spLocks noGrp="1"/>
          </p:cNvSpPr>
          <p:nvPr/>
        </p:nvSpPr>
        <p:spPr>
          <a:xfrm>
            <a:off x="3657600" y="192938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Pointer (*)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FAFF24-09B1-4FE1-9E9A-2E5BE77BD1DD}"/>
              </a:ext>
            </a:extLst>
          </p:cNvPr>
          <p:cNvSpPr>
            <a:spLocks noGrp="1"/>
          </p:cNvSpPr>
          <p:nvPr/>
        </p:nvSpPr>
        <p:spPr>
          <a:xfrm>
            <a:off x="612648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5335164-FD17-4901-AE48-CBF7C002A3EB}"/>
              </a:ext>
            </a:extLst>
          </p:cNvPr>
          <p:cNvSpPr>
            <a:spLocks noGrp="1"/>
          </p:cNvSpPr>
          <p:nvPr/>
        </p:nvSpPr>
        <p:spPr>
          <a:xfrm>
            <a:off x="6263640" y="192938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Dereference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726A688-AB48-4283-94AB-1D3623996ACA}"/>
              </a:ext>
            </a:extLst>
          </p:cNvPr>
          <p:cNvSpPr>
            <a:spLocks noGrp="1"/>
          </p:cNvSpPr>
          <p:nvPr/>
        </p:nvSpPr>
        <p:spPr>
          <a:xfrm>
            <a:off x="8732520" y="18288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A440547-29AB-4280-885A-D3D39AE61A43}"/>
              </a:ext>
            </a:extLst>
          </p:cNvPr>
          <p:cNvSpPr>
            <a:spLocks noGrp="1"/>
          </p:cNvSpPr>
          <p:nvPr/>
        </p:nvSpPr>
        <p:spPr>
          <a:xfrm>
            <a:off x="8869680" y="192938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NULL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06053A-4E05-4168-8A2A-FECF01BC4A66}"/>
              </a:ext>
            </a:extLst>
          </p:cNvPr>
          <p:cNvSpPr>
            <a:spLocks noGrp="1"/>
          </p:cNvSpPr>
          <p:nvPr/>
        </p:nvSpPr>
        <p:spPr>
          <a:xfrm>
            <a:off x="21945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C1AE710-A183-4A4E-8067-6E37FB8911F6}"/>
              </a:ext>
            </a:extLst>
          </p:cNvPr>
          <p:cNvSpPr>
            <a:spLocks noGrp="1"/>
          </p:cNvSpPr>
          <p:nvPr/>
        </p:nvSpPr>
        <p:spPr>
          <a:xfrm>
            <a:off x="2331720" y="325526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0518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Pointer arithmetic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5C46D3D-B742-4D51-9407-00A71B352FA9}"/>
              </a:ext>
            </a:extLst>
          </p:cNvPr>
          <p:cNvSpPr>
            <a:spLocks noGrp="1"/>
          </p:cNvSpPr>
          <p:nvPr/>
        </p:nvSpPr>
        <p:spPr>
          <a:xfrm>
            <a:off x="49377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CFEFF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1C9ED7D-F7CF-4DEF-9865-F42429A7FEE3}"/>
              </a:ext>
            </a:extLst>
          </p:cNvPr>
          <p:cNvSpPr>
            <a:spLocks noGrp="1"/>
          </p:cNvSpPr>
          <p:nvPr/>
        </p:nvSpPr>
        <p:spPr>
          <a:xfrm>
            <a:off x="5074920" y="325526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4943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F766E"/>
                </a:solidFill>
                <a:latin typeface="Times New Roman"/>
                <a:ea typeface="Times New Roman"/>
                <a:cs typeface="Times New Roman"/>
              </a:rPr>
              <a:t>Structure pointer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416F1F5-673A-40D0-BE05-42D69F4BD689}"/>
              </a:ext>
            </a:extLst>
          </p:cNvPr>
          <p:cNvSpPr>
            <a:spLocks noGrp="1"/>
          </p:cNvSpPr>
          <p:nvPr/>
        </p:nvSpPr>
        <p:spPr>
          <a:xfrm>
            <a:off x="7680960" y="3154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58E82AB-4BC0-481E-8B82-005930112967}"/>
              </a:ext>
            </a:extLst>
          </p:cNvPr>
          <p:cNvSpPr>
            <a:spLocks noGrp="1"/>
          </p:cNvSpPr>
          <p:nvPr/>
        </p:nvSpPr>
        <p:spPr>
          <a:xfrm>
            <a:off x="7818120" y="3255264"/>
            <a:ext cx="2011680" cy="5303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7919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Dynamic pointer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C68A10-E01E-420C-AE55-1BBF9C34E5B1}"/>
              </a:ext>
            </a:extLst>
          </p:cNvPr>
          <p:cNvSpPr>
            <a:spLocks noGrp="1"/>
          </p:cNvSpPr>
          <p:nvPr/>
        </p:nvSpPr>
        <p:spPr>
          <a:xfrm>
            <a:off x="960120" y="4754880"/>
            <a:ext cx="10332720" cy="82296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Type tells C how many bytes to read and how far p+1 moves.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An uninitialized pointer must never be dereferenced.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E01E879-C90C-443E-A4FA-AE432D7DF5D6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A4C0FBC5-4DAD-46CA-AAC8-0FCB4F5E1299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8802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DFB1B7-0CCE-468B-BD06-19CF794713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18B6D5-536E-440A-8ED8-D170C62D849C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D29877-FEC7-4652-9640-5D798020DD66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5B19991-F9E7-44E5-952E-62F08F168CAF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Declare and Initialize a Pointer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ACF5467-F20B-4737-82E4-8C00E93FE860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Always give a pointer a valid address or NULL before using it.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5C412D-F87F-4285-BF5B-3125574B5C8C}"/>
              </a:ext>
            </a:extLst>
          </p:cNvPr>
          <p:cNvSpPr>
            <a:spLocks noGrp="1"/>
          </p:cNvSpPr>
          <p:nvPr/>
        </p:nvSpPr>
        <p:spPr>
          <a:xfrm>
            <a:off x="914400" y="2294356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D804E3D2-07C7-4EBD-8883-FDED79248E1A}"/>
              </a:ext>
            </a:extLst>
          </p:cNvPr>
          <p:cNvSpPr>
            <a:spLocks noGrp="1"/>
          </p:cNvSpPr>
          <p:nvPr/>
        </p:nvSpPr>
        <p:spPr>
          <a:xfrm>
            <a:off x="914400" y="2294356"/>
            <a:ext cx="5486400" cy="64008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DEBD979-DAAF-4258-8124-C306436C9356}"/>
              </a:ext>
            </a:extLst>
          </p:cNvPr>
          <p:cNvSpPr>
            <a:spLocks noGrp="1"/>
          </p:cNvSpPr>
          <p:nvPr/>
        </p:nvSpPr>
        <p:spPr>
          <a:xfrm>
            <a:off x="1051560" y="2431516"/>
            <a:ext cx="5212080" cy="365760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>
              <a:buNone/>
            </a:pPr>
            <a:r>
              <a:rPr sz="1600" dirty="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int x = 25;</a:t>
            </a:r>
          </a:p>
          <a:p>
            <a:pPr marL="0" indent="0">
              <a:buNone/>
            </a:pPr>
            <a:r>
              <a:rPr sz="1600" dirty="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int *p = &amp;x;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9023A7-FB74-483B-A983-5A8302E8C253}"/>
              </a:ext>
            </a:extLst>
          </p:cNvPr>
          <p:cNvSpPr>
            <a:spLocks noGrp="1"/>
          </p:cNvSpPr>
          <p:nvPr/>
        </p:nvSpPr>
        <p:spPr>
          <a:xfrm>
            <a:off x="1051560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4EF8F3-716B-45B3-9E05-D475379176FE}"/>
              </a:ext>
            </a:extLst>
          </p:cNvPr>
          <p:cNvSpPr>
            <a:spLocks noGrp="1"/>
          </p:cNvSpPr>
          <p:nvPr/>
        </p:nvSpPr>
        <p:spPr>
          <a:xfrm>
            <a:off x="1051560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8ED5F93-8A5F-4967-8C71-5AACEBA16A6F}"/>
              </a:ext>
            </a:extLst>
          </p:cNvPr>
          <p:cNvSpPr>
            <a:spLocks noGrp="1"/>
          </p:cNvSpPr>
          <p:nvPr/>
        </p:nvSpPr>
        <p:spPr>
          <a:xfrm>
            <a:off x="1929384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6E5937-471E-42A3-8132-CAC757C2B6B8}"/>
              </a:ext>
            </a:extLst>
          </p:cNvPr>
          <p:cNvSpPr>
            <a:spLocks noGrp="1"/>
          </p:cNvSpPr>
          <p:nvPr/>
        </p:nvSpPr>
        <p:spPr>
          <a:xfrm>
            <a:off x="1929384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D080636-9F61-4D9D-ABAD-B9D58DADA68F}"/>
              </a:ext>
            </a:extLst>
          </p:cNvPr>
          <p:cNvSpPr>
            <a:spLocks noGrp="1"/>
          </p:cNvSpPr>
          <p:nvPr/>
        </p:nvSpPr>
        <p:spPr>
          <a:xfrm>
            <a:off x="2807208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4F25CBC-A134-45CA-B936-20689F63A5E4}"/>
              </a:ext>
            </a:extLst>
          </p:cNvPr>
          <p:cNvSpPr>
            <a:spLocks noGrp="1"/>
          </p:cNvSpPr>
          <p:nvPr/>
        </p:nvSpPr>
        <p:spPr>
          <a:xfrm>
            <a:off x="2807208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D3D4CFA-E083-4E94-9E62-A4BB763F0021}"/>
              </a:ext>
            </a:extLst>
          </p:cNvPr>
          <p:cNvSpPr>
            <a:spLocks noGrp="1"/>
          </p:cNvSpPr>
          <p:nvPr/>
        </p:nvSpPr>
        <p:spPr>
          <a:xfrm>
            <a:off x="3685032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BA349D5-B718-4FA0-AD30-B6CEA70AE4E0}"/>
              </a:ext>
            </a:extLst>
          </p:cNvPr>
          <p:cNvSpPr>
            <a:spLocks noGrp="1"/>
          </p:cNvSpPr>
          <p:nvPr/>
        </p:nvSpPr>
        <p:spPr>
          <a:xfrm>
            <a:off x="3685032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&amp;x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7772F07-FD2D-49DF-BFE4-56CF701E404D}"/>
              </a:ext>
            </a:extLst>
          </p:cNvPr>
          <p:cNvSpPr>
            <a:spLocks noGrp="1"/>
          </p:cNvSpPr>
          <p:nvPr/>
        </p:nvSpPr>
        <p:spPr>
          <a:xfrm>
            <a:off x="4562856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CB8503-14CA-40A5-8E2C-1F4C6C544B8F}"/>
              </a:ext>
            </a:extLst>
          </p:cNvPr>
          <p:cNvSpPr>
            <a:spLocks noGrp="1"/>
          </p:cNvSpPr>
          <p:nvPr/>
        </p:nvSpPr>
        <p:spPr>
          <a:xfrm>
            <a:off x="4562856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1000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87EDF70-E8E2-4C50-B9D7-D42516E0BD4D}"/>
              </a:ext>
            </a:extLst>
          </p:cNvPr>
          <p:cNvSpPr>
            <a:spLocks noGrp="1"/>
          </p:cNvSpPr>
          <p:nvPr/>
        </p:nvSpPr>
        <p:spPr>
          <a:xfrm>
            <a:off x="6949440" y="2340076"/>
            <a:ext cx="4297680" cy="16002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&amp;x obtains the address of x.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p stores that address.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*p accesses the value at that address.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6F999C0-11BF-4429-B47B-538B2CDFD7D1}"/>
              </a:ext>
            </a:extLst>
          </p:cNvPr>
          <p:cNvSpPr>
            <a:spLocks noGrp="1"/>
          </p:cNvSpPr>
          <p:nvPr/>
        </p:nvSpPr>
        <p:spPr>
          <a:xfrm>
            <a:off x="822960" y="565099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2C56129-BA9A-4C4F-BD65-323FC8931551}"/>
              </a:ext>
            </a:extLst>
          </p:cNvPr>
          <p:cNvSpPr>
            <a:spLocks noGrp="1"/>
          </p:cNvSpPr>
          <p:nvPr/>
        </p:nvSpPr>
        <p:spPr>
          <a:xfrm>
            <a:off x="1051560" y="577900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Ask students: If p stores 1000, what does *p produce?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B0F2CD5-8505-49F1-9D68-B8C9F99C8EAC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23F3D6E-792C-4F31-95C4-1FF45664E7CF}"/>
              </a:ext>
            </a:extLst>
          </p:cNvPr>
          <p:cNvSpPr>
            <a:spLocks noGrp="1"/>
          </p:cNvSpPr>
          <p:nvPr/>
        </p:nvSpPr>
        <p:spPr>
          <a:xfrm>
            <a:off x="1051560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C99C9A84-3133-4806-869A-ED3D80AFC0FC}"/>
              </a:ext>
            </a:extLst>
          </p:cNvPr>
          <p:cNvSpPr>
            <a:spLocks noGrp="1"/>
          </p:cNvSpPr>
          <p:nvPr/>
        </p:nvSpPr>
        <p:spPr>
          <a:xfrm>
            <a:off x="1929384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4DB52384-4C6B-4CEC-AB2E-DFA128C955FF}"/>
              </a:ext>
            </a:extLst>
          </p:cNvPr>
          <p:cNvSpPr>
            <a:spLocks noGrp="1"/>
          </p:cNvSpPr>
          <p:nvPr/>
        </p:nvSpPr>
        <p:spPr>
          <a:xfrm>
            <a:off x="1929384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71661585-E9FA-4282-AA1C-BA82A64F5A74}"/>
              </a:ext>
            </a:extLst>
          </p:cNvPr>
          <p:cNvSpPr>
            <a:spLocks noGrp="1"/>
          </p:cNvSpPr>
          <p:nvPr/>
        </p:nvSpPr>
        <p:spPr>
          <a:xfrm>
            <a:off x="2807208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FA550896-6D72-49BB-83C0-2961B10D9F17}"/>
              </a:ext>
            </a:extLst>
          </p:cNvPr>
          <p:cNvSpPr>
            <a:spLocks noGrp="1"/>
          </p:cNvSpPr>
          <p:nvPr/>
        </p:nvSpPr>
        <p:spPr>
          <a:xfrm>
            <a:off x="2807208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</a:t>
            </a: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46E99429-5055-4885-B067-99CA1741D5F9}"/>
              </a:ext>
            </a:extLst>
          </p:cNvPr>
          <p:cNvSpPr>
            <a:spLocks noGrp="1"/>
          </p:cNvSpPr>
          <p:nvPr/>
        </p:nvSpPr>
        <p:spPr>
          <a:xfrm>
            <a:off x="3685032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41C3F45E-1465-4D98-9191-CF6218D206A8}"/>
              </a:ext>
            </a:extLst>
          </p:cNvPr>
          <p:cNvSpPr>
            <a:spLocks noGrp="1"/>
          </p:cNvSpPr>
          <p:nvPr/>
        </p:nvSpPr>
        <p:spPr>
          <a:xfrm>
            <a:off x="3685032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&amp;x</a:t>
            </a:r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93A95166-2106-44FD-A1EE-B8A99EE7C514}"/>
              </a:ext>
            </a:extLst>
          </p:cNvPr>
          <p:cNvSpPr>
            <a:spLocks noGrp="1"/>
          </p:cNvSpPr>
          <p:nvPr/>
        </p:nvSpPr>
        <p:spPr>
          <a:xfrm>
            <a:off x="4562856" y="3391636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93AE2060-8F3B-47CD-9B27-4C2722C70528}"/>
              </a:ext>
            </a:extLst>
          </p:cNvPr>
          <p:cNvSpPr>
            <a:spLocks noGrp="1"/>
          </p:cNvSpPr>
          <p:nvPr/>
        </p:nvSpPr>
        <p:spPr>
          <a:xfrm>
            <a:off x="4562856" y="3556228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1000</a:t>
            </a: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6CEC4D69-C8FC-4E6A-9112-2F1B76048EFE}"/>
              </a:ext>
            </a:extLst>
          </p:cNvPr>
          <p:cNvSpPr>
            <a:spLocks noGrp="1"/>
          </p:cNvSpPr>
          <p:nvPr/>
        </p:nvSpPr>
        <p:spPr>
          <a:xfrm>
            <a:off x="6949440" y="2340076"/>
            <a:ext cx="4297680" cy="16002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&amp;x obtains the address of x.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p stores that address.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*p accesses the value at that address.</a:t>
            </a: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FF688274-1356-4CF6-9CFD-310AB3F3E9E2}"/>
              </a:ext>
            </a:extLst>
          </p:cNvPr>
          <p:cNvSpPr>
            <a:spLocks noGrp="1"/>
          </p:cNvSpPr>
          <p:nvPr/>
        </p:nvSpPr>
        <p:spPr>
          <a:xfrm>
            <a:off x="822960" y="565099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67FF3CFB-1F5B-428C-ABD5-17A825431EDE}"/>
              </a:ext>
            </a:extLst>
          </p:cNvPr>
          <p:cNvSpPr>
            <a:spLocks noGrp="1"/>
          </p:cNvSpPr>
          <p:nvPr/>
        </p:nvSpPr>
        <p:spPr>
          <a:xfrm>
            <a:off x="1051560" y="577900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Ask students: If p stores 1000, what does *p produce?</a:t>
            </a:r>
          </a:p>
        </p:txBody>
      </p:sp>
      <p:sp>
        <p:nvSpPr>
          <p:cNvPr id="52" name="Shape 20">
            <a:extLst>
              <a:ext uri="{FF2B5EF4-FFF2-40B4-BE49-F238E27FC236}">
                <a16:creationId xmlns:a16="http://schemas.microsoft.com/office/drawing/2014/main" id="{F08B4FE1-5604-4374-A0BD-514F37BA6621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81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47CCF2-73BD-433E-86F5-D21DA49D1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56F344-E9B0-42EF-B978-D32DB229190A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0FBD07-2300-45C8-887A-E38CEF10EACC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E8283A-E3B1-406B-93C2-93E8BE36E62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Dereferencing Reads or Changes the Original Value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821380-596B-436F-86BA-F8C241A8A8B4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The operator * follows an address to the stored value.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8B4EBCD-7061-4757-A801-B65566912ED7}"/>
              </a:ext>
            </a:extLst>
          </p:cNvPr>
          <p:cNvSpPr>
            <a:spLocks noGrp="1"/>
          </p:cNvSpPr>
          <p:nvPr/>
        </p:nvSpPr>
        <p:spPr>
          <a:xfrm>
            <a:off x="914400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BC63DF-C79B-44B1-A366-BED71209958A}"/>
              </a:ext>
            </a:extLst>
          </p:cNvPr>
          <p:cNvSpPr>
            <a:spLocks noGrp="1"/>
          </p:cNvSpPr>
          <p:nvPr/>
        </p:nvSpPr>
        <p:spPr>
          <a:xfrm>
            <a:off x="914400" y="2176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D9E0C35-17AF-444A-8767-1F07D46345D8}"/>
              </a:ext>
            </a:extLst>
          </p:cNvPr>
          <p:cNvSpPr>
            <a:spLocks noGrp="1"/>
          </p:cNvSpPr>
          <p:nvPr/>
        </p:nvSpPr>
        <p:spPr>
          <a:xfrm>
            <a:off x="1792224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665C98-2D0B-45E7-9E2A-EC114D960667}"/>
              </a:ext>
            </a:extLst>
          </p:cNvPr>
          <p:cNvSpPr>
            <a:spLocks noGrp="1"/>
          </p:cNvSpPr>
          <p:nvPr/>
        </p:nvSpPr>
        <p:spPr>
          <a:xfrm>
            <a:off x="1792224" y="2176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BD036BA-BD31-438B-B61D-790AE4126867}"/>
              </a:ext>
            </a:extLst>
          </p:cNvPr>
          <p:cNvSpPr>
            <a:spLocks noGrp="1"/>
          </p:cNvSpPr>
          <p:nvPr/>
        </p:nvSpPr>
        <p:spPr>
          <a:xfrm>
            <a:off x="2670048" y="2011680"/>
            <a:ext cx="841248" cy="566928"/>
          </a:xfrm>
          <a:prstGeom prst="rect">
            <a:avLst/>
          </a:prstGeom>
          <a:solidFill>
            <a:srgbClr val="FFF3E8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61387D4-AC23-43A3-951F-B9EAF9F7BA40}"/>
              </a:ext>
            </a:extLst>
          </p:cNvPr>
          <p:cNvSpPr>
            <a:spLocks noGrp="1"/>
          </p:cNvSpPr>
          <p:nvPr/>
        </p:nvSpPr>
        <p:spPr>
          <a:xfrm>
            <a:off x="2670048" y="2176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B626A25-8A82-4AC7-8527-FE368E149D64}"/>
              </a:ext>
            </a:extLst>
          </p:cNvPr>
          <p:cNvSpPr>
            <a:spLocks noGrp="1"/>
          </p:cNvSpPr>
          <p:nvPr/>
        </p:nvSpPr>
        <p:spPr>
          <a:xfrm>
            <a:off x="3547872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A5C22F-299B-47EC-B353-6F07621C6C06}"/>
              </a:ext>
            </a:extLst>
          </p:cNvPr>
          <p:cNvSpPr>
            <a:spLocks noGrp="1"/>
          </p:cNvSpPr>
          <p:nvPr/>
        </p:nvSpPr>
        <p:spPr>
          <a:xfrm>
            <a:off x="3547872" y="2176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8F1DEF7-F4E8-4A21-B965-5F014E893F42}"/>
              </a:ext>
            </a:extLst>
          </p:cNvPr>
          <p:cNvSpPr>
            <a:spLocks noGrp="1"/>
          </p:cNvSpPr>
          <p:nvPr/>
        </p:nvSpPr>
        <p:spPr>
          <a:xfrm>
            <a:off x="4425696" y="2011680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290832A-C1D6-4EAD-B646-79ADDC0043BF}"/>
              </a:ext>
            </a:extLst>
          </p:cNvPr>
          <p:cNvSpPr>
            <a:spLocks noGrp="1"/>
          </p:cNvSpPr>
          <p:nvPr/>
        </p:nvSpPr>
        <p:spPr>
          <a:xfrm>
            <a:off x="4425696" y="2176272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4361218-C227-41C5-8293-58A0932CB976}"/>
              </a:ext>
            </a:extLst>
          </p:cNvPr>
          <p:cNvSpPr>
            <a:spLocks noGrp="1"/>
          </p:cNvSpPr>
          <p:nvPr/>
        </p:nvSpPr>
        <p:spPr>
          <a:xfrm>
            <a:off x="6492240" y="1645920"/>
            <a:ext cx="4572000" cy="1325880"/>
          </a:xfrm>
          <a:prstGeom prst="roundRect">
            <a:avLst>
              <a:gd name="adj" fmla="val 2759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7051B-A6B5-4D14-B1D2-F66EAD3899BE}"/>
              </a:ext>
            </a:extLst>
          </p:cNvPr>
          <p:cNvSpPr>
            <a:spLocks noGrp="1"/>
          </p:cNvSpPr>
          <p:nvPr/>
        </p:nvSpPr>
        <p:spPr>
          <a:xfrm>
            <a:off x="6629400" y="1783080"/>
            <a:ext cx="4297680" cy="105156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fontScale="91956"/>
          </a:bodyPr>
          <a:lstStyle/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int x = 10;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int *p = &amp;x;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*p = 35;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CC76CB4-7410-4013-A65D-D0B33D3819C4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10241280" cy="118872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p gives the address of x.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*p reads the current value of x.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Assigning to *p changes x itself.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C69975-3A65-482A-9F0D-68BEF22E2EA7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CD7228-BD3D-4A6E-9208-54BAD4D558CD}"/>
              </a:ext>
            </a:extLst>
          </p:cNvPr>
          <p:cNvSpPr>
            <a:spLocks noGrp="1"/>
          </p:cNvSpPr>
          <p:nvPr/>
        </p:nvSpPr>
        <p:spPr>
          <a:xfrm>
            <a:off x="1051560" y="575157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Quick check: After *p = 35, what value is stored in x?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0A3E6E2-09DB-409E-8A69-F22A2DEFF018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338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0F5E77-48FF-45C6-A222-B18E30BB4D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D23A44-FAE4-4286-8E2D-369022791FD5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3375CF-C8E2-49F3-9A91-C51BA66CDA39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E98D8E-05AF-4C3B-98D5-BA3A6C9D0614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Pointer Arithmetic with Arrays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7AC8F2A-3F25-4D34-A0E1-75B5ED85E1E4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 dirty="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For an int pointer, p+1 advances to the next integer element.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3F911E2-DCB1-45DF-A37C-450453E9BF62}"/>
              </a:ext>
            </a:extLst>
          </p:cNvPr>
          <p:cNvSpPr>
            <a:spLocks noGrp="1"/>
          </p:cNvSpPr>
          <p:nvPr/>
        </p:nvSpPr>
        <p:spPr>
          <a:xfrm>
            <a:off x="914400" y="2883804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F996F67-0350-4DFD-BAC5-6DB7E893BDE1}"/>
              </a:ext>
            </a:extLst>
          </p:cNvPr>
          <p:cNvSpPr>
            <a:spLocks noGrp="1"/>
          </p:cNvSpPr>
          <p:nvPr/>
        </p:nvSpPr>
        <p:spPr>
          <a:xfrm>
            <a:off x="914400" y="304839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37AD432-DD0C-4F86-9D74-C19F1C029109}"/>
              </a:ext>
            </a:extLst>
          </p:cNvPr>
          <p:cNvSpPr>
            <a:spLocks noGrp="1"/>
          </p:cNvSpPr>
          <p:nvPr/>
        </p:nvSpPr>
        <p:spPr>
          <a:xfrm>
            <a:off x="1792224" y="2883804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CCD8C0-1A2E-47A6-ACA4-3F60B43D0C86}"/>
              </a:ext>
            </a:extLst>
          </p:cNvPr>
          <p:cNvSpPr>
            <a:spLocks noGrp="1"/>
          </p:cNvSpPr>
          <p:nvPr/>
        </p:nvSpPr>
        <p:spPr>
          <a:xfrm>
            <a:off x="1792224" y="304839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7F803A0-9DA5-435F-86EA-BFDAAAB7A3EC}"/>
              </a:ext>
            </a:extLst>
          </p:cNvPr>
          <p:cNvSpPr>
            <a:spLocks noGrp="1"/>
          </p:cNvSpPr>
          <p:nvPr/>
        </p:nvSpPr>
        <p:spPr>
          <a:xfrm>
            <a:off x="2670048" y="2883804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4586DBB-FEB1-4CCE-86E1-D7F47C2E4319}"/>
              </a:ext>
            </a:extLst>
          </p:cNvPr>
          <p:cNvSpPr>
            <a:spLocks noGrp="1"/>
          </p:cNvSpPr>
          <p:nvPr/>
        </p:nvSpPr>
        <p:spPr>
          <a:xfrm>
            <a:off x="2670048" y="304839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BE60775-4310-415F-B583-A7E74F8F5D2A}"/>
              </a:ext>
            </a:extLst>
          </p:cNvPr>
          <p:cNvSpPr>
            <a:spLocks noGrp="1"/>
          </p:cNvSpPr>
          <p:nvPr/>
        </p:nvSpPr>
        <p:spPr>
          <a:xfrm>
            <a:off x="3547872" y="2883804"/>
            <a:ext cx="841248" cy="566928"/>
          </a:xfrm>
          <a:prstGeom prst="rect">
            <a:avLst/>
          </a:prstGeom>
          <a:solidFill>
            <a:srgbClr val="FFF3E8"/>
          </a:solidFill>
          <a:ln w="1524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3528381-75ED-4E81-83CF-5D7C6ED6C4C1}"/>
              </a:ext>
            </a:extLst>
          </p:cNvPr>
          <p:cNvSpPr>
            <a:spLocks noGrp="1"/>
          </p:cNvSpPr>
          <p:nvPr/>
        </p:nvSpPr>
        <p:spPr>
          <a:xfrm>
            <a:off x="3547872" y="304839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40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C31398F-9974-4855-959D-CEB30897506B}"/>
              </a:ext>
            </a:extLst>
          </p:cNvPr>
          <p:cNvSpPr>
            <a:spLocks noGrp="1"/>
          </p:cNvSpPr>
          <p:nvPr/>
        </p:nvSpPr>
        <p:spPr>
          <a:xfrm>
            <a:off x="4425696" y="2883804"/>
            <a:ext cx="841248" cy="566928"/>
          </a:xfrm>
          <a:prstGeom prst="rect">
            <a:avLst/>
          </a:prstGeom>
          <a:solidFill>
            <a:srgbClr val="EAF3FF"/>
          </a:solidFill>
          <a:ln w="1524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385CBD4-B78D-4423-9945-19E32331465F}"/>
              </a:ext>
            </a:extLst>
          </p:cNvPr>
          <p:cNvSpPr>
            <a:spLocks noGrp="1"/>
          </p:cNvSpPr>
          <p:nvPr/>
        </p:nvSpPr>
        <p:spPr>
          <a:xfrm>
            <a:off x="4425696" y="3048396"/>
            <a:ext cx="84124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0D74AE-44B0-4966-A671-BCF299DE636C}"/>
              </a:ext>
            </a:extLst>
          </p:cNvPr>
          <p:cNvSpPr>
            <a:spLocks noGrp="1"/>
          </p:cNvSpPr>
          <p:nvPr/>
        </p:nvSpPr>
        <p:spPr>
          <a:xfrm>
            <a:off x="960120" y="375248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p points here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9AD2876-25B2-4914-907D-478C8438ED7E}"/>
              </a:ext>
            </a:extLst>
          </p:cNvPr>
          <p:cNvSpPr>
            <a:spLocks noGrp="1"/>
          </p:cNvSpPr>
          <p:nvPr/>
        </p:nvSpPr>
        <p:spPr>
          <a:xfrm>
            <a:off x="5943600" y="2700924"/>
            <a:ext cx="5120640" cy="150876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 fontScale="90697" lnSpcReduction="20000"/>
          </a:bodyPr>
          <a:lstStyle/>
          <a:p>
            <a:pPr marL="0" indent="0">
              <a:buNone/>
            </a:pPr>
            <a:r>
              <a:rPr sz="2500" dirty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The array name acts like the address of its first element.</a:t>
            </a:r>
          </a:p>
          <a:p>
            <a:pPr marL="0" indent="0">
              <a:buNone/>
            </a:pPr>
            <a:r>
              <a:rPr sz="2500" dirty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*(p+2) accesses the third element.</a:t>
            </a:r>
          </a:p>
          <a:p>
            <a:pPr marL="0" indent="0">
              <a:buNone/>
            </a:pPr>
            <a:r>
              <a:rPr sz="2500" dirty="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Movement depends on the pointed-to type.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BBF7D03-30B4-466F-9DE8-51C71A400F2E}"/>
              </a:ext>
            </a:extLst>
          </p:cNvPr>
          <p:cNvSpPr>
            <a:spLocks noGrp="1"/>
          </p:cNvSpPr>
          <p:nvPr/>
        </p:nvSpPr>
        <p:spPr>
          <a:xfrm>
            <a:off x="5943600" y="4804044"/>
            <a:ext cx="4297680" cy="9144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FBB9B9A-EB29-49FB-B2E4-4E4E2FBCFF3A}"/>
              </a:ext>
            </a:extLst>
          </p:cNvPr>
          <p:cNvSpPr>
            <a:spLocks noGrp="1"/>
          </p:cNvSpPr>
          <p:nvPr/>
        </p:nvSpPr>
        <p:spPr>
          <a:xfrm>
            <a:off x="6080760" y="4941204"/>
            <a:ext cx="4023360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printf("%d", *(p + 2));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177067D-764A-4D3D-97AD-E94E85E74768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744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68BE2D-4634-41FA-B2AC-C22D0F8D5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F4079A-D1BA-4746-A7AC-6EDC059AE000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5D2F95-96EE-4165-82BA-0839C7772652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C8779B1-D191-416F-8765-60E6E8A45D7D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Three Ways Pointers Work in C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7CFE9D-536B-40D7-892E-28F68E337766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The same address idea supports reading, modifying and linking data.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955E707-5E38-4F72-8E66-CD3BFFD24F0A}"/>
              </a:ext>
            </a:extLst>
          </p:cNvPr>
          <p:cNvSpPr>
            <a:spLocks noGrp="1"/>
          </p:cNvSpPr>
          <p:nvPr/>
        </p:nvSpPr>
        <p:spPr>
          <a:xfrm>
            <a:off x="91440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EAFBF2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13D8B1D-57B5-4C8C-A015-E029FCC5B52C}"/>
              </a:ext>
            </a:extLst>
          </p:cNvPr>
          <p:cNvSpPr>
            <a:spLocks noGrp="1"/>
          </p:cNvSpPr>
          <p:nvPr/>
        </p:nvSpPr>
        <p:spPr>
          <a:xfrm>
            <a:off x="969264" y="178308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Read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46087B5-07A5-4DE7-8520-1B8E51448F54}"/>
              </a:ext>
            </a:extLst>
          </p:cNvPr>
          <p:cNvSpPr>
            <a:spLocks noGrp="1"/>
          </p:cNvSpPr>
          <p:nvPr/>
        </p:nvSpPr>
        <p:spPr>
          <a:xfrm>
            <a:off x="470916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FEDEE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292C208-51F9-44ED-A195-71050C9279C6}"/>
              </a:ext>
            </a:extLst>
          </p:cNvPr>
          <p:cNvSpPr>
            <a:spLocks noGrp="1"/>
          </p:cNvSpPr>
          <p:nvPr/>
        </p:nvSpPr>
        <p:spPr>
          <a:xfrm>
            <a:off x="4764024" y="178308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Modify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AE66EFD-2AEF-4D9D-9DF7-EE499874C94C}"/>
              </a:ext>
            </a:extLst>
          </p:cNvPr>
          <p:cNvSpPr>
            <a:spLocks noGrp="1"/>
          </p:cNvSpPr>
          <p:nvPr/>
        </p:nvSpPr>
        <p:spPr>
          <a:xfrm>
            <a:off x="8503920" y="1737360"/>
            <a:ext cx="2743200" cy="640080"/>
          </a:xfrm>
          <a:prstGeom prst="roundRect">
            <a:avLst>
              <a:gd name="adj" fmla="val 5714"/>
            </a:avLst>
          </a:prstGeom>
          <a:solidFill>
            <a:srgbClr val="FFF8DB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C6CE7D5-959E-402B-92EB-7A5BD4DCAE6A}"/>
              </a:ext>
            </a:extLst>
          </p:cNvPr>
          <p:cNvSpPr>
            <a:spLocks noGrp="1"/>
          </p:cNvSpPr>
          <p:nvPr/>
        </p:nvSpPr>
        <p:spPr>
          <a:xfrm>
            <a:off x="8558784" y="1783080"/>
            <a:ext cx="2633472" cy="5486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Link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C3F3C71-9A35-43BF-8CE5-73946544400C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2834640" cy="13716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 fontScale="96259"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int value = *p;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obtains pointed value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no change to memory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07381B-43F7-4BD9-80C1-6402AA249D95}"/>
              </a:ext>
            </a:extLst>
          </p:cNvPr>
          <p:cNvSpPr>
            <a:spLocks noGrp="1"/>
          </p:cNvSpPr>
          <p:nvPr/>
        </p:nvSpPr>
        <p:spPr>
          <a:xfrm>
            <a:off x="4709160" y="2743200"/>
            <a:ext cx="2834640" cy="13716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 fontScale="94480"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*p = 35;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updates original value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used in functions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145814-9E73-4F6C-9D88-43C431A81D19}"/>
              </a:ext>
            </a:extLst>
          </p:cNvPr>
          <p:cNvSpPr>
            <a:spLocks noGrp="1"/>
          </p:cNvSpPr>
          <p:nvPr/>
        </p:nvSpPr>
        <p:spPr>
          <a:xfrm>
            <a:off x="8503920" y="2743200"/>
            <a:ext cx="2834640" cy="13716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node-&gt;next = q;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connects structures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builds dynamic lists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E1FD6F7-6148-4AC8-920A-13A3C4C5941C}"/>
              </a:ext>
            </a:extLst>
          </p:cNvPr>
          <p:cNvSpPr>
            <a:spLocks noGrp="1"/>
          </p:cNvSpPr>
          <p:nvPr/>
        </p:nvSpPr>
        <p:spPr>
          <a:xfrm>
            <a:off x="822960" y="557784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EF2C6C-7DE7-4F74-B9DE-4D7240A6B9C4}"/>
              </a:ext>
            </a:extLst>
          </p:cNvPr>
          <p:cNvSpPr>
            <a:spLocks noGrp="1"/>
          </p:cNvSpPr>
          <p:nvPr/>
        </p:nvSpPr>
        <p:spPr>
          <a:xfrm>
            <a:off x="1051560" y="570585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Real example: swap(&amp;a, &amp;b) lets a function change both variables.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C2D212F-8F29-49CD-AE59-4CADB689E5E1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996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2DD68E-3890-4D55-9DBE-93E84D73BC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9F9168-299F-4068-9366-7A887B69FF46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0DD9D7-24DA-49D7-9D46-EADAF891F809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2ED70B-6ADA-4B3E-8876-A9DA769A832E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Structure Access: Object versus Pointer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8BEDEFC-9331-4BDE-9728-96FD4C47D3A2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Choose . for an object and -&gt; for a pointer to an object.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2CCAB43-0509-4DCF-993D-A296BAF9D70A}"/>
              </a:ext>
            </a:extLst>
          </p:cNvPr>
          <p:cNvSpPr>
            <a:spLocks noGrp="1"/>
          </p:cNvSpPr>
          <p:nvPr/>
        </p:nvSpPr>
        <p:spPr>
          <a:xfrm>
            <a:off x="1005840" y="205887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BFDC5DE-A012-42F3-BA28-115776CCF37A}"/>
              </a:ext>
            </a:extLst>
          </p:cNvPr>
          <p:cNvSpPr>
            <a:spLocks noGrp="1"/>
          </p:cNvSpPr>
          <p:nvPr/>
        </p:nvSpPr>
        <p:spPr>
          <a:xfrm>
            <a:off x="1060704" y="2035763"/>
            <a:ext cx="27706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Expression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E09487E-A275-47EC-BBB3-6C8812376C5D}"/>
              </a:ext>
            </a:extLst>
          </p:cNvPr>
          <p:cNvSpPr>
            <a:spLocks noGrp="1"/>
          </p:cNvSpPr>
          <p:nvPr/>
        </p:nvSpPr>
        <p:spPr>
          <a:xfrm>
            <a:off x="4389120" y="205887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C9D27C-CF22-479D-9477-375BCEC6602A}"/>
              </a:ext>
            </a:extLst>
          </p:cNvPr>
          <p:cNvSpPr>
            <a:spLocks noGrp="1"/>
          </p:cNvSpPr>
          <p:nvPr/>
        </p:nvSpPr>
        <p:spPr>
          <a:xfrm>
            <a:off x="4443984" y="2035763"/>
            <a:ext cx="27706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Direct object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4F7DB7C-C2C1-4C33-9C54-B000D3FFFCD6}"/>
              </a:ext>
            </a:extLst>
          </p:cNvPr>
          <p:cNvSpPr>
            <a:spLocks noGrp="1"/>
          </p:cNvSpPr>
          <p:nvPr/>
        </p:nvSpPr>
        <p:spPr>
          <a:xfrm>
            <a:off x="7772400" y="205887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9860F9-89AD-44F7-846B-E6D74C01D8BC}"/>
              </a:ext>
            </a:extLst>
          </p:cNvPr>
          <p:cNvSpPr>
            <a:spLocks noGrp="1"/>
          </p:cNvSpPr>
          <p:nvPr/>
        </p:nvSpPr>
        <p:spPr>
          <a:xfrm>
            <a:off x="7827264" y="2035763"/>
            <a:ext cx="27706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Structure pointer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449778-0272-4FF5-B0F6-7C662856E135}"/>
              </a:ext>
            </a:extLst>
          </p:cNvPr>
          <p:cNvSpPr>
            <a:spLocks noGrp="1"/>
          </p:cNvSpPr>
          <p:nvPr/>
        </p:nvSpPr>
        <p:spPr>
          <a:xfrm>
            <a:off x="100584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FB3019E-F2A8-468F-9759-64B73FEE042E}"/>
              </a:ext>
            </a:extLst>
          </p:cNvPr>
          <p:cNvSpPr>
            <a:spLocks noGrp="1"/>
          </p:cNvSpPr>
          <p:nvPr/>
        </p:nvSpPr>
        <p:spPr>
          <a:xfrm>
            <a:off x="114300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Access name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6983CCC-5AE9-4E24-84D5-814ACB6DEF83}"/>
              </a:ext>
            </a:extLst>
          </p:cNvPr>
          <p:cNvSpPr>
            <a:spLocks noGrp="1"/>
          </p:cNvSpPr>
          <p:nvPr/>
        </p:nvSpPr>
        <p:spPr>
          <a:xfrm>
            <a:off x="438912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827849F-3C50-4A83-B1C3-475456F3BE53}"/>
              </a:ext>
            </a:extLst>
          </p:cNvPr>
          <p:cNvSpPr>
            <a:spLocks noGrp="1"/>
          </p:cNvSpPr>
          <p:nvPr/>
        </p:nvSpPr>
        <p:spPr>
          <a:xfrm>
            <a:off x="452628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s.name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074A9FA-26EA-4589-B841-9B66E8044C3D}"/>
              </a:ext>
            </a:extLst>
          </p:cNvPr>
          <p:cNvSpPr>
            <a:spLocks noGrp="1"/>
          </p:cNvSpPr>
          <p:nvPr/>
        </p:nvSpPr>
        <p:spPr>
          <a:xfrm>
            <a:off x="777240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37912D4-8223-46B7-81AC-A0DB66431580}"/>
              </a:ext>
            </a:extLst>
          </p:cNvPr>
          <p:cNvSpPr>
            <a:spLocks noGrp="1"/>
          </p:cNvSpPr>
          <p:nvPr/>
        </p:nvSpPr>
        <p:spPr>
          <a:xfrm>
            <a:off x="790956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ps-&gt;name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2A13CC96-443F-43C7-B643-AFA9EDA13A9E}"/>
              </a:ext>
            </a:extLst>
          </p:cNvPr>
          <p:cNvSpPr>
            <a:spLocks noGrp="1"/>
          </p:cNvSpPr>
          <p:nvPr/>
        </p:nvSpPr>
        <p:spPr>
          <a:xfrm>
            <a:off x="100584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6482D18-C4B5-4D40-8285-41CE8A250F6C}"/>
              </a:ext>
            </a:extLst>
          </p:cNvPr>
          <p:cNvSpPr>
            <a:spLocks noGrp="1"/>
          </p:cNvSpPr>
          <p:nvPr/>
        </p:nvSpPr>
        <p:spPr>
          <a:xfrm>
            <a:off x="114300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Access CGPA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C1E1BEE-06A1-47DB-951E-BCCC03993062}"/>
              </a:ext>
            </a:extLst>
          </p:cNvPr>
          <p:cNvSpPr>
            <a:spLocks noGrp="1"/>
          </p:cNvSpPr>
          <p:nvPr/>
        </p:nvSpPr>
        <p:spPr>
          <a:xfrm>
            <a:off x="438912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AD1AFC-628F-4C07-8DA4-D80BDF4F343E}"/>
              </a:ext>
            </a:extLst>
          </p:cNvPr>
          <p:cNvSpPr>
            <a:spLocks noGrp="1"/>
          </p:cNvSpPr>
          <p:nvPr/>
        </p:nvSpPr>
        <p:spPr>
          <a:xfrm>
            <a:off x="452628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s.cgpa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DCB31FA-E94E-4463-B6C0-E6E5A8953839}"/>
              </a:ext>
            </a:extLst>
          </p:cNvPr>
          <p:cNvSpPr>
            <a:spLocks noGrp="1"/>
          </p:cNvSpPr>
          <p:nvPr/>
        </p:nvSpPr>
        <p:spPr>
          <a:xfrm>
            <a:off x="777240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E53CC86-9EDE-4117-A790-B6A0BDE62467}"/>
              </a:ext>
            </a:extLst>
          </p:cNvPr>
          <p:cNvSpPr>
            <a:spLocks noGrp="1"/>
          </p:cNvSpPr>
          <p:nvPr/>
        </p:nvSpPr>
        <p:spPr>
          <a:xfrm>
            <a:off x="790956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ps-&gt;cgpa</a:t>
            </a: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23FD3DC-995B-4AD7-8978-3E16421F272F}"/>
              </a:ext>
            </a:extLst>
          </p:cNvPr>
          <p:cNvSpPr>
            <a:spLocks noGrp="1"/>
          </p:cNvSpPr>
          <p:nvPr/>
        </p:nvSpPr>
        <p:spPr>
          <a:xfrm>
            <a:off x="100584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A2B5047-EE4D-4F4D-91ED-408A2DA3A867}"/>
              </a:ext>
            </a:extLst>
          </p:cNvPr>
          <p:cNvSpPr>
            <a:spLocks noGrp="1"/>
          </p:cNvSpPr>
          <p:nvPr/>
        </p:nvSpPr>
        <p:spPr>
          <a:xfrm>
            <a:off x="114300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Equivalent form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E1C541C-D804-4918-A1C3-AEF17F0CF2E3}"/>
              </a:ext>
            </a:extLst>
          </p:cNvPr>
          <p:cNvSpPr>
            <a:spLocks noGrp="1"/>
          </p:cNvSpPr>
          <p:nvPr/>
        </p:nvSpPr>
        <p:spPr>
          <a:xfrm>
            <a:off x="438912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2E5BF38-988E-4A56-B8F0-E308EE02057A}"/>
              </a:ext>
            </a:extLst>
          </p:cNvPr>
          <p:cNvSpPr>
            <a:spLocks noGrp="1"/>
          </p:cNvSpPr>
          <p:nvPr/>
        </p:nvSpPr>
        <p:spPr>
          <a:xfrm>
            <a:off x="452628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(*ps).cgpa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3F3220-5812-4087-AAA3-B9D3345D0B5C}"/>
              </a:ext>
            </a:extLst>
          </p:cNvPr>
          <p:cNvSpPr>
            <a:spLocks noGrp="1"/>
          </p:cNvSpPr>
          <p:nvPr/>
        </p:nvSpPr>
        <p:spPr>
          <a:xfrm>
            <a:off x="777240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7AD4868-3E91-4BD0-8B95-0DDF6B76DDE7}"/>
              </a:ext>
            </a:extLst>
          </p:cNvPr>
          <p:cNvSpPr>
            <a:spLocks noGrp="1"/>
          </p:cNvSpPr>
          <p:nvPr/>
        </p:nvSpPr>
        <p:spPr>
          <a:xfrm>
            <a:off x="790956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ps-&gt;cgpa</a:t>
            </a: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9765EB1-0146-41D6-9AB2-A4D2B7D85088}"/>
              </a:ext>
            </a:extLst>
          </p:cNvPr>
          <p:cNvSpPr>
            <a:spLocks noGrp="1"/>
          </p:cNvSpPr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0299280-8B3F-4FEF-A795-FB3A4B38BF1E}"/>
              </a:ext>
            </a:extLst>
          </p:cNvPr>
          <p:cNvSpPr>
            <a:spLocks noGrp="1"/>
          </p:cNvSpPr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Key idea: ps-&gt;field is a readable form of (*ps).field.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8949ADC-AA8C-4E80-89C6-9D5A44CA0616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8">
            <a:extLst>
              <a:ext uri="{FF2B5EF4-FFF2-40B4-BE49-F238E27FC236}">
                <a16:creationId xmlns:a16="http://schemas.microsoft.com/office/drawing/2014/main" id="{502F47B7-B4C2-48BF-A60D-D5BA7731D071}"/>
              </a:ext>
            </a:extLst>
          </p:cNvPr>
          <p:cNvSpPr>
            <a:spLocks noGrp="1"/>
          </p:cNvSpPr>
          <p:nvPr/>
        </p:nvSpPr>
        <p:spPr>
          <a:xfrm>
            <a:off x="4443984" y="2035763"/>
            <a:ext cx="27706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Direct object</a:t>
            </a:r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BD14F360-2446-4CA6-8041-59ECAEB24B8D}"/>
              </a:ext>
            </a:extLst>
          </p:cNvPr>
          <p:cNvSpPr>
            <a:spLocks noGrp="1"/>
          </p:cNvSpPr>
          <p:nvPr/>
        </p:nvSpPr>
        <p:spPr>
          <a:xfrm>
            <a:off x="7772400" y="2058878"/>
            <a:ext cx="2880360" cy="50292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12700">
            <a:solidFill>
              <a:srgbClr val="0B1F3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10">
            <a:extLst>
              <a:ext uri="{FF2B5EF4-FFF2-40B4-BE49-F238E27FC236}">
                <a16:creationId xmlns:a16="http://schemas.microsoft.com/office/drawing/2014/main" id="{4BFB7A43-70F8-4D8E-A8EC-EEFB98B55C14}"/>
              </a:ext>
            </a:extLst>
          </p:cNvPr>
          <p:cNvSpPr>
            <a:spLocks noGrp="1"/>
          </p:cNvSpPr>
          <p:nvPr/>
        </p:nvSpPr>
        <p:spPr>
          <a:xfrm>
            <a:off x="7827264" y="2035763"/>
            <a:ext cx="2770632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Structure pointer</a:t>
            </a:r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7041434D-1CCB-47FA-BCAF-2B43DC856E22}"/>
              </a:ext>
            </a:extLst>
          </p:cNvPr>
          <p:cNvSpPr>
            <a:spLocks noGrp="1"/>
          </p:cNvSpPr>
          <p:nvPr/>
        </p:nvSpPr>
        <p:spPr>
          <a:xfrm>
            <a:off x="100584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12">
            <a:extLst>
              <a:ext uri="{FF2B5EF4-FFF2-40B4-BE49-F238E27FC236}">
                <a16:creationId xmlns:a16="http://schemas.microsoft.com/office/drawing/2014/main" id="{D9B53FA1-342C-4A89-A23C-CC172CE6FFB0}"/>
              </a:ext>
            </a:extLst>
          </p:cNvPr>
          <p:cNvSpPr>
            <a:spLocks noGrp="1"/>
          </p:cNvSpPr>
          <p:nvPr/>
        </p:nvSpPr>
        <p:spPr>
          <a:xfrm>
            <a:off x="114300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Access name</a:t>
            </a:r>
          </a:p>
        </p:txBody>
      </p:sp>
      <p:sp>
        <p:nvSpPr>
          <p:cNvPr id="67" name="Shape 13">
            <a:extLst>
              <a:ext uri="{FF2B5EF4-FFF2-40B4-BE49-F238E27FC236}">
                <a16:creationId xmlns:a16="http://schemas.microsoft.com/office/drawing/2014/main" id="{D7B70D5E-D295-4CF4-906C-53F4F8AF0503}"/>
              </a:ext>
            </a:extLst>
          </p:cNvPr>
          <p:cNvSpPr>
            <a:spLocks noGrp="1"/>
          </p:cNvSpPr>
          <p:nvPr/>
        </p:nvSpPr>
        <p:spPr>
          <a:xfrm>
            <a:off x="438912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14">
            <a:extLst>
              <a:ext uri="{FF2B5EF4-FFF2-40B4-BE49-F238E27FC236}">
                <a16:creationId xmlns:a16="http://schemas.microsoft.com/office/drawing/2014/main" id="{73981EEA-DB19-45D9-873E-13FC4512B503}"/>
              </a:ext>
            </a:extLst>
          </p:cNvPr>
          <p:cNvSpPr>
            <a:spLocks noGrp="1"/>
          </p:cNvSpPr>
          <p:nvPr/>
        </p:nvSpPr>
        <p:spPr>
          <a:xfrm>
            <a:off x="452628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s.name</a:t>
            </a:r>
          </a:p>
        </p:txBody>
      </p:sp>
      <p:sp>
        <p:nvSpPr>
          <p:cNvPr id="69" name="Shape 15">
            <a:extLst>
              <a:ext uri="{FF2B5EF4-FFF2-40B4-BE49-F238E27FC236}">
                <a16:creationId xmlns:a16="http://schemas.microsoft.com/office/drawing/2014/main" id="{23ABC15B-FB2F-48E5-9D9F-AE9FB4F1C8E9}"/>
              </a:ext>
            </a:extLst>
          </p:cNvPr>
          <p:cNvSpPr>
            <a:spLocks noGrp="1"/>
          </p:cNvSpPr>
          <p:nvPr/>
        </p:nvSpPr>
        <p:spPr>
          <a:xfrm>
            <a:off x="7772400" y="268862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E56ACA94-EF80-48EB-84DE-ABE8C06AC6BD}"/>
              </a:ext>
            </a:extLst>
          </p:cNvPr>
          <p:cNvSpPr>
            <a:spLocks noGrp="1"/>
          </p:cNvSpPr>
          <p:nvPr/>
        </p:nvSpPr>
        <p:spPr>
          <a:xfrm>
            <a:off x="7909560" y="278920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ps-&gt;name</a:t>
            </a:r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7754EF48-C2A9-417E-82C0-4B63BB7D0E21}"/>
              </a:ext>
            </a:extLst>
          </p:cNvPr>
          <p:cNvSpPr>
            <a:spLocks noGrp="1"/>
          </p:cNvSpPr>
          <p:nvPr/>
        </p:nvSpPr>
        <p:spPr>
          <a:xfrm>
            <a:off x="100584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18">
            <a:extLst>
              <a:ext uri="{FF2B5EF4-FFF2-40B4-BE49-F238E27FC236}">
                <a16:creationId xmlns:a16="http://schemas.microsoft.com/office/drawing/2014/main" id="{C86E429E-0987-4764-9214-F0D466F184D9}"/>
              </a:ext>
            </a:extLst>
          </p:cNvPr>
          <p:cNvSpPr>
            <a:spLocks noGrp="1"/>
          </p:cNvSpPr>
          <p:nvPr/>
        </p:nvSpPr>
        <p:spPr>
          <a:xfrm>
            <a:off x="114300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Access CGPA</a:t>
            </a:r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E2B52047-A601-454D-888F-FC1548EA8D22}"/>
              </a:ext>
            </a:extLst>
          </p:cNvPr>
          <p:cNvSpPr>
            <a:spLocks noGrp="1"/>
          </p:cNvSpPr>
          <p:nvPr/>
        </p:nvSpPr>
        <p:spPr>
          <a:xfrm>
            <a:off x="438912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20">
            <a:extLst>
              <a:ext uri="{FF2B5EF4-FFF2-40B4-BE49-F238E27FC236}">
                <a16:creationId xmlns:a16="http://schemas.microsoft.com/office/drawing/2014/main" id="{EB5D29DD-61EE-49DC-A2F8-9AED48C0F281}"/>
              </a:ext>
            </a:extLst>
          </p:cNvPr>
          <p:cNvSpPr>
            <a:spLocks noGrp="1"/>
          </p:cNvSpPr>
          <p:nvPr/>
        </p:nvSpPr>
        <p:spPr>
          <a:xfrm>
            <a:off x="452628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s.cgpa</a:t>
            </a:r>
          </a:p>
        </p:txBody>
      </p:sp>
      <p:sp>
        <p:nvSpPr>
          <p:cNvPr id="75" name="Shape 21">
            <a:extLst>
              <a:ext uri="{FF2B5EF4-FFF2-40B4-BE49-F238E27FC236}">
                <a16:creationId xmlns:a16="http://schemas.microsoft.com/office/drawing/2014/main" id="{79D3CB8A-103A-4031-B0DA-4E03C9AAE1E4}"/>
              </a:ext>
            </a:extLst>
          </p:cNvPr>
          <p:cNvSpPr>
            <a:spLocks noGrp="1"/>
          </p:cNvSpPr>
          <p:nvPr/>
        </p:nvSpPr>
        <p:spPr>
          <a:xfrm>
            <a:off x="7772400" y="346586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0AFE645F-8F7D-46A3-BE13-F8BF212E23E6}"/>
              </a:ext>
            </a:extLst>
          </p:cNvPr>
          <p:cNvSpPr>
            <a:spLocks noGrp="1"/>
          </p:cNvSpPr>
          <p:nvPr/>
        </p:nvSpPr>
        <p:spPr>
          <a:xfrm>
            <a:off x="7909560" y="356644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ps-&gt;cgpa</a:t>
            </a:r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D6DB0544-E8BD-4C45-8E7A-8950F20CBE12}"/>
              </a:ext>
            </a:extLst>
          </p:cNvPr>
          <p:cNvSpPr>
            <a:spLocks noGrp="1"/>
          </p:cNvSpPr>
          <p:nvPr/>
        </p:nvSpPr>
        <p:spPr>
          <a:xfrm>
            <a:off x="100584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A1AC00A5-E0C6-4F92-A069-1B59705E7F61}"/>
              </a:ext>
            </a:extLst>
          </p:cNvPr>
          <p:cNvSpPr>
            <a:spLocks noGrp="1"/>
          </p:cNvSpPr>
          <p:nvPr/>
        </p:nvSpPr>
        <p:spPr>
          <a:xfrm>
            <a:off x="114300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Equivalent form</a:t>
            </a:r>
          </a:p>
        </p:txBody>
      </p:sp>
      <p:sp>
        <p:nvSpPr>
          <p:cNvPr id="79" name="Shape 25">
            <a:extLst>
              <a:ext uri="{FF2B5EF4-FFF2-40B4-BE49-F238E27FC236}">
                <a16:creationId xmlns:a16="http://schemas.microsoft.com/office/drawing/2014/main" id="{83351060-C0DB-416D-BA37-6484F2F192ED}"/>
              </a:ext>
            </a:extLst>
          </p:cNvPr>
          <p:cNvSpPr>
            <a:spLocks noGrp="1"/>
          </p:cNvSpPr>
          <p:nvPr/>
        </p:nvSpPr>
        <p:spPr>
          <a:xfrm>
            <a:off x="438912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26">
            <a:extLst>
              <a:ext uri="{FF2B5EF4-FFF2-40B4-BE49-F238E27FC236}">
                <a16:creationId xmlns:a16="http://schemas.microsoft.com/office/drawing/2014/main" id="{134962B6-C7F0-4EB6-BA3A-EF154897D783}"/>
              </a:ext>
            </a:extLst>
          </p:cNvPr>
          <p:cNvSpPr>
            <a:spLocks noGrp="1"/>
          </p:cNvSpPr>
          <p:nvPr/>
        </p:nvSpPr>
        <p:spPr>
          <a:xfrm>
            <a:off x="452628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(*ps).cgpa</a:t>
            </a:r>
          </a:p>
        </p:txBody>
      </p:sp>
      <p:sp>
        <p:nvSpPr>
          <p:cNvPr id="81" name="Shape 27">
            <a:extLst>
              <a:ext uri="{FF2B5EF4-FFF2-40B4-BE49-F238E27FC236}">
                <a16:creationId xmlns:a16="http://schemas.microsoft.com/office/drawing/2014/main" id="{A3994617-0724-4F76-9AFB-11A08700F66F}"/>
              </a:ext>
            </a:extLst>
          </p:cNvPr>
          <p:cNvSpPr>
            <a:spLocks noGrp="1"/>
          </p:cNvSpPr>
          <p:nvPr/>
        </p:nvSpPr>
        <p:spPr>
          <a:xfrm>
            <a:off x="7772400" y="4243105"/>
            <a:ext cx="288036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28">
            <a:extLst>
              <a:ext uri="{FF2B5EF4-FFF2-40B4-BE49-F238E27FC236}">
                <a16:creationId xmlns:a16="http://schemas.microsoft.com/office/drawing/2014/main" id="{8C556A1B-571D-4D3F-A0ED-4D01F9E3A2ED}"/>
              </a:ext>
            </a:extLst>
          </p:cNvPr>
          <p:cNvSpPr>
            <a:spLocks noGrp="1"/>
          </p:cNvSpPr>
          <p:nvPr/>
        </p:nvSpPr>
        <p:spPr>
          <a:xfrm>
            <a:off x="7909560" y="4343689"/>
            <a:ext cx="2606040" cy="30175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6500" lnSpcReduction="20000"/>
          </a:bodyPr>
          <a:lstStyle/>
          <a:p>
            <a:pPr marL="0" indent="0" algn="ctr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ps-&gt;cgpa</a:t>
            </a:r>
          </a:p>
        </p:txBody>
      </p:sp>
      <p:sp>
        <p:nvSpPr>
          <p:cNvPr id="83" name="Shape 29">
            <a:extLst>
              <a:ext uri="{FF2B5EF4-FFF2-40B4-BE49-F238E27FC236}">
                <a16:creationId xmlns:a16="http://schemas.microsoft.com/office/drawing/2014/main" id="{BE187A4E-43E0-49ED-AFE9-A9FD423F4C3C}"/>
              </a:ext>
            </a:extLst>
          </p:cNvPr>
          <p:cNvSpPr>
            <a:spLocks noGrp="1"/>
          </p:cNvSpPr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EDEE"/>
          </a:solidFill>
          <a:ln w="12700">
            <a:solidFill>
              <a:srgbClr val="FDA29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5892F060-23F6-4582-AFA2-92FDE27B410B}"/>
              </a:ext>
            </a:extLst>
          </p:cNvPr>
          <p:cNvSpPr>
            <a:spLocks noGrp="1"/>
          </p:cNvSpPr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Key idea: ps-&gt;field is a readable form of (*ps).field.</a:t>
            </a:r>
          </a:p>
        </p:txBody>
      </p:sp>
    </p:spTree>
    <p:extLst>
      <p:ext uri="{BB962C8B-B14F-4D97-AF65-F5344CB8AC3E}">
        <p14:creationId xmlns:p14="http://schemas.microsoft.com/office/powerpoint/2010/main" val="2011776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CB83BA-B139-4895-AA6E-108500A6A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F67B98-8D87-4C65-A5D8-35FCF4EDA8B8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7BAB0D-5E90-4DF9-8D5A-FFB24795FD21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C7D914-A22B-4509-B0C8-75CD35D7D89E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Dynamic Memory: Main Idea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E2A3F6-558B-444D-ADBD-20E5722C497E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Heap memory is requested while the program is running.</a:t>
            </a:r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rcRect l="7978" r="7978"/>
          <a:stretch/>
        </p:blipFill>
        <p:spPr>
          <a:xfrm>
            <a:off x="685800" y="1600200"/>
            <a:ext cx="5120640" cy="3429000"/>
          </a:xfrm>
          <a:prstGeom prst="rect">
            <a:avLst/>
          </a:prstGeom>
        </p:spPr>
      </p:pic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rcRect l="7978" r="7978"/>
          <a:stretch/>
        </p:blipFill>
        <p:spPr>
          <a:xfrm>
            <a:off x="685800" y="1600200"/>
            <a:ext cx="5120640" cy="34290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F21C4E6-A934-4007-BAEB-2A308420CC59}"/>
              </a:ext>
            </a:extLst>
          </p:cNvPr>
          <p:cNvSpPr>
            <a:spLocks noGrp="1"/>
          </p:cNvSpPr>
          <p:nvPr/>
        </p:nvSpPr>
        <p:spPr>
          <a:xfrm>
            <a:off x="6217920" y="1828800"/>
            <a:ext cx="4846320" cy="155448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 fontScale="81520"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Use malloc or calloc when size is known only at run time.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The returned address is stored in a pointer.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The program must release the block using free.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A91944B-ECA9-41E2-8902-711B52AFDA9F}"/>
              </a:ext>
            </a:extLst>
          </p:cNvPr>
          <p:cNvSpPr>
            <a:spLocks noGrp="1"/>
          </p:cNvSpPr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49B0AC6-58A2-4CE4-B27F-AA61F5DEBFC7}"/>
              </a:ext>
            </a:extLst>
          </p:cNvPr>
          <p:cNvSpPr>
            <a:spLocks noGrp="1"/>
          </p:cNvSpPr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Analogy: Borrow a memory block, use it carefully, then return it.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016EA1F-B7F4-4645-BEC8-183137A145D4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3945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2C743C-15A1-43D6-B390-EAE146E64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13BB2F-3B41-497A-AADC-B73C6534C9FC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3F842B4-C95E-47DF-AC2D-B88C646C96A4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9598CCE-4EBB-484B-AB9B-2D0975835AA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Dynamic Memory = Request + Check + Release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49C08E-761E-4345-A6EA-891A0B9C0DF3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A safe allocation sequence has three essential responsibilities.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CCEDDCE-7249-45A3-BBDE-FE9FE8E66146}"/>
              </a:ext>
            </a:extLst>
          </p:cNvPr>
          <p:cNvSpPr>
            <a:spLocks noGrp="1"/>
          </p:cNvSpPr>
          <p:nvPr/>
        </p:nvSpPr>
        <p:spPr>
          <a:xfrm>
            <a:off x="86868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73A6460-29DA-4A5C-8977-DD074C5B1D2F}"/>
              </a:ext>
            </a:extLst>
          </p:cNvPr>
          <p:cNvSpPr>
            <a:spLocks noGrp="1"/>
          </p:cNvSpPr>
          <p:nvPr/>
        </p:nvSpPr>
        <p:spPr>
          <a:xfrm>
            <a:off x="1005840" y="1975104"/>
            <a:ext cx="274320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Request</a:t>
            </a:r>
          </a:p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malloc / calloc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A12BEC-496B-4C8B-A0FB-3CAB7C17FC5B}"/>
              </a:ext>
            </a:extLst>
          </p:cNvPr>
          <p:cNvSpPr>
            <a:spLocks noGrp="1"/>
          </p:cNvSpPr>
          <p:nvPr/>
        </p:nvSpPr>
        <p:spPr>
          <a:xfrm>
            <a:off x="461772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7C429E-8C74-4FDA-9C53-58B7E4B4D106}"/>
              </a:ext>
            </a:extLst>
          </p:cNvPr>
          <p:cNvSpPr>
            <a:spLocks noGrp="1"/>
          </p:cNvSpPr>
          <p:nvPr/>
        </p:nvSpPr>
        <p:spPr>
          <a:xfrm>
            <a:off x="4754880" y="1975104"/>
            <a:ext cx="274320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Check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pointer != NULL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BF68575-01ED-4AA1-9AE8-4D1AA62B5002}"/>
              </a:ext>
            </a:extLst>
          </p:cNvPr>
          <p:cNvSpPr>
            <a:spLocks noGrp="1"/>
          </p:cNvSpPr>
          <p:nvPr/>
        </p:nvSpPr>
        <p:spPr>
          <a:xfrm>
            <a:off x="8366760" y="1874520"/>
            <a:ext cx="3017520" cy="1005840"/>
          </a:xfrm>
          <a:prstGeom prst="roundRect">
            <a:avLst>
              <a:gd name="adj" fmla="val 5455"/>
            </a:avLst>
          </a:prstGeom>
          <a:solidFill>
            <a:srgbClr val="F4EEFF"/>
          </a:solidFill>
          <a:ln w="12700">
            <a:solidFill>
              <a:srgbClr val="D6BB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6E8D942-5FD8-4C4E-801C-DCF19D4AFE24}"/>
              </a:ext>
            </a:extLst>
          </p:cNvPr>
          <p:cNvSpPr>
            <a:spLocks noGrp="1"/>
          </p:cNvSpPr>
          <p:nvPr/>
        </p:nvSpPr>
        <p:spPr>
          <a:xfrm>
            <a:off x="8503920" y="1975104"/>
            <a:ext cx="2743200" cy="8046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Release</a:t>
            </a:r>
          </a:p>
          <a:p>
            <a:pPr marL="0" indent="0" algn="ctr">
              <a:buNone/>
            </a:pPr>
            <a:r>
              <a:rPr sz="2500" b="1">
                <a:solidFill>
                  <a:srgbClr val="6D28D9"/>
                </a:solidFill>
                <a:latin typeface="Times New Roman"/>
                <a:ea typeface="Times New Roman"/>
                <a:cs typeface="Times New Roman"/>
              </a:rPr>
              <a:t>free(pointer)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9B82175-8403-422E-B45F-10BD34F1FF97}"/>
              </a:ext>
            </a:extLst>
          </p:cNvPr>
          <p:cNvSpPr>
            <a:spLocks noGrp="1"/>
          </p:cNvSpPr>
          <p:nvPr/>
        </p:nvSpPr>
        <p:spPr>
          <a:xfrm>
            <a:off x="1051560" y="3931920"/>
            <a:ext cx="10058400" cy="6400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Example: int *a = malloc(n * sizeof *a);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F32F801-C83A-4D35-9277-FE6BA3613954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6747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6E569A-27FE-4D9A-9B84-A8074EFC6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0BAF4-429D-4DB3-AD5C-22055ED5A426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E61B64-3566-481A-AF6F-D8B211BDA001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1AF1B0-085D-4C3E-BFF9-75F8DFB4D159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Heap Allocation in C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E63BC23-9AF1-4A95-B34D-0C6A31D38B7F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malloc reserves bytes; free returns the same block to the heap.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C904A6-4C72-49A1-B102-7EF148AD4C92}"/>
              </a:ext>
            </a:extLst>
          </p:cNvPr>
          <p:cNvSpPr>
            <a:spLocks noGrp="1"/>
          </p:cNvSpPr>
          <p:nvPr/>
        </p:nvSpPr>
        <p:spPr>
          <a:xfrm>
            <a:off x="1280160" y="182880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BB17864F-C6B7-4219-9AA6-88D750AD15E4}"/>
              </a:ext>
            </a:extLst>
          </p:cNvPr>
          <p:cNvSpPr>
            <a:spLocks noGrp="1"/>
          </p:cNvSpPr>
          <p:nvPr/>
        </p:nvSpPr>
        <p:spPr>
          <a:xfrm>
            <a:off x="1280160" y="182880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3E8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FB659F6-B0C5-427D-A059-7355C9ADA172}"/>
              </a:ext>
            </a:extLst>
          </p:cNvPr>
          <p:cNvSpPr>
            <a:spLocks noGrp="1"/>
          </p:cNvSpPr>
          <p:nvPr/>
        </p:nvSpPr>
        <p:spPr>
          <a:xfrm>
            <a:off x="1417320" y="1929384"/>
            <a:ext cx="2468880" cy="2560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67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byte 4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DA9F6BC-1C1F-4888-9DC8-BD2247A1104D}"/>
              </a:ext>
            </a:extLst>
          </p:cNvPr>
          <p:cNvSpPr>
            <a:spLocks noGrp="1"/>
          </p:cNvSpPr>
          <p:nvPr/>
        </p:nvSpPr>
        <p:spPr>
          <a:xfrm>
            <a:off x="1280160" y="239572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F1D4FDC-1DD0-46E4-BE5A-1AAECF21C48F}"/>
              </a:ext>
            </a:extLst>
          </p:cNvPr>
          <p:cNvSpPr>
            <a:spLocks noGrp="1"/>
          </p:cNvSpPr>
          <p:nvPr/>
        </p:nvSpPr>
        <p:spPr>
          <a:xfrm>
            <a:off x="1417320" y="2496312"/>
            <a:ext cx="2468880" cy="2560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67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byte 3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38F98D8-B8AE-4890-B132-E8A09F99FCE1}"/>
              </a:ext>
            </a:extLst>
          </p:cNvPr>
          <p:cNvSpPr>
            <a:spLocks noGrp="1"/>
          </p:cNvSpPr>
          <p:nvPr/>
        </p:nvSpPr>
        <p:spPr>
          <a:xfrm>
            <a:off x="1280160" y="2962656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1F130CE-5750-4C4F-AF88-F4675C80A319}"/>
              </a:ext>
            </a:extLst>
          </p:cNvPr>
          <p:cNvSpPr>
            <a:spLocks noGrp="1"/>
          </p:cNvSpPr>
          <p:nvPr/>
        </p:nvSpPr>
        <p:spPr>
          <a:xfrm>
            <a:off x="1417320" y="3063240"/>
            <a:ext cx="2468880" cy="2560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67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byte 2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06C856E-437F-499E-B59A-E6A84C6F53E4}"/>
              </a:ext>
            </a:extLst>
          </p:cNvPr>
          <p:cNvSpPr>
            <a:spLocks noGrp="1"/>
          </p:cNvSpPr>
          <p:nvPr/>
        </p:nvSpPr>
        <p:spPr>
          <a:xfrm>
            <a:off x="1280160" y="3529584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BB4886-1A2E-49AE-B123-B412A0C9F3EF}"/>
              </a:ext>
            </a:extLst>
          </p:cNvPr>
          <p:cNvSpPr>
            <a:spLocks noGrp="1"/>
          </p:cNvSpPr>
          <p:nvPr/>
        </p:nvSpPr>
        <p:spPr>
          <a:xfrm>
            <a:off x="1417320" y="3630168"/>
            <a:ext cx="2468880" cy="2560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67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byte 1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231A583-A1FC-48E5-83F9-86B807F35FAF}"/>
              </a:ext>
            </a:extLst>
          </p:cNvPr>
          <p:cNvSpPr>
            <a:spLocks noGrp="1"/>
          </p:cNvSpPr>
          <p:nvPr/>
        </p:nvSpPr>
        <p:spPr>
          <a:xfrm>
            <a:off x="4251960" y="1691640"/>
            <a:ext cx="457200" cy="731520"/>
          </a:xfrm>
          <a:prstGeom prst="up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07DEF6-A327-4470-8A5D-F9327CD0911D}"/>
              </a:ext>
            </a:extLst>
          </p:cNvPr>
          <p:cNvSpPr>
            <a:spLocks noGrp="1"/>
          </p:cNvSpPr>
          <p:nvPr/>
        </p:nvSpPr>
        <p:spPr>
          <a:xfrm>
            <a:off x="4800600" y="1828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malloc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F8A6911-08CA-46F4-B4AC-B6AD5B11CB9A}"/>
              </a:ext>
            </a:extLst>
          </p:cNvPr>
          <p:cNvSpPr>
            <a:spLocks noGrp="1"/>
          </p:cNvSpPr>
          <p:nvPr/>
        </p:nvSpPr>
        <p:spPr>
          <a:xfrm>
            <a:off x="4251960" y="2834640"/>
            <a:ext cx="457200" cy="731520"/>
          </a:xfrm>
          <a:prstGeom prst="downArrow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AF9E6AB-5630-4053-9EE2-1F526FDA4B29}"/>
              </a:ext>
            </a:extLst>
          </p:cNvPr>
          <p:cNvSpPr>
            <a:spLocks noGrp="1"/>
          </p:cNvSpPr>
          <p:nvPr/>
        </p:nvSpPr>
        <p:spPr>
          <a:xfrm>
            <a:off x="4800600" y="297180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free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E7A033D-2397-4D00-B831-FD7652687E9D}"/>
              </a:ext>
            </a:extLst>
          </p:cNvPr>
          <p:cNvSpPr>
            <a:spLocks noGrp="1"/>
          </p:cNvSpPr>
          <p:nvPr/>
        </p:nvSpPr>
        <p:spPr>
          <a:xfrm>
            <a:off x="6400800" y="1737360"/>
            <a:ext cx="4663440" cy="219456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int *p = malloc(4 * sizeof *p);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check p != NULL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use p[0] ... p[3]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free(p); p = NULL;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83F03C-1934-447B-84EA-7AA208B0E771}"/>
              </a:ext>
            </a:extLst>
          </p:cNvPr>
          <p:cNvSpPr>
            <a:spLocks noGrp="1"/>
          </p:cNvSpPr>
          <p:nvPr/>
        </p:nvSpPr>
        <p:spPr>
          <a:xfrm>
            <a:off x="822960" y="5559552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414E57E-5B9C-4843-962E-8F59951B6134}"/>
              </a:ext>
            </a:extLst>
          </p:cNvPr>
          <p:cNvSpPr>
            <a:spLocks noGrp="1"/>
          </p:cNvSpPr>
          <p:nvPr/>
        </p:nvSpPr>
        <p:spPr>
          <a:xfrm>
            <a:off x="1051560" y="5687568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Question: Why should p not be used after free(p)?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2C52E57-AE5C-4D29-8C0F-48A955BC15BE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0A85BDD4-3A2C-474F-A8A5-35CE640269C3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0979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E72CC7-0D53-48D0-9B02-B131E6D700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3E50E6-4EA4-4D07-876E-06F8D2A4D261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5AC801-035C-47CC-A3B0-735E9ABAE2C1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59EB72-7F9D-4405-9E5F-CC514F2F334B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Growth Notation Describes Algorithm Performance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0F8D3C-2E3A-4271-8671-6ED36CF397AA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Focus on how cost changes when input size n becomes large.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BB0F2AA-E371-4CD9-B265-76405D02A596}"/>
              </a:ext>
            </a:extLst>
          </p:cNvPr>
          <p:cNvSpPr>
            <a:spLocks noGrp="1"/>
          </p:cNvSpPr>
          <p:nvPr/>
        </p:nvSpPr>
        <p:spPr>
          <a:xfrm>
            <a:off x="914400" y="2596896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F278EEC9-C5C0-4065-AD06-92A42613A1FB}"/>
              </a:ext>
            </a:extLst>
          </p:cNvPr>
          <p:cNvSpPr>
            <a:spLocks noGrp="1"/>
          </p:cNvSpPr>
          <p:nvPr/>
        </p:nvSpPr>
        <p:spPr>
          <a:xfrm>
            <a:off x="914400" y="2596896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1A901D-CF93-4139-9405-830116273C79}"/>
              </a:ext>
            </a:extLst>
          </p:cNvPr>
          <p:cNvSpPr>
            <a:spLocks noGrp="1"/>
          </p:cNvSpPr>
          <p:nvPr/>
        </p:nvSpPr>
        <p:spPr>
          <a:xfrm>
            <a:off x="1051560" y="2697480"/>
            <a:ext cx="2468880" cy="7132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80527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T(n)</a:t>
            </a:r>
          </a:p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actual operation count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569B87D-8E09-42A4-9A53-D61248D686EB}"/>
              </a:ext>
            </a:extLst>
          </p:cNvPr>
          <p:cNvSpPr>
            <a:spLocks noGrp="1"/>
          </p:cNvSpPr>
          <p:nvPr/>
        </p:nvSpPr>
        <p:spPr>
          <a:xfrm>
            <a:off x="402336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4CC179C-B4B6-407C-AC28-08DB6AA89DAC}"/>
              </a:ext>
            </a:extLst>
          </p:cNvPr>
          <p:cNvSpPr>
            <a:spLocks noGrp="1"/>
          </p:cNvSpPr>
          <p:nvPr/>
        </p:nvSpPr>
        <p:spPr>
          <a:xfrm>
            <a:off x="4983480" y="2267712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5C74C0-8200-4430-A24F-2F35E6F582EA}"/>
              </a:ext>
            </a:extLst>
          </p:cNvPr>
          <p:cNvSpPr>
            <a:spLocks noGrp="1"/>
          </p:cNvSpPr>
          <p:nvPr/>
        </p:nvSpPr>
        <p:spPr>
          <a:xfrm>
            <a:off x="5120640" y="2377440"/>
            <a:ext cx="2468880" cy="548640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719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O(g(n))</a:t>
            </a:r>
          </a:p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upper growth bound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3C358E2-B444-43C0-8193-7A9521611966}"/>
              </a:ext>
            </a:extLst>
          </p:cNvPr>
          <p:cNvSpPr>
            <a:spLocks noGrp="1"/>
          </p:cNvSpPr>
          <p:nvPr/>
        </p:nvSpPr>
        <p:spPr>
          <a:xfrm>
            <a:off x="4983480" y="3374136"/>
            <a:ext cx="2743200" cy="749808"/>
          </a:xfrm>
          <a:prstGeom prst="roundRect">
            <a:avLst>
              <a:gd name="adj" fmla="val 7317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5D9D2A-188F-4C96-B7EB-2FF6B78B6829}"/>
              </a:ext>
            </a:extLst>
          </p:cNvPr>
          <p:cNvSpPr>
            <a:spLocks noGrp="1"/>
          </p:cNvSpPr>
          <p:nvPr/>
        </p:nvSpPr>
        <p:spPr>
          <a:xfrm>
            <a:off x="5120640" y="3474720"/>
            <a:ext cx="2468880" cy="548640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719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Ω(g(n))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lower growth bound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70A1116-AEAF-45E0-9096-BB6D96619C20}"/>
              </a:ext>
            </a:extLst>
          </p:cNvPr>
          <p:cNvSpPr>
            <a:spLocks noGrp="1"/>
          </p:cNvSpPr>
          <p:nvPr/>
        </p:nvSpPr>
        <p:spPr>
          <a:xfrm>
            <a:off x="809244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BF28A0E-19C1-48DE-B0DA-9FE7374A3AD8}"/>
              </a:ext>
            </a:extLst>
          </p:cNvPr>
          <p:cNvSpPr>
            <a:spLocks noGrp="1"/>
          </p:cNvSpPr>
          <p:nvPr/>
        </p:nvSpPr>
        <p:spPr>
          <a:xfrm>
            <a:off x="9144000" y="2596896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D3196C8-C929-477A-8F16-790BCBEEE7C1}"/>
              </a:ext>
            </a:extLst>
          </p:cNvPr>
          <p:cNvSpPr>
            <a:spLocks noGrp="1"/>
          </p:cNvSpPr>
          <p:nvPr/>
        </p:nvSpPr>
        <p:spPr>
          <a:xfrm>
            <a:off x="9281160" y="2697480"/>
            <a:ext cx="2011680" cy="7132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76825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Θ(g(n))</a:t>
            </a:r>
          </a:p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tight growth bound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F69F0EA-C797-4203-8562-788F43E7388D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D5EDF15-B90D-4487-A84A-94B0DAB603C7}"/>
              </a:ext>
            </a:extLst>
          </p:cNvPr>
          <p:cNvSpPr>
            <a:spLocks noGrp="1"/>
          </p:cNvSpPr>
          <p:nvPr/>
        </p:nvSpPr>
        <p:spPr>
          <a:xfrm>
            <a:off x="1051560" y="529437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Key idea: 3n² + 5n + 8 belongs to Θ(n²).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D4B75A4-F13E-41DA-B077-A48F5FF5D270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106198CD-357D-45C3-9F67-20FC4CDFEF77}"/>
              </a:ext>
            </a:extLst>
          </p:cNvPr>
          <p:cNvSpPr>
            <a:spLocks noGrp="1"/>
          </p:cNvSpPr>
          <p:nvPr/>
        </p:nvSpPr>
        <p:spPr>
          <a:xfrm>
            <a:off x="5120640" y="3474720"/>
            <a:ext cx="2468880" cy="548640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71900" lnSpcReduction="1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Ω(g(n))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lower growth bound</a:t>
            </a:r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6716AB0C-1519-4EC2-B4F2-D1C0481933FD}"/>
              </a:ext>
            </a:extLst>
          </p:cNvPr>
          <p:cNvSpPr>
            <a:spLocks noGrp="1"/>
          </p:cNvSpPr>
          <p:nvPr/>
        </p:nvSpPr>
        <p:spPr>
          <a:xfrm>
            <a:off x="8092440" y="2889504"/>
            <a:ext cx="640080" cy="320040"/>
          </a:xfrm>
          <a:prstGeom prst="rightArrow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D2E5FBF2-B951-4F9B-BE86-1F3C3F5F5A00}"/>
              </a:ext>
            </a:extLst>
          </p:cNvPr>
          <p:cNvSpPr>
            <a:spLocks noGrp="1"/>
          </p:cNvSpPr>
          <p:nvPr/>
        </p:nvSpPr>
        <p:spPr>
          <a:xfrm>
            <a:off x="9144000" y="2596896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EDCEDEE8-5A35-4D23-9DC0-5FA49EDFF874}"/>
              </a:ext>
            </a:extLst>
          </p:cNvPr>
          <p:cNvSpPr>
            <a:spLocks noGrp="1"/>
          </p:cNvSpPr>
          <p:nvPr/>
        </p:nvSpPr>
        <p:spPr>
          <a:xfrm>
            <a:off x="9281160" y="2697480"/>
            <a:ext cx="2011680" cy="7132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76825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Θ(g(n))</a:t>
            </a:r>
          </a:p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tight growth bound</a:t>
            </a: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F20D914A-5711-411F-ABEC-F379493A7140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096C0220-F129-4CB9-B5CD-A0FCBEAD099D}"/>
              </a:ext>
            </a:extLst>
          </p:cNvPr>
          <p:cNvSpPr>
            <a:spLocks noGrp="1"/>
          </p:cNvSpPr>
          <p:nvPr/>
        </p:nvSpPr>
        <p:spPr>
          <a:xfrm>
            <a:off x="1051560" y="529437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Key idea: 3n² + 5n + 8 belongs to Θ(n²).</a:t>
            </a: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79E7D562-7A33-4521-8F44-3BB4A9DCB738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394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E0E88C-1036-4B2C-A640-9EB7C7A89C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498437-E5B2-448E-A507-C0E7DE27FED4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FD5B60-C7A0-47C0-8307-F713E84503D8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741996-A3A9-4EF4-909B-9D4E5ED77731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Analyse Loops by Counting Repeated Work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9F103B-58C9-4EEF-81D7-1686BCCFA375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Consecutive blocks add their costs; nested loops multiply them.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9454F31-633F-4E37-8FB0-17E5AE2BDF78}"/>
              </a:ext>
            </a:extLst>
          </p:cNvPr>
          <p:cNvSpPr>
            <a:spLocks noGrp="1"/>
          </p:cNvSpPr>
          <p:nvPr/>
        </p:nvSpPr>
        <p:spPr>
          <a:xfrm>
            <a:off x="868680" y="1600200"/>
            <a:ext cx="5166360" cy="2834640"/>
          </a:xfrm>
          <a:prstGeom prst="roundRect">
            <a:avLst>
              <a:gd name="adj" fmla="val 129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020D5AB-96AC-4353-96FA-C1F2864B7D21}"/>
              </a:ext>
            </a:extLst>
          </p:cNvPr>
          <p:cNvSpPr>
            <a:spLocks noGrp="1"/>
          </p:cNvSpPr>
          <p:nvPr/>
        </p:nvSpPr>
        <p:spPr>
          <a:xfrm>
            <a:off x="1005840" y="1737360"/>
            <a:ext cx="4892040" cy="25603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fontScale="96811"/>
          </a:bodyPr>
          <a:lstStyle/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    sum += a[i];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marL="0" indent="0">
              <a:buNone/>
            </a:pPr>
            <a:endParaRPr sz="2500">
              <a:solidFill>
                <a:srgbClr val="F9FAFB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sz="2500"/>
              <a:t>for (int i = 0; i &lt; n; i++)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  for (int j = 0; j &lt; n; j++)</a:t>
            </a:r>
          </a:p>
          <a:p>
            <a:pPr marL="0" indent="0">
              <a:buNone/>
            </a:pPr>
            <a:r>
              <a:rPr sz="2500">
                <a:solidFill>
                  <a:srgbClr val="F9FAFB"/>
                </a:solidFill>
                <a:latin typeface="Consolas"/>
                <a:ea typeface="Consolas"/>
                <a:cs typeface="Consolas"/>
              </a:rPr>
              <a:t>    count++;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0547D00-721B-4F40-A73A-E049B4F84B86}"/>
              </a:ext>
            </a:extLst>
          </p:cNvPr>
          <p:cNvSpPr>
            <a:spLocks noGrp="1"/>
          </p:cNvSpPr>
          <p:nvPr/>
        </p:nvSpPr>
        <p:spPr>
          <a:xfrm>
            <a:off x="6400800" y="1737360"/>
            <a:ext cx="4663440" cy="196596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First loop performs Θ(n) work.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Nested loops perform Θ(n²) work.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Keep the dominant term for large n.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416ED3E-21F2-445F-A6B9-6AC02854E2CC}"/>
              </a:ext>
            </a:extLst>
          </p:cNvPr>
          <p:cNvSpPr>
            <a:spLocks noGrp="1"/>
          </p:cNvSpPr>
          <p:nvPr/>
        </p:nvSpPr>
        <p:spPr>
          <a:xfrm>
            <a:off x="822960" y="544068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FBFFC26-FC6F-4D3D-9E14-10363FF5FB08}"/>
              </a:ext>
            </a:extLst>
          </p:cNvPr>
          <p:cNvSpPr>
            <a:spLocks noGrp="1"/>
          </p:cNvSpPr>
          <p:nvPr/>
        </p:nvSpPr>
        <p:spPr>
          <a:xfrm>
            <a:off x="1051560" y="556869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Space question: Does either loop allocate an n-element auxiliary array?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819414F-16B4-4819-87AB-F9C430B0FE2A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820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7A20FA-1ABC-4839-B915-8E0C5337A1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463BC75-5585-4E4B-8832-E429F7293863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6C1494-9360-47BE-922C-916383C545B0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99E2F56-E814-4B55-A81D-0134BF59A2B9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Classroom Analysis: Find Time and Extra Space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03B669-F703-479F-9A93-581C2A4AB38A}"/>
              </a:ext>
            </a:extLst>
          </p:cNvPr>
          <p:cNvSpPr>
            <a:spLocks noGrp="1"/>
          </p:cNvSpPr>
          <p:nvPr/>
        </p:nvSpPr>
        <p:spPr>
          <a:xfrm>
            <a:off x="530352" y="117043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Trace the code first; then state complexity using n.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2B3BAB6-860D-45D4-A184-B1117B003B18}"/>
              </a:ext>
            </a:extLst>
          </p:cNvPr>
          <p:cNvSpPr>
            <a:spLocks noGrp="1"/>
          </p:cNvSpPr>
          <p:nvPr/>
        </p:nvSpPr>
        <p:spPr>
          <a:xfrm>
            <a:off x="845820" y="2176272"/>
            <a:ext cx="10469880" cy="685800"/>
          </a:xfrm>
          <a:prstGeom prst="roundRect">
            <a:avLst>
              <a:gd name="adj" fmla="val 8000"/>
            </a:avLst>
          </a:prstGeom>
          <a:solidFill>
            <a:srgbClr val="FFF3E8"/>
          </a:solidFill>
          <a:ln w="12700">
            <a:solidFill>
              <a:srgbClr val="FEDF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D1D041-122A-4CBD-B243-5FEE5684409F}"/>
              </a:ext>
            </a:extLst>
          </p:cNvPr>
          <p:cNvSpPr>
            <a:spLocks noGrp="1"/>
          </p:cNvSpPr>
          <p:nvPr/>
        </p:nvSpPr>
        <p:spPr>
          <a:xfrm>
            <a:off x="1010412" y="2212848"/>
            <a:ext cx="10012680" cy="6492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Problem: Count how many pairs are tested in the nested loops.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621490-6EB9-41FD-9E6C-3E3DD3AAC568}"/>
              </a:ext>
            </a:extLst>
          </p:cNvPr>
          <p:cNvSpPr>
            <a:spLocks noGrp="1"/>
          </p:cNvSpPr>
          <p:nvPr/>
        </p:nvSpPr>
        <p:spPr>
          <a:xfrm>
            <a:off x="1143000" y="3392424"/>
            <a:ext cx="5120640" cy="182880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 fontScale="92905"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How many times does the outer loop run?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How many times does the inner statement run?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What is the dominant term?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Is extra storage dependent on n?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75E6A7-BF69-4BF5-B675-21471DB636DA}"/>
              </a:ext>
            </a:extLst>
          </p:cNvPr>
          <p:cNvSpPr>
            <a:spLocks noGrp="1"/>
          </p:cNvSpPr>
          <p:nvPr/>
        </p:nvSpPr>
        <p:spPr>
          <a:xfrm>
            <a:off x="6766560" y="3483864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CC09CC-1455-4B6E-A440-CAA2406FBF3A}"/>
              </a:ext>
            </a:extLst>
          </p:cNvPr>
          <p:cNvSpPr>
            <a:spLocks noGrp="1"/>
          </p:cNvSpPr>
          <p:nvPr/>
        </p:nvSpPr>
        <p:spPr>
          <a:xfrm>
            <a:off x="6903720" y="3584448"/>
            <a:ext cx="3840480" cy="117043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52931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for (i=0; i&lt;n; i++)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  for (j=0; j&lt;n; j++)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    count++;</a:t>
            </a:r>
          </a:p>
          <a:p>
            <a:pPr marL="0" indent="0" algn="ctr">
              <a:buNone/>
            </a:pPr>
            <a:endParaRPr sz="2500" b="1">
              <a:solidFill>
                <a:srgbClr val="15803D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Time: Θ(n²)</a:t>
            </a:r>
          </a:p>
          <a:p>
            <a:pPr marL="0" indent="0" algn="ctr">
              <a:buNone/>
            </a:pPr>
            <a:r>
              <a:rPr sz="2500" b="1">
                <a:solidFill>
                  <a:srgbClr val="15803D"/>
                </a:solidFill>
                <a:latin typeface="Times New Roman"/>
                <a:ea typeface="Times New Roman"/>
                <a:cs typeface="Times New Roman"/>
              </a:rPr>
              <a:t>Extra space: Θ(1)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F2C55D2-EFF6-4E4E-8691-EBA8A19592A7}"/>
              </a:ext>
            </a:extLst>
          </p:cNvPr>
          <p:cNvSpPr>
            <a:spLocks noGrp="1"/>
          </p:cNvSpPr>
          <p:nvPr/>
        </p:nvSpPr>
        <p:spPr>
          <a:xfrm>
            <a:off x="411480" y="6574536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7344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7533E20-CCE5-4CB3-9985-28886C9D1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5"/>
          </a:solidFill>
          <a:ln w="12700">
            <a:solidFill>
              <a:srgbClr val="0B1F3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B523D2-1A9B-4483-BF4E-CD2AB5B5BE03}"/>
              </a:ext>
            </a:extLst>
          </p:cNvPr>
          <p:cNvSpPr>
            <a:spLocks noGrp="1"/>
          </p:cNvSpPr>
          <p:nvPr/>
        </p:nvSpPr>
        <p:spPr>
          <a:xfrm>
            <a:off x="228600" y="57150"/>
            <a:ext cx="475488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TCS302: Data Structures with C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F80207-430B-4F68-884E-7445D5616AD6}"/>
              </a:ext>
            </a:extLst>
          </p:cNvPr>
          <p:cNvSpPr>
            <a:spLocks noGrp="1"/>
          </p:cNvSpPr>
          <p:nvPr/>
        </p:nvSpPr>
        <p:spPr>
          <a:xfrm>
            <a:off x="8686800" y="57150"/>
            <a:ext cx="3246120" cy="3619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2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Unit 1 | Lectures 3 &amp; 4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E8CF23-E06F-4C75-8B9D-B7A58EB653B7}"/>
              </a:ext>
            </a:extLst>
          </p:cNvPr>
          <p:cNvSpPr>
            <a:spLocks noGrp="1"/>
          </p:cNvSpPr>
          <p:nvPr/>
        </p:nvSpPr>
        <p:spPr>
          <a:xfrm>
            <a:off x="502920" y="713232"/>
            <a:ext cx="11155680" cy="43891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6800" lnSpcReduction="10000"/>
          </a:bodyPr>
          <a:lstStyle/>
          <a:p>
            <a:pPr marL="0" indent="0">
              <a:buNone/>
            </a:pPr>
            <a:r>
              <a:rPr sz="375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Time–Space Trade-off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F2DAEEF-432E-475D-B28B-13FE3CEAF111}"/>
              </a:ext>
            </a:extLst>
          </p:cNvPr>
          <p:cNvSpPr>
            <a:spLocks noGrp="1"/>
          </p:cNvSpPr>
          <p:nvPr/>
        </p:nvSpPr>
        <p:spPr>
          <a:xfrm>
            <a:off x="530352" y="1225296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5000"/>
          </a:bodyPr>
          <a:lstStyle/>
          <a:p>
            <a:pPr marL="0" indent="0">
              <a:buNone/>
            </a:pPr>
            <a:r>
              <a:rPr sz="2800">
                <a:solidFill>
                  <a:srgbClr val="475467"/>
                </a:solidFill>
                <a:latin typeface="Times New Roman"/>
                <a:ea typeface="Times New Roman"/>
                <a:cs typeface="Times New Roman"/>
              </a:rPr>
              <a:t>A faster operation may require additional memory.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BA625F3-55E2-4300-886D-4796AC94E466}"/>
              </a:ext>
            </a:extLst>
          </p:cNvPr>
          <p:cNvSpPr>
            <a:spLocks noGrp="1"/>
          </p:cNvSpPr>
          <p:nvPr/>
        </p:nvSpPr>
        <p:spPr>
          <a:xfrm>
            <a:off x="822960" y="2176272"/>
            <a:ext cx="5166360" cy="5486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2700">
            <a:solidFill>
              <a:srgbClr val="84C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758D51-E1F7-49BA-9F5F-2FDC8CDEBA2A}"/>
              </a:ext>
            </a:extLst>
          </p:cNvPr>
          <p:cNvSpPr>
            <a:spLocks noGrp="1"/>
          </p:cNvSpPr>
          <p:nvPr/>
        </p:nvSpPr>
        <p:spPr>
          <a:xfrm>
            <a:off x="960120" y="2276856"/>
            <a:ext cx="4892040" cy="3474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91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Using less memory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9CB7ED-68CB-4D27-B2FA-36FCE48C7C1B}"/>
              </a:ext>
            </a:extLst>
          </p:cNvPr>
          <p:cNvSpPr>
            <a:spLocks noGrp="1"/>
          </p:cNvSpPr>
          <p:nvPr/>
        </p:nvSpPr>
        <p:spPr>
          <a:xfrm>
            <a:off x="960120" y="3044952"/>
            <a:ext cx="4800600" cy="164592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Linear search: O(n) time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Extra space: O(1)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No preprocessing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47E1FB6-9EBD-46E6-9888-47AA6C09B5E8}"/>
              </a:ext>
            </a:extLst>
          </p:cNvPr>
          <p:cNvSpPr>
            <a:spLocks noGrp="1"/>
          </p:cNvSpPr>
          <p:nvPr/>
        </p:nvSpPr>
        <p:spPr>
          <a:xfrm>
            <a:off x="6355080" y="2176272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FF8DB"/>
          </a:solidFill>
          <a:ln w="12700">
            <a:solidFill>
              <a:srgbClr val="F6C3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2A51E6-6C46-42EC-88A4-0A44035FE2C2}"/>
              </a:ext>
            </a:extLst>
          </p:cNvPr>
          <p:cNvSpPr>
            <a:spLocks noGrp="1"/>
          </p:cNvSpPr>
          <p:nvPr/>
        </p:nvSpPr>
        <p:spPr>
          <a:xfrm>
            <a:off x="6492240" y="2276856"/>
            <a:ext cx="4800600" cy="347472"/>
          </a:xfrm>
          <a:prstGeom prst="rect">
            <a:avLst/>
          </a:prstGeom>
          <a:noFill/>
        </p:spPr>
        <p:txBody>
          <a:bodyPr wrap="square" lIns="381" tIns="381" rIns="381" bIns="381" anchor="ctr">
            <a:normAutofit fontScale="91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F97316"/>
                </a:solidFill>
                <a:latin typeface="Times New Roman"/>
                <a:ea typeface="Times New Roman"/>
                <a:cs typeface="Times New Roman"/>
              </a:rPr>
              <a:t>Using more memory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31BDD10-F57E-4822-89A7-A26C64E1D8E9}"/>
              </a:ext>
            </a:extLst>
          </p:cNvPr>
          <p:cNvSpPr>
            <a:spLocks noGrp="1"/>
          </p:cNvSpPr>
          <p:nvPr/>
        </p:nvSpPr>
        <p:spPr>
          <a:xfrm>
            <a:off x="6492240" y="3044952"/>
            <a:ext cx="4663440" cy="1645920"/>
          </a:xfrm>
          <a:prstGeom prst="rect">
            <a:avLst/>
          </a:prstGeom>
          <a:noFill/>
        </p:spPr>
        <p:txBody>
          <a:bodyPr wrap="square" lIns="762" tIns="762" rIns="762" bIns="762" anchor="ctr">
            <a:normAutofit/>
          </a:bodyPr>
          <a:lstStyle/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Hash table lookup: average O(1)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Extra space: O(n)</a:t>
            </a:r>
          </a:p>
          <a:p>
            <a:pPr marL="0" indent="0">
              <a:buNone/>
            </a:pPr>
            <a:r>
              <a:rPr sz="2500">
                <a:solidFill>
                  <a:srgbClr val="101828"/>
                </a:solidFill>
                <a:latin typeface="Times New Roman"/>
                <a:ea typeface="Times New Roman"/>
                <a:cs typeface="Times New Roman"/>
              </a:rPr>
              <a:t>• Requires table construction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32871FF-EE4A-4970-AD29-EFD120312922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10561320" cy="502920"/>
          </a:xfrm>
          <a:prstGeom prst="roundRect">
            <a:avLst>
              <a:gd name="adj" fmla="val 10909"/>
            </a:avLst>
          </a:prstGeom>
          <a:solidFill>
            <a:srgbClr val="EAFBF2"/>
          </a:solidFill>
          <a:ln w="12700">
            <a:solidFill>
              <a:srgbClr val="75E0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43F6B06-3B94-4D7D-BCA6-FAE8A4DD6825}"/>
              </a:ext>
            </a:extLst>
          </p:cNvPr>
          <p:cNvSpPr>
            <a:spLocks noGrp="1"/>
          </p:cNvSpPr>
          <p:nvPr/>
        </p:nvSpPr>
        <p:spPr>
          <a:xfrm>
            <a:off x="1051560" y="5751576"/>
            <a:ext cx="10104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60000" lnSpcReduction="20000"/>
          </a:bodyPr>
          <a:lstStyle/>
          <a:p>
            <a:pPr marL="0" indent="0" algn="ctr">
              <a:buNone/>
            </a:pPr>
            <a:r>
              <a:rPr sz="2500" b="1">
                <a:solidFill>
                  <a:srgbClr val="0B1F35"/>
                </a:solidFill>
                <a:latin typeface="Times New Roman"/>
                <a:ea typeface="Times New Roman"/>
                <a:cs typeface="Times New Roman"/>
              </a:rPr>
              <a:t>Decision: choose according to input size, memory limit and frequent operations.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957FABB-7D7C-43C3-947A-ECEB28F939FC}"/>
              </a:ext>
            </a:extLst>
          </p:cNvPr>
          <p:cNvSpPr>
            <a:spLocks noGrp="1"/>
          </p:cNvSpPr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587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1453</Words>
  <Application>Microsoft Macintosh PowerPoint</Application>
  <DocSecurity>0</DocSecurity>
  <PresentationFormat>Widescreen</PresentationFormat>
  <Paragraphs>243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SC22D012-Manoj Kaushik 2022-PHD-Earth&amp;SpaceScience</cp:lastModifiedBy>
  <cp:revision>2</cp:revision>
  <dcterms:created xsi:type="dcterms:W3CDTF">2026-07-20T10:40:02Z</dcterms:created>
  <dcterms:modified xsi:type="dcterms:W3CDTF">2026-09-03T10:17:31Z</dcterms:modified>
</cp:coreProperties>
</file>