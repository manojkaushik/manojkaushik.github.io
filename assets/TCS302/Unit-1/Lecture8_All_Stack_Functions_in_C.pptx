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928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modSld">
      <pc:chgData name="SC22D012-Manoj Kaushik 2022-PHD-Earth&amp;SpaceScience" userId="78d50035-fc00-4ea2-995b-b881e10649a1" providerId="ADAL" clId="{29B47332-549A-4FC0-A3ED-D31212E60846}" dt="2026-07-23T06:09:16.531" v="190" actId="14100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7-23T03:15:14.517" v="6" actId="14100"/>
        <pc:sldMkLst>
          <pc:docMk/>
          <pc:sldMk cId="913534112" sldId="260"/>
        </pc:sldMkLst>
        <pc:spChg chg="mod">
          <ac:chgData name="SC22D012-Manoj Kaushik 2022-PHD-Earth&amp;SpaceScience" userId="78d50035-fc00-4ea2-995b-b881e10649a1" providerId="ADAL" clId="{29B47332-549A-4FC0-A3ED-D31212E60846}" dt="2026-07-23T03:14:52.168" v="0" actId="14100"/>
          <ac:spMkLst>
            <pc:docMk/>
            <pc:sldMk cId="913534112" sldId="260"/>
            <ac:spMk id="7" creationId="{AC7C878A-9367-421F-90E9-F43EF9B8FEE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5:03.059" v="3" actId="1076"/>
          <ac:spMkLst>
            <pc:docMk/>
            <pc:sldMk cId="913534112" sldId="260"/>
            <ac:spMk id="15" creationId="{CC1FFC15-1A63-40E5-83BC-C563DE89CFB4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5:08.227" v="4" actId="1076"/>
          <ac:spMkLst>
            <pc:docMk/>
            <pc:sldMk cId="913534112" sldId="260"/>
            <ac:spMk id="16" creationId="{ACDD3128-5ABF-43D1-B15A-1138C9E93E84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5:14.517" v="6" actId="14100"/>
          <ac:spMkLst>
            <pc:docMk/>
            <pc:sldMk cId="913534112" sldId="260"/>
            <ac:spMk id="17" creationId="{FDBE0D7E-B80E-4230-A8FA-9EA8EB22F5B1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3:16:58.501" v="40" actId="1035"/>
        <pc:sldMkLst>
          <pc:docMk/>
          <pc:sldMk cId="2039329641" sldId="261"/>
        </pc:sldMkLst>
        <pc:spChg chg="mod">
          <ac:chgData name="SC22D012-Manoj Kaushik 2022-PHD-Earth&amp;SpaceScience" userId="78d50035-fc00-4ea2-995b-b881e10649a1" providerId="ADAL" clId="{29B47332-549A-4FC0-A3ED-D31212E60846}" dt="2026-07-23T03:16:45.256" v="7" actId="14100"/>
          <ac:spMkLst>
            <pc:docMk/>
            <pc:sldMk cId="2039329641" sldId="261"/>
            <ac:spMk id="7" creationId="{19AB8E5C-5C12-4DE3-ACC4-A9FE35745562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6:49.449" v="8" actId="14100"/>
          <ac:spMkLst>
            <pc:docMk/>
            <pc:sldMk cId="2039329641" sldId="261"/>
            <ac:spMk id="15" creationId="{9B8A36CF-9B15-4655-BB0C-F1B6BE87BFB4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6:58.501" v="40" actId="1035"/>
          <ac:spMkLst>
            <pc:docMk/>
            <pc:sldMk cId="2039329641" sldId="261"/>
            <ac:spMk id="16" creationId="{DE1A4899-644C-4B3E-9B9B-489560A94B42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6:58.501" v="40" actId="1035"/>
          <ac:spMkLst>
            <pc:docMk/>
            <pc:sldMk cId="2039329641" sldId="261"/>
            <ac:spMk id="17" creationId="{7E56D85C-C83C-4F2E-87DE-6C67A02E5C67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3:18:11.776" v="62" actId="1035"/>
        <pc:sldMkLst>
          <pc:docMk/>
          <pc:sldMk cId="1394371313" sldId="263"/>
        </pc:sldMkLst>
        <pc:spChg chg="mod">
          <ac:chgData name="SC22D012-Manoj Kaushik 2022-PHD-Earth&amp;SpaceScience" userId="78d50035-fc00-4ea2-995b-b881e10649a1" providerId="ADAL" clId="{29B47332-549A-4FC0-A3ED-D31212E60846}" dt="2026-07-23T03:18:01.017" v="41" actId="14100"/>
          <ac:spMkLst>
            <pc:docMk/>
            <pc:sldMk cId="1394371313" sldId="263"/>
            <ac:spMk id="7" creationId="{651AEDD3-BD76-4F18-A997-E90011188A4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8:03.898" v="42" actId="14100"/>
          <ac:spMkLst>
            <pc:docMk/>
            <pc:sldMk cId="1394371313" sldId="263"/>
            <ac:spMk id="16" creationId="{B17DFA7A-C9FA-498E-9F81-7431BD18BA6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8:11.776" v="62" actId="1035"/>
          <ac:spMkLst>
            <pc:docMk/>
            <pc:sldMk cId="1394371313" sldId="263"/>
            <ac:spMk id="17" creationId="{1B15AFC2-21A8-4D23-ABBD-DAFADF89BC1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3:18:11.776" v="62" actId="1035"/>
          <ac:spMkLst>
            <pc:docMk/>
            <pc:sldMk cId="1394371313" sldId="263"/>
            <ac:spMk id="18" creationId="{69278894-1BAB-437A-A73E-B91D0C16F178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6:07:52.110" v="178" actId="14100"/>
        <pc:sldMkLst>
          <pc:docMk/>
          <pc:sldMk cId="70532616" sldId="264"/>
        </pc:sldMkLst>
        <pc:spChg chg="mod">
          <ac:chgData name="SC22D012-Manoj Kaushik 2022-PHD-Earth&amp;SpaceScience" userId="78d50035-fc00-4ea2-995b-b881e10649a1" providerId="ADAL" clId="{29B47332-549A-4FC0-A3ED-D31212E60846}" dt="2026-07-23T06:07:39.029" v="161" actId="14100"/>
          <ac:spMkLst>
            <pc:docMk/>
            <pc:sldMk cId="70532616" sldId="264"/>
            <ac:spMk id="7" creationId="{22C4DF24-30EA-4874-BF7D-82B9E27F630A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7:52.110" v="178" actId="14100"/>
          <ac:spMkLst>
            <pc:docMk/>
            <pc:sldMk cId="70532616" sldId="264"/>
            <ac:spMk id="16" creationId="{A4F87136-5407-45F4-A393-14C2888F4D8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7:46.439" v="177" actId="1035"/>
          <ac:spMkLst>
            <pc:docMk/>
            <pc:sldMk cId="70532616" sldId="264"/>
            <ac:spMk id="17" creationId="{3AE39262-0D60-4C7E-A407-EC844DA1A128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7:46.439" v="177" actId="1035"/>
          <ac:spMkLst>
            <pc:docMk/>
            <pc:sldMk cId="70532616" sldId="264"/>
            <ac:spMk id="18" creationId="{34F17E50-AF80-44A3-9136-83735DC0C742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6:07:59.437" v="179" actId="14100"/>
        <pc:sldMkLst>
          <pc:docMk/>
          <pc:sldMk cId="1560345363" sldId="265"/>
        </pc:sldMkLst>
        <pc:spChg chg="mod">
          <ac:chgData name="SC22D012-Manoj Kaushik 2022-PHD-Earth&amp;SpaceScience" userId="78d50035-fc00-4ea2-995b-b881e10649a1" providerId="ADAL" clId="{29B47332-549A-4FC0-A3ED-D31212E60846}" dt="2026-07-23T06:03:55.454" v="63" actId="14100"/>
          <ac:spMkLst>
            <pc:docMk/>
            <pc:sldMk cId="1560345363" sldId="265"/>
            <ac:spMk id="7" creationId="{BDA9F035-68B1-40B8-844D-74B1078FB64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7:59.437" v="179" actId="14100"/>
          <ac:spMkLst>
            <pc:docMk/>
            <pc:sldMk cId="1560345363" sldId="265"/>
            <ac:spMk id="15" creationId="{2AF88591-6D6A-4EA2-B9E1-73C1F2475EEB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4:08.146" v="99" actId="1036"/>
          <ac:spMkLst>
            <pc:docMk/>
            <pc:sldMk cId="1560345363" sldId="265"/>
            <ac:spMk id="16" creationId="{28E0C5BA-5F04-4CCD-A74D-EDB21C22FB0A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4:08.146" v="99" actId="1036"/>
          <ac:spMkLst>
            <pc:docMk/>
            <pc:sldMk cId="1560345363" sldId="265"/>
            <ac:spMk id="17" creationId="{A34A32AE-95AC-4127-B226-6571772DCD08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6:08:08.033" v="180" actId="14100"/>
        <pc:sldMkLst>
          <pc:docMk/>
          <pc:sldMk cId="1467461147" sldId="266"/>
        </pc:sldMkLst>
        <pc:spChg chg="mod">
          <ac:chgData name="SC22D012-Manoj Kaushik 2022-PHD-Earth&amp;SpaceScience" userId="78d50035-fc00-4ea2-995b-b881e10649a1" providerId="ADAL" clId="{29B47332-549A-4FC0-A3ED-D31212E60846}" dt="2026-07-23T06:08:08.033" v="180" actId="14100"/>
          <ac:spMkLst>
            <pc:docMk/>
            <pc:sldMk cId="1467461147" sldId="266"/>
            <ac:spMk id="7" creationId="{84342BB1-B09F-4F2B-9B1F-76F46A22F98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6:08:21.424" v="182" actId="14100"/>
        <pc:sldMkLst>
          <pc:docMk/>
          <pc:sldMk cId="212583703" sldId="268"/>
        </pc:sldMkLst>
        <pc:spChg chg="mod">
          <ac:chgData name="SC22D012-Manoj Kaushik 2022-PHD-Earth&amp;SpaceScience" userId="78d50035-fc00-4ea2-995b-b881e10649a1" providerId="ADAL" clId="{29B47332-549A-4FC0-A3ED-D31212E60846}" dt="2026-07-23T06:08:21.424" v="182" actId="14100"/>
          <ac:spMkLst>
            <pc:docMk/>
            <pc:sldMk cId="212583703" sldId="268"/>
            <ac:spMk id="7" creationId="{6B49B15C-EE71-4936-9674-FB9E1964E722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8:16.310" v="181" actId="14100"/>
          <ac:spMkLst>
            <pc:docMk/>
            <pc:sldMk cId="212583703" sldId="268"/>
            <ac:spMk id="10" creationId="{37B0DF89-F5A2-4F11-BBFC-67B5BA538F53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6:08:39.514" v="185" actId="14100"/>
        <pc:sldMkLst>
          <pc:docMk/>
          <pc:sldMk cId="101211006" sldId="270"/>
        </pc:sldMkLst>
        <pc:spChg chg="mod">
          <ac:chgData name="SC22D012-Manoj Kaushik 2022-PHD-Earth&amp;SpaceScience" userId="78d50035-fc00-4ea2-995b-b881e10649a1" providerId="ADAL" clId="{29B47332-549A-4FC0-A3ED-D31212E60846}" dt="2026-07-23T06:08:39.514" v="185" actId="14100"/>
          <ac:spMkLst>
            <pc:docMk/>
            <pc:sldMk cId="101211006" sldId="270"/>
            <ac:spMk id="7" creationId="{B59AFAB8-E5E9-466A-A3D1-F4962F57EA7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4:26.693" v="114" actId="1036"/>
          <ac:spMkLst>
            <pc:docMk/>
            <pc:sldMk cId="101211006" sldId="270"/>
            <ac:spMk id="8" creationId="{89F7A9C9-D8D7-4B4B-92D4-015DB24E7F8E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8:36.884" v="184" actId="14100"/>
          <ac:spMkLst>
            <pc:docMk/>
            <pc:sldMk cId="101211006" sldId="270"/>
            <ac:spMk id="9" creationId="{1C3394F5-7D88-4A3A-8F65-B391762A4C2B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3T06:09:16.531" v="190" actId="14100"/>
        <pc:sldMkLst>
          <pc:docMk/>
          <pc:sldMk cId="1943574118" sldId="271"/>
        </pc:sldMkLst>
        <pc:spChg chg="mod">
          <ac:chgData name="SC22D012-Manoj Kaushik 2022-PHD-Earth&amp;SpaceScience" userId="78d50035-fc00-4ea2-995b-b881e10649a1" providerId="ADAL" clId="{29B47332-549A-4FC0-A3ED-D31212E60846}" dt="2026-07-23T06:09:16.531" v="190" actId="14100"/>
          <ac:spMkLst>
            <pc:docMk/>
            <pc:sldMk cId="1943574118" sldId="271"/>
            <ac:spMk id="7" creationId="{7F9028CA-DB5D-4640-9FC3-83D7C68D7AB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5:03.872" v="137" actId="1035"/>
          <ac:spMkLst>
            <pc:docMk/>
            <pc:sldMk cId="1943574118" sldId="271"/>
            <ac:spMk id="8" creationId="{6F04B704-DA6E-4A52-A65B-FE551E2965B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9:12.301" v="189" actId="14100"/>
          <ac:spMkLst>
            <pc:docMk/>
            <pc:sldMk cId="1943574118" sldId="271"/>
            <ac:spMk id="9" creationId="{3B4F0DFE-9C7A-4640-A78E-5DB03B106335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5:20.821" v="150" actId="14100"/>
          <ac:spMkLst>
            <pc:docMk/>
            <pc:sldMk cId="1943574118" sldId="271"/>
            <ac:spMk id="10" creationId="{B2EEEB92-A660-4DAC-90CF-6E02846B6E63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5:09.868" v="148" actId="1035"/>
          <ac:spMkLst>
            <pc:docMk/>
            <pc:sldMk cId="1943574118" sldId="271"/>
            <ac:spMk id="11" creationId="{88430762-4FC6-4553-ACFC-22DC32DEA0A2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5:09.868" v="148" actId="1035"/>
          <ac:spMkLst>
            <pc:docMk/>
            <pc:sldMk cId="1943574118" sldId="271"/>
            <ac:spMk id="12" creationId="{F4D9C643-5C51-4B01-B8F5-B875AED65E5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4:55.246" v="124" actId="1036"/>
          <ac:spMkLst>
            <pc:docMk/>
            <pc:sldMk cId="1943574118" sldId="271"/>
            <ac:spMk id="13" creationId="{4F56ACE8-5C65-43B9-B425-DB5610D9F125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3T06:04:55.246" v="124" actId="1036"/>
          <ac:spMkLst>
            <pc:docMk/>
            <pc:sldMk cId="1943574118" sldId="271"/>
            <ac:spMk id="14" creationId="{09245465-C21C-415C-A9F2-DB3C8313C5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deck contains only the complete array-stack interface and its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is an index, not a count. The empty sentinel is 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Boolean results make overflow and underflow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array cell is active while top equals 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this comparison directly to stackInit.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full test must occur before push writes to the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%zu when printing a size_t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Pre-increment moves the first value from top -1 to index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Post-decrement reads the current top slot before lowering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Peek and pop read the same slot, but only pop changes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Clear is constant time because top defines the logical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Display traverses active indexes from top down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first contiguous section of the complete source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the update to top in push, pop, and peek.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completes the reusable stack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test program exercises initialization, state checks, size, push, pop, peek, clear, and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-bar">
            <a:extLst>
              <a:ext uri="{FF2B5EF4-FFF2-40B4-BE49-F238E27FC236}">
                <a16:creationId xmlns:a16="http://schemas.microsoft.com/office/drawing/2014/main" id="{F86DED9C-311C-4255-8D56-339C8AEFB1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course-label">
            <a:extLst>
              <a:ext uri="{FF2B5EF4-FFF2-40B4-BE49-F238E27FC236}">
                <a16:creationId xmlns:a16="http://schemas.microsoft.com/office/drawing/2014/main" id="{5E5C0306-9CD9-42E7-A959-AC09A97C3F57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TCS302  •  DATA STRUCTURES WITH C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A5EE69E0-9EB9-4D96-AC3B-C8F141F758DF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1047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54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All Stack Functions in C</a:t>
            </a:r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464E4C52-C060-4765-A909-F84DB75D245A}"/>
              </a:ext>
            </a:extLst>
          </p:cNvPr>
          <p:cNvSpPr>
            <a:spLocks noGrp="1"/>
          </p:cNvSpPr>
          <p:nvPr/>
        </p:nvSpPr>
        <p:spPr>
          <a:xfrm>
            <a:off x="800100" y="2714625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15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Complete array-based implementation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125A23D8-BE0B-4FD9-AD87-294BCB3AC22F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78105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lecture-label">
            <a:extLst>
              <a:ext uri="{FF2B5EF4-FFF2-40B4-BE49-F238E27FC236}">
                <a16:creationId xmlns:a16="http://schemas.microsoft.com/office/drawing/2014/main" id="{CE52888B-CA65-49C7-8D36-C2A6CF22F3E4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240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Unit I  •  Lecture 8</a:t>
            </a:r>
          </a:p>
        </p:txBody>
      </p:sp>
      <p:sp>
        <p:nvSpPr>
          <p:cNvPr id="7" name="scope-band">
            <a:extLst>
              <a:ext uri="{FF2B5EF4-FFF2-40B4-BE49-F238E27FC236}">
                <a16:creationId xmlns:a16="http://schemas.microsoft.com/office/drawing/2014/main" id="{4A20ED3E-5759-4554-8896-A52B9C4C7F7A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9334500" cy="552450"/>
          </a:xfrm>
          <a:prstGeom prst="roundRect">
            <a:avLst>
              <a:gd name="adj" fmla="val 13793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cope-text">
            <a:extLst>
              <a:ext uri="{FF2B5EF4-FFF2-40B4-BE49-F238E27FC236}">
                <a16:creationId xmlns:a16="http://schemas.microsoft.com/office/drawing/2014/main" id="{9AA0E89C-F91D-462A-9450-1E5F38049529}"/>
              </a:ext>
            </a:extLst>
          </p:cNvPr>
          <p:cNvSpPr>
            <a:spLocks noGrp="1"/>
          </p:cNvSpPr>
          <p:nvPr/>
        </p:nvSpPr>
        <p:spPr>
          <a:xfrm>
            <a:off x="1009650" y="5048250"/>
            <a:ext cx="891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init • isEmpty • isFull • size • push • pop • peek • clear • display</a:t>
            </a:r>
          </a:p>
        </p:txBody>
      </p:sp>
    </p:spTree>
    <p:extLst>
      <p:ext uri="{BB962C8B-B14F-4D97-AF65-F5344CB8AC3E}">
        <p14:creationId xmlns:p14="http://schemas.microsoft.com/office/powerpoint/2010/main" val="149015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esson-label">
            <a:extLst>
              <a:ext uri="{FF2B5EF4-FFF2-40B4-BE49-F238E27FC236}">
                <a16:creationId xmlns:a16="http://schemas.microsoft.com/office/drawing/2014/main" id="{1622BE9B-8962-422F-B43A-748498134C1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2F20796-48C5-4233-B7C7-FF49A5B0BDCA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Define the stack before writing its functions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0A16EDF5-D076-4F72-8611-7A5A48850C42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79BC521-97D5-46DE-A593-B182F50FB3B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91DBF72B-580A-4F41-B3E6-61972F653607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F8084B49-C7DB-4E12-A149-8E700C5AA133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8FA6EA21-CBCB-495F-B74B-0D5EBB80E4AD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6858000" cy="4114800"/>
          </a:xfrm>
          <a:prstGeom prst="roundRect">
            <a:avLst>
              <a:gd name="adj" fmla="val 1852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5B49ED21-FB24-4C7C-9057-EE1351FB8A24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HEADERS + STACK TYPE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C65D8AD1-0E36-4861-9F40-B47074B2AB98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647700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#include &lt;stdio.h&gt;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#include &lt;stdbool.h&gt;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#include &lt;stddef.h&gt;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#define STACK_CAPACITY 5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typedef struct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int items[STACK_CAPACITY];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int top;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 Stack;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0D25715F-2008-44C2-BF08-C71832121FD6}"/>
              </a:ext>
            </a:extLst>
          </p:cNvPr>
          <p:cNvSpPr>
            <a:spLocks noGrp="1"/>
          </p:cNvSpPr>
          <p:nvPr/>
        </p:nvSpPr>
        <p:spPr>
          <a:xfrm>
            <a:off x="7886700" y="2000250"/>
            <a:ext cx="3238500" cy="1752600"/>
          </a:xfrm>
          <a:prstGeom prst="roundRect">
            <a:avLst>
              <a:gd name="adj" fmla="val 434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D4CBD4C0-DA3A-4242-879B-81F0C67222B4}"/>
              </a:ext>
            </a:extLst>
          </p:cNvPr>
          <p:cNvSpPr>
            <a:spLocks noGrp="1"/>
          </p:cNvSpPr>
          <p:nvPr/>
        </p:nvSpPr>
        <p:spPr>
          <a:xfrm>
            <a:off x="8058150" y="21336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Representation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6113F57B-ACC1-4AB0-9658-29B426D98309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28956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items stores values.</a:t>
            </a:r>
          </a:p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top stores the current top index.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6A134AB4-B72F-421A-9117-8FB08E504BD9}"/>
              </a:ext>
            </a:extLst>
          </p:cNvPr>
          <p:cNvSpPr>
            <a:spLocks noGrp="1"/>
          </p:cNvSpPr>
          <p:nvPr/>
        </p:nvSpPr>
        <p:spPr>
          <a:xfrm>
            <a:off x="7886700" y="4210050"/>
            <a:ext cx="3238500" cy="1104900"/>
          </a:xfrm>
          <a:prstGeom prst="roundRect">
            <a:avLst>
              <a:gd name="adj" fmla="val 6897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C3081775-4A27-428B-AE09-614865CDFE8C}"/>
              </a:ext>
            </a:extLst>
          </p:cNvPr>
          <p:cNvSpPr>
            <a:spLocks noGrp="1"/>
          </p:cNvSpPr>
          <p:nvPr/>
        </p:nvSpPr>
        <p:spPr>
          <a:xfrm>
            <a:off x="8039100" y="4305300"/>
            <a:ext cx="2933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Valid top values:</a:t>
            </a:r>
          </a:p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−1 through STACK_CAPACITY − 1</a:t>
            </a:r>
          </a:p>
        </p:txBody>
      </p:sp>
    </p:spTree>
    <p:extLst>
      <p:ext uri="{BB962C8B-B14F-4D97-AF65-F5344CB8AC3E}">
        <p14:creationId xmlns:p14="http://schemas.microsoft.com/office/powerpoint/2010/main" val="463532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sson-label">
            <a:extLst>
              <a:ext uri="{FF2B5EF4-FFF2-40B4-BE49-F238E27FC236}">
                <a16:creationId xmlns:a16="http://schemas.microsoft.com/office/drawing/2014/main" id="{30BA8C93-2ED0-4F80-9E22-26323D151FF2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44E1C4A-5A52-4608-9C37-5C1DEAC91B7A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Declare the complete stack interface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CFC8528-D5D0-45EB-B9ED-98491040921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B859796-3CEB-417D-AE40-33F5A0721030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F8A96172-A98A-41EF-9326-2C1EC93110B5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81ED8FC0-6F7F-4EE5-9B1B-60456DA1CE94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757442E2-4C54-46A3-B9EA-D29292F51D57}"/>
              </a:ext>
            </a:extLst>
          </p:cNvPr>
          <p:cNvSpPr>
            <a:spLocks noGrp="1"/>
          </p:cNvSpPr>
          <p:nvPr/>
        </p:nvSpPr>
        <p:spPr>
          <a:xfrm>
            <a:off x="1143000" y="1752600"/>
            <a:ext cx="9906000" cy="4267200"/>
          </a:xfrm>
          <a:prstGeom prst="roundRect">
            <a:avLst>
              <a:gd name="adj" fmla="val 1786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D4F81EA6-67B8-4B35-80D0-D8478CE0F4C3}"/>
              </a:ext>
            </a:extLst>
          </p:cNvPr>
          <p:cNvSpPr>
            <a:spLocks noGrp="1"/>
          </p:cNvSpPr>
          <p:nvPr/>
        </p:nvSpPr>
        <p:spPr>
          <a:xfrm>
            <a:off x="1333500" y="1885950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FUNCTION PROTOTYPES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D8F9AF26-E0A8-4209-BD48-B9A4CD0B5663}"/>
              </a:ext>
            </a:extLst>
          </p:cNvPr>
          <p:cNvSpPr>
            <a:spLocks noGrp="1"/>
          </p:cNvSpPr>
          <p:nvPr/>
        </p:nvSpPr>
        <p:spPr>
          <a:xfrm>
            <a:off x="1333500" y="2209800"/>
            <a:ext cx="9525000" cy="3676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  stackInit(Stack *s);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  stackIsEmpty(const Stack *s);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  stackIsFull(const Stack *s);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size_t stackSize(const Stack *s);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stackPush(Stack *s, int value);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stackPop(Stack *s, int *outValue);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stackPeek(const Stack *s, int *outValue);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stackClear(Stack *s);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stackDisplay(const Stack *s);</a:t>
            </a:r>
          </a:p>
        </p:txBody>
      </p:sp>
    </p:spTree>
    <p:extLst>
      <p:ext uri="{BB962C8B-B14F-4D97-AF65-F5344CB8AC3E}">
        <p14:creationId xmlns:p14="http://schemas.microsoft.com/office/powerpoint/2010/main" val="48023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0A2A0F65-1AC2-4B88-A895-D359840D65D0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7F620F6-3545-4BD4-AF69-1F27D96CBBCF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stackInit creates an empty stack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777C849F-5CD8-4DAD-ADAC-51734CDE2BB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797199-FD18-449A-81D4-7BE5C8ADD381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96007300-2501-462E-A08E-79AB4CA538C5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F5298373-4AD2-47B6-8F69-470CD71FE9F0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6CA99996-427B-4509-900D-00315262C10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295275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41D59B3F-421D-4974-9857-3925D1CBAEC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INITIALIZE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CCF91B9E-E318-4449-818C-E1DD85219EE4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6477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stackInit(Stack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s-&gt;top = -1;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05CFC087-4CA3-4215-9DE2-CBB5298677D9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657350"/>
          </a:xfrm>
          <a:prstGeom prst="roundRect">
            <a:avLst>
              <a:gd name="adj" fmla="val 459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4F846C96-AD64-403B-8C8C-B45EC31B1057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F7B45258-8C28-4219-997D-324EDB992B92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Stack s;</a:t>
            </a:r>
          </a:p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stackInit(&amp;s);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74A77CCF-5BB2-4CA9-8CE0-B1FA9321214A}"/>
              </a:ext>
            </a:extLst>
          </p:cNvPr>
          <p:cNvSpPr>
            <a:spLocks noGrp="1"/>
          </p:cNvSpPr>
          <p:nvPr/>
        </p:nvSpPr>
        <p:spPr>
          <a:xfrm>
            <a:off x="7886700" y="3962400"/>
            <a:ext cx="3238500" cy="1066800"/>
          </a:xfrm>
          <a:prstGeom prst="roundRect">
            <a:avLst>
              <a:gd name="adj" fmla="val 7143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36B650EF-6508-413B-99FD-46899B2ED7B3}"/>
              </a:ext>
            </a:extLst>
          </p:cNvPr>
          <p:cNvSpPr>
            <a:spLocks noGrp="1"/>
          </p:cNvSpPr>
          <p:nvPr/>
        </p:nvSpPr>
        <p:spPr>
          <a:xfrm>
            <a:off x="8039100" y="4057650"/>
            <a:ext cx="2933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After initialization:</a:t>
            </a:r>
          </a:p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stackSize(&amp;s) == 0</a:t>
            </a:r>
          </a:p>
        </p:txBody>
      </p:sp>
      <p:sp>
        <p:nvSpPr>
          <p:cNvPr id="15" name="code-panel">
            <a:extLst>
              <a:ext uri="{FF2B5EF4-FFF2-40B4-BE49-F238E27FC236}">
                <a16:creationId xmlns:a16="http://schemas.microsoft.com/office/drawing/2014/main" id="{F8BB2809-ACD0-4663-A1E4-68A547545AE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6858000" cy="971550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AD66B3D7-634E-46FF-9D75-C6A51306E2E2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02CBF2DE-DD6E-4827-95D6-E36F1A27D955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stackInit(&amp;s);</a:t>
            </a:r>
          </a:p>
        </p:txBody>
      </p:sp>
    </p:spTree>
    <p:extLst>
      <p:ext uri="{BB962C8B-B14F-4D97-AF65-F5344CB8AC3E}">
        <p14:creationId xmlns:p14="http://schemas.microsoft.com/office/powerpoint/2010/main" val="2058434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0649BE83-2241-4413-8975-922062426C7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802119F-D41A-493B-987A-B421A38F56E3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stackIsEmpty tests the empty sentinel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81CC2839-C429-4366-A8D3-8E9A5D51360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21D4EA9-3C19-4607-A72B-7E5497A36770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E867CEB8-0E88-4764-AAB3-21C34A2D3FA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47AF4F00-841C-4480-AB7D-FBF462846FFC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AC7C878A-9367-421F-90E9-F43EF9B8FEE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1985499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F77AC408-1590-4DE8-BB5A-766F9C0AF52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EMPTY CHECK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AC546BD1-E86A-468D-BE1F-9B451584F46D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6477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stackIsEmpty(const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s-&gt;top == -1;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857659C5-0C33-4B59-AE4F-22008A05F3C2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657350"/>
          </a:xfrm>
          <a:prstGeom prst="roundRect">
            <a:avLst>
              <a:gd name="adj" fmla="val 459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F1ACF226-CD85-495E-9ED2-59CC72C135A7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2A1FE867-4353-4626-8886-5D17410EC3CE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true  → no active element</a:t>
            </a:r>
          </a:p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false → at least one element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25B1C176-9151-4392-BE17-482BEFE56555}"/>
              </a:ext>
            </a:extLst>
          </p:cNvPr>
          <p:cNvSpPr>
            <a:spLocks noGrp="1"/>
          </p:cNvSpPr>
          <p:nvPr/>
        </p:nvSpPr>
        <p:spPr>
          <a:xfrm>
            <a:off x="7886700" y="3962400"/>
            <a:ext cx="3238500" cy="1066800"/>
          </a:xfrm>
          <a:prstGeom prst="roundRect">
            <a:avLst>
              <a:gd name="adj" fmla="val 7143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941DDA08-E7A0-4F1F-B37A-D82638F37926}"/>
              </a:ext>
            </a:extLst>
          </p:cNvPr>
          <p:cNvSpPr>
            <a:spLocks noGrp="1"/>
          </p:cNvSpPr>
          <p:nvPr/>
        </p:nvSpPr>
        <p:spPr>
          <a:xfrm>
            <a:off x="8039100" y="4057650"/>
            <a:ext cx="2933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const prevents this function</a:t>
            </a:r>
          </a:p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from changing the stack.</a:t>
            </a:r>
          </a:p>
        </p:txBody>
      </p:sp>
      <p:sp>
        <p:nvSpPr>
          <p:cNvPr id="15" name="code-panel">
            <a:extLst>
              <a:ext uri="{FF2B5EF4-FFF2-40B4-BE49-F238E27FC236}">
                <a16:creationId xmlns:a16="http://schemas.microsoft.com/office/drawing/2014/main" id="{CC1FFC15-1A63-40E5-83BC-C563DE89CFB4}"/>
              </a:ext>
            </a:extLst>
          </p:cNvPr>
          <p:cNvSpPr>
            <a:spLocks noGrp="1"/>
          </p:cNvSpPr>
          <p:nvPr/>
        </p:nvSpPr>
        <p:spPr>
          <a:xfrm>
            <a:off x="685800" y="4388412"/>
            <a:ext cx="6858000" cy="1447800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ACDD3128-5ABF-43D1-B15A-1138C9E93E84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FDBE0D7E-B80E-4230-A8FA-9EA8EB22F5B1}"/>
              </a:ext>
            </a:extLst>
          </p:cNvPr>
          <p:cNvSpPr>
            <a:spLocks noGrp="1"/>
          </p:cNvSpPr>
          <p:nvPr/>
        </p:nvSpPr>
        <p:spPr>
          <a:xfrm>
            <a:off x="876300" y="4886325"/>
            <a:ext cx="6477000" cy="796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stackIsEmpty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("Stack is empty\n");</a:t>
            </a:r>
          </a:p>
        </p:txBody>
      </p:sp>
    </p:spTree>
    <p:extLst>
      <p:ext uri="{BB962C8B-B14F-4D97-AF65-F5344CB8AC3E}">
        <p14:creationId xmlns:p14="http://schemas.microsoft.com/office/powerpoint/2010/main" val="91353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82FAC571-E0CF-4A21-8A79-AA3CD3D7286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BCACC59-BF2D-425C-80C2-B7B898A2A08C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stackIsFull protects the array boundary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A2CB6EA8-1113-4898-BF01-245CBDE804C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F503CFF-DEE9-4A53-8D25-B6D99C28EECA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6DEA7FB4-7B2D-4B68-B52F-832E8201AC96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DCB858BE-EB1F-4191-B1FB-A67915576C66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19AB8E5C-5C12-4DE3-ACC4-A9FE3574556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1975669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203FC4DD-478E-43F3-9B82-D6420046DAB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FULL CHECK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52282C3F-3289-450C-A29D-0DC2B6656FF4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6477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stackIsFull(const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s-&gt;top == STACK_CAPACITY - 1;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8E6AFAE5-D390-4EDC-9C1B-4FA056C5644C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657350"/>
          </a:xfrm>
          <a:prstGeom prst="roundRect">
            <a:avLst>
              <a:gd name="adj" fmla="val 459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047E3B38-E076-4C01-B89B-E57255958BDE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246D5CAD-587B-4906-B1B4-69A9D06FC8A5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true  → no free slot</a:t>
            </a:r>
          </a:p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false → push may proceed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749C7284-048A-41BA-B132-D5F9CC7FB328}"/>
              </a:ext>
            </a:extLst>
          </p:cNvPr>
          <p:cNvSpPr>
            <a:spLocks noGrp="1"/>
          </p:cNvSpPr>
          <p:nvPr/>
        </p:nvSpPr>
        <p:spPr>
          <a:xfrm>
            <a:off x="7886700" y="3962400"/>
            <a:ext cx="3238500" cy="1066800"/>
          </a:xfrm>
          <a:prstGeom prst="roundRect">
            <a:avLst>
              <a:gd name="adj" fmla="val 7143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3B874B2A-358C-4092-B6D4-F86D15E38F9C}"/>
              </a:ext>
            </a:extLst>
          </p:cNvPr>
          <p:cNvSpPr>
            <a:spLocks noGrp="1"/>
          </p:cNvSpPr>
          <p:nvPr/>
        </p:nvSpPr>
        <p:spPr>
          <a:xfrm>
            <a:off x="8039100" y="4057650"/>
            <a:ext cx="2933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For capacity 5, the last</a:t>
            </a:r>
          </a:p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valid array index is 4.</a:t>
            </a:r>
          </a:p>
        </p:txBody>
      </p:sp>
      <p:sp>
        <p:nvSpPr>
          <p:cNvPr id="15" name="code-panel">
            <a:extLst>
              <a:ext uri="{FF2B5EF4-FFF2-40B4-BE49-F238E27FC236}">
                <a16:creationId xmlns:a16="http://schemas.microsoft.com/office/drawing/2014/main" id="{9B8A36CF-9B15-4655-BB0C-F1B6BE87BFB4}"/>
              </a:ext>
            </a:extLst>
          </p:cNvPr>
          <p:cNvSpPr>
            <a:spLocks noGrp="1"/>
          </p:cNvSpPr>
          <p:nvPr/>
        </p:nvSpPr>
        <p:spPr>
          <a:xfrm>
            <a:off x="685800" y="4513008"/>
            <a:ext cx="6858000" cy="1563942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DE1A4899-644C-4B3E-9B9B-489560A94B42}"/>
              </a:ext>
            </a:extLst>
          </p:cNvPr>
          <p:cNvSpPr>
            <a:spLocks noGrp="1"/>
          </p:cNvSpPr>
          <p:nvPr/>
        </p:nvSpPr>
        <p:spPr>
          <a:xfrm>
            <a:off x="876300" y="4707809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7E56D85C-C83C-4F2E-87DE-6C67A02E5C67}"/>
              </a:ext>
            </a:extLst>
          </p:cNvPr>
          <p:cNvSpPr>
            <a:spLocks noGrp="1"/>
          </p:cNvSpPr>
          <p:nvPr/>
        </p:nvSpPr>
        <p:spPr>
          <a:xfrm>
            <a:off x="876300" y="5031659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stackIsFull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("Stack overflow\n");</a:t>
            </a:r>
          </a:p>
        </p:txBody>
      </p:sp>
    </p:spTree>
    <p:extLst>
      <p:ext uri="{BB962C8B-B14F-4D97-AF65-F5344CB8AC3E}">
        <p14:creationId xmlns:p14="http://schemas.microsoft.com/office/powerpoint/2010/main" val="2039329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9753E09F-E53A-4152-8E8C-74B93CD543B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2261ED3-7C33-46EB-A37A-DABD4E34B7C6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stackSize converts the top index into a count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5A0CE214-812C-469C-B26D-F41F43CF68FF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66D9BA0-B232-4C38-AFA4-E01682449796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4E2761E7-1D32-401B-9590-DA4B132DC96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769EA585-869F-4208-9FB5-B493DBD7B6BF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231D2B16-A6E6-40D8-A774-514A25519C0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295275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131823BD-4575-4A28-B797-882A39DACC9A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225EF12A-4210-4C36-943B-8D329BF6E692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6477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size_t stackSize(const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(size_t)(s-&gt;top + 1);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7BA13F91-D4CC-4522-99EF-33D912C96E67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657350"/>
          </a:xfrm>
          <a:prstGeom prst="roundRect">
            <a:avLst>
              <a:gd name="adj" fmla="val 459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93A112B4-4FD2-4FAE-90E5-A12405B38C07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Examples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679F26DD-39D1-44C4-A87C-B4BC93AE4BE4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top = −1 → size = 0</a:t>
            </a:r>
          </a:p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top =  0 → size = 1</a:t>
            </a:r>
          </a:p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top =  3 → size = 4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A2EFEA86-D73E-4927-8320-F91892262493}"/>
              </a:ext>
            </a:extLst>
          </p:cNvPr>
          <p:cNvSpPr>
            <a:spLocks noGrp="1"/>
          </p:cNvSpPr>
          <p:nvPr/>
        </p:nvSpPr>
        <p:spPr>
          <a:xfrm>
            <a:off x="7886700" y="3962400"/>
            <a:ext cx="3238500" cy="1066800"/>
          </a:xfrm>
          <a:prstGeom prst="roundRect">
            <a:avLst>
              <a:gd name="adj" fmla="val 7143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FE8A2F2A-0A82-47ED-A33A-342D35D7EEDE}"/>
              </a:ext>
            </a:extLst>
          </p:cNvPr>
          <p:cNvSpPr>
            <a:spLocks noGrp="1"/>
          </p:cNvSpPr>
          <p:nvPr/>
        </p:nvSpPr>
        <p:spPr>
          <a:xfrm>
            <a:off x="8039100" y="4057650"/>
            <a:ext cx="2933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Size is always top + 1.</a:t>
            </a:r>
          </a:p>
        </p:txBody>
      </p:sp>
      <p:sp>
        <p:nvSpPr>
          <p:cNvPr id="15" name="code-panel">
            <a:extLst>
              <a:ext uri="{FF2B5EF4-FFF2-40B4-BE49-F238E27FC236}">
                <a16:creationId xmlns:a16="http://schemas.microsoft.com/office/drawing/2014/main" id="{2886E285-E414-44EF-A9F2-E6AD8EBD3FE1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6858000" cy="971550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D91D3F2A-DC73-46CB-954A-69970DF805B9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861ED919-D85D-4021-85F6-ECE0E65082B3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printf("Size: %zu\n", stackSize(&amp;s));</a:t>
            </a:r>
          </a:p>
        </p:txBody>
      </p:sp>
    </p:spTree>
    <p:extLst>
      <p:ext uri="{BB962C8B-B14F-4D97-AF65-F5344CB8AC3E}">
        <p14:creationId xmlns:p14="http://schemas.microsoft.com/office/powerpoint/2010/main" val="140374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esson-label">
            <a:extLst>
              <a:ext uri="{FF2B5EF4-FFF2-40B4-BE49-F238E27FC236}">
                <a16:creationId xmlns:a16="http://schemas.microsoft.com/office/drawing/2014/main" id="{07A9531E-FD9D-47C4-AD39-A35B59859DDB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873970A-96CC-4606-B8D6-E231F81ED861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stackPush inserts only when space is available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4FAAB68C-EFB5-4269-AA19-BD580E56462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2011F32-7359-4601-B42A-6E0740610962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AB96EF18-D7B1-425E-A28F-0BEF7F2B88C7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65A6CDA3-AC3E-4CD6-B880-4DAE153A078E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651AEDD3-BD76-4F18-A997-E90011188A4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6858000" cy="2781298"/>
          </a:xfrm>
          <a:prstGeom prst="roundRect">
            <a:avLst>
              <a:gd name="adj" fmla="val 224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254EEA6D-F3F1-4BB3-A0F2-A4A0B2E305D9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C4DFD507-19D7-4052-8E14-31DFA296AEC2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64770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stackPush(Stack *s, int value)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(stackIsFull(s))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s-&gt;items[++s-&gt;top] = value;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A6055188-82C7-4E8B-AA6F-EE2DBBAED584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466850"/>
          </a:xfrm>
          <a:prstGeom prst="roundRect">
            <a:avLst>
              <a:gd name="adj" fmla="val 5195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4656BDBE-9211-4E44-B128-92C2D12B42AB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3743D33F-E0F4-4DB6-BCBE-07D92A474DD3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Increment top, store value, and return true.</a:t>
            </a:r>
          </a:p>
        </p:txBody>
      </p:sp>
      <p:sp>
        <p:nvSpPr>
          <p:cNvPr id="13" name="callout">
            <a:extLst>
              <a:ext uri="{FF2B5EF4-FFF2-40B4-BE49-F238E27FC236}">
                <a16:creationId xmlns:a16="http://schemas.microsoft.com/office/drawing/2014/main" id="{CB8D1394-F696-4C90-B767-DF6949DB3188}"/>
              </a:ext>
            </a:extLst>
          </p:cNvPr>
          <p:cNvSpPr>
            <a:spLocks noGrp="1"/>
          </p:cNvSpPr>
          <p:nvPr/>
        </p:nvSpPr>
        <p:spPr>
          <a:xfrm>
            <a:off x="7886700" y="3733800"/>
            <a:ext cx="3238500" cy="1466850"/>
          </a:xfrm>
          <a:prstGeom prst="roundRect">
            <a:avLst>
              <a:gd name="adj" fmla="val 5195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callout-title">
            <a:extLst>
              <a:ext uri="{FF2B5EF4-FFF2-40B4-BE49-F238E27FC236}">
                <a16:creationId xmlns:a16="http://schemas.microsoft.com/office/drawing/2014/main" id="{5F65CBA7-C9C4-43CF-B113-BD6DB262AF2D}"/>
              </a:ext>
            </a:extLst>
          </p:cNvPr>
          <p:cNvSpPr>
            <a:spLocks noGrp="1"/>
          </p:cNvSpPr>
          <p:nvPr/>
        </p:nvSpPr>
        <p:spPr>
          <a:xfrm>
            <a:off x="8058150" y="38671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Overflow</a:t>
            </a:r>
          </a:p>
        </p:txBody>
      </p:sp>
      <p:sp>
        <p:nvSpPr>
          <p:cNvPr id="15" name="callout-body">
            <a:extLst>
              <a:ext uri="{FF2B5EF4-FFF2-40B4-BE49-F238E27FC236}">
                <a16:creationId xmlns:a16="http://schemas.microsoft.com/office/drawing/2014/main" id="{1C36FFE7-764A-4C79-99B9-9C8D8D5D77C4}"/>
              </a:ext>
            </a:extLst>
          </p:cNvPr>
          <p:cNvSpPr>
            <a:spLocks noGrp="1"/>
          </p:cNvSpPr>
          <p:nvPr/>
        </p:nvSpPr>
        <p:spPr>
          <a:xfrm>
            <a:off x="8058150" y="4267200"/>
            <a:ext cx="28956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Return false. The stack remains unchanged.</a:t>
            </a:r>
          </a:p>
        </p:txBody>
      </p:sp>
      <p:sp>
        <p:nvSpPr>
          <p:cNvPr id="16" name="code-panel">
            <a:extLst>
              <a:ext uri="{FF2B5EF4-FFF2-40B4-BE49-F238E27FC236}">
                <a16:creationId xmlns:a16="http://schemas.microsoft.com/office/drawing/2014/main" id="{B17DFA7A-C9FA-498E-9F81-7431BD18BA60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6858000" cy="1085850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ode-label">
            <a:extLst>
              <a:ext uri="{FF2B5EF4-FFF2-40B4-BE49-F238E27FC236}">
                <a16:creationId xmlns:a16="http://schemas.microsoft.com/office/drawing/2014/main" id="{1B15AFC2-21A8-4D23-ABBD-DAFADF89BC19}"/>
              </a:ext>
            </a:extLst>
          </p:cNvPr>
          <p:cNvSpPr>
            <a:spLocks noGrp="1"/>
          </p:cNvSpPr>
          <p:nvPr/>
        </p:nvSpPr>
        <p:spPr>
          <a:xfrm>
            <a:off x="876300" y="5150875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8" name="code-text">
            <a:extLst>
              <a:ext uri="{FF2B5EF4-FFF2-40B4-BE49-F238E27FC236}">
                <a16:creationId xmlns:a16="http://schemas.microsoft.com/office/drawing/2014/main" id="{69278894-1BAB-437A-A73E-B91D0C16F178}"/>
              </a:ext>
            </a:extLst>
          </p:cNvPr>
          <p:cNvSpPr>
            <a:spLocks noGrp="1"/>
          </p:cNvSpPr>
          <p:nvPr/>
        </p:nvSpPr>
        <p:spPr>
          <a:xfrm>
            <a:off x="876300" y="5474725"/>
            <a:ext cx="64770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stackPush(&amp;s, 25);</a:t>
            </a:r>
          </a:p>
        </p:txBody>
      </p:sp>
    </p:spTree>
    <p:extLst>
      <p:ext uri="{BB962C8B-B14F-4D97-AF65-F5344CB8AC3E}">
        <p14:creationId xmlns:p14="http://schemas.microsoft.com/office/powerpoint/2010/main" val="139437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esson-label">
            <a:extLst>
              <a:ext uri="{FF2B5EF4-FFF2-40B4-BE49-F238E27FC236}">
                <a16:creationId xmlns:a16="http://schemas.microsoft.com/office/drawing/2014/main" id="{4EB2E72D-A4AF-48CE-A51A-261EDAE02BE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549BF6E-658D-4200-B24E-621D817ECF46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stackPop returns the top value and removes it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57D070D5-DB1F-4B66-A4D0-B03F8D18B05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F3997169-74E0-4500-946B-4DA5DF07C6DB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F83E6152-F531-4401-8F68-391461EA454E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1E99D33F-A657-4C86-925F-A3CF4300A23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22C4DF24-30EA-4874-BF7D-82B9E27F630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6858000" cy="2877777"/>
          </a:xfrm>
          <a:prstGeom prst="roundRect">
            <a:avLst>
              <a:gd name="adj" fmla="val 224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F6074508-3F3B-42BE-926B-5DA8A80EDEA7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POP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70D8D73B-76FB-4AA7-84BA-AF1D78A64C43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64770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stackPop(Stack *s, int *outValue)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(stackIsEmpty(s))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*outValue = s-&gt;items[s-&gt;top--];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3CDAF410-86E6-4FC2-B84B-67B1F1E5CFED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581150"/>
          </a:xfrm>
          <a:prstGeom prst="roundRect">
            <a:avLst>
              <a:gd name="adj" fmla="val 4819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EACD0BAB-A303-487A-8673-A07106F3E272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CE521784-F08C-4446-9A54-31BD858D3AE8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Copy the top value, decrement top, and return true.</a:t>
            </a:r>
          </a:p>
        </p:txBody>
      </p:sp>
      <p:sp>
        <p:nvSpPr>
          <p:cNvPr id="13" name="callout">
            <a:extLst>
              <a:ext uri="{FF2B5EF4-FFF2-40B4-BE49-F238E27FC236}">
                <a16:creationId xmlns:a16="http://schemas.microsoft.com/office/drawing/2014/main" id="{1C0075D3-0CB6-44E1-BE97-DD49C689AB48}"/>
              </a:ext>
            </a:extLst>
          </p:cNvPr>
          <p:cNvSpPr>
            <a:spLocks noGrp="1"/>
          </p:cNvSpPr>
          <p:nvPr/>
        </p:nvSpPr>
        <p:spPr>
          <a:xfrm>
            <a:off x="7886700" y="3848100"/>
            <a:ext cx="3238500" cy="1352550"/>
          </a:xfrm>
          <a:prstGeom prst="roundRect">
            <a:avLst>
              <a:gd name="adj" fmla="val 5634"/>
            </a:avLst>
          </a:prstGeom>
          <a:solidFill>
            <a:srgbClr val="FDECEC"/>
          </a:solidFill>
          <a:ln w="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callout-title">
            <a:extLst>
              <a:ext uri="{FF2B5EF4-FFF2-40B4-BE49-F238E27FC236}">
                <a16:creationId xmlns:a16="http://schemas.microsoft.com/office/drawing/2014/main" id="{D72276BB-D234-4632-9AF1-641E2A402369}"/>
              </a:ext>
            </a:extLst>
          </p:cNvPr>
          <p:cNvSpPr>
            <a:spLocks noGrp="1"/>
          </p:cNvSpPr>
          <p:nvPr/>
        </p:nvSpPr>
        <p:spPr>
          <a:xfrm>
            <a:off x="8058150" y="39814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Underflow</a:t>
            </a:r>
          </a:p>
        </p:txBody>
      </p:sp>
      <p:sp>
        <p:nvSpPr>
          <p:cNvPr id="15" name="callout-body">
            <a:extLst>
              <a:ext uri="{FF2B5EF4-FFF2-40B4-BE49-F238E27FC236}">
                <a16:creationId xmlns:a16="http://schemas.microsoft.com/office/drawing/2014/main" id="{BC14E48B-FE68-4EDD-A2F2-B0DCA1E9E7DA}"/>
              </a:ext>
            </a:extLst>
          </p:cNvPr>
          <p:cNvSpPr>
            <a:spLocks noGrp="1"/>
          </p:cNvSpPr>
          <p:nvPr/>
        </p:nvSpPr>
        <p:spPr>
          <a:xfrm>
            <a:off x="8058150" y="4381500"/>
            <a:ext cx="289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Return false. outValue is not changed.</a:t>
            </a:r>
          </a:p>
        </p:txBody>
      </p:sp>
      <p:sp>
        <p:nvSpPr>
          <p:cNvPr id="16" name="code-panel">
            <a:extLst>
              <a:ext uri="{FF2B5EF4-FFF2-40B4-BE49-F238E27FC236}">
                <a16:creationId xmlns:a16="http://schemas.microsoft.com/office/drawing/2014/main" id="{A4F87136-5407-45F4-A393-14C2888F4D8C}"/>
              </a:ext>
            </a:extLst>
          </p:cNvPr>
          <p:cNvSpPr>
            <a:spLocks noGrp="1"/>
          </p:cNvSpPr>
          <p:nvPr/>
        </p:nvSpPr>
        <p:spPr>
          <a:xfrm>
            <a:off x="685800" y="4960989"/>
            <a:ext cx="6858000" cy="1277886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ode-label">
            <a:extLst>
              <a:ext uri="{FF2B5EF4-FFF2-40B4-BE49-F238E27FC236}">
                <a16:creationId xmlns:a16="http://schemas.microsoft.com/office/drawing/2014/main" id="{3AE39262-0D60-4C7E-A407-EC844DA1A128}"/>
              </a:ext>
            </a:extLst>
          </p:cNvPr>
          <p:cNvSpPr>
            <a:spLocks noGrp="1"/>
          </p:cNvSpPr>
          <p:nvPr/>
        </p:nvSpPr>
        <p:spPr>
          <a:xfrm>
            <a:off x="876300" y="509434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8" name="code-text">
            <a:extLst>
              <a:ext uri="{FF2B5EF4-FFF2-40B4-BE49-F238E27FC236}">
                <a16:creationId xmlns:a16="http://schemas.microsoft.com/office/drawing/2014/main" id="{34F17E50-AF80-44A3-9136-83735DC0C742}"/>
              </a:ext>
            </a:extLst>
          </p:cNvPr>
          <p:cNvSpPr>
            <a:spLocks noGrp="1"/>
          </p:cNvSpPr>
          <p:nvPr/>
        </p:nvSpPr>
        <p:spPr>
          <a:xfrm>
            <a:off x="876300" y="541819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x;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if (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stackPop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(&amp;s, &amp;x))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("%d\n", x);</a:t>
            </a:r>
          </a:p>
        </p:txBody>
      </p:sp>
    </p:spTree>
    <p:extLst>
      <p:ext uri="{BB962C8B-B14F-4D97-AF65-F5344CB8AC3E}">
        <p14:creationId xmlns:p14="http://schemas.microsoft.com/office/powerpoint/2010/main" val="7053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392FD4F1-8701-4B77-B8DC-1C1BDF0F135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60741D1-94BE-4518-9A93-E1A72BD4E052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stackPeek reads the top without removing it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9ADA426A-B103-42A6-932A-0CEDD7A6625C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D7DDC3B6-A9AD-473E-988E-4B38F12364B1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E303BDCC-4F8F-4207-88AE-5E9A6413AF4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D94F1DBE-EB94-4CAF-8740-D44490AAF6AA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BDA9F035-68B1-40B8-844D-74B1078FB64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6858000" cy="3025262"/>
          </a:xfrm>
          <a:prstGeom prst="roundRect">
            <a:avLst>
              <a:gd name="adj" fmla="val 224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2241D259-D459-4281-BDD3-6601E8322A45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PEEK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C5233843-9340-4269-80A4-4336276A704F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64770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stackPeek(const Stack *s, int *outValue)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(stackIsEmpty(s))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*outValue = s-&gt;items[s-&gt;top];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BF03218A-60FF-403F-A671-F96B4D8E688F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390650"/>
          </a:xfrm>
          <a:prstGeom prst="roundRect">
            <a:avLst>
              <a:gd name="adj" fmla="val 5479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11498464-BE56-40E0-8A1D-EB937EDA1990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DFCCAB2F-FC72-4603-8016-D21E095191CB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Copy items[top] and return true.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57CA5B72-4B98-4D6D-AC6D-4ED3E56829D2}"/>
              </a:ext>
            </a:extLst>
          </p:cNvPr>
          <p:cNvSpPr>
            <a:spLocks noGrp="1"/>
          </p:cNvSpPr>
          <p:nvPr/>
        </p:nvSpPr>
        <p:spPr>
          <a:xfrm>
            <a:off x="7886700" y="3714750"/>
            <a:ext cx="3238500" cy="1219200"/>
          </a:xfrm>
          <a:prstGeom prst="roundRect">
            <a:avLst>
              <a:gd name="adj" fmla="val 6250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CBF21294-5E53-4217-8820-5E76197BCEAD}"/>
              </a:ext>
            </a:extLst>
          </p:cNvPr>
          <p:cNvSpPr>
            <a:spLocks noGrp="1"/>
          </p:cNvSpPr>
          <p:nvPr/>
        </p:nvSpPr>
        <p:spPr>
          <a:xfrm>
            <a:off x="8039100" y="3810000"/>
            <a:ext cx="29337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top does not change.</a:t>
            </a:r>
          </a:p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The stack remains unchanged.</a:t>
            </a:r>
          </a:p>
        </p:txBody>
      </p:sp>
      <p:sp>
        <p:nvSpPr>
          <p:cNvPr id="15" name="code-panel">
            <a:extLst>
              <a:ext uri="{FF2B5EF4-FFF2-40B4-BE49-F238E27FC236}">
                <a16:creationId xmlns:a16="http://schemas.microsoft.com/office/drawing/2014/main" id="{2AF88591-6D6A-4EA2-B9E1-73C1F2475EEB}"/>
              </a:ext>
            </a:extLst>
          </p:cNvPr>
          <p:cNvSpPr>
            <a:spLocks noGrp="1"/>
          </p:cNvSpPr>
          <p:nvPr/>
        </p:nvSpPr>
        <p:spPr>
          <a:xfrm>
            <a:off x="685800" y="4835011"/>
            <a:ext cx="6858000" cy="1451485"/>
          </a:xfrm>
          <a:prstGeom prst="roundRect">
            <a:avLst>
              <a:gd name="adj" fmla="val 9756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28E0C5BA-5F04-4CCD-A74D-EDB21C22FB0A}"/>
              </a:ext>
            </a:extLst>
          </p:cNvPr>
          <p:cNvSpPr>
            <a:spLocks noGrp="1"/>
          </p:cNvSpPr>
          <p:nvPr/>
        </p:nvSpPr>
        <p:spPr>
          <a:xfrm>
            <a:off x="876300" y="4927187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A34A32AE-95AC-4127-B226-6571772DCD08}"/>
              </a:ext>
            </a:extLst>
          </p:cNvPr>
          <p:cNvSpPr>
            <a:spLocks noGrp="1"/>
          </p:cNvSpPr>
          <p:nvPr/>
        </p:nvSpPr>
        <p:spPr>
          <a:xfrm>
            <a:off x="876300" y="5251037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x;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if (stackPeek(&amp;s, &amp;x)) printf("Top: %d\n", x);</a:t>
            </a:r>
          </a:p>
        </p:txBody>
      </p:sp>
    </p:spTree>
    <p:extLst>
      <p:ext uri="{BB962C8B-B14F-4D97-AF65-F5344CB8AC3E}">
        <p14:creationId xmlns:p14="http://schemas.microsoft.com/office/powerpoint/2010/main" val="156034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esson-label">
            <a:extLst>
              <a:ext uri="{FF2B5EF4-FFF2-40B4-BE49-F238E27FC236}">
                <a16:creationId xmlns:a16="http://schemas.microsoft.com/office/drawing/2014/main" id="{FD6DA61D-088F-41DF-9D9B-79BC73A9771B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183E791-F367-4FB8-9D15-C07748F39F80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stackClear resets the logical contents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19871DDB-ADD9-446C-9C4D-840946DAF9D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75BB0E87-C0D8-4B43-A9D8-F4E5F0765A4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425784E3-891E-4E6E-8829-0628328ECC3B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108D581E-C91D-41E9-A31E-F4CB8AE7DC47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84342BB1-B09F-4F2B-9B1F-76F46A22F98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1847849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3B167A7D-AD51-49B6-8B17-66ED684F85CB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CLEAR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4995B91C-646F-4CF2-B69C-1EBF710B2E54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64770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stackClear(Stack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s-&gt;top = -1;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F1A72FFB-A2F0-45A6-859E-1117B4314EF7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3238500" cy="1657350"/>
          </a:xfrm>
          <a:prstGeom prst="roundRect">
            <a:avLst>
              <a:gd name="adj" fmla="val 4598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4A87EEBB-B32A-499C-9FFD-C167E6846961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26D4A7E5-44B8-445F-B3A7-454DDB515BA0}"/>
              </a:ext>
            </a:extLst>
          </p:cNvPr>
          <p:cNvSpPr>
            <a:spLocks noGrp="1"/>
          </p:cNvSpPr>
          <p:nvPr/>
        </p:nvSpPr>
        <p:spPr>
          <a:xfrm>
            <a:off x="8058150" y="2419350"/>
            <a:ext cx="28956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stackClear(&amp;s);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94129EC1-D9DD-43C5-88F5-0A52633F68B0}"/>
              </a:ext>
            </a:extLst>
          </p:cNvPr>
          <p:cNvSpPr>
            <a:spLocks noGrp="1"/>
          </p:cNvSpPr>
          <p:nvPr/>
        </p:nvSpPr>
        <p:spPr>
          <a:xfrm>
            <a:off x="7886700" y="3962400"/>
            <a:ext cx="3238500" cy="1066800"/>
          </a:xfrm>
          <a:prstGeom prst="roundRect">
            <a:avLst>
              <a:gd name="adj" fmla="val 7143"/>
            </a:avLst>
          </a:prstGeom>
          <a:solidFill>
            <a:srgbClr val="FFF6E7"/>
          </a:solidFill>
          <a:ln w="0">
            <a:solidFill>
              <a:srgbClr val="FFF6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7399D4A3-2312-48F5-A19D-252ACE020820}"/>
              </a:ext>
            </a:extLst>
          </p:cNvPr>
          <p:cNvSpPr>
            <a:spLocks noGrp="1"/>
          </p:cNvSpPr>
          <p:nvPr/>
        </p:nvSpPr>
        <p:spPr>
          <a:xfrm>
            <a:off x="8039100" y="4057650"/>
            <a:ext cx="2933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Old bytes may remain, but</a:t>
            </a:r>
          </a:p>
          <a:p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no element is active.</a:t>
            </a:r>
          </a:p>
        </p:txBody>
      </p:sp>
      <p:sp>
        <p:nvSpPr>
          <p:cNvPr id="15" name="code-panel">
            <a:extLst>
              <a:ext uri="{FF2B5EF4-FFF2-40B4-BE49-F238E27FC236}">
                <a16:creationId xmlns:a16="http://schemas.microsoft.com/office/drawing/2014/main" id="{10907E6B-A4BA-4B00-8322-F3F02A6DB9A6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6858000" cy="971550"/>
          </a:xfrm>
          <a:prstGeom prst="roundRect">
            <a:avLst>
              <a:gd name="adj" fmla="val 7843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A1892659-22E5-4EBF-B814-0C58E4517858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SAMPLE CALL</a:t>
            </a:r>
          </a:p>
        </p:txBody>
      </p:sp>
      <p:sp>
        <p:nvSpPr>
          <p:cNvPr id="17" name="code-text">
            <a:extLst>
              <a:ext uri="{FF2B5EF4-FFF2-40B4-BE49-F238E27FC236}">
                <a16:creationId xmlns:a16="http://schemas.microsoft.com/office/drawing/2014/main" id="{C2B28284-BE13-4D5B-B224-A58AF81A3353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stackClear(&amp;s);</a:t>
            </a:r>
          </a:p>
        </p:txBody>
      </p:sp>
    </p:spTree>
    <p:extLst>
      <p:ext uri="{BB962C8B-B14F-4D97-AF65-F5344CB8AC3E}">
        <p14:creationId xmlns:p14="http://schemas.microsoft.com/office/powerpoint/2010/main" val="1467461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esson-label">
            <a:extLst>
              <a:ext uri="{FF2B5EF4-FFF2-40B4-BE49-F238E27FC236}">
                <a16:creationId xmlns:a16="http://schemas.microsoft.com/office/drawing/2014/main" id="{1A038781-A8BC-41E8-8846-66669CFFE49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F03930B-6135-41D6-A821-55BA4AB4E335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stackDisplay prints from top to bottom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AA055691-8864-4AFA-A14C-D82CFD02855D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6F80915-E558-4D94-A15C-DBF06116D1D0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CBF7951C-0F3A-46B2-856D-80D8F503FB21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22F76402-37FB-48DE-8404-1CE04D526AF1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03662139-8D22-4242-88FE-5B50FCC6527A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334250" cy="4438650"/>
          </a:xfrm>
          <a:prstGeom prst="roundRect">
            <a:avLst>
              <a:gd name="adj" fmla="val 171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B0C5D18A-FBC0-4255-88F6-ED2E13300C0B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695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85E85D98-42B8-4525-8B74-41243F40183E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6953250" cy="384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stackDisplay(const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(stackIsEmpty(s))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printf("[empty]\n");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printf("TOP -&gt; 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for (int i = s-&gt;top; i &gt;= 0; --i)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printf("%d ", s-&gt;items[i]);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printf("\n");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allout">
            <a:extLst>
              <a:ext uri="{FF2B5EF4-FFF2-40B4-BE49-F238E27FC236}">
                <a16:creationId xmlns:a16="http://schemas.microsoft.com/office/drawing/2014/main" id="{36A04665-8B0F-4BC8-A39D-2D7629BA0F6E}"/>
              </a:ext>
            </a:extLst>
          </p:cNvPr>
          <p:cNvSpPr>
            <a:spLocks noGrp="1"/>
          </p:cNvSpPr>
          <p:nvPr/>
        </p:nvSpPr>
        <p:spPr>
          <a:xfrm>
            <a:off x="8362950" y="1981200"/>
            <a:ext cx="2762250" cy="1790700"/>
          </a:xfrm>
          <a:prstGeom prst="roundRect">
            <a:avLst>
              <a:gd name="adj" fmla="val 4255"/>
            </a:avLst>
          </a:prstGeom>
          <a:solidFill>
            <a:srgbClr val="EAF6F4"/>
          </a:solidFill>
          <a:ln w="0">
            <a:solidFill>
              <a:srgbClr val="EAF6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allout-title">
            <a:extLst>
              <a:ext uri="{FF2B5EF4-FFF2-40B4-BE49-F238E27FC236}">
                <a16:creationId xmlns:a16="http://schemas.microsoft.com/office/drawing/2014/main" id="{5F04EBA7-6E0E-4840-A4CE-B403F6826DAD}"/>
              </a:ext>
            </a:extLst>
          </p:cNvPr>
          <p:cNvSpPr>
            <a:spLocks noGrp="1"/>
          </p:cNvSpPr>
          <p:nvPr/>
        </p:nvSpPr>
        <p:spPr>
          <a:xfrm>
            <a:off x="8534400" y="2114550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Output order</a:t>
            </a:r>
          </a:p>
        </p:txBody>
      </p:sp>
      <p:sp>
        <p:nvSpPr>
          <p:cNvPr id="12" name="callout-body">
            <a:extLst>
              <a:ext uri="{FF2B5EF4-FFF2-40B4-BE49-F238E27FC236}">
                <a16:creationId xmlns:a16="http://schemas.microsoft.com/office/drawing/2014/main" id="{C94DFA08-6FBC-47C4-A23A-1A9D67EF7345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4193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100" b="0">
                <a:solidFill>
                  <a:srgbClr val="18313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313F"/>
                </a:solidFill>
                <a:latin typeface="Aptos"/>
                <a:ea typeface="Aptos"/>
                <a:cs typeface="Aptos"/>
              </a:rPr>
              <a:t>The top value is printed first, followed by lower values.</a:t>
            </a:r>
          </a:p>
        </p:txBody>
      </p:sp>
      <p:sp>
        <p:nvSpPr>
          <p:cNvPr id="13" name="note-box">
            <a:extLst>
              <a:ext uri="{FF2B5EF4-FFF2-40B4-BE49-F238E27FC236}">
                <a16:creationId xmlns:a16="http://schemas.microsoft.com/office/drawing/2014/main" id="{9496D186-1EF7-475A-9950-5C8A06775679}"/>
              </a:ext>
            </a:extLst>
          </p:cNvPr>
          <p:cNvSpPr>
            <a:spLocks noGrp="1"/>
          </p:cNvSpPr>
          <p:nvPr/>
        </p:nvSpPr>
        <p:spPr>
          <a:xfrm>
            <a:off x="8362950" y="4171950"/>
            <a:ext cx="2762250" cy="1028700"/>
          </a:xfrm>
          <a:prstGeom prst="roundRect">
            <a:avLst>
              <a:gd name="adj" fmla="val 7407"/>
            </a:avLst>
          </a:prstGeom>
          <a:solidFill>
            <a:srgbClr val="EDF4FF"/>
          </a:solidFill>
          <a:ln w="0">
            <a:solidFill>
              <a:srgbClr val="EDF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te-text">
            <a:extLst>
              <a:ext uri="{FF2B5EF4-FFF2-40B4-BE49-F238E27FC236}">
                <a16:creationId xmlns:a16="http://schemas.microsoft.com/office/drawing/2014/main" id="{13CBD397-BF02-425F-BC96-02BCCA538BF5}"/>
              </a:ext>
            </a:extLst>
          </p:cNvPr>
          <p:cNvSpPr>
            <a:spLocks noGrp="1"/>
          </p:cNvSpPr>
          <p:nvPr/>
        </p:nvSpPr>
        <p:spPr>
          <a:xfrm>
            <a:off x="8515350" y="4267200"/>
            <a:ext cx="2457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Example:</a:t>
            </a:r>
          </a:p>
          <a:p>
            <a:pPr algn="ctr">
              <a:defRPr sz="18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TOP -&gt; 30 20 10</a:t>
            </a:r>
          </a:p>
        </p:txBody>
      </p:sp>
    </p:spTree>
    <p:extLst>
      <p:ext uri="{BB962C8B-B14F-4D97-AF65-F5344CB8AC3E}">
        <p14:creationId xmlns:p14="http://schemas.microsoft.com/office/powerpoint/2010/main" val="1473982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esson-label">
            <a:extLst>
              <a:ext uri="{FF2B5EF4-FFF2-40B4-BE49-F238E27FC236}">
                <a16:creationId xmlns:a16="http://schemas.microsoft.com/office/drawing/2014/main" id="{4107B9EA-1E35-4039-BC51-8A8E0160497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CCC1266-4294-4EEB-8A90-A1A5F4405981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Complete source — declarations and queries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DE4AD8C7-9EE3-474C-ABAF-6750F419301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47437BB0-4E42-459E-B4D7-E7498AADD80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CD587E15-408F-45E4-8D75-92A91C081B23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631C53E3-071E-45D3-AADA-BC933AD670D5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6B49B15C-EE71-4936-9674-FB9E1964E722}"/>
              </a:ext>
            </a:extLst>
          </p:cNvPr>
          <p:cNvSpPr>
            <a:spLocks noGrp="1"/>
          </p:cNvSpPr>
          <p:nvPr/>
        </p:nvSpPr>
        <p:spPr>
          <a:xfrm>
            <a:off x="685800" y="1676399"/>
            <a:ext cx="5219700" cy="4610097"/>
          </a:xfrm>
          <a:prstGeom prst="roundRect">
            <a:avLst>
              <a:gd name="adj" fmla="val 1709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D038DAB6-1C11-4706-9609-35546ED6C1B6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3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SOURCE 1 OF 3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957D9449-4AFD-4D4D-AD23-83E5CD42CA7E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48387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#include &lt;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stdio.h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#include &lt;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stdbool.h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#include &lt;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stddef.h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#define STACK_CAPACITY 5</a:t>
            </a:r>
          </a:p>
          <a:p>
            <a:endParaRPr sz="2025" b="0" dirty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typedef struct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int items[STACK_CAPACITY];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int top;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 Stack;</a:t>
            </a:r>
          </a:p>
          <a:p>
            <a:endParaRPr sz="2025" b="0" dirty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stackInit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s-&gt;top = -1;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ode-panel">
            <a:extLst>
              <a:ext uri="{FF2B5EF4-FFF2-40B4-BE49-F238E27FC236}">
                <a16:creationId xmlns:a16="http://schemas.microsoft.com/office/drawing/2014/main" id="{37B0DF89-F5A2-4F11-BBFC-67B5BA538F53}"/>
              </a:ext>
            </a:extLst>
          </p:cNvPr>
          <p:cNvSpPr>
            <a:spLocks noGrp="1"/>
          </p:cNvSpPr>
          <p:nvPr/>
        </p:nvSpPr>
        <p:spPr>
          <a:xfrm>
            <a:off x="6172200" y="1676399"/>
            <a:ext cx="5334000" cy="4610099"/>
          </a:xfrm>
          <a:prstGeom prst="roundRect">
            <a:avLst>
              <a:gd name="adj" fmla="val 1709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ode-label">
            <a:extLst>
              <a:ext uri="{FF2B5EF4-FFF2-40B4-BE49-F238E27FC236}">
                <a16:creationId xmlns:a16="http://schemas.microsoft.com/office/drawing/2014/main" id="{1E421A91-0075-4337-8A81-9D4959CE205C}"/>
              </a:ext>
            </a:extLst>
          </p:cNvPr>
          <p:cNvSpPr>
            <a:spLocks noGrp="1"/>
          </p:cNvSpPr>
          <p:nvPr/>
        </p:nvSpPr>
        <p:spPr>
          <a:xfrm>
            <a:off x="6362700" y="18097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QUERY FUNCTIONS</a:t>
            </a:r>
          </a:p>
        </p:txBody>
      </p:sp>
      <p:sp>
        <p:nvSpPr>
          <p:cNvPr id="12" name="code-text">
            <a:extLst>
              <a:ext uri="{FF2B5EF4-FFF2-40B4-BE49-F238E27FC236}">
                <a16:creationId xmlns:a16="http://schemas.microsoft.com/office/drawing/2014/main" id="{61EB700A-9C6D-4CC5-86EA-4AD66C0A8DD2}"/>
              </a:ext>
            </a:extLst>
          </p:cNvPr>
          <p:cNvSpPr>
            <a:spLocks noGrp="1"/>
          </p:cNvSpPr>
          <p:nvPr/>
        </p:nvSpPr>
        <p:spPr>
          <a:xfrm>
            <a:off x="6362700" y="2133600"/>
            <a:ext cx="49530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stackIsEmpty(const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s-&gt;top == -1;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stackIsFull(const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s-&gt;top == STACK_CAPACITY - 1;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2025" b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size_t stackSize(const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(size_t)(s-&gt;top + 1);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58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esson-label">
            <a:extLst>
              <a:ext uri="{FF2B5EF4-FFF2-40B4-BE49-F238E27FC236}">
                <a16:creationId xmlns:a16="http://schemas.microsoft.com/office/drawing/2014/main" id="{2F5BF5A9-7E8E-44DE-9EAE-EC77443B96A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F90DDF0-D6F5-4155-9554-C281276A128A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Complete source — push, pop, and peek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2A6DADEB-5D23-4E09-B8EC-B479C809129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D17E6CA0-496E-4F65-ABD5-A2D778B1118A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F63FA878-E4EC-425B-B624-D66BA562FDD9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BE5DE614-EC2C-4FE1-BF84-CC0DAED29F05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FE23810D-C12D-4DB4-9565-5483B54DD1E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3390900" cy="4457700"/>
          </a:xfrm>
          <a:prstGeom prst="roundRect">
            <a:avLst>
              <a:gd name="adj" fmla="val 224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5E134755-16F2-46B2-AA54-BC4734648DCD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300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B616C5E3-AD65-4FB8-8DE9-060910742058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30099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stackPush(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Stack *s, int value)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(stackIsFull(s))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++s-&gt;top;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s-&gt;items[s-&gt;top]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= value;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code-panel">
            <a:extLst>
              <a:ext uri="{FF2B5EF4-FFF2-40B4-BE49-F238E27FC236}">
                <a16:creationId xmlns:a16="http://schemas.microsoft.com/office/drawing/2014/main" id="{1626D994-73B0-4CD1-9CEB-2499912E97FC}"/>
              </a:ext>
            </a:extLst>
          </p:cNvPr>
          <p:cNvSpPr>
            <a:spLocks noGrp="1"/>
          </p:cNvSpPr>
          <p:nvPr/>
        </p:nvSpPr>
        <p:spPr>
          <a:xfrm>
            <a:off x="4400550" y="1676400"/>
            <a:ext cx="3390900" cy="4457700"/>
          </a:xfrm>
          <a:prstGeom prst="roundRect">
            <a:avLst>
              <a:gd name="adj" fmla="val 224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ode-label">
            <a:extLst>
              <a:ext uri="{FF2B5EF4-FFF2-40B4-BE49-F238E27FC236}">
                <a16:creationId xmlns:a16="http://schemas.microsoft.com/office/drawing/2014/main" id="{5B6B994C-E671-4F07-87EB-C8A39EA46A26}"/>
              </a:ext>
            </a:extLst>
          </p:cNvPr>
          <p:cNvSpPr>
            <a:spLocks noGrp="1"/>
          </p:cNvSpPr>
          <p:nvPr/>
        </p:nvSpPr>
        <p:spPr>
          <a:xfrm>
            <a:off x="4591050" y="1809750"/>
            <a:ext cx="300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POP</a:t>
            </a:r>
          </a:p>
        </p:txBody>
      </p:sp>
      <p:sp>
        <p:nvSpPr>
          <p:cNvPr id="12" name="code-text">
            <a:extLst>
              <a:ext uri="{FF2B5EF4-FFF2-40B4-BE49-F238E27FC236}">
                <a16:creationId xmlns:a16="http://schemas.microsoft.com/office/drawing/2014/main" id="{B226CB96-B568-4F3A-A4CF-B9BBB9E5F1F3}"/>
              </a:ext>
            </a:extLst>
          </p:cNvPr>
          <p:cNvSpPr>
            <a:spLocks noGrp="1"/>
          </p:cNvSpPr>
          <p:nvPr/>
        </p:nvSpPr>
        <p:spPr>
          <a:xfrm>
            <a:off x="4591050" y="2133600"/>
            <a:ext cx="30099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stackPop(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Stack *s, int *out)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(stackIsEmpty(s))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*out = s-&gt;items[s-&gt;top];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--s-&gt;top;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code-panel">
            <a:extLst>
              <a:ext uri="{FF2B5EF4-FFF2-40B4-BE49-F238E27FC236}">
                <a16:creationId xmlns:a16="http://schemas.microsoft.com/office/drawing/2014/main" id="{22842AC9-3253-4A24-BA24-98FEB27651F0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3390900" cy="4457700"/>
          </a:xfrm>
          <a:prstGeom prst="roundRect">
            <a:avLst>
              <a:gd name="adj" fmla="val 2247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code-label">
            <a:extLst>
              <a:ext uri="{FF2B5EF4-FFF2-40B4-BE49-F238E27FC236}">
                <a16:creationId xmlns:a16="http://schemas.microsoft.com/office/drawing/2014/main" id="{8DB33933-E97D-4707-9BEF-40219F83C5E8}"/>
              </a:ext>
            </a:extLst>
          </p:cNvPr>
          <p:cNvSpPr>
            <a:spLocks noGrp="1"/>
          </p:cNvSpPr>
          <p:nvPr/>
        </p:nvSpPr>
        <p:spPr>
          <a:xfrm>
            <a:off x="8305800" y="1809750"/>
            <a:ext cx="300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PEEK</a:t>
            </a:r>
          </a:p>
        </p:txBody>
      </p:sp>
      <p:sp>
        <p:nvSpPr>
          <p:cNvPr id="15" name="code-text">
            <a:extLst>
              <a:ext uri="{FF2B5EF4-FFF2-40B4-BE49-F238E27FC236}">
                <a16:creationId xmlns:a16="http://schemas.microsoft.com/office/drawing/2014/main" id="{0678CA41-2113-47F1-B057-47D6CCBD36B9}"/>
              </a:ext>
            </a:extLst>
          </p:cNvPr>
          <p:cNvSpPr>
            <a:spLocks noGrp="1"/>
          </p:cNvSpPr>
          <p:nvPr/>
        </p:nvSpPr>
        <p:spPr>
          <a:xfrm>
            <a:off x="8305800" y="2133600"/>
            <a:ext cx="30099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bool stackPeek(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const Stack *s, int *out)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(stackIsEmpty(s))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*out = s-&gt;items[s-&gt;top];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2882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sson-label">
            <a:extLst>
              <a:ext uri="{FF2B5EF4-FFF2-40B4-BE49-F238E27FC236}">
                <a16:creationId xmlns:a16="http://schemas.microsoft.com/office/drawing/2014/main" id="{781E23BE-9691-41CA-89E2-5B1F9D56688C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64ACB8C-C853-4C06-8F00-4A3BC6B04E56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Complete source — clear and display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C718FFD7-5219-4202-905D-CF75FB40FD75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4695801B-E4B1-4959-92BB-1F392699107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B6DF61B4-DCBE-4EAE-9943-D616A85DBBF8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EC1C3207-CD8C-4DB8-8279-C9CB24A373A0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B59AFAB8-E5E9-466A-A3D1-F4962F57EA79}"/>
              </a:ext>
            </a:extLst>
          </p:cNvPr>
          <p:cNvSpPr>
            <a:spLocks noGrp="1"/>
          </p:cNvSpPr>
          <p:nvPr/>
        </p:nvSpPr>
        <p:spPr>
          <a:xfrm>
            <a:off x="1200150" y="1430592"/>
            <a:ext cx="9791700" cy="4922583"/>
          </a:xfrm>
          <a:prstGeom prst="roundRect">
            <a:avLst>
              <a:gd name="adj" fmla="val 1709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89F7A9C9-D8D7-4B4B-92D4-015DB24E7F8E}"/>
              </a:ext>
            </a:extLst>
          </p:cNvPr>
          <p:cNvSpPr>
            <a:spLocks noGrp="1"/>
          </p:cNvSpPr>
          <p:nvPr/>
        </p:nvSpPr>
        <p:spPr>
          <a:xfrm>
            <a:off x="1390650" y="1563942"/>
            <a:ext cx="941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SOURCE 3 OF 3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1C3394F5-7D88-4A3A-8F65-B391762A4C2B}"/>
              </a:ext>
            </a:extLst>
          </p:cNvPr>
          <p:cNvSpPr>
            <a:spLocks noGrp="1"/>
          </p:cNvSpPr>
          <p:nvPr/>
        </p:nvSpPr>
        <p:spPr>
          <a:xfrm>
            <a:off x="1390650" y="1887792"/>
            <a:ext cx="9410700" cy="43987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stackClear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s-&gt;top = -1;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2025" b="0" dirty="0">
              <a:solidFill>
                <a:srgbClr val="0B2535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void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stackDisplay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(const Stack *s)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stackIsEmpty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(s))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("[empty]\n");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("TOP -&gt; 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for (int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= s-&gt;top;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&gt;= 0; --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("%d ", s-&gt;items[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]);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("\n");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21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esson-label">
            <a:extLst>
              <a:ext uri="{FF2B5EF4-FFF2-40B4-BE49-F238E27FC236}">
                <a16:creationId xmlns:a16="http://schemas.microsoft.com/office/drawing/2014/main" id="{C48A1FEC-3DF6-4658-826D-9513C8BD2985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LECTURE 8  •  STACK FUNCTIONS IN 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6A2654-AA70-4807-9B4E-5A2C9E5D1903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3600" b="1">
                <a:solidFill>
                  <a:srgbClr val="1232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2324A"/>
                </a:solidFill>
                <a:latin typeface="Aptos"/>
                <a:ea typeface="Aptos"/>
                <a:cs typeface="Aptos"/>
              </a:rPr>
              <a:t>Test every stack function in one program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9FBE2FE2-78F4-4044-8AED-69F5C1333D3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5484A6E-51B5-470F-BE9A-44C0820C19A9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10820400" cy="0"/>
          </a:xfrm>
          <a:prstGeom prst="line">
            <a:avLst/>
          </a:prstGeom>
          <a:noFill/>
          <a:ln w="9525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footer-course">
            <a:extLst>
              <a:ext uri="{FF2B5EF4-FFF2-40B4-BE49-F238E27FC236}">
                <a16:creationId xmlns:a16="http://schemas.microsoft.com/office/drawing/2014/main" id="{D005F071-E4E0-4708-84AA-561D0A1E15F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0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6B78"/>
                </a:solidFill>
                <a:latin typeface="Aptos"/>
                <a:ea typeface="Aptos"/>
                <a:cs typeface="Aptos"/>
              </a:rPr>
              <a:t>TCS302  •  UNIT I</a:t>
            </a:r>
          </a:p>
        </p:txBody>
      </p:sp>
      <p:sp>
        <p:nvSpPr>
          <p:cNvPr id="6" name="footer-number">
            <a:extLst>
              <a:ext uri="{FF2B5EF4-FFF2-40B4-BE49-F238E27FC236}">
                <a16:creationId xmlns:a16="http://schemas.microsoft.com/office/drawing/2014/main" id="{CD9EB8E7-8666-4F7D-BAF8-E526C3066410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r">
              <a:defRPr sz="1650" b="1">
                <a:solidFill>
                  <a:srgbClr val="566B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66B7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code-panel">
            <a:extLst>
              <a:ext uri="{FF2B5EF4-FFF2-40B4-BE49-F238E27FC236}">
                <a16:creationId xmlns:a16="http://schemas.microsoft.com/office/drawing/2014/main" id="{7F9028CA-DB5D-4640-9FC3-83D7C68D7AB9}"/>
              </a:ext>
            </a:extLst>
          </p:cNvPr>
          <p:cNvSpPr>
            <a:spLocks noGrp="1"/>
          </p:cNvSpPr>
          <p:nvPr/>
        </p:nvSpPr>
        <p:spPr>
          <a:xfrm>
            <a:off x="226142" y="1538750"/>
            <a:ext cx="5869858" cy="3928599"/>
          </a:xfrm>
          <a:prstGeom prst="roundRect">
            <a:avLst>
              <a:gd name="adj" fmla="val 2062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ode-label">
            <a:extLst>
              <a:ext uri="{FF2B5EF4-FFF2-40B4-BE49-F238E27FC236}">
                <a16:creationId xmlns:a16="http://schemas.microsoft.com/office/drawing/2014/main" id="{6F04B704-DA6E-4A52-A65B-FE551E2965B1}"/>
              </a:ext>
            </a:extLst>
          </p:cNvPr>
          <p:cNvSpPr>
            <a:spLocks noGrp="1"/>
          </p:cNvSpPr>
          <p:nvPr/>
        </p:nvSpPr>
        <p:spPr>
          <a:xfrm>
            <a:off x="876300" y="1672101"/>
            <a:ext cx="483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MAIN — PART 1</a:t>
            </a:r>
          </a:p>
        </p:txBody>
      </p:sp>
      <p:sp>
        <p:nvSpPr>
          <p:cNvPr id="9" name="code-text">
            <a:extLst>
              <a:ext uri="{FF2B5EF4-FFF2-40B4-BE49-F238E27FC236}">
                <a16:creationId xmlns:a16="http://schemas.microsoft.com/office/drawing/2014/main" id="{3B4F0DFE-9C7A-4640-A78E-5DB03B106335}"/>
              </a:ext>
            </a:extLst>
          </p:cNvPr>
          <p:cNvSpPr>
            <a:spLocks noGrp="1"/>
          </p:cNvSpPr>
          <p:nvPr/>
        </p:nvSpPr>
        <p:spPr>
          <a:xfrm>
            <a:off x="226142" y="1995951"/>
            <a:ext cx="5869858" cy="310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Stack s;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int x;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stackInit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("Empty: %s\n",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stackIsEmpty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(&amp;s) ? "yes" : "no");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stackPush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(&amp;s, 10);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stackPush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(&amp;s, 20);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stackPush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(&amp;s, 30);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025" b="0" dirty="0" err="1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stackDisplay</a:t>
            </a:r>
            <a:r>
              <a:rPr sz="2025" b="0" dirty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(&amp;s);</a:t>
            </a:r>
          </a:p>
        </p:txBody>
      </p:sp>
      <p:sp>
        <p:nvSpPr>
          <p:cNvPr id="10" name="code-panel">
            <a:extLst>
              <a:ext uri="{FF2B5EF4-FFF2-40B4-BE49-F238E27FC236}">
                <a16:creationId xmlns:a16="http://schemas.microsoft.com/office/drawing/2014/main" id="{B2EEEB92-A660-4DAC-90CF-6E02846B6E63}"/>
              </a:ext>
            </a:extLst>
          </p:cNvPr>
          <p:cNvSpPr>
            <a:spLocks noGrp="1"/>
          </p:cNvSpPr>
          <p:nvPr/>
        </p:nvSpPr>
        <p:spPr>
          <a:xfrm>
            <a:off x="6286500" y="1568247"/>
            <a:ext cx="5219700" cy="3899097"/>
          </a:xfrm>
          <a:prstGeom prst="roundRect">
            <a:avLst>
              <a:gd name="adj" fmla="val 2062"/>
            </a:avLst>
          </a:prstGeom>
          <a:solidFill>
            <a:srgbClr val="F4F8FA"/>
          </a:solidFill>
          <a:ln w="14288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ode-label">
            <a:extLst>
              <a:ext uri="{FF2B5EF4-FFF2-40B4-BE49-F238E27FC236}">
                <a16:creationId xmlns:a16="http://schemas.microsoft.com/office/drawing/2014/main" id="{88430762-4FC6-4553-ACFC-22DC32DEA0A2}"/>
              </a:ext>
            </a:extLst>
          </p:cNvPr>
          <p:cNvSpPr>
            <a:spLocks noGrp="1"/>
          </p:cNvSpPr>
          <p:nvPr/>
        </p:nvSpPr>
        <p:spPr>
          <a:xfrm>
            <a:off x="6477000" y="1701598"/>
            <a:ext cx="483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MAIN — PART 2</a:t>
            </a:r>
          </a:p>
        </p:txBody>
      </p:sp>
      <p:sp>
        <p:nvSpPr>
          <p:cNvPr id="12" name="code-text">
            <a:extLst>
              <a:ext uri="{FF2B5EF4-FFF2-40B4-BE49-F238E27FC236}">
                <a16:creationId xmlns:a16="http://schemas.microsoft.com/office/drawing/2014/main" id="{F4D9C643-5C51-4B01-B8F5-B875AED65E59}"/>
              </a:ext>
            </a:extLst>
          </p:cNvPr>
          <p:cNvSpPr>
            <a:spLocks noGrp="1"/>
          </p:cNvSpPr>
          <p:nvPr/>
        </p:nvSpPr>
        <p:spPr>
          <a:xfrm>
            <a:off x="6477000" y="2025448"/>
            <a:ext cx="4838700" cy="310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(stackPeek(&amp;s, &amp;x))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printf("Peek: %d\n", x);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if (stackPop(&amp;s, &amp;x))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printf("Pop: %d\n", x);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printf("Size: %zu\n",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    stackSize(&amp;s));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stackClear(&amp;s);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printf("Cleared\n");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 algn="l">
              <a:defRPr sz="2025" b="0">
                <a:solidFill>
                  <a:srgbClr val="0B253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0B253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output-band">
            <a:extLst>
              <a:ext uri="{FF2B5EF4-FFF2-40B4-BE49-F238E27FC236}">
                <a16:creationId xmlns:a16="http://schemas.microsoft.com/office/drawing/2014/main" id="{4F56ACE8-5C65-43B9-B425-DB5610D9F125}"/>
              </a:ext>
            </a:extLst>
          </p:cNvPr>
          <p:cNvSpPr>
            <a:spLocks noGrp="1"/>
          </p:cNvSpPr>
          <p:nvPr/>
        </p:nvSpPr>
        <p:spPr>
          <a:xfrm>
            <a:off x="685800" y="5565057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0B2535"/>
          </a:solidFill>
          <a:ln w="0">
            <a:solidFill>
              <a:srgbClr val="0B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output-text">
            <a:extLst>
              <a:ext uri="{FF2B5EF4-FFF2-40B4-BE49-F238E27FC236}">
                <a16:creationId xmlns:a16="http://schemas.microsoft.com/office/drawing/2014/main" id="{09245465-C21C-415C-A9F2-DB3C8313C53F}"/>
              </a:ext>
            </a:extLst>
          </p:cNvPr>
          <p:cNvSpPr>
            <a:spLocks noGrp="1"/>
          </p:cNvSpPr>
          <p:nvPr/>
        </p:nvSpPr>
        <p:spPr>
          <a:xfrm>
            <a:off x="857250" y="5641257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Empty: yes  •  TOP -&gt; 30 20 10  •  Peek: 30</a:t>
            </a:r>
          </a:p>
          <a:p>
            <a:pPr algn="ctr">
              <a:defRPr sz="20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025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Pop: 30  •  Size: 2  •  Cleared</a:t>
            </a:r>
          </a:p>
        </p:txBody>
      </p:sp>
    </p:spTree>
    <p:extLst>
      <p:ext uri="{BB962C8B-B14F-4D97-AF65-F5344CB8AC3E}">
        <p14:creationId xmlns:p14="http://schemas.microsoft.com/office/powerpoint/2010/main" val="19435741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1799</Words>
  <Application>Microsoft Macintosh PowerPoint</Application>
  <DocSecurity>0</DocSecurity>
  <PresentationFormat>Widescreen</PresentationFormat>
  <Paragraphs>320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SC22D012-Manoj Kaushik 2022-PHD-Earth&amp;SpaceScience</cp:lastModifiedBy>
  <cp:revision>2</cp:revision>
  <dcterms:created xsi:type="dcterms:W3CDTF">2026-07-23T03:04:56Z</dcterms:created>
  <dcterms:modified xsi:type="dcterms:W3CDTF">2026-09-03T10:23:18Z</dcterms:modified>
</cp:coreProperties>
</file>