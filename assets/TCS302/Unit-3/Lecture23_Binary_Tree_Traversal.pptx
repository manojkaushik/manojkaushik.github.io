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BB188-C4AE-9748-8A12-96C60FB5139C}" v="13" dt="2026-09-10T06:22:01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undo custSel addSld delSld modSld">
      <pc:chgData name="SC22D012-Manoj Kaushik 2022-PHD-Earth&amp;SpaceScience" userId="78d50035-fc00-4ea2-995b-b881e10649a1" providerId="ADAL" clId="{275C7A75-CDE0-511A-B56E-A781402A3859}" dt="2026-09-10T06:22:13.642" v="121" actId="20577"/>
      <pc:docMkLst>
        <pc:docMk/>
      </pc:docMkLst>
      <pc:sldChg chg="delSp modSp mod">
        <pc:chgData name="SC22D012-Manoj Kaushik 2022-PHD-Earth&amp;SpaceScience" userId="78d50035-fc00-4ea2-995b-b881e10649a1" providerId="ADAL" clId="{275C7A75-CDE0-511A-B56E-A781402A3859}" dt="2026-09-10T06:22:13.642" v="121" actId="20577"/>
        <pc:sldMkLst>
          <pc:docMk/>
          <pc:sldMk cId="0" sldId="263"/>
        </pc:sldMkLst>
        <pc:spChg chg="mod">
          <ac:chgData name="SC22D012-Manoj Kaushik 2022-PHD-Earth&amp;SpaceScience" userId="78d50035-fc00-4ea2-995b-b881e10649a1" providerId="ADAL" clId="{275C7A75-CDE0-511A-B56E-A781402A3859}" dt="2026-09-10T06:18:54.080" v="70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10T06:21:40.822" v="116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10T06:22:13.642" v="121" actId="20577"/>
          <ac:spMkLst>
            <pc:docMk/>
            <pc:sldMk cId="0" sldId="263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75C7A75-CDE0-511A-B56E-A781402A3859}" dt="2026-09-10T06:19:06.590" v="72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75C7A75-CDE0-511A-B56E-A781402A3859}" dt="2026-09-10T06:19:06.590" v="72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75C7A75-CDE0-511A-B56E-A781402A3859}" dt="2026-09-10T06:19:06.590" v="72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75C7A75-CDE0-511A-B56E-A781402A3859}" dt="2026-09-10T06:19:06.590" v="72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75C7A75-CDE0-511A-B56E-A781402A3859}" dt="2026-09-10T06:18:58.492" v="71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75C7A75-CDE0-511A-B56E-A781402A3859}" dt="2026-09-10T06:19:06.590" v="72" actId="478"/>
          <ac:spMkLst>
            <pc:docMk/>
            <pc:sldMk cId="0" sldId="263"/>
            <ac:spMk id="13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75C7A75-CDE0-511A-B56E-A781402A3859}" dt="2026-09-03T10:02:48.447" v="1" actId="478"/>
        <pc:sldMkLst>
          <pc:docMk/>
          <pc:sldMk cId="0" sldId="264"/>
        </pc:sldMkLst>
      </pc:sldChg>
      <pc:sldChg chg="new del">
        <pc:chgData name="SC22D012-Manoj Kaushik 2022-PHD-Earth&amp;SpaceScience" userId="78d50035-fc00-4ea2-995b-b881e10649a1" providerId="ADAL" clId="{275C7A75-CDE0-511A-B56E-A781402A3859}" dt="2026-09-10T06:17:17.397" v="3" actId="680"/>
        <pc:sldMkLst>
          <pc:docMk/>
          <pc:sldMk cId="2104629544" sldId="265"/>
        </pc:sldMkLst>
      </pc:sldChg>
      <pc:sldChg chg="add">
        <pc:chgData name="SC22D012-Manoj Kaushik 2022-PHD-Earth&amp;SpaceScience" userId="78d50035-fc00-4ea2-995b-b881e10649a1" providerId="ADAL" clId="{275C7A75-CDE0-511A-B56E-A781402A3859}" dt="2026-09-10T06:17:21.538" v="4"/>
        <pc:sldMkLst>
          <pc:docMk/>
          <pc:sldMk cId="3764105667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31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tree (built in Lecture 22) gets walked three different ways today. Each traversal visits every node exactly once - only the ORDER differs, and that order is entirely determined by where one line sits in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'order' in each name literally describes where the root's own visit happens relative to its two subtrees: PRE (before both), IN (between), POST (after both). This one sentence replaces memorizing three unrelated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Preorder is also exactly how you would print a file-system tree with folders listed before their contents — the folder (root) always appears before what is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BST connection explicitly here, even though BSTs are two lectures away — it gives students a reason to care about inorder specifically, not just as one of three interchangeable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Postorder is the ONLY safe traversal order for deleting/freeing a tree — preorder or inorder would free a node before visiting its children, losing the pointers needed to reach them. Worth stating this constraint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callback to Lecture 22's array-cost slide: shape determined array waste there, and determines recursion-stack depth here. Same underlying lesson, two different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output of preorder/inorder/postorder called on the exact tree from Lecture 22. countNodes returns 7, heightOf returns 2 (root at height 2, leaves at height 0) - both also verified by running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loop opened in Lecture 21 slide 7. The postfix result matches Lecture 9's original worked example too - three lectures, one underlying fact, now fully mechanised.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B0F9-1F81-5565-EE98-2D229B6A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88F4C-88E3-777D-EE6B-2CD26BE4D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24672-3A53-CA85-5EEB-CEF949F64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loop opened in Lecture 21 slide 7. The postfix result matches Lecture 9's original worked example too - three lectures, one underlying fact, now fully mechanised.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8F82E-9D7C-E137-789D-CD9B7F0EE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77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tracing the code logic): preorder = P Q R. inorder = Q P R. postorder = Q R P. A 3-node tree with two leaf children is the simplest possible case where all three orders genuinely differ, making it a good minimal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a Tree, Three 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Preorder, Inorder and Postorder Traversal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 •  Lecture 23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>
            <a:off x="4027932" y="3246120"/>
            <a:ext cx="544068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3246120"/>
            <a:ext cx="544068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3755898" y="379018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27932" y="379018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4844034" y="379018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16068" y="379018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30598" y="3004718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30598" y="3004718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86530" y="3548786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86530" y="3548786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74666" y="3548786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4666" y="3548786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14496" y="409285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14496" y="409285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58564" y="409285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58564" y="409285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02632" y="409285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02632" y="409285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46700" y="409285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46700" y="409285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shape, three orders — the line that moves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23225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
</a:t>
            </a: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visit(root);</a:t>
            </a:r>
            <a:endParaRPr lang="en-US" sz="125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preorder(left);</a:t>
            </a:r>
            <a:endParaRPr lang="en-US" sz="125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preorder(right);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56432" y="1353312"/>
            <a:ext cx="23225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
</a:t>
            </a: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inorder(left);</a:t>
            </a:r>
            <a:endParaRPr lang="en-US" sz="125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visit(root);</a:t>
            </a:r>
            <a:endParaRPr lang="en-US" sz="125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inorder(right);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91072" y="1353312"/>
            <a:ext cx="23225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
</a:t>
            </a:r>
            <a:r>
              <a:rPr lang="en-US" sz="13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postorder(left);</a:t>
            </a:r>
            <a:endParaRPr lang="en-US" sz="1250" dirty="0"/>
          </a:p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postorder(right);</a:t>
            </a:r>
            <a:endParaRPr lang="en-US" sz="1250" dirty="0"/>
          </a:p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visit(root);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3822192"/>
            <a:ext cx="79004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SAME three-line function every time — only the position of visit(root) moves: first, middle, or last. Memorize the pattern, not three separate functions.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preorder( ): visit, then go left, then go right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514600"/>
          </a:xfrm>
          <a:prstGeom prst="roundRect">
            <a:avLst>
              <a:gd name="adj" fmla="val 2545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preorder(struct Node *root)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 == NULL)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          /* base case */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root-&gt;data);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preorder(root-&gt;left);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preorder(root-&gt;right);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an empty subtree does nothing and returns — exactly the recursion discipline from Lecture 10.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is printed BEFORE either recursive call — "pre" as in before.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COPY a tree, or to write it out in a form that can rebuild the same structure (root first tells you where to start).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inorder( ): left, then visit, then right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514600"/>
          </a:xfrm>
          <a:prstGeom prst="roundRect">
            <a:avLst>
              <a:gd name="adj" fmla="val 2545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inorder(struct Node *root)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 == NULL)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inorder(root-&gt;left);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root-&gt;data);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inorder(root-&gt;right);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is printed BETWEEN its two subtrees — "in" as in in-between.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Binary SEARCH Tree (Lecture 24), inorder visits every value in SORTED order — the single most important property of a BST.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expression tree, inorder reproduces the original INFIX expression.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postorder( ): left, then right, then visit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514600"/>
          </a:xfrm>
          <a:prstGeom prst="roundRect">
            <a:avLst>
              <a:gd name="adj" fmla="val 2545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postorder(struct Node *root)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 == NULL)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postorder(root-&gt;left);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postorder(root-&gt;right);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root-&gt;data);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is printed AFTER both subtrees are fully done — "post" as in after.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Lecture 22's freeTree — free children before freeing yourself, or you would free a node while still needing to reach its children through it.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expression tree, postorder gives POSTFIX — safe to evaluate with a stack (Lecture 10).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Complexity: every node, exactly once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for all three.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visits one node and makes exactly two recursive calls — no node is ever revisited.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(call stack)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O(h), where h is the tree's HEIGHT (Lecture 22).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skewed tree of n nodes has h = n-1 — recursion depth n, same risk as unbounded recursion from Lecture 10.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tree of n nodes has h ≈ log₂n — shallow recursion, small stack.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 nodes, skewed, has h = n-1 — deep recursion, one frame per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node count, wildly different stack cost — shape matters here exactly as it did for array storage in Lecture 22.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traversals, one tree, verified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1376172" y="1737360"/>
            <a:ext cx="544068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0240" y="1737360"/>
            <a:ext cx="544068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1104138" y="228142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6172" y="228142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2192274" y="228142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4308" y="2281428"/>
            <a:ext cx="272034" cy="54406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78838" y="1495958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78838" y="1495958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34770" y="2040026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34770" y="2040026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22906" y="2040026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22906" y="2040026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2736" y="258409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2736" y="258409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06804" y="258409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06804" y="258409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50872" y="258409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50872" y="258409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94940" y="2584094"/>
            <a:ext cx="482803" cy="482803"/>
          </a:xfrm>
          <a:prstGeom prst="ellipse">
            <a:avLst/>
          </a:prstGeom>
          <a:solidFill>
            <a:srgbClr val="028090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94940" y="2584094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1371600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62272" y="1444752"/>
            <a:ext cx="4059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preorder(root)
</a:t>
            </a:r>
            <a:r>
              <a:rPr lang="en-US" sz="15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1 2 4 5 3 6 7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0" y="2331720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62272" y="2404872"/>
            <a:ext cx="4059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inorder(root)
</a:t>
            </a:r>
            <a:r>
              <a:rPr lang="en-US" sz="15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4 2 5 1 6 3 7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97680" y="3291840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62272" y="3364992"/>
            <a:ext cx="4059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postorder(root)
</a:t>
            </a:r>
            <a:r>
              <a:rPr lang="en-US" sz="15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4 5 2 6 7 3 1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run — not hand-invented. Node count: 7, tree height: 2.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expression tree actually 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199" y="1234440"/>
            <a:ext cx="8146473" cy="3204556"/>
          </a:xfrm>
          <a:prstGeom prst="roundRect">
            <a:avLst>
              <a:gd name="adj" fmla="val 492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890441" cy="339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>
              <a:buNone/>
            </a:pPr>
            <a:r>
              <a:rPr lang="en-IN" sz="1400" dirty="0"/>
              <a:t>An expression tree is a binary tree where the two node types have fixed jobs: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b="1" dirty="0"/>
              <a:t>Leaves</a:t>
            </a:r>
            <a:r>
              <a:rPr lang="en-IN" sz="1400" dirty="0"/>
              <a:t> hold operands — numbers or variables (</a:t>
            </a:r>
            <a:r>
              <a:rPr lang="en-IN" sz="1400" dirty="0">
                <a:latin typeface="Courier New" panose="02070309020205020404" pitchFamily="49" charset="0"/>
              </a:rPr>
              <a:t>A</a:t>
            </a:r>
            <a:r>
              <a:rPr lang="en-IN" sz="1400" dirty="0"/>
              <a:t>, </a:t>
            </a:r>
            <a:r>
              <a:rPr lang="en-IN" sz="1400" dirty="0">
                <a:latin typeface="Courier New" panose="02070309020205020404" pitchFamily="49" charset="0"/>
              </a:rPr>
              <a:t>B</a:t>
            </a:r>
            <a:r>
              <a:rPr lang="en-IN" sz="1400" dirty="0"/>
              <a:t>, </a:t>
            </a:r>
            <a:r>
              <a:rPr lang="en-IN" sz="1400" dirty="0">
                <a:latin typeface="Courier New" panose="02070309020205020404" pitchFamily="49" charset="0"/>
              </a:rPr>
              <a:t>5</a:t>
            </a:r>
            <a:r>
              <a:rPr lang="en-IN" sz="1400" dirty="0"/>
              <a:t>, </a:t>
            </a:r>
            <a:r>
              <a:rPr lang="en-IN" sz="1400" dirty="0">
                <a:latin typeface="Courier New" panose="02070309020205020404" pitchFamily="49" charset="0"/>
              </a:rPr>
              <a:t>x</a:t>
            </a:r>
            <a:r>
              <a:rPr lang="en-IN" sz="1400" dirty="0"/>
              <a:t>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b="1" dirty="0"/>
              <a:t>Internal nodes</a:t>
            </a:r>
            <a:r>
              <a:rPr lang="en-IN" sz="1400" dirty="0"/>
              <a:t> hold operators (</a:t>
            </a:r>
            <a:r>
              <a:rPr lang="en-IN" sz="1400" dirty="0">
                <a:latin typeface="Courier New" panose="02070309020205020404" pitchFamily="49" charset="0"/>
              </a:rPr>
              <a:t>+</a:t>
            </a:r>
            <a:r>
              <a:rPr lang="en-IN" sz="1400" dirty="0"/>
              <a:t>, </a:t>
            </a:r>
            <a:r>
              <a:rPr lang="en-IN" sz="1400" dirty="0">
                <a:latin typeface="Courier New" panose="02070309020205020404" pitchFamily="49" charset="0"/>
              </a:rPr>
              <a:t>−</a:t>
            </a:r>
            <a:r>
              <a:rPr lang="en-IN" sz="1400" dirty="0"/>
              <a:t>, </a:t>
            </a:r>
            <a:r>
              <a:rPr lang="en-IN" sz="1400" dirty="0">
                <a:latin typeface="Courier New" panose="02070309020205020404" pitchFamily="49" charset="0"/>
              </a:rPr>
              <a:t>×</a:t>
            </a:r>
            <a:r>
              <a:rPr lang="en-IN" sz="1400" dirty="0"/>
              <a:t>, </a:t>
            </a:r>
            <a:r>
              <a:rPr lang="en-IN" sz="1400" dirty="0">
                <a:latin typeface="Courier New" panose="02070309020205020404" pitchFamily="49" charset="0"/>
              </a:rPr>
              <a:t>/</a:t>
            </a:r>
            <a:r>
              <a:rPr lang="en-IN" sz="1400" dirty="0"/>
              <a:t>), and each operator's </a:t>
            </a:r>
            <a:r>
              <a:rPr lang="en-IN" sz="1400" b="1" dirty="0"/>
              <a:t>two children are its two operands</a:t>
            </a:r>
            <a:r>
              <a:rPr lang="en-IN" sz="1400" dirty="0"/>
              <a:t> — which might themselves be whole sub-expressions.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6"/>
            <a:r>
              <a:rPr lang="en-US" sz="1400" b="1" dirty="0">
                <a:solidFill>
                  <a:srgbClr val="1E2761"/>
                </a:solidFill>
                <a:highlight>
                  <a:srgbClr val="00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× C − D:</a:t>
            </a:r>
            <a:endParaRPr lang="en-IN" sz="1400" dirty="0">
              <a:highlight>
                <a:srgbClr val="00FFFF"/>
              </a:highlight>
            </a:endParaRPr>
          </a:p>
          <a:p>
            <a:pPr lvl="6"/>
            <a:r>
              <a:rPr lang="en-IN" sz="1400" dirty="0"/>
              <a:t>            -</a:t>
            </a:r>
          </a:p>
          <a:p>
            <a:pPr lvl="6"/>
            <a:r>
              <a:rPr lang="en-IN" sz="1400" dirty="0"/>
              <a:t>          /   \</a:t>
            </a:r>
          </a:p>
          <a:p>
            <a:pPr lvl="6"/>
            <a:r>
              <a:rPr lang="en-IN" sz="1400" dirty="0"/>
              <a:t>         +     D</a:t>
            </a:r>
          </a:p>
          <a:p>
            <a:pPr lvl="6"/>
            <a:r>
              <a:rPr lang="en-IN" sz="1400" dirty="0"/>
              <a:t>        / \</a:t>
            </a:r>
          </a:p>
          <a:p>
            <a:pPr lvl="6"/>
            <a:r>
              <a:rPr lang="en-IN" sz="1400" dirty="0"/>
              <a:t>       A   *</a:t>
            </a:r>
          </a:p>
          <a:p>
            <a:pPr lvl="6"/>
            <a:r>
              <a:rPr lang="en-IN" sz="1400" dirty="0"/>
              <a:t>          / \</a:t>
            </a:r>
          </a:p>
          <a:p>
            <a:pPr lvl="6"/>
            <a:r>
              <a:rPr lang="en-IN" sz="1400" dirty="0"/>
              <a:t>         B   C</a:t>
            </a:r>
          </a:p>
          <a:p>
            <a:pPr marL="0" indent="0">
              <a:buNone/>
            </a:pPr>
            <a:endParaRPr lang="en-US" sz="1400" b="1" dirty="0">
              <a:solidFill>
                <a:srgbClr val="1E276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BADD-A057-120C-3262-D426A001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0A637F-A039-8249-C9D7-BC1884910547}"/>
              </a:ext>
            </a:extLst>
          </p:cNvPr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0A739E-1A84-068C-40FA-2E71DCF7D921}"/>
              </a:ext>
            </a:extLst>
          </p:cNvPr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Callback: the expression tree, now with real code</a:t>
            </a:r>
            <a:endParaRPr lang="en-US" sz="2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EBB2E3-3DC1-4CC1-714E-B578B6ECCB1C}"/>
              </a:ext>
            </a:extLst>
          </p:cNvPr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3BEE3A-54BA-051B-C6DF-C2008ECA2D1F}"/>
              </a:ext>
            </a:extLst>
          </p:cNvPr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B0B42D-FA2A-D5FF-8372-F62D98D853B5}"/>
              </a:ext>
            </a:extLst>
          </p:cNvPr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CAC34F-6D2C-AFF3-90B6-5308F7188200}"/>
              </a:ext>
            </a:extLst>
          </p:cNvPr>
          <p:cNvSpPr/>
          <p:nvPr/>
        </p:nvSpPr>
        <p:spPr>
          <a:xfrm>
            <a:off x="621792" y="1307592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+ B × C − D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6F7AF13-6B64-472E-50AE-D4D3EA4719C4}"/>
              </a:ext>
            </a:extLst>
          </p:cNvPr>
          <p:cNvSpPr/>
          <p:nvPr/>
        </p:nvSpPr>
        <p:spPr>
          <a:xfrm>
            <a:off x="457200" y="196596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8D691BD-C9BF-98E9-F9D8-5CDB1D0141F8}"/>
              </a:ext>
            </a:extLst>
          </p:cNvPr>
          <p:cNvSpPr/>
          <p:nvPr/>
        </p:nvSpPr>
        <p:spPr>
          <a:xfrm>
            <a:off x="621792" y="2039112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preorder(root)  =  </a:t>
            </a:r>
            <a:r>
              <a:rPr lang="en-US" sz="13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+ A * B C D   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(prefix)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B08C3CC-F67D-DB81-5575-EF6C3B207217}"/>
              </a:ext>
            </a:extLst>
          </p:cNvPr>
          <p:cNvSpPr/>
          <p:nvPr/>
        </p:nvSpPr>
        <p:spPr>
          <a:xfrm>
            <a:off x="457200" y="274320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08CFFB-2C0A-8CE4-4C59-50F6E3552E52}"/>
              </a:ext>
            </a:extLst>
          </p:cNvPr>
          <p:cNvSpPr/>
          <p:nvPr/>
        </p:nvSpPr>
        <p:spPr>
          <a:xfrm>
            <a:off x="621792" y="2816352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inorder(root)  =  </a:t>
            </a:r>
            <a:r>
              <a:rPr lang="en-US" sz="13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* C - D   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(infix)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2827525-50D2-60DC-5E66-97EA76AD4B1D}"/>
              </a:ext>
            </a:extLst>
          </p:cNvPr>
          <p:cNvSpPr/>
          <p:nvPr/>
        </p:nvSpPr>
        <p:spPr>
          <a:xfrm>
            <a:off x="457200" y="352044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7F22D1C-72F6-5EA1-66E6-51224E79138F}"/>
              </a:ext>
            </a:extLst>
          </p:cNvPr>
          <p:cNvSpPr/>
          <p:nvPr/>
        </p:nvSpPr>
        <p:spPr>
          <a:xfrm>
            <a:off x="621792" y="3593592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postorder(root)  =  </a:t>
            </a:r>
            <a:r>
              <a:rPr lang="en-US" sz="13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* + D -   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(postfix)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76410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function, three positions for visit()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preorder: visit, left, right — root first (copying, prefix expressions).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inorder: left, visit, right — root between (sorted output on a BST, infix expressions).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postorder: left, right, visit — root last (the only safe order to free/delete a tree, postfix expressions).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three: O(n) time (every node once), O(h) stack space — shape (Lecture 22) determines whether that stack stays shallow or grows to 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7863840" cy="9144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tree with root P, left child Q, right child R (Q and R are leaves), write all three traversal outputs by hand.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1425</Words>
  <Application>Microsoft Macintosh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1</cp:revision>
  <dcterms:created xsi:type="dcterms:W3CDTF">2026-09-01T09:15:50Z</dcterms:created>
  <dcterms:modified xsi:type="dcterms:W3CDTF">2026-09-10T06:22:16Z</dcterms:modified>
</cp:coreProperties>
</file>