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49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22D012-Manoj Kaushik 2022-PHD-Earth&amp;SpaceScience" userId="78d50035-fc00-4ea2-995b-b881e10649a1" providerId="ADAL" clId="{275C7A75-CDE0-511A-B56E-A781402A3859}"/>
    <pc:docChg chg="modSld">
      <pc:chgData name="SC22D012-Manoj Kaushik 2022-PHD-Earth&amp;SpaceScience" userId="78d50035-fc00-4ea2-995b-b881e10649a1" providerId="ADAL" clId="{275C7A75-CDE0-511A-B56E-A781402A3859}" dt="2026-09-07T17:58:02.204" v="1" actId="20577"/>
      <pc:docMkLst>
        <pc:docMk/>
      </pc:docMkLst>
      <pc:sldChg chg="modSp mod">
        <pc:chgData name="SC22D012-Manoj Kaushik 2022-PHD-Earth&amp;SpaceScience" userId="78d50035-fc00-4ea2-995b-b881e10649a1" providerId="ADAL" clId="{275C7A75-CDE0-511A-B56E-A781402A3859}" dt="2026-09-07T17:58:02.204" v="1" actId="20577"/>
        <pc:sldMkLst>
          <pc:docMk/>
          <pc:sldMk cId="0" sldId="256"/>
        </pc:sldMkLst>
        <pc:spChg chg="mod">
          <ac:chgData name="SC22D012-Manoj Kaushik 2022-PHD-Earth&amp;SpaceScience" userId="78d50035-fc00-4ea2-995b-b881e10649a1" providerId="ADAL" clId="{275C7A75-CDE0-511A-B56E-A781402A3859}" dt="2026-09-07T17:58:02.204" v="1" actId="20577"/>
          <ac:spMkLst>
            <pc:docMk/>
            <pc:sldMk cId="0" sldId="256"/>
            <ac:spMk id="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93887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02920" y="594360"/>
            <a:ext cx="73152" cy="51206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13232" y="62179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13232" y="106070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3, Lecture 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13232" y="1554480"/>
            <a:ext cx="6309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and Employment: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Automation, Displacement &amp; Changing Work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6217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AI automates tasks rather than whole jobs, which occupations face the most exposure, and how the structure of work itself is shifting as a result.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13232" y="470916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</a:t>
            </a:r>
            <a:r>
              <a:rPr lang="en-US" sz="180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 Manoj Kaushik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Assistant Professor, Department of CSE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Graphic Era Hill University, Bhimtal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60920" y="868680"/>
            <a:ext cx="2194560" cy="2331720"/>
          </a:xfrm>
          <a:prstGeom prst="roundRect">
            <a:avLst>
              <a:gd name="adj" fmla="val 5000"/>
            </a:avLst>
          </a:prstGeom>
          <a:solidFill>
            <a:srgbClr val="EEF5FF"/>
          </a:solidFill>
          <a:ln w="12700">
            <a:solidFill>
              <a:srgbClr val="EEF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/home/claude/work11/icon11_autom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9580" y="1143000"/>
            <a:ext cx="777240" cy="7772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470648" y="210312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Task Automation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9692640" y="868680"/>
            <a:ext cx="2194560" cy="2331720"/>
          </a:xfrm>
          <a:prstGeom prst="roundRect">
            <a:avLst>
              <a:gd name="adj" fmla="val 5000"/>
            </a:avLst>
          </a:prstGeom>
          <a:solidFill>
            <a:srgbClr val="F3F8FF"/>
          </a:solidFill>
          <a:ln w="12700">
            <a:solidFill>
              <a:srgbClr val="EEF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/home/claude/work11/icon11_job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1300" y="1143000"/>
            <a:ext cx="777240" cy="7772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802368" y="210312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Job Displacement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7360920" y="3337560"/>
            <a:ext cx="2194560" cy="2331720"/>
          </a:xfrm>
          <a:prstGeom prst="roundRect">
            <a:avLst>
              <a:gd name="adj" fmla="val 5000"/>
            </a:avLst>
          </a:prstGeom>
          <a:solidFill>
            <a:srgbClr val="EEF5FF"/>
          </a:solidFill>
          <a:ln w="12700">
            <a:solidFill>
              <a:srgbClr val="EEF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/home/claude/work11/icon11_indust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9580" y="3611880"/>
            <a:ext cx="777240" cy="7772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470648" y="457200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Occupational Structures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9692640" y="3337560"/>
            <a:ext cx="2194560" cy="2331720"/>
          </a:xfrm>
          <a:prstGeom prst="roundRect">
            <a:avLst>
              <a:gd name="adj" fmla="val 5000"/>
            </a:avLst>
          </a:prstGeom>
          <a:solidFill>
            <a:srgbClr val="F3F8FF"/>
          </a:solidFill>
          <a:ln w="12700">
            <a:solidFill>
              <a:srgbClr val="EEF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3" descr="/home/claude/work11/icon11_labourmark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01300" y="3611880"/>
            <a:ext cx="777240" cy="7772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802368" y="457200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Labour Market Trends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3 | Lecture 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Task Automation - What AI Actually Automates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typically automates specific tasks within a job, not the entire job itself - most occupations combine automatable and non-automatable tasks.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Tasks most exposed to automation tend to be routine, repetitive and rule-based, whether physical or cognitive.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Tasks that require complex judgement, physical dexterity in unpredictable settings, or interpersonal skill remain harder to automate.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Understanding automation at the task level, not the job level, gives a much more accurate picture of employment impact.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3 | Lecture 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Which Jobs Are Most Exposed to Automation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entry, routine bookkeeping and basic customer support show high exposure, since their core tasks are repetitive and rule-based.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Manufacturing and warehouse roles involving repetitive physical tasks are highly exposed to robotic and AI-driven automation.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Roles requiring high emotional intelligence, creative judgement or complex physical adaptability - such as therapists, skilled trades and elder care - show lower exposure.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Exposure does not always mean elimination; it often means a significant change in what the role actually involves.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3 | Lecture 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Job Displacement - How It Happens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Direct displacement occurs when a task or role is automated entirely and the position is no longer needed at the same scale.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Displacement is often gradual, happening through reduced hiring rather than sudden mass layoffs.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Displacement effects are uneven - concentrated in specific industries, regions and skill levels rather than spread evenly across the economy.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Workers in routine-task-heavy roles face significantly higher displacement risk than those in roles requiring adaptive, non-routine skills.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3 | Lecture 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Case Example: Automation in Manufacturing &amp; Logistics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Automated warehouses use robots for picking, sorting and moving inventory, substantially reducing the need for manual warehouse labour.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Self-checkout and automated inventory systems have reduced routine retail staffing needs in many large stores.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Automated quality-inspection systems using computer vision have reduced the need for manual visual inspection roles on production lines.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These changes have shifted labour demand toward equipment maintenance, systems oversight and exception handling instead of manual execution.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3 | Lecture 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Case Example: Automation in Knowledge Work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AI-assisted drafting tools have reduced the time required for routine legal document review and first-draft contract generation.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Automated transcription and summarisation tools have reduced demand for purely transcription-focused roles in media and administration.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coding assistants have changed how much routine boilerplate code a software developer needs to write manually.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each case, the technology reduced time spent on routine sub-tasks rather than eliminating the profession outright.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3 | Lecture 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 Changing Occupational Structures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Some occupations shrink in headcount as their routine tasks are automated, even while the underlying industry keeps growing.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Other occupations grow specifically because AI systems need to be built, managed, audited and maintained.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Job titles and role definitions shift over time, often blending previously separate skill sets - such as data literacy combined with domain expertise.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overall structure of an industry's workforce can shift markedly even when total employment in that industry stays roughly stable.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3 | Lecture 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7. New and Transformed Roles Emerging from AI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trainers and data annotators: roles created specifically to prepare and label the data AI systems learn from.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oversight and audit roles: positions responsible for monitoring model performance, fairness and compliance.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Prompt engineers and AI-integration specialists: roles focused on effectively directing AI tools within existing workflows.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Many traditional roles are being redefined to include AI-collaboration skills rather than being replaced outright.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778</Words>
  <Application>Microsoft Macintosh PowerPoint</Application>
  <PresentationFormat>Widescreen</PresentationFormat>
  <Paragraphs>98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Mr. Manoj Kaushik</cp:lastModifiedBy>
  <cp:revision>1</cp:revision>
  <dcterms:created xsi:type="dcterms:W3CDTF">2026-09-07T17:55:32Z</dcterms:created>
  <dcterms:modified xsi:type="dcterms:W3CDTF">2026-09-07T17:58:03Z</dcterms:modified>
</cp:coreProperties>
</file>