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6"/>
  </p:notesMasterIdLst>
  <p:sldIdLst>
    <p:sldId id="256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15" d="100"/>
          <a:sy n="115" d="100"/>
        </p:scale>
        <p:origin x="496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microsoft.com/office/2016/11/relationships/changesInfo" Target="changesInfos/changesInfo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C22D012-Manoj Kaushik 2022-PHD-Earth&amp;SpaceScience" userId="78d50035-fc00-4ea2-995b-b881e10649a1" providerId="ADAL" clId="{275C7A75-CDE0-511A-B56E-A781402A3859}"/>
    <pc:docChg chg="delSld">
      <pc:chgData name="SC22D012-Manoj Kaushik 2022-PHD-Earth&amp;SpaceScience" userId="78d50035-fc00-4ea2-995b-b881e10649a1" providerId="ADAL" clId="{275C7A75-CDE0-511A-B56E-A781402A3859}" dt="2026-08-18T02:35:19.608" v="0" actId="2696"/>
      <pc:docMkLst>
        <pc:docMk/>
      </pc:docMkLst>
      <pc:sldChg chg="del">
        <pc:chgData name="SC22D012-Manoj Kaushik 2022-PHD-Earth&amp;SpaceScience" userId="78d50035-fc00-4ea2-995b-b881e10649a1" providerId="ADAL" clId="{275C7A75-CDE0-511A-B56E-A781402A3859}" dt="2026-08-18T02:35:19.608" v="0" actId="2696"/>
        <pc:sldMkLst>
          <pc:docMk/>
          <pc:sldMk cId="0" sldId="257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3670082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502920" y="594360"/>
            <a:ext cx="73152" cy="5120640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713232" y="621792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F4E7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TCS349: Responsible and Explainable AI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13232" y="1060704"/>
            <a:ext cx="5669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F4E7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Unit 2, Lecture 6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13232" y="1463040"/>
            <a:ext cx="63093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19191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AI in Surveillance:</a:t>
            </a:r>
            <a:endParaRPr lang="en-US" sz="2300" dirty="0"/>
          </a:p>
          <a:p>
            <a:pPr marL="0" indent="0">
              <a:buNone/>
            </a:pPr>
            <a:r>
              <a:rPr lang="en-US" sz="2300" b="1" dirty="0">
                <a:solidFill>
                  <a:srgbClr val="19191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Facial Recognition, Video &amp;</a:t>
            </a:r>
            <a:endParaRPr lang="en-US" sz="2300" dirty="0"/>
          </a:p>
          <a:p>
            <a:pPr marL="0" indent="0">
              <a:buNone/>
            </a:pPr>
            <a:r>
              <a:rPr lang="en-US" sz="2300" b="1" dirty="0">
                <a:solidFill>
                  <a:srgbClr val="19191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Behavioural Monitoring</a:t>
            </a:r>
            <a:endParaRPr lang="en-US" sz="2300" dirty="0"/>
          </a:p>
        </p:txBody>
      </p:sp>
      <p:sp>
        <p:nvSpPr>
          <p:cNvPr id="7" name="Text 5"/>
          <p:cNvSpPr/>
          <p:nvPr/>
        </p:nvSpPr>
        <p:spPr>
          <a:xfrm>
            <a:off x="731520" y="3063240"/>
            <a:ext cx="62179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dirty="0">
                <a:solidFill>
                  <a:srgbClr val="19191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How AI is used to watch, recognise and analyse people at scale - and the case examples that show both its capability and its risk.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713232" y="4709160"/>
            <a:ext cx="5303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19191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Dr. Manoj Kaushik</a:t>
            </a:r>
            <a:endParaRPr lang="en-US" sz="1800" dirty="0"/>
          </a:p>
          <a:p>
            <a:pPr marL="0" indent="0">
              <a:buNone/>
            </a:pPr>
            <a:r>
              <a:rPr lang="en-US" sz="1800" dirty="0">
                <a:solidFill>
                  <a:srgbClr val="19191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Assistant Professor, Department of CSE</a:t>
            </a:r>
            <a:endParaRPr lang="en-US" sz="1800" dirty="0"/>
          </a:p>
          <a:p>
            <a:pPr marL="0" indent="0">
              <a:buNone/>
            </a:pPr>
            <a:r>
              <a:rPr lang="en-US" sz="1800" dirty="0">
                <a:solidFill>
                  <a:srgbClr val="19191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Graphic Era Hill University, Bhimtal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7360920" y="868680"/>
            <a:ext cx="2194560" cy="2331720"/>
          </a:xfrm>
          <a:prstGeom prst="roundRect">
            <a:avLst>
              <a:gd name="adj" fmla="val 5000"/>
            </a:avLst>
          </a:prstGeom>
          <a:solidFill>
            <a:srgbClr val="EEF5FF"/>
          </a:solidFill>
          <a:ln w="12700">
            <a:solidFill>
              <a:srgbClr val="EEF5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0" name="Image 0" descr="/home/claude/work7/icon7_faci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69580" y="1143000"/>
            <a:ext cx="777240" cy="77724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7470648" y="2103120"/>
            <a:ext cx="197510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F4E7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Facial Recognition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9692640" y="868680"/>
            <a:ext cx="2194560" cy="2331720"/>
          </a:xfrm>
          <a:prstGeom prst="roundRect">
            <a:avLst>
              <a:gd name="adj" fmla="val 5000"/>
            </a:avLst>
          </a:prstGeom>
          <a:solidFill>
            <a:srgbClr val="F3F8FF"/>
          </a:solidFill>
          <a:ln w="12700">
            <a:solidFill>
              <a:srgbClr val="EEF5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3" name="Image 1" descr="/home/claude/work7/icon7_vide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401300" y="1143000"/>
            <a:ext cx="777240" cy="77724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9802368" y="2103120"/>
            <a:ext cx="197510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F4E7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Video Analytics</a:t>
            </a:r>
            <a:endParaRPr lang="en-US" sz="1300" dirty="0"/>
          </a:p>
        </p:txBody>
      </p:sp>
      <p:sp>
        <p:nvSpPr>
          <p:cNvPr id="15" name="Shape 11"/>
          <p:cNvSpPr/>
          <p:nvPr/>
        </p:nvSpPr>
        <p:spPr>
          <a:xfrm>
            <a:off x="7360920" y="3337560"/>
            <a:ext cx="2194560" cy="2331720"/>
          </a:xfrm>
          <a:prstGeom prst="roundRect">
            <a:avLst>
              <a:gd name="adj" fmla="val 5000"/>
            </a:avLst>
          </a:prstGeom>
          <a:solidFill>
            <a:srgbClr val="EEF5FF"/>
          </a:solidFill>
          <a:ln w="12700">
            <a:solidFill>
              <a:srgbClr val="EEF5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6" name="Image 2" descr="/home/claude/work7/icon7_behavioural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69580" y="3611880"/>
            <a:ext cx="777240" cy="77724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7470648" y="4572000"/>
            <a:ext cx="197510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F4E7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Behavioural Monitoring</a:t>
            </a:r>
            <a:endParaRPr lang="en-US" sz="1300" dirty="0"/>
          </a:p>
        </p:txBody>
      </p:sp>
      <p:sp>
        <p:nvSpPr>
          <p:cNvPr id="18" name="Shape 13"/>
          <p:cNvSpPr/>
          <p:nvPr/>
        </p:nvSpPr>
        <p:spPr>
          <a:xfrm>
            <a:off x="9692640" y="3337560"/>
            <a:ext cx="2194560" cy="2331720"/>
          </a:xfrm>
          <a:prstGeom prst="roundRect">
            <a:avLst>
              <a:gd name="adj" fmla="val 5000"/>
            </a:avLst>
          </a:prstGeom>
          <a:solidFill>
            <a:srgbClr val="F3F8FF"/>
          </a:solidFill>
          <a:ln w="12700">
            <a:solidFill>
              <a:srgbClr val="EEF5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9" name="Image 3" descr="/home/claude/work7/icon7_ethics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401300" y="3611880"/>
            <a:ext cx="777240" cy="777240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9802368" y="4572000"/>
            <a:ext cx="197510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F4E7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Ethics &amp; Regulation</a:t>
            </a:r>
            <a:endParaRPr lang="en-US" sz="1300" dirty="0"/>
          </a:p>
        </p:txBody>
      </p:sp>
      <p:sp>
        <p:nvSpPr>
          <p:cNvPr id="21" name="Text 15"/>
          <p:cNvSpPr/>
          <p:nvPr/>
        </p:nvSpPr>
        <p:spPr>
          <a:xfrm>
            <a:off x="11430000" y="6446520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59595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F8FBFF"/>
          </a:solidFill>
          <a:ln w="12700">
            <a:solidFill>
              <a:srgbClr val="F8FB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475488"/>
            <a:ext cx="12191695" cy="27432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365760" y="731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F4E7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TCS349: Responsible and Explainable AI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8321040" y="82296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600" b="1" dirty="0">
                <a:solidFill>
                  <a:srgbClr val="1F4E7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Unit 2 | Lecture 6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02920" y="640080"/>
            <a:ext cx="11155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1F4E7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1. What Is AI-Enabled Surveillance?</a:t>
            </a:r>
            <a:endParaRPr lang="en-US" sz="2300" dirty="0"/>
          </a:p>
        </p:txBody>
      </p:sp>
      <p:sp>
        <p:nvSpPr>
          <p:cNvPr id="7" name="Text 5"/>
          <p:cNvSpPr/>
          <p:nvPr/>
        </p:nvSpPr>
        <p:spPr>
          <a:xfrm>
            <a:off x="594360" y="1417320"/>
            <a:ext cx="10972800" cy="48463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marL="0" indent="0">
              <a:buNone/>
            </a:pPr>
            <a:r>
              <a:rPr lang="en-US" sz="1800" dirty="0">
                <a:solidFill>
                  <a:srgbClr val="19191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AI-enabled surveillance uses machine learning to observe, identify or analyse people's behaviour, often continuously and at scale.</a:t>
            </a:r>
            <a:endParaRPr lang="en-US" sz="1800" dirty="0"/>
          </a:p>
          <a:p>
            <a:pPr marL="0" indent="0">
              <a:buNone/>
            </a:pPr>
            <a:endParaRPr lang="en-US" sz="1800" dirty="0"/>
          </a:p>
          <a:p>
            <a:pPr marL="0" indent="0">
              <a:buNone/>
            </a:pPr>
            <a:r>
              <a:rPr lang="en-US" sz="1800" dirty="0">
                <a:solidFill>
                  <a:srgbClr val="19191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It spans a range of techniques: recognising faces, tracking movement, and inferring behaviour or intent from video and sensor data.</a:t>
            </a:r>
            <a:endParaRPr lang="en-US" sz="1800" dirty="0"/>
          </a:p>
          <a:p>
            <a:pPr marL="0" indent="0">
              <a:buNone/>
            </a:pPr>
            <a:endParaRPr lang="en-US" sz="1800" dirty="0"/>
          </a:p>
          <a:p>
            <a:pPr marL="0" indent="0">
              <a:buNone/>
            </a:pPr>
            <a:r>
              <a:rPr lang="en-US" sz="1800" dirty="0">
                <a:solidFill>
                  <a:srgbClr val="19191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Surveillance AI is used by governments, law enforcement, employers and private businesses, each with different goals and oversight.</a:t>
            </a:r>
            <a:endParaRPr lang="en-US" sz="1800" dirty="0"/>
          </a:p>
          <a:p>
            <a:pPr marL="0" indent="0">
              <a:buNone/>
            </a:pPr>
            <a:endParaRPr lang="en-US" sz="1800" dirty="0"/>
          </a:p>
          <a:p>
            <a:pPr marL="0" indent="0">
              <a:buNone/>
            </a:pPr>
            <a:r>
              <a:rPr lang="en-US" sz="1800" dirty="0">
                <a:solidFill>
                  <a:srgbClr val="19191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The same underlying techniques can support public safety or enable intrusive, unaccountable monitoring, depending on how they are governed.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1430000" y="6446520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59595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3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F8FBFF"/>
          </a:solidFill>
          <a:ln w="12700">
            <a:solidFill>
              <a:srgbClr val="F8FB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475488"/>
            <a:ext cx="12191695" cy="27432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365760" y="731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F4E7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TCS349: Responsible and Explainable AI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8321040" y="82296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600" b="1" dirty="0">
                <a:solidFill>
                  <a:srgbClr val="1F4E7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Unit 2 | Lecture 6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02920" y="640080"/>
            <a:ext cx="11155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1F4E7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2. Facial Recognition - How It Works</a:t>
            </a:r>
            <a:endParaRPr lang="en-US" sz="2300" dirty="0"/>
          </a:p>
        </p:txBody>
      </p:sp>
      <p:sp>
        <p:nvSpPr>
          <p:cNvPr id="7" name="Text 5"/>
          <p:cNvSpPr/>
          <p:nvPr/>
        </p:nvSpPr>
        <p:spPr>
          <a:xfrm>
            <a:off x="594360" y="1417320"/>
            <a:ext cx="10972800" cy="48463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marL="0" indent="0">
              <a:buNone/>
            </a:pPr>
            <a:r>
              <a:rPr lang="en-US" sz="1800" dirty="0">
                <a:solidFill>
                  <a:srgbClr val="19191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Facial recognition detects a face in an image or video, then converts its features into a numerical representation.</a:t>
            </a:r>
            <a:endParaRPr lang="en-US" sz="1800" dirty="0"/>
          </a:p>
          <a:p>
            <a:pPr marL="0" indent="0">
              <a:buNone/>
            </a:pPr>
            <a:endParaRPr lang="en-US" sz="1800" dirty="0"/>
          </a:p>
          <a:p>
            <a:pPr marL="0" indent="0">
              <a:buNone/>
            </a:pPr>
            <a:r>
              <a:rPr lang="en-US" sz="1800" dirty="0">
                <a:solidFill>
                  <a:srgbClr val="19191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This representation is compared against a database of known faces to find a match or confirm an identity.</a:t>
            </a:r>
            <a:endParaRPr lang="en-US" sz="1800" dirty="0"/>
          </a:p>
          <a:p>
            <a:pPr marL="0" indent="0">
              <a:buNone/>
            </a:pPr>
            <a:endParaRPr lang="en-US" sz="1800" dirty="0"/>
          </a:p>
          <a:p>
            <a:pPr marL="0" indent="0">
              <a:buNone/>
            </a:pPr>
            <a:r>
              <a:rPr lang="en-US" sz="1800" dirty="0">
                <a:solidFill>
                  <a:srgbClr val="19191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Systems operate in two modes: verification, matching one face to one claimed identity, and identification, searching a face against many.</a:t>
            </a:r>
            <a:endParaRPr lang="en-US" sz="1800" dirty="0"/>
          </a:p>
          <a:p>
            <a:pPr marL="0" indent="0">
              <a:buNone/>
            </a:pPr>
            <a:endParaRPr lang="en-US" sz="1800" dirty="0"/>
          </a:p>
          <a:p>
            <a:pPr marL="0" indent="0">
              <a:buNone/>
            </a:pPr>
            <a:r>
              <a:rPr lang="en-US" sz="1800" dirty="0">
                <a:solidFill>
                  <a:srgbClr val="19191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Accuracy depends heavily on image quality, lighting, angle and the diversity of the data used to train the model.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1430000" y="6446520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59595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4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F8FBFF"/>
          </a:solidFill>
          <a:ln w="12700">
            <a:solidFill>
              <a:srgbClr val="F8FB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475488"/>
            <a:ext cx="12191695" cy="27432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365760" y="731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F4E7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TCS349: Responsible and Explainable AI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8321040" y="82296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600" b="1" dirty="0">
                <a:solidFill>
                  <a:srgbClr val="1F4E7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Unit 2 | Lecture 6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02920" y="640080"/>
            <a:ext cx="11155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1F4E7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3. Facial Recognition - Common Applications</a:t>
            </a:r>
            <a:endParaRPr lang="en-US" sz="2300" dirty="0"/>
          </a:p>
        </p:txBody>
      </p:sp>
      <p:sp>
        <p:nvSpPr>
          <p:cNvPr id="7" name="Text 5"/>
          <p:cNvSpPr/>
          <p:nvPr/>
        </p:nvSpPr>
        <p:spPr>
          <a:xfrm>
            <a:off x="594360" y="1417320"/>
            <a:ext cx="10972800" cy="48463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marL="0" indent="0">
              <a:buNone/>
            </a:pPr>
            <a:r>
              <a:rPr lang="en-US" sz="1800" dirty="0">
                <a:solidFill>
                  <a:srgbClr val="19191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Access control: unlocking phones or verifying identity at secure facilities.</a:t>
            </a:r>
            <a:endParaRPr lang="en-US" sz="1800" dirty="0"/>
          </a:p>
          <a:p>
            <a:pPr marL="0" indent="0">
              <a:buNone/>
            </a:pPr>
            <a:endParaRPr lang="en-US" sz="1800" dirty="0"/>
          </a:p>
          <a:p>
            <a:pPr marL="0" indent="0">
              <a:buNone/>
            </a:pPr>
            <a:r>
              <a:rPr lang="en-US" sz="1800" dirty="0">
                <a:solidFill>
                  <a:srgbClr val="19191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Law enforcement: identifying persons of interest from CCTV or investigative footage.</a:t>
            </a:r>
            <a:endParaRPr lang="en-US" sz="1800" dirty="0"/>
          </a:p>
          <a:p>
            <a:pPr marL="0" indent="0">
              <a:buNone/>
            </a:pPr>
            <a:endParaRPr lang="en-US" sz="1800" dirty="0"/>
          </a:p>
          <a:p>
            <a:pPr marL="0" indent="0">
              <a:buNone/>
            </a:pPr>
            <a:r>
              <a:rPr lang="en-US" sz="1800" dirty="0">
                <a:solidFill>
                  <a:srgbClr val="19191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Border and travel security: matching travellers to passport or visa photographs.</a:t>
            </a:r>
            <a:endParaRPr lang="en-US" sz="1800" dirty="0"/>
          </a:p>
          <a:p>
            <a:pPr marL="0" indent="0">
              <a:buNone/>
            </a:pPr>
            <a:endParaRPr lang="en-US" sz="1800" dirty="0"/>
          </a:p>
          <a:p>
            <a:pPr marL="0" indent="0">
              <a:buNone/>
            </a:pPr>
            <a:r>
              <a:rPr lang="en-US" sz="1800" dirty="0">
                <a:solidFill>
                  <a:srgbClr val="19191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Retail and venues: identifying repeat visitors or flagged individuals at entry points.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1430000" y="6446520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59595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5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F8FBFF"/>
          </a:solidFill>
          <a:ln w="12700">
            <a:solidFill>
              <a:srgbClr val="F8FB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475488"/>
            <a:ext cx="12191695" cy="27432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365760" y="731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F4E7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TCS349: Responsible and Explainable AI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8321040" y="82296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600" b="1" dirty="0">
                <a:solidFill>
                  <a:srgbClr val="1F4E7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Unit 2 | Lecture 6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02920" y="640080"/>
            <a:ext cx="11155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1F4E7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4. Facial Recognition - Accuracy &amp; Bias Concerns</a:t>
            </a:r>
            <a:endParaRPr lang="en-US" sz="2300" dirty="0"/>
          </a:p>
        </p:txBody>
      </p:sp>
      <p:sp>
        <p:nvSpPr>
          <p:cNvPr id="7" name="Text 5"/>
          <p:cNvSpPr/>
          <p:nvPr/>
        </p:nvSpPr>
        <p:spPr>
          <a:xfrm>
            <a:off x="594360" y="1417320"/>
            <a:ext cx="10972800" cy="48463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marL="0" indent="0">
              <a:buNone/>
            </a:pPr>
            <a:r>
              <a:rPr lang="en-US" sz="1800" dirty="0">
                <a:solidFill>
                  <a:srgbClr val="19191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Facial recognition systems have shown measurably lower accuracy for women and for people with darker skin tones in multiple independent studies.</a:t>
            </a:r>
            <a:endParaRPr lang="en-US" sz="1800" dirty="0"/>
          </a:p>
          <a:p>
            <a:pPr marL="0" indent="0">
              <a:buNone/>
            </a:pPr>
            <a:endParaRPr lang="en-US" sz="1800" dirty="0"/>
          </a:p>
          <a:p>
            <a:pPr marL="0" indent="0">
              <a:buNone/>
            </a:pPr>
            <a:r>
              <a:rPr lang="en-US" sz="1800" dirty="0">
                <a:solidFill>
                  <a:srgbClr val="19191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This connects directly to the data and algorithmic bias concepts studied in Unit I - underrepresentation in training data produces unequal error rates.</a:t>
            </a:r>
            <a:endParaRPr lang="en-US" sz="1800" dirty="0"/>
          </a:p>
          <a:p>
            <a:pPr marL="0" indent="0">
              <a:buNone/>
            </a:pPr>
            <a:endParaRPr lang="en-US" sz="1800" dirty="0"/>
          </a:p>
          <a:p>
            <a:pPr marL="0" indent="0">
              <a:buNone/>
            </a:pPr>
            <a:r>
              <a:rPr lang="en-US" sz="1800" dirty="0">
                <a:solidFill>
                  <a:srgbClr val="19191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 false match in identification mode can lead to wrongful suspicion or arrest, making accuracy gaps a serious real-world harm.</a:t>
            </a:r>
            <a:endParaRPr lang="en-US" sz="1800" dirty="0"/>
          </a:p>
          <a:p>
            <a:pPr marL="0" indent="0">
              <a:buNone/>
            </a:pPr>
            <a:endParaRPr lang="en-US" sz="1800" dirty="0"/>
          </a:p>
          <a:p>
            <a:pPr marL="0" indent="0">
              <a:buNone/>
            </a:pPr>
            <a:r>
              <a:rPr lang="en-US" sz="1800" dirty="0">
                <a:solidFill>
                  <a:srgbClr val="19191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Subgroup-wise accuracy reporting, as introduced in Lecture 6, is now a standard expectation for facial recognition vendors.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1430000" y="6446520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59595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6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F8FBFF"/>
          </a:solidFill>
          <a:ln w="12700">
            <a:solidFill>
              <a:srgbClr val="F8FB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475488"/>
            <a:ext cx="12191695" cy="27432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365760" y="731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F4E7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TCS349: Responsible and Explainable AI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8321040" y="82296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600" b="1" dirty="0">
                <a:solidFill>
                  <a:srgbClr val="1F4E7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Unit 2 | Lecture 6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02920" y="640080"/>
            <a:ext cx="11155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1F4E7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5. Case Example: Facial Recognition in Law Enforcement</a:t>
            </a:r>
            <a:endParaRPr lang="en-US" sz="2300" dirty="0"/>
          </a:p>
        </p:txBody>
      </p:sp>
      <p:sp>
        <p:nvSpPr>
          <p:cNvPr id="7" name="Text 5"/>
          <p:cNvSpPr/>
          <p:nvPr/>
        </p:nvSpPr>
        <p:spPr>
          <a:xfrm>
            <a:off x="594360" y="1417320"/>
            <a:ext cx="10972800" cy="48463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marL="0" indent="0">
              <a:buNone/>
            </a:pPr>
            <a:r>
              <a:rPr lang="en-US" sz="1800" dirty="0">
                <a:solidFill>
                  <a:srgbClr val="19191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Several police departments have used facial recognition to match CCTV images against criminal databases during investigations.</a:t>
            </a:r>
            <a:endParaRPr lang="en-US" sz="1800" dirty="0"/>
          </a:p>
          <a:p>
            <a:pPr marL="0" indent="0">
              <a:buNone/>
            </a:pPr>
            <a:endParaRPr lang="en-US" sz="1800" dirty="0"/>
          </a:p>
          <a:p>
            <a:pPr marL="0" indent="0">
              <a:buNone/>
            </a:pPr>
            <a:r>
              <a:rPr lang="en-US" sz="1800" dirty="0">
                <a:solidFill>
                  <a:srgbClr val="19191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Documented wrongful-arrest cases have involved individuals misidentified by the system, disproportionately affecting Black men in the reported cases.</a:t>
            </a:r>
            <a:endParaRPr lang="en-US" sz="1800" dirty="0"/>
          </a:p>
          <a:p>
            <a:pPr marL="0" indent="0">
              <a:buNone/>
            </a:pPr>
            <a:endParaRPr lang="en-US" sz="1800" dirty="0"/>
          </a:p>
          <a:p>
            <a:pPr marL="0" indent="0">
              <a:buNone/>
            </a:pPr>
            <a:r>
              <a:rPr lang="en-US" sz="1800" dirty="0">
                <a:solidFill>
                  <a:srgbClr val="19191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These cases led some cities to restrict or ban police use of facial recognition, while others introduced mandatory human review of any match.</a:t>
            </a:r>
            <a:endParaRPr lang="en-US" sz="1800" dirty="0"/>
          </a:p>
          <a:p>
            <a:pPr marL="0" indent="0">
              <a:buNone/>
            </a:pPr>
            <a:endParaRPr lang="en-US" sz="1800" dirty="0"/>
          </a:p>
          <a:p>
            <a:pPr marL="0" indent="0">
              <a:buNone/>
            </a:pPr>
            <a:r>
              <a:rPr lang="en-US" sz="1800" dirty="0">
                <a:solidFill>
                  <a:srgbClr val="19191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The case illustrates why accountability and human oversight, covered in Lectures 13-14, matter most in exactly these high-stakes deployments.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1430000" y="6446520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59595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7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F8FBFF"/>
          </a:solidFill>
          <a:ln w="12700">
            <a:solidFill>
              <a:srgbClr val="F8FB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475488"/>
            <a:ext cx="12191695" cy="27432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365760" y="731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F4E7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TCS349: Responsible and Explainable AI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8321040" y="82296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600" b="1" dirty="0">
                <a:solidFill>
                  <a:srgbClr val="1F4E7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Unit 2 | Lecture 6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02920" y="640080"/>
            <a:ext cx="11155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1F4E7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6. Video Analytics - What It Is</a:t>
            </a:r>
            <a:endParaRPr lang="en-US" sz="2300" dirty="0"/>
          </a:p>
        </p:txBody>
      </p:sp>
      <p:sp>
        <p:nvSpPr>
          <p:cNvPr id="7" name="Text 5"/>
          <p:cNvSpPr/>
          <p:nvPr/>
        </p:nvSpPr>
        <p:spPr>
          <a:xfrm>
            <a:off x="594360" y="1417320"/>
            <a:ext cx="10972800" cy="48463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marL="0" indent="0">
              <a:buNone/>
            </a:pPr>
            <a:r>
              <a:rPr lang="en-US" sz="1800" dirty="0">
                <a:solidFill>
                  <a:srgbClr val="19191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Video analytics applies AI to video streams to automatically detect objects, events or patterns, without a human watching every frame.</a:t>
            </a:r>
            <a:endParaRPr lang="en-US" sz="1800" dirty="0"/>
          </a:p>
          <a:p>
            <a:pPr marL="0" indent="0">
              <a:buNone/>
            </a:pPr>
            <a:endParaRPr lang="en-US" sz="1800" dirty="0"/>
          </a:p>
          <a:p>
            <a:pPr marL="0" indent="0">
              <a:buNone/>
            </a:pPr>
            <a:r>
              <a:rPr lang="en-US" sz="1800" dirty="0">
                <a:solidFill>
                  <a:srgbClr val="19191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It goes beyond simple recording, turning raw footage into structured, searchable information such as counts, alerts and movement paths.</a:t>
            </a:r>
            <a:endParaRPr lang="en-US" sz="1800" dirty="0"/>
          </a:p>
          <a:p>
            <a:pPr marL="0" indent="0">
              <a:buNone/>
            </a:pPr>
            <a:endParaRPr lang="en-US" sz="1800" dirty="0"/>
          </a:p>
          <a:p>
            <a:pPr marL="0" indent="0">
              <a:buNone/>
            </a:pPr>
            <a:r>
              <a:rPr lang="en-US" sz="1800" dirty="0">
                <a:solidFill>
                  <a:srgbClr val="19191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Common techniques include object detection, motion tracking and anomaly detection.</a:t>
            </a:r>
            <a:endParaRPr lang="en-US" sz="1800" dirty="0"/>
          </a:p>
          <a:p>
            <a:pPr marL="0" indent="0">
              <a:buNone/>
            </a:pPr>
            <a:endParaRPr lang="en-US" sz="1800" dirty="0"/>
          </a:p>
          <a:p>
            <a:pPr marL="0" indent="0">
              <a:buNone/>
            </a:pPr>
            <a:r>
              <a:rPr lang="en-US" sz="1800" dirty="0">
                <a:solidFill>
                  <a:srgbClr val="19191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Unlike facial recognition, video analytics does not always require identifying a specific individual.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1430000" y="6446520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59595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8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F8FBFF"/>
          </a:solidFill>
          <a:ln w="12700">
            <a:solidFill>
              <a:srgbClr val="F8FB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475488"/>
            <a:ext cx="12191695" cy="27432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365760" y="731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F4E7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TCS349: Responsible and Explainable AI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8321040" y="82296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600" b="1" dirty="0">
                <a:solidFill>
                  <a:srgbClr val="1F4E7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Unit 2 | Lecture 6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02920" y="640080"/>
            <a:ext cx="11155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1F4E7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7. Video Analytics - Common Applications</a:t>
            </a:r>
            <a:endParaRPr lang="en-US" sz="2300" dirty="0"/>
          </a:p>
        </p:txBody>
      </p:sp>
      <p:sp>
        <p:nvSpPr>
          <p:cNvPr id="7" name="Text 5"/>
          <p:cNvSpPr/>
          <p:nvPr/>
        </p:nvSpPr>
        <p:spPr>
          <a:xfrm>
            <a:off x="594360" y="1417320"/>
            <a:ext cx="10972800" cy="48463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marL="0" indent="0">
              <a:buNone/>
            </a:pPr>
            <a:r>
              <a:rPr lang="en-US" sz="1800" dirty="0">
                <a:solidFill>
                  <a:srgbClr val="19191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Traffic management: counting vehicles, detecting congestion and identifying violations automatically.</a:t>
            </a:r>
            <a:endParaRPr lang="en-US" sz="1800" dirty="0"/>
          </a:p>
          <a:p>
            <a:pPr marL="0" indent="0">
              <a:buNone/>
            </a:pPr>
            <a:endParaRPr lang="en-US" sz="1800" dirty="0"/>
          </a:p>
          <a:p>
            <a:pPr marL="0" indent="0">
              <a:buNone/>
            </a:pPr>
            <a:r>
              <a:rPr lang="en-US" sz="1800" dirty="0">
                <a:solidFill>
                  <a:srgbClr val="19191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Public safety: detecting unattended objects, crowd density or unusual movement patterns in public spaces.</a:t>
            </a:r>
            <a:endParaRPr lang="en-US" sz="1800" dirty="0"/>
          </a:p>
          <a:p>
            <a:pPr marL="0" indent="0">
              <a:buNone/>
            </a:pPr>
            <a:endParaRPr lang="en-US" sz="1800" dirty="0"/>
          </a:p>
          <a:p>
            <a:pPr marL="0" indent="0">
              <a:buNone/>
            </a:pPr>
            <a:r>
              <a:rPr lang="en-US" sz="1800" dirty="0">
                <a:solidFill>
                  <a:srgbClr val="19191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Retail operations: analysing footfall, queue lengths and store layout effectiveness.</a:t>
            </a:r>
            <a:endParaRPr lang="en-US" sz="1800" dirty="0"/>
          </a:p>
          <a:p>
            <a:pPr marL="0" indent="0">
              <a:buNone/>
            </a:pPr>
            <a:endParaRPr lang="en-US" sz="1800" dirty="0"/>
          </a:p>
          <a:p>
            <a:pPr marL="0" indent="0">
              <a:buNone/>
            </a:pPr>
            <a:r>
              <a:rPr lang="en-US" sz="1800" dirty="0">
                <a:solidFill>
                  <a:srgbClr val="19191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Industrial safety: detecting when a worker enters a hazardous zone without protective equipment.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1430000" y="6446520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59595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9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F8FBFF"/>
          </a:solidFill>
          <a:ln w="12700">
            <a:solidFill>
              <a:srgbClr val="F8FB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475488"/>
            <a:ext cx="12191695" cy="27432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365760" y="731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F4E7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TCS349: Responsible and Explainable AI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8321040" y="82296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600" b="1" dirty="0">
                <a:solidFill>
                  <a:srgbClr val="1F4E7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Unit 2 | Lecture 6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02920" y="640080"/>
            <a:ext cx="11155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1F4E7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8. Case Example: Video Analytics in Retail</a:t>
            </a:r>
            <a:endParaRPr lang="en-US" sz="2300" dirty="0"/>
          </a:p>
        </p:txBody>
      </p:sp>
      <p:sp>
        <p:nvSpPr>
          <p:cNvPr id="7" name="Text 5"/>
          <p:cNvSpPr/>
          <p:nvPr/>
        </p:nvSpPr>
        <p:spPr>
          <a:xfrm>
            <a:off x="594360" y="1417320"/>
            <a:ext cx="10972800" cy="48463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marL="0" indent="0">
              <a:buNone/>
            </a:pPr>
            <a:r>
              <a:rPr lang="en-US" sz="1800" dirty="0">
                <a:solidFill>
                  <a:srgbClr val="19191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 retail chain deployed video analytics to track customer movement patterns and optimise store layout and staffing.</a:t>
            </a:r>
            <a:endParaRPr lang="en-US" sz="1800" dirty="0"/>
          </a:p>
          <a:p>
            <a:pPr marL="0" indent="0">
              <a:buNone/>
            </a:pPr>
            <a:endParaRPr lang="en-US" sz="1800" dirty="0"/>
          </a:p>
          <a:p>
            <a:pPr marL="0" indent="0">
              <a:buNone/>
            </a:pPr>
            <a:r>
              <a:rPr lang="en-US" sz="1800" dirty="0">
                <a:solidFill>
                  <a:srgbClr val="19191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The system flagged unusually long dwell times near high-value items, which staff used to prioritise customer assistance, not automatic suspicion.</a:t>
            </a:r>
            <a:endParaRPr lang="en-US" sz="1800" dirty="0"/>
          </a:p>
          <a:p>
            <a:pPr marL="0" indent="0">
              <a:buNone/>
            </a:pPr>
            <a:endParaRPr lang="en-US" sz="1800" dirty="0"/>
          </a:p>
          <a:p>
            <a:pPr marL="0" indent="0">
              <a:buNone/>
            </a:pPr>
            <a:r>
              <a:rPr lang="en-US" sz="1800" dirty="0">
                <a:solidFill>
                  <a:srgbClr val="19191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Customers were not individually identified - only aggregated movement patterns were analysed and stored.</a:t>
            </a:r>
            <a:endParaRPr lang="en-US" sz="1800" dirty="0"/>
          </a:p>
          <a:p>
            <a:pPr marL="0" indent="0">
              <a:buNone/>
            </a:pPr>
            <a:endParaRPr lang="en-US" sz="1800" dirty="0"/>
          </a:p>
          <a:p>
            <a:pPr marL="0" indent="0">
              <a:buNone/>
            </a:pPr>
            <a:r>
              <a:rPr lang="en-US" sz="1800" dirty="0">
                <a:solidFill>
                  <a:srgbClr val="19191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This design choice - analysing patterns rather than identities - meaningfully reduces the privacy risk compared to identity-based surveillance.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1430000" y="6446520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59595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10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F8FBFF"/>
          </a:solidFill>
          <a:ln w="12700">
            <a:solidFill>
              <a:srgbClr val="F8FB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475488"/>
            <a:ext cx="12191695" cy="27432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365760" y="731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F4E7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TCS349: Responsible and Explainable AI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8321040" y="82296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600" b="1" dirty="0">
                <a:solidFill>
                  <a:srgbClr val="1F4E7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Unit 2 | Lecture 6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02920" y="640080"/>
            <a:ext cx="11155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1F4E7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9. Behavioural Monitoring - What It Is</a:t>
            </a:r>
            <a:endParaRPr lang="en-US" sz="2300" dirty="0"/>
          </a:p>
        </p:txBody>
      </p:sp>
      <p:sp>
        <p:nvSpPr>
          <p:cNvPr id="7" name="Text 5"/>
          <p:cNvSpPr/>
          <p:nvPr/>
        </p:nvSpPr>
        <p:spPr>
          <a:xfrm>
            <a:off x="594360" y="1417320"/>
            <a:ext cx="10972800" cy="48463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marL="0" indent="0">
              <a:buNone/>
            </a:pPr>
            <a:r>
              <a:rPr lang="en-US" sz="1800" dirty="0">
                <a:solidFill>
                  <a:srgbClr val="19191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Behavioural monitoring uses AI to observe patterns in how people act over time, rather than identifying who they are in a single moment.</a:t>
            </a:r>
            <a:endParaRPr lang="en-US" sz="1800" dirty="0"/>
          </a:p>
          <a:p>
            <a:pPr marL="0" indent="0">
              <a:buNone/>
            </a:pPr>
            <a:endParaRPr lang="en-US" sz="1800" dirty="0"/>
          </a:p>
          <a:p>
            <a:pPr marL="0" indent="0">
              <a:buNone/>
            </a:pPr>
            <a:r>
              <a:rPr lang="en-US" sz="1800" dirty="0">
                <a:solidFill>
                  <a:srgbClr val="19191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It can track physical actions, such as posture and movement, or digital actions, such as keystrokes, app usage or browsing patterns.</a:t>
            </a:r>
            <a:endParaRPr lang="en-US" sz="1800" dirty="0"/>
          </a:p>
          <a:p>
            <a:pPr marL="0" indent="0">
              <a:buNone/>
            </a:pPr>
            <a:endParaRPr lang="en-US" sz="1800" dirty="0"/>
          </a:p>
          <a:p>
            <a:pPr marL="0" indent="0">
              <a:buNone/>
            </a:pPr>
            <a:r>
              <a:rPr lang="en-US" sz="1800" dirty="0">
                <a:solidFill>
                  <a:srgbClr val="19191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The goal is typically to infer a state or trend - attention, fatigue, productivity or risk - from repeated observation.</a:t>
            </a:r>
            <a:endParaRPr lang="en-US" sz="1800" dirty="0"/>
          </a:p>
          <a:p>
            <a:pPr marL="0" indent="0">
              <a:buNone/>
            </a:pPr>
            <a:endParaRPr lang="en-US" sz="1800" dirty="0"/>
          </a:p>
          <a:p>
            <a:pPr marL="0" indent="0">
              <a:buNone/>
            </a:pPr>
            <a:r>
              <a:rPr lang="en-US" sz="1800" dirty="0">
                <a:solidFill>
                  <a:srgbClr val="19191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Behavioural monitoring often raises deeper concerns than one-time identification, since it can reveal habits people did not choose to disclose.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1430000" y="6446520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59595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11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F8FBFF"/>
          </a:solidFill>
          <a:ln w="12700">
            <a:solidFill>
              <a:srgbClr val="F8FB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475488"/>
            <a:ext cx="12191695" cy="27432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365760" y="731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F4E7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TCS349: Responsible and Explainable AI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8321040" y="82296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600" b="1" dirty="0">
                <a:solidFill>
                  <a:srgbClr val="1F4E7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Unit 2 | Lecture 6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02920" y="640080"/>
            <a:ext cx="11155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1F4E7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10. Behavioural Monitoring - Common Applications</a:t>
            </a:r>
            <a:endParaRPr lang="en-US" sz="2300" dirty="0"/>
          </a:p>
        </p:txBody>
      </p:sp>
      <p:sp>
        <p:nvSpPr>
          <p:cNvPr id="7" name="Text 5"/>
          <p:cNvSpPr/>
          <p:nvPr/>
        </p:nvSpPr>
        <p:spPr>
          <a:xfrm>
            <a:off x="594360" y="1417320"/>
            <a:ext cx="10972800" cy="48463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marL="0" indent="0">
              <a:buNone/>
            </a:pPr>
            <a:r>
              <a:rPr lang="en-US" sz="1800" dirty="0">
                <a:solidFill>
                  <a:srgbClr val="19191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Workplace productivity tools: tracking application usage, active time and work patterns on company devices.</a:t>
            </a:r>
            <a:endParaRPr lang="en-US" sz="1800" dirty="0"/>
          </a:p>
          <a:p>
            <a:pPr marL="0" indent="0">
              <a:buNone/>
            </a:pPr>
            <a:endParaRPr lang="en-US" sz="1800" dirty="0"/>
          </a:p>
          <a:p>
            <a:pPr marL="0" indent="0">
              <a:buNone/>
            </a:pPr>
            <a:r>
              <a:rPr lang="en-US" sz="1800" dirty="0">
                <a:solidFill>
                  <a:srgbClr val="19191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Driver monitoring systems: detecting drowsiness or distraction using in-cabin cameras and sensors.</a:t>
            </a:r>
            <a:endParaRPr lang="en-US" sz="1800" dirty="0"/>
          </a:p>
          <a:p>
            <a:pPr marL="0" indent="0">
              <a:buNone/>
            </a:pPr>
            <a:endParaRPr lang="en-US" sz="1800" dirty="0"/>
          </a:p>
          <a:p>
            <a:pPr marL="0" indent="0">
              <a:buNone/>
            </a:pPr>
            <a:r>
              <a:rPr lang="en-US" sz="1800" dirty="0">
                <a:solidFill>
                  <a:srgbClr val="19191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Online platforms: inferring engagement, mood or intent from clicks, scrolling and time spent on content.</a:t>
            </a:r>
            <a:endParaRPr lang="en-US" sz="1800" dirty="0"/>
          </a:p>
          <a:p>
            <a:pPr marL="0" indent="0">
              <a:buNone/>
            </a:pPr>
            <a:endParaRPr lang="en-US" sz="1800" dirty="0"/>
          </a:p>
          <a:p>
            <a:pPr marL="0" indent="0">
              <a:buNone/>
            </a:pPr>
            <a:r>
              <a:rPr lang="en-US" sz="1800" dirty="0">
                <a:solidFill>
                  <a:srgbClr val="19191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Educational proctoring: monitoring student behaviour during online exams to flag potential dishonesty.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1430000" y="6446520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59595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12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F8FBFF"/>
          </a:solidFill>
          <a:ln w="12700">
            <a:solidFill>
              <a:srgbClr val="F8FB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475488"/>
            <a:ext cx="12191695" cy="27432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365760" y="731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F4E7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TCS349: Responsible and Explainable AI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8321040" y="82296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600" b="1" dirty="0">
                <a:solidFill>
                  <a:srgbClr val="1F4E7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Unit 2 | Lecture 6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02920" y="640080"/>
            <a:ext cx="11155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1F4E7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11. Case Example: Behavioural Monitoring in the Workplace</a:t>
            </a:r>
            <a:endParaRPr lang="en-US" sz="2300" dirty="0"/>
          </a:p>
        </p:txBody>
      </p:sp>
      <p:sp>
        <p:nvSpPr>
          <p:cNvPr id="7" name="Text 5"/>
          <p:cNvSpPr/>
          <p:nvPr/>
        </p:nvSpPr>
        <p:spPr>
          <a:xfrm>
            <a:off x="594360" y="1417320"/>
            <a:ext cx="10972800" cy="48463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marL="0" indent="0">
              <a:buNone/>
            </a:pPr>
            <a:r>
              <a:rPr lang="en-US" sz="1800" dirty="0">
                <a:solidFill>
                  <a:srgbClr val="19191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Some companies have deployed software that tracks employee keystrokes, active windows and idle time throughout the workday.</a:t>
            </a:r>
            <a:endParaRPr lang="en-US" sz="1800" dirty="0"/>
          </a:p>
          <a:p>
            <a:pPr marL="0" indent="0">
              <a:buNone/>
            </a:pPr>
            <a:endParaRPr lang="en-US" sz="1800" dirty="0"/>
          </a:p>
          <a:p>
            <a:pPr marL="0" indent="0">
              <a:buNone/>
            </a:pPr>
            <a:r>
              <a:rPr lang="en-US" sz="1800" dirty="0">
                <a:solidFill>
                  <a:srgbClr val="19191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Employees in several reported cases were unaware of the extent of monitoring until it was disclosed internally or through investigative reporting.</a:t>
            </a:r>
            <a:endParaRPr lang="en-US" sz="1800" dirty="0"/>
          </a:p>
          <a:p>
            <a:pPr marL="0" indent="0">
              <a:buNone/>
            </a:pPr>
            <a:endParaRPr lang="en-US" sz="1800" dirty="0"/>
          </a:p>
          <a:p>
            <a:pPr marL="0" indent="0">
              <a:buNone/>
            </a:pPr>
            <a:r>
              <a:rPr lang="en-US" sz="1800" dirty="0">
                <a:solidFill>
                  <a:srgbClr val="19191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The resulting concern was less about the technology itself and more about the lack of transparency and consent around its use.</a:t>
            </a:r>
            <a:endParaRPr lang="en-US" sz="1800" dirty="0"/>
          </a:p>
          <a:p>
            <a:pPr marL="0" indent="0">
              <a:buNone/>
            </a:pPr>
            <a:endParaRPr lang="en-US" sz="1800" dirty="0"/>
          </a:p>
          <a:p>
            <a:pPr marL="0" indent="0">
              <a:buNone/>
            </a:pPr>
            <a:r>
              <a:rPr lang="en-US" sz="1800" dirty="0">
                <a:solidFill>
                  <a:srgbClr val="19191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This case connects directly to the transparency principle from Lecture 11: monitoring without disclosure undermines trust even when the goal is legitimate.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1430000" y="6446520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59595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13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F8FBFF"/>
          </a:solidFill>
          <a:ln w="12700">
            <a:solidFill>
              <a:srgbClr val="F8FB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475488"/>
            <a:ext cx="12191695" cy="27432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365760" y="731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F4E7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TCS349: Responsible and Explainable AI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8321040" y="82296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600" b="1" dirty="0">
                <a:solidFill>
                  <a:srgbClr val="1F4E7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Unit 2 | Lecture 6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02920" y="640080"/>
            <a:ext cx="11155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1F4E7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12. Ethical &amp; Societal Concerns Across Surveillance AI</a:t>
            </a:r>
            <a:endParaRPr lang="en-US" sz="2300" dirty="0"/>
          </a:p>
        </p:txBody>
      </p:sp>
      <p:sp>
        <p:nvSpPr>
          <p:cNvPr id="7" name="Text 5"/>
          <p:cNvSpPr/>
          <p:nvPr/>
        </p:nvSpPr>
        <p:spPr>
          <a:xfrm>
            <a:off x="594360" y="1417320"/>
            <a:ext cx="10972800" cy="48463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marL="0" indent="0">
              <a:buNone/>
            </a:pPr>
            <a:r>
              <a:rPr lang="en-US" sz="1800" dirty="0">
                <a:solidFill>
                  <a:srgbClr val="19191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Chilling effect: awareness of being watched can change how people behave in public and private spaces, even without any wrongdoing.</a:t>
            </a:r>
            <a:endParaRPr lang="en-US" sz="1800" dirty="0"/>
          </a:p>
          <a:p>
            <a:pPr marL="0" indent="0">
              <a:buNone/>
            </a:pPr>
            <a:endParaRPr lang="en-US" sz="1800" dirty="0"/>
          </a:p>
          <a:p>
            <a:pPr marL="0" indent="0">
              <a:buNone/>
            </a:pPr>
            <a:r>
              <a:rPr lang="en-US" sz="1800" dirty="0">
                <a:solidFill>
                  <a:srgbClr val="19191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Function creep: a system deployed for one narrow purpose is often expanded to new, unapproved uses over time.</a:t>
            </a:r>
            <a:endParaRPr lang="en-US" sz="1800" dirty="0"/>
          </a:p>
          <a:p>
            <a:pPr marL="0" indent="0">
              <a:buNone/>
            </a:pPr>
            <a:endParaRPr lang="en-US" sz="1800" dirty="0"/>
          </a:p>
          <a:p>
            <a:pPr marL="0" indent="0">
              <a:buNone/>
            </a:pPr>
            <a:r>
              <a:rPr lang="en-US" sz="1800" dirty="0">
                <a:solidFill>
                  <a:srgbClr val="19191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Disproportionate impact: surveillance is frequently deployed more heavily in already-marginalised communities.</a:t>
            </a:r>
            <a:endParaRPr lang="en-US" sz="1800" dirty="0"/>
          </a:p>
          <a:p>
            <a:pPr marL="0" indent="0">
              <a:buNone/>
            </a:pPr>
            <a:endParaRPr lang="en-US" sz="1800" dirty="0"/>
          </a:p>
          <a:p>
            <a:pPr marL="0" indent="0">
              <a:buNone/>
            </a:pPr>
            <a:r>
              <a:rPr lang="en-US" sz="1800" dirty="0">
                <a:solidFill>
                  <a:srgbClr val="19191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Consent gaps: many surveillance systems operate with limited or no meaningful consent from the people being observed.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1430000" y="6446520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59595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14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F8FBFF"/>
          </a:solidFill>
          <a:ln w="12700">
            <a:solidFill>
              <a:srgbClr val="F8FB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475488"/>
            <a:ext cx="12191695" cy="27432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365760" y="731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F4E7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TCS349: Responsible and Explainable AI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8321040" y="82296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600" b="1" dirty="0">
                <a:solidFill>
                  <a:srgbClr val="1F4E7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Unit 2 | Lecture 6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02920" y="640080"/>
            <a:ext cx="11155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1F4E7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13. Regulation &amp; Responsible Deployment</a:t>
            </a:r>
            <a:endParaRPr lang="en-US" sz="2300" dirty="0"/>
          </a:p>
        </p:txBody>
      </p:sp>
      <p:sp>
        <p:nvSpPr>
          <p:cNvPr id="7" name="Text 5"/>
          <p:cNvSpPr/>
          <p:nvPr/>
        </p:nvSpPr>
        <p:spPr>
          <a:xfrm>
            <a:off x="594360" y="1417320"/>
            <a:ext cx="10972800" cy="48463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marL="0" indent="0">
              <a:buNone/>
            </a:pPr>
            <a:r>
              <a:rPr lang="en-US" sz="1800" dirty="0">
                <a:solidFill>
                  <a:srgbClr val="19191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Several cities and countries have introduced specific restrictions or bans on facial recognition in public spaces and policing.</a:t>
            </a:r>
            <a:endParaRPr lang="en-US" sz="1800" dirty="0"/>
          </a:p>
          <a:p>
            <a:pPr marL="0" indent="0">
              <a:buNone/>
            </a:pPr>
            <a:endParaRPr lang="en-US" sz="1800" dirty="0"/>
          </a:p>
          <a:p>
            <a:pPr marL="0" indent="0">
              <a:buNone/>
            </a:pPr>
            <a:r>
              <a:rPr lang="en-US" sz="1800" dirty="0">
                <a:solidFill>
                  <a:srgbClr val="19191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Responsible deployment typically requires a documented purpose, a defined retention period for data, and independent oversight.</a:t>
            </a:r>
            <a:endParaRPr lang="en-US" sz="1800" dirty="0"/>
          </a:p>
          <a:p>
            <a:pPr marL="0" indent="0">
              <a:buNone/>
            </a:pPr>
            <a:endParaRPr lang="en-US" sz="1800" dirty="0"/>
          </a:p>
          <a:p>
            <a:pPr marL="0" indent="0">
              <a:buNone/>
            </a:pPr>
            <a:r>
              <a:rPr lang="en-US" sz="1800" dirty="0">
                <a:solidFill>
                  <a:srgbClr val="19191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The accountability frameworks and human oversight levels from Lectures 13-14 apply directly to surveillance system design.</a:t>
            </a:r>
            <a:endParaRPr lang="en-US" sz="1800" dirty="0"/>
          </a:p>
          <a:p>
            <a:pPr marL="0" indent="0">
              <a:buNone/>
            </a:pPr>
            <a:endParaRPr lang="en-US" sz="1800" dirty="0"/>
          </a:p>
          <a:p>
            <a:pPr marL="0" indent="0">
              <a:buNone/>
            </a:pPr>
            <a:r>
              <a:rPr lang="en-US" sz="1800" dirty="0">
                <a:solidFill>
                  <a:srgbClr val="19191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Lecture 16 continues this thread by examining the privacy principles that govern how observed data can be collected and used.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1430000" y="6446520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59595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15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1354</Words>
  <Application>Microsoft Macintosh PowerPoint</Application>
  <PresentationFormat>Widescreen</PresentationFormat>
  <Paragraphs>171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SC22D012-Manoj Kaushik 2022-PHD-Earth&amp;SpaceScience</cp:lastModifiedBy>
  <cp:revision>1</cp:revision>
  <dcterms:created xsi:type="dcterms:W3CDTF">2026-08-18T02:31:50Z</dcterms:created>
  <dcterms:modified xsi:type="dcterms:W3CDTF">2026-08-18T02:35:20Z</dcterms:modified>
</cp:coreProperties>
</file>