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22D012-Manoj Kaushik 2022-PHD-Earth&amp;SpaceScience" userId="78d50035-fc00-4ea2-995b-b881e10649a1" providerId="ADAL" clId="{275C7A75-CDE0-511A-B56E-A781402A3859}"/>
    <pc:docChg chg="modSld">
      <pc:chgData name="SC22D012-Manoj Kaushik 2022-PHD-Earth&amp;SpaceScience" userId="78d50035-fc00-4ea2-995b-b881e10649a1" providerId="ADAL" clId="{275C7A75-CDE0-511A-B56E-A781402A3859}" dt="2026-09-01T06:10:06.213" v="26" actId="1036"/>
      <pc:docMkLst>
        <pc:docMk/>
      </pc:docMkLst>
      <pc:sldChg chg="modSp mod">
        <pc:chgData name="SC22D012-Manoj Kaushik 2022-PHD-Earth&amp;SpaceScience" userId="78d50035-fc00-4ea2-995b-b881e10649a1" providerId="ADAL" clId="{275C7A75-CDE0-511A-B56E-A781402A3859}" dt="2026-09-01T06:10:06.213" v="26" actId="1036"/>
        <pc:sldMkLst>
          <pc:docMk/>
          <pc:sldMk cId="0" sldId="263"/>
        </pc:sldMkLst>
        <pc:spChg chg="mod">
          <ac:chgData name="SC22D012-Manoj Kaushik 2022-PHD-Earth&amp;SpaceScience" userId="78d50035-fc00-4ea2-995b-b881e10649a1" providerId="ADAL" clId="{275C7A75-CDE0-511A-B56E-A781402A3859}" dt="2026-09-01T06:10:01.925" v="15" actId="1035"/>
          <ac:spMkLst>
            <pc:docMk/>
            <pc:sldMk cId="0" sldId="263"/>
            <ac:spMk id="14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75C7A75-CDE0-511A-B56E-A781402A3859}" dt="2026-09-01T06:10:06.213" v="26" actId="1036"/>
          <ac:spMkLst>
            <pc:docMk/>
            <pc:sldMk cId="0" sldId="263"/>
            <ac:spMk id="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926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lecture of Unit III. Everything through Unit II was linear — one thing after another. Today a structure BRANCHES for the first time. This lecture is vocabulary and shape; real tree code starts in Lecture 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linked-list-is-a-degenerate-tree observation is worth dwelling on — it shows trees generalize rather than replace what came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B is NOT a leaf (it has children D, E). A is not a leaf either (it has children B, C). Only nodes with zero children qualify — C, D,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Height and depth are the same number measured from opposite ends: depth counts UP from a node to the root; height (of the whole tree) counts DOWN to the deepest leaf. Easy to confuse — worth a direct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yes, absolutely — left-only and right-only are different tree shapes with different properties (this matters a great deal once BSTs and traversals arrive in Lectures 23-24).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skewed tree is the linked-list-in-disguise from slide 2, now named properly. This slide's payoff line connects directly to what Lecture 22 will show about array representations.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Verified: preorder gives '- + A * B C D' (prefix), inorder gives 'A + B * C - D' (infix, matching the original expression with no parens needed for this precedence), postorder gives 'A B C * + D -' — IDENTICAL to Lecture 9's postfix conversion result. This is the single strongest callback in the lecture: three traversal orders explain three notations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Lecture 24, Binary Search Trees — ordered data with fast lookup is precisely a BST's purpose. Plants the seed three lectures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answer (verified by hand-simulating the same traversal logic as slide 7): tree root '-', left child '*' (children A, '+' whose children are B,C), right child D. Preorder: - * A + B C D. Inorder: A * B + C - D. Postorder: A B C + * D -.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DATA STRUCTURES WITH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Trees: Beyond the Straight Line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Terminology, Binary Trees and Applications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 •  Lecture 21  (first lecture of Unit III)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 flipH="1">
            <a:off x="3840480" y="3520440"/>
            <a:ext cx="731520" cy="594360"/>
          </a:xfrm>
          <a:prstGeom prst="line">
            <a:avLst/>
          </a:prstGeom>
          <a:noFill/>
          <a:ln w="19050">
            <a:solidFill>
              <a:srgbClr val="88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0" y="3520440"/>
            <a:ext cx="731520" cy="594360"/>
          </a:xfrm>
          <a:prstGeom prst="line">
            <a:avLst/>
          </a:prstGeom>
          <a:noFill/>
          <a:ln w="19050">
            <a:solidFill>
              <a:srgbClr val="88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>
            <a:off x="3383280" y="4114800"/>
            <a:ext cx="457200" cy="548640"/>
          </a:xfrm>
          <a:prstGeom prst="line">
            <a:avLst/>
          </a:prstGeom>
          <a:noFill/>
          <a:ln w="19050">
            <a:solidFill>
              <a:srgbClr val="88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0" y="4114800"/>
            <a:ext cx="365760" cy="548640"/>
          </a:xfrm>
          <a:prstGeom prst="line">
            <a:avLst/>
          </a:prstGeom>
          <a:noFill/>
          <a:ln w="19050">
            <a:solidFill>
              <a:srgbClr val="88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97680" y="3246120"/>
            <a:ext cx="548640" cy="548640"/>
          </a:xfrm>
          <a:prstGeom prst="ellipse">
            <a:avLst/>
          </a:prstGeom>
          <a:solidFill>
            <a:srgbClr val="D4A017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84448" y="3858768"/>
            <a:ext cx="512064" cy="512064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84448" y="3858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47488" y="3858768"/>
            <a:ext cx="512064" cy="512064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47488" y="3858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63824" y="4443984"/>
            <a:ext cx="438912" cy="438912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63824" y="4443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86784" y="4443984"/>
            <a:ext cx="438912" cy="438912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86784" y="4443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tree?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 flipH="1">
            <a:off x="1188720" y="1737360"/>
            <a:ext cx="731520" cy="73152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920240" y="1737360"/>
            <a:ext cx="0" cy="73152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920240" y="1737360"/>
            <a:ext cx="731520" cy="73152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flipH="1">
            <a:off x="822960" y="2468880"/>
            <a:ext cx="365760" cy="73152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8720" y="2468880"/>
            <a:ext cx="365760" cy="73152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51760" y="2468880"/>
            <a:ext cx="0" cy="73152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591056" y="1408176"/>
            <a:ext cx="658368" cy="658368"/>
          </a:xfrm>
          <a:prstGeom prst="ellipse">
            <a:avLst/>
          </a:prstGeom>
          <a:solidFill>
            <a:srgbClr val="D4A017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91056" y="14081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45920" y="2194560"/>
            <a:ext cx="548640" cy="548640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4592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377440" y="2194560"/>
            <a:ext cx="548640" cy="548640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774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85216" y="2962656"/>
            <a:ext cx="475488" cy="475488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5216" y="2962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316736" y="2962656"/>
            <a:ext cx="475488" cy="475488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16736" y="2962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414016" y="2962656"/>
            <a:ext cx="475488" cy="475488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414016" y="2962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023360" y="1280160"/>
            <a:ext cx="4663440" cy="1371600"/>
          </a:xfrm>
          <a:prstGeom prst="roundRect">
            <a:avLst>
              <a:gd name="adj" fmla="val 4667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87952" y="1353312"/>
            <a:ext cx="43342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
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is a set of nodes connected by edges such that: there is exactly ONE root, and every other node has exactly ONE parent — no cycles, everything reachable.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023360" y="28346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with Units I-II: every structure so far was LINEAR — one thing led to at most one next thing.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lets one node lead to SEVERAL next things — it branches.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 list is technically a tree where every node has at most one child — the most boring possible tree.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vocabulary, on one small tree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 flipH="1">
            <a:off x="1371600" y="1691640"/>
            <a:ext cx="731520" cy="82296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03120" y="1691640"/>
            <a:ext cx="731520" cy="82296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>
            <a:off x="822960" y="2514600"/>
            <a:ext cx="548640" cy="82296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71600" y="2514600"/>
            <a:ext cx="548640" cy="82296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792224" y="1380744"/>
            <a:ext cx="621792" cy="621792"/>
          </a:xfrm>
          <a:prstGeom prst="ellipse">
            <a:avLst/>
          </a:prstGeom>
          <a:solidFill>
            <a:srgbClr val="D4A017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92224" y="13807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240280"/>
            <a:ext cx="548640" cy="548640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0" y="2240280"/>
            <a:ext cx="548640" cy="548640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603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081528"/>
            <a:ext cx="512064" cy="512064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3081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664208" y="3081528"/>
            <a:ext cx="512064" cy="512064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64208" y="3081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83080" y="1207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06040" y="2880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36758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463040" y="36758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023360" y="13716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Root:  </a:t>
            </a: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node with no parent — A here.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23360" y="19385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/ Child:  </a:t>
            </a: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and C are children of A; A is their parent.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023360" y="250545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Siblings:  </a:t>
            </a: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and C share the same parent — they are siblings.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3360" y="30723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Leaf:  </a:t>
            </a: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with NO children — C, D, E here.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23360" y="36393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Edge:  </a:t>
            </a: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 between a parent and a child.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EEF3FB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  </a:t>
            </a:r>
            <a:r>
              <a:rPr lang="en-US" sz="12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 a leaf? Is A a leaf? Why or why not, in each case?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Height, depth, and level: the same tree, measured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 flipH="1">
            <a:off x="1371600" y="1600200"/>
            <a:ext cx="731520" cy="73152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03120" y="1600200"/>
            <a:ext cx="731520" cy="73152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>
            <a:off x="1005840" y="2331720"/>
            <a:ext cx="365760" cy="73152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71600" y="2331720"/>
            <a:ext cx="365760" cy="73152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3063240"/>
            <a:ext cx="0" cy="73152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10512" y="1307592"/>
            <a:ext cx="585216" cy="585216"/>
          </a:xfrm>
          <a:prstGeom prst="ellipse">
            <a:avLst/>
          </a:prstGeom>
          <a:solidFill>
            <a:srgbClr val="D4A017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810512" y="1307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2057400"/>
            <a:ext cx="548640" cy="548640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72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0" y="2057400"/>
            <a:ext cx="548640" cy="548640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603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9808" y="2807208"/>
            <a:ext cx="512064" cy="512064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" y="2807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481328" y="2807208"/>
            <a:ext cx="512064" cy="512064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81328" y="2807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8096" y="3557016"/>
            <a:ext cx="475488" cy="475488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8096" y="3557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600200"/>
            <a:ext cx="338328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2331720"/>
            <a:ext cx="338328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063240"/>
            <a:ext cx="338328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794760"/>
            <a:ext cx="338328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023360" y="1234440"/>
            <a:ext cx="4663440" cy="2743200"/>
          </a:xfrm>
          <a:prstGeom prst="roundRect">
            <a:avLst>
              <a:gd name="adj" fmla="val 2333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87952" y="1307592"/>
            <a:ext cx="433425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how many edges from the ROOT (A is level 0, F is level 3).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of a node: same idea, its own distance from the root.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of the TREE: the depth of its deepest leaf — here, height = 3 (path A-B-D-F).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tree: at most TWO children, left and right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 flipH="1">
            <a:off x="1188720" y="1691640"/>
            <a:ext cx="822960" cy="82296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11680" y="1691640"/>
            <a:ext cx="822960" cy="82296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>
            <a:off x="731520" y="2514600"/>
            <a:ext cx="457200" cy="82296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88720" y="2514600"/>
            <a:ext cx="457200" cy="82296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700784" y="1380744"/>
            <a:ext cx="621792" cy="621792"/>
          </a:xfrm>
          <a:prstGeom prst="ellipse">
            <a:avLst/>
          </a:prstGeom>
          <a:solidFill>
            <a:srgbClr val="D4A017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00784" y="13807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2240280"/>
            <a:ext cx="548640" cy="548640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0" y="2240280"/>
            <a:ext cx="548640" cy="548640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603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" y="3081528"/>
            <a:ext cx="512064" cy="512064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3081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389888" y="3081528"/>
            <a:ext cx="512064" cy="512064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89888" y="3081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28346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06040" y="28346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023360" y="137160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has at most 2 children — conventionally LEFT and RIGHT, and the two are DIFFERENT positions (a node with only a right child is not the same shape as one with only a left child).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tree allows any number of children per node; binary is a specific, stricter case.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"Binary" is doing real work in that name — not just "a small tree."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EEF3FB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  </a:t>
            </a:r>
            <a:r>
              <a:rPr lang="en-US" sz="12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has one child. In a binary tree, does it matter whether that child is left or right?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Shapes worth naming: full, complete, skewed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 flipH="1">
            <a:off x="914400" y="1645920"/>
            <a:ext cx="457200" cy="54864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0" y="1645920"/>
            <a:ext cx="457200" cy="54864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>
            <a:off x="685800" y="2194560"/>
            <a:ext cx="228600" cy="54864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2194560"/>
            <a:ext cx="228600" cy="54864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H="1">
            <a:off x="1600200" y="2194560"/>
            <a:ext cx="228600" cy="54864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28800" y="2194560"/>
            <a:ext cx="228600" cy="54864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70432" y="1444752"/>
            <a:ext cx="402336" cy="402336"/>
          </a:xfrm>
          <a:prstGeom prst="ellipse">
            <a:avLst/>
          </a:prstGeom>
          <a:solidFill>
            <a:srgbClr val="D4A017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70432" y="1444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2011680"/>
            <a:ext cx="365760" cy="365760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45920" y="2011680"/>
            <a:ext cx="365760" cy="365760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459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21208" y="2578608"/>
            <a:ext cx="329184" cy="329184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1208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78408" y="2578608"/>
            <a:ext cx="329184" cy="329184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8408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435608" y="2578608"/>
            <a:ext cx="329184" cy="329184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435608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892808" y="2578608"/>
            <a:ext cx="329184" cy="329184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892808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30632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1440" y="3337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has 0 or 2 children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 flipH="1">
            <a:off x="4114800" y="1645920"/>
            <a:ext cx="457200" cy="54864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0" y="1645920"/>
            <a:ext cx="457200" cy="54864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 flipH="1">
            <a:off x="3886200" y="2194560"/>
            <a:ext cx="228600" cy="54864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0" y="2194560"/>
            <a:ext cx="228600" cy="54864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 flipH="1">
            <a:off x="4800600" y="2194560"/>
            <a:ext cx="228600" cy="54864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370832" y="1444752"/>
            <a:ext cx="402336" cy="402336"/>
          </a:xfrm>
          <a:prstGeom prst="ellipse">
            <a:avLst/>
          </a:prstGeom>
          <a:solidFill>
            <a:srgbClr val="D4A017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370832" y="1444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931920" y="2011680"/>
            <a:ext cx="365760" cy="365760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9319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46320" y="2011680"/>
            <a:ext cx="365760" cy="365760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463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721608" y="2578608"/>
            <a:ext cx="329184" cy="329184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721608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178808" y="2578608"/>
            <a:ext cx="329184" cy="329184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178808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636008" y="2578608"/>
            <a:ext cx="329184" cy="329184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36008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474720" y="30632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291840" y="3337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level full, except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last, filled left to right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315200" y="1645920"/>
            <a:ext cx="457200" cy="54864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772400" y="2194560"/>
            <a:ext cx="457200" cy="54864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114032" y="1444752"/>
            <a:ext cx="402336" cy="402336"/>
          </a:xfrm>
          <a:prstGeom prst="ellipse">
            <a:avLst/>
          </a:prstGeom>
          <a:solidFill>
            <a:srgbClr val="D4A017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114032" y="1444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589520" y="2011680"/>
            <a:ext cx="365760" cy="365760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5895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8065008" y="2578608"/>
            <a:ext cx="329184" cy="329184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065008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858000" y="30632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675120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has only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child — a disguised list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" y="402336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21792" y="4096512"/>
            <a:ext cx="79004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Lecture 22's array representation is efficient for COMPLETE trees and wasteful for SKEWED ones — shape drives implementation choice.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Application: expression trees (a Lecture 9 callback)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 flipH="1">
            <a:off x="1371600" y="1554480"/>
            <a:ext cx="914400" cy="64008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0" y="1554480"/>
            <a:ext cx="914400" cy="64008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>
            <a:off x="914400" y="2194560"/>
            <a:ext cx="457200" cy="64008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71600" y="2194560"/>
            <a:ext cx="457200" cy="64008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H="1">
            <a:off x="1463040" y="2834640"/>
            <a:ext cx="365760" cy="64008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28800" y="2834640"/>
            <a:ext cx="365760" cy="64008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1280160"/>
            <a:ext cx="548640" cy="548640"/>
          </a:xfrm>
          <a:prstGeom prst="ellipse">
            <a:avLst/>
          </a:prstGeom>
          <a:solidFill>
            <a:srgbClr val="D4A017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115568" y="1938528"/>
            <a:ext cx="512064" cy="512064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15568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44368" y="1938528"/>
            <a:ext cx="512064" cy="512064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44368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" y="2596896"/>
            <a:ext cx="475488" cy="475488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6656" y="2596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591056" y="2596896"/>
            <a:ext cx="475488" cy="475488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591056" y="2596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243584" y="3255264"/>
            <a:ext cx="438912" cy="438912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43584" y="32552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975104" y="3255264"/>
            <a:ext cx="438912" cy="438912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975104" y="32552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 A + B × C − 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1417320"/>
            <a:ext cx="4023360" cy="685800"/>
          </a:xfrm>
          <a:prstGeom prst="roundRect">
            <a:avLst>
              <a:gd name="adj" fmla="val 9333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28032" y="1490472"/>
            <a:ext cx="36941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Preorder = prefix
</a:t>
            </a:r>
            <a:r>
              <a:rPr lang="en-US" sz="125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+ A * B C 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63440" y="2240280"/>
            <a:ext cx="4023360" cy="685800"/>
          </a:xfrm>
          <a:prstGeom prst="roundRect">
            <a:avLst>
              <a:gd name="adj" fmla="val 9333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28032" y="2313432"/>
            <a:ext cx="36941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Inorder = infix
</a:t>
            </a:r>
            <a:r>
              <a:rPr lang="en-US" sz="125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 * C - 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663440" y="3063240"/>
            <a:ext cx="4023360" cy="685800"/>
          </a:xfrm>
          <a:prstGeom prst="roundRect">
            <a:avLst>
              <a:gd name="adj" fmla="val 9333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28032" y="3136392"/>
            <a:ext cx="36941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Postorder = postfix
</a:t>
            </a:r>
            <a:r>
              <a:rPr lang="en-US" sz="125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 C * + D -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663440" y="39776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Postorder output EXACTLY matches Lecture 9's worked answer for this expression — postfix was never a separate trick, just one walk of this tree.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Trees are everywhere hierarchy matters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1325880"/>
          </a:xfrm>
          <a:prstGeom prst="roundRect">
            <a:avLst>
              <a:gd name="adj" fmla="val 4828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353312"/>
            <a:ext cx="369417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systems
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 contain files and other folders — a tree, root is the drive/root directory.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1325880"/>
          </a:xfrm>
          <a:prstGeom prst="roundRect">
            <a:avLst>
              <a:gd name="adj" fmla="val 4828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28032" y="1353312"/>
            <a:ext cx="369417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
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internal node is a yes/no question; each leaf is a final decision.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4023360" cy="1325880"/>
          </a:xfrm>
          <a:prstGeom prst="roundRect">
            <a:avLst>
              <a:gd name="adj" fmla="val 4828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862072"/>
            <a:ext cx="369417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coding (L26)
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tree bottom-up from character frequencies to create optimal codes.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2788920"/>
            <a:ext cx="4023360" cy="1325880"/>
          </a:xfrm>
          <a:prstGeom prst="roundRect">
            <a:avLst>
              <a:gd name="adj" fmla="val 4828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28032" y="2862072"/>
            <a:ext cx="369417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trees (L24)
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data ordered so searching is faster than a linear scan.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285208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EEF3FB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42852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  </a:t>
            </a:r>
            <a:r>
              <a:rPr lang="en-US" sz="12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phone's contact list can be sorted alphabetically for fast lookup. Which upcoming lecture's structure sounds built for exactly that?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21  • 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vocabulary for everything ahead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863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tree: one root, every other node has exactly one parent, no cycles. A linked list is the most boring possible tree.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that will not be re-explained: root, parent/child, sibling, leaf, edge, height, depth, level, subtree.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tree: at most 2 children, left and right are distinct positions — not just "any small tree."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matters: full, complete, and skewed trees behave very differently once Lecture 22 picks a representation.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trees: preorder/inorder/postorder ARE prefix/infix/postfix — Lecture 9's postfix was always just one tree walk.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7863840" cy="914400"/>
          </a:xfrm>
          <a:prstGeom prst="roundRect">
            <a:avLst>
              <a:gd name="adj" fmla="val 7000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397764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expression tree for A * (B + C) - D. Give its preorder, inorder, and postorder traversals.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lecture: complete/extended binary trees, array and linked representations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1299</Words>
  <Application>Microsoft Macintosh PowerPoint</Application>
  <PresentationFormat>On-screen Show (16:9)</PresentationFormat>
  <Paragraphs>133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SC22D012-Manoj Kaushik 2022-PHD-Earth&amp;SpaceScience</cp:lastModifiedBy>
  <cp:revision>1</cp:revision>
  <dcterms:created xsi:type="dcterms:W3CDTF">2026-09-01T06:04:51Z</dcterms:created>
  <dcterms:modified xsi:type="dcterms:W3CDTF">2026-09-01T06:10:09Z</dcterms:modified>
</cp:coreProperties>
</file>