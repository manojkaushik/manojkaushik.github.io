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594360"/>
            <a:ext cx="73152" cy="5120640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13232" y="621792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13232" y="1060704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2, Lecture 8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13232" y="1554480"/>
            <a:ext cx="63093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Protection in Practice: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Minimisation, Anonymisation &amp; Access Control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31520" y="2926080"/>
            <a:ext cx="6217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concrete techniques that turn privacy principles into practice - deciding what data to keep, how to strip out identity, and who gets to see what remains.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13232" y="4709160"/>
            <a:ext cx="5303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Dr. Manoj Kaushik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Assistant Professor, Department of CSE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Graphic Era Hill University, Bhimtal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6092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</p:sp>
      <p:pic>
        <p:nvPicPr>
          <p:cNvPr id="10" name="Image 0" descr="/home/claude/work9/icon9_minimis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580" y="1143000"/>
            <a:ext cx="777240" cy="77724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47064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Minimisation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9692640" y="86868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</p:sp>
      <p:pic>
        <p:nvPicPr>
          <p:cNvPr id="13" name="Image 1" descr="/home/claude/work9/icon9_anonymisatio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01300" y="1143000"/>
            <a:ext cx="777240" cy="77724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9802368" y="210312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Anonymisation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736092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EEF5FF"/>
          </a:solidFill>
          <a:ln w="12700">
            <a:solidFill>
              <a:srgbClr val="EEF5FF"/>
            </a:solidFill>
            <a:prstDash val="solid"/>
          </a:ln>
        </p:spPr>
      </p:sp>
      <p:pic>
        <p:nvPicPr>
          <p:cNvPr id="16" name="Image 2" descr="/home/claude/work9/icon9_accesscontro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9580" y="3611880"/>
            <a:ext cx="777240" cy="7772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747064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Access Control</a:t>
            </a:r>
            <a:endParaRPr lang="en-US" sz="1300" dirty="0"/>
          </a:p>
        </p:txBody>
      </p:sp>
      <p:sp>
        <p:nvSpPr>
          <p:cNvPr id="18" name="Shape 13"/>
          <p:cNvSpPr/>
          <p:nvPr/>
        </p:nvSpPr>
        <p:spPr>
          <a:xfrm>
            <a:off x="9692640" y="3337560"/>
            <a:ext cx="2194560" cy="2331720"/>
          </a:xfrm>
          <a:prstGeom prst="roundRect">
            <a:avLst>
              <a:gd name="adj" fmla="val 5000"/>
            </a:avLst>
          </a:prstGeom>
          <a:solidFill>
            <a:srgbClr val="F3F8FF"/>
          </a:solidFill>
          <a:ln w="12700">
            <a:solidFill>
              <a:srgbClr val="EEF5FF"/>
            </a:solidFill>
            <a:prstDash val="solid"/>
          </a:ln>
        </p:spPr>
      </p:sp>
      <p:pic>
        <p:nvPicPr>
          <p:cNvPr id="19" name="Image 3" descr="/home/claude/work9/icon9_dem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01300" y="3611880"/>
            <a:ext cx="777240" cy="77724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9802368" y="4572000"/>
            <a:ext cx="1975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Worked Example</a:t>
            </a:r>
            <a:endParaRPr lang="en-US" sz="1300" dirty="0"/>
          </a:p>
        </p:txBody>
      </p:sp>
      <p:sp>
        <p:nvSpPr>
          <p:cNvPr id="21" name="Text 1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Core Data-Protection Principles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Lawfulness and fairness: personal data must be collected and used on a legitimate, disclosed basis.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Purpose limitation: data is used only for the purpose it was originally collected for, as covered in Lecture 16.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minimisation and storage limitation: only necessary data is collected, and it is kept only as long as needed.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Integrity and confidentiality: data must be protected against unauthorised access, loss or alteration.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Data Minimisation - Collect Only What's Needed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minimisation means collecting the smallest amount of personal data necessary to achieve a system's purpose.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Every additional data field collected is an additional point of privacy risk if the system is breached or misused.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Minimisation often improves a system's efficiency too, since less irrelevant data means less noise for a model to learn from.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useful test: if a field were removed, would the system still achieve its stated purpose? If yes, it likely should not have been collected.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Anonymisation - Removing Identity from Data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Anonymisation is the process of altering data so that an individual can no longer be identified from it, directly or indirectly.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Properly anonymised data is generally considered outside the scope of the data-protection obligations that apply to personal data.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Anonymisation differs from pseudonymisation, which replaces identifiers with a code that can still be reversed with a separate key.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strength of an anonymisation technique determines how much genuine privacy protection it actually provides.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Anonymisation Techniques - Masking &amp; Generalisation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Data masking: replacing sensitive values with realistic but fake substitutes, such as a masked phone number.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Generalisation: reducing precision, such as replacing an exact age with an age range or a full address with just a city.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Both techniques keep the data usable for analysis while reducing how precisely a record can be tied to one person.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They are among the simplest anonymisation methods to apply, but also among the easiest to reverse if used alone.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Anonymisation Techniques - k-Anonymity &amp; Differential Privacy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k-anonymity: ensuring each record is indistinguishable from at least k-1 other records on key identifying attributes.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Differential privacy: adding carefully calibrated statistical noise so individual records cannot be reliably distinguished in aggregate results.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Both are stronger, more formal guarantees than simple masking or generalisation, but require more careful implementation.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Differential privacy is increasingly used in large-scale statistics, including national census data releases.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6. The Re-Identification Risk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Anonymised data can sometimes be re-identified by combining it with other available datasets, even without any single direct identifier.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well-known case showed that a specific individual's record could be re-identified from an anonymised dataset using just a few indirect attributes, such as ZIP code, birth date and gender.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This risk grows as more auxiliary data becomes publicly available over time, meaning anonymisation is not a permanent guarantee.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Because of this risk, anonymisation should be treated as one layer of protection, not a complete solution on its own.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7. Access Control - Limiting Who Can See Data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Access control restricts who inside or outside an organisation can view, use or export personal data.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principle of least privilege means a person should only have access to the data strictly necessary for their role.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Access control matters even for well-anonymised data, since re-identification risk grows when data is combined without oversight.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It is the layer of protection that remains active for as long as the data itself is retained.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8. Access Control Mechanisms</a:t>
            </a:r>
            <a:endParaRPr lang="en-US" sz="2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10972800" cy="4023360"/>
        </p:xfrm>
        <a:graphic>
          <a:graphicData uri="http://schemas.openxmlformats.org/drawingml/2006/table">
            <a:tbl>
              <a:tblPr/>
              <a:tblGrid>
                <a:gridCol w="2926080"/>
                <a:gridCol w="8046720"/>
              </a:tblGrid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Mechanism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What It Does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Role-Based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Permissions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Grants access based on job role, not individual request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Audit-Logged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Access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Records every access request for later review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</a:tr>
              <a:tr h="10058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Time-Limited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Grants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Automatically expires access after a set period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9. Worked Example - Applying These Techniques Together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54864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health-research dataset, before and after applying minimisation, anonymisation and access control:</a:t>
            </a:r>
            <a:endParaRPr lang="en-US" sz="1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03120"/>
          <a:ext cx="11247120" cy="3931920"/>
        </p:xfrm>
        <a:graphic>
          <a:graphicData uri="http://schemas.openxmlformats.org/drawingml/2006/table">
            <a:tbl>
              <a:tblPr/>
              <a:tblGrid>
                <a:gridCol w="2743200"/>
                <a:gridCol w="3566160"/>
                <a:gridCol w="4937760"/>
              </a:tblGrid>
              <a:tr h="655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Field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Original Value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After Applying Techniques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Name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Ananya Sharma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Removed (minimisation)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Age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27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25-30 (generalised)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Pin Code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263136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263xxx (generalised)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Phone Number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98XXXXXXXX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Removed (minimisation)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8FF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Diagnosis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Type 2 Diabetes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dirty="0">
                          <a:solidFill>
                            <a:srgbClr val="191919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Retained, access-controlled</a:t>
                      </a:r>
                      <a:endParaRPr lang="en-US" sz="1800" dirty="0"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91440" marR="91440" marT="45720" marB="45720" anchor="ctr">
                    <a:lnL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F8FBFF"/>
          </a:solidFill>
          <a:ln w="12700">
            <a:solidFill>
              <a:srgbClr val="F8FB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475488"/>
            <a:ext cx="12191695" cy="27432"/>
          </a:xfrm>
          <a:prstGeom prst="rect">
            <a:avLst/>
          </a:prstGeom>
          <a:solidFill>
            <a:srgbClr val="2E75B6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731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TCS349: Responsible and Explainable AI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8321040" y="822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Unit 2 | Lecture 8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640080"/>
            <a:ext cx="11155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4E7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10. Privacy-Aware Techniques Across the AI Lifecycle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94360" y="1417320"/>
            <a:ext cx="10972800" cy="48463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Collection stage: data minimisation limits what enters the system in the first place.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Storage stage: anonymisation reduces the identifiability of data that must be kept.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Access stage: access control governs who can view or export data for as long as it exists.</a:t>
            </a:r>
            <a:endParaRPr lang="en-US" sz="1800" dirty="0"/>
          </a:p>
          <a:p>
            <a:pPr indent="0" marL="0">
              <a:buNone/>
            </a:pP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19191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Together, these three techniques form a layered defence rather than a single point of protection.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1430000" y="6446520"/>
            <a:ext cx="365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9595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2026-08-18T02:52:17Z</dcterms:created>
  <dcterms:modified xsi:type="dcterms:W3CDTF">2026-08-18T02:52:17Z</dcterms:modified>
</cp:coreProperties>
</file>