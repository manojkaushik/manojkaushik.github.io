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594360"/>
            <a:ext cx="73152" cy="51206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62179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13232" y="1060704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2, Lecture 7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13232" y="1554480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Privacy in AI: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Collection, Consent, Profiling &amp; Misuse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31520" y="2788920"/>
            <a:ext cx="6217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personal data enters AI systems, what meaningful consent looks like, and where profiling and misuse turn ordinary data collection into a privacy risk.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13232" y="470916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Dr. Manoj Kaushik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Assistant Professor, Department of CSE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Graphic Era Hill University, Bhimtal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60920" y="868680"/>
            <a:ext cx="2194560" cy="2331720"/>
          </a:xfrm>
          <a:prstGeom prst="roundRect">
            <a:avLst>
              <a:gd name="adj" fmla="val 5000"/>
            </a:avLst>
          </a:prstGeom>
          <a:solidFill>
            <a:srgbClr val="EEF5FF"/>
          </a:solidFill>
          <a:ln w="12700">
            <a:solidFill>
              <a:srgbClr val="EEF5FF"/>
            </a:solidFill>
            <a:prstDash val="solid"/>
          </a:ln>
        </p:spPr>
      </p:sp>
      <p:pic>
        <p:nvPicPr>
          <p:cNvPr id="10" name="Image 0" descr="/home/claude/work8/icon8_colle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9580" y="1143000"/>
            <a:ext cx="777240" cy="7772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470648" y="2103120"/>
            <a:ext cx="1975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Collection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9692640" y="868680"/>
            <a:ext cx="2194560" cy="2331720"/>
          </a:xfrm>
          <a:prstGeom prst="roundRect">
            <a:avLst>
              <a:gd name="adj" fmla="val 5000"/>
            </a:avLst>
          </a:prstGeom>
          <a:solidFill>
            <a:srgbClr val="F3F8FF"/>
          </a:solidFill>
          <a:ln w="12700">
            <a:solidFill>
              <a:srgbClr val="EEF5FF"/>
            </a:solidFill>
            <a:prstDash val="solid"/>
          </a:ln>
        </p:spPr>
      </p:sp>
      <p:pic>
        <p:nvPicPr>
          <p:cNvPr id="13" name="Image 1" descr="/home/claude/work8/icon8_cons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1300" y="1143000"/>
            <a:ext cx="777240" cy="7772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802368" y="2103120"/>
            <a:ext cx="1975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Consent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7360920" y="3337560"/>
            <a:ext cx="2194560" cy="2331720"/>
          </a:xfrm>
          <a:prstGeom prst="roundRect">
            <a:avLst>
              <a:gd name="adj" fmla="val 5000"/>
            </a:avLst>
          </a:prstGeom>
          <a:solidFill>
            <a:srgbClr val="EEF5FF"/>
          </a:solidFill>
          <a:ln w="12700">
            <a:solidFill>
              <a:srgbClr val="EEF5FF"/>
            </a:solidFill>
            <a:prstDash val="solid"/>
          </a:ln>
        </p:spPr>
      </p:sp>
      <p:pic>
        <p:nvPicPr>
          <p:cNvPr id="16" name="Image 2" descr="/home/claude/work8/icon8_profil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9580" y="3611880"/>
            <a:ext cx="777240" cy="7772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470648" y="4572000"/>
            <a:ext cx="1975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Profiling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9692640" y="3337560"/>
            <a:ext cx="2194560" cy="2331720"/>
          </a:xfrm>
          <a:prstGeom prst="roundRect">
            <a:avLst>
              <a:gd name="adj" fmla="val 5000"/>
            </a:avLst>
          </a:prstGeom>
          <a:solidFill>
            <a:srgbClr val="F3F8FF"/>
          </a:solidFill>
          <a:ln w="12700">
            <a:solidFill>
              <a:srgbClr val="EEF5FF"/>
            </a:solidFill>
            <a:prstDash val="solid"/>
          </a:ln>
        </p:spPr>
      </p:sp>
      <p:pic>
        <p:nvPicPr>
          <p:cNvPr id="19" name="Image 3" descr="/home/claude/work8/icon8_misu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1300" y="3611880"/>
            <a:ext cx="777240" cy="7772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802368" y="4572000"/>
            <a:ext cx="1975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Misuse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2 | Lecture 7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Why Privacy Matters in AI Systems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846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systems are often trained and operated on large volumes of personal data, making privacy a central, not peripheral, concern.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Privacy failures can cause direct harm to individuals - financial loss, discrimination, reputational damage or unwanted exposure.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Privacy is closely linked to the transparency and accountability principles from earlier in this unit - each depends on knowing what data is used and why.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Regulators increasingly treat privacy as a legal requirement, not just good practice, for any AI system using personal data.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2 | Lecture 7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Types of Personal Data</a:t>
            </a:r>
            <a:endParaRPr lang="en-US" sz="2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91640"/>
          <a:ext cx="10607040" cy="3931920"/>
        </p:xfrm>
        <a:graphic>
          <a:graphicData uri="http://schemas.openxmlformats.org/drawingml/2006/table">
            <a:tbl>
              <a:tblPr/>
              <a:tblGrid>
                <a:gridCol w="2651760"/>
                <a:gridCol w="7955280"/>
              </a:tblGrid>
              <a:tr h="9829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Type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Example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9829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Direct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Identifiers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Name, email address, phone number, government ID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</a:tr>
              <a:tr h="9829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Indirect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Identifiers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ZIP code, birth date, job title, device ID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F"/>
                    </a:solidFill>
                  </a:tcPr>
                </a:tc>
              </a:tr>
              <a:tr h="9829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Sensitive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Categories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Health data, religion, sexual orientation, biometric data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2 | Lecture 7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Data Collection - Sources &amp; Risks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846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Personal data enters AI systems through direct input (forms, sign-ups), passive collection (sensors, cookies, location tracking) and third-party sources (data brokers, public records).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Passive and third-party collection often happens without the individual's active awareness.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Collecting more data than necessary increases risk without necessarily improving system performance.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scale and permanence of digital data collection make privacy harms harder to reverse than in the past.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2 | Lecture 7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Consent - What Meaningful Consent Requires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846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Meaningful consent must be informed, specific and freely given - not buried in unread terms and conditions.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Informed: the person understands what data is collected and why, in plain language.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Specific: consent is given for a particular use, not an open-ended, unlimited one.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Freely given: the person can decline without losing access to an essential service.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2 | Lecture 7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Consent in Practice - Good vs Poor Examples</a:t>
            </a:r>
            <a:endParaRPr lang="en-US" sz="2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11247120" cy="4023360"/>
        </p:xfrm>
        <a:graphic>
          <a:graphicData uri="http://schemas.openxmlformats.org/drawingml/2006/table">
            <a:tbl>
              <a:tblPr/>
              <a:tblGrid>
                <a:gridCol w="5623560"/>
                <a:gridCol w="5623560"/>
              </a:tblGrid>
              <a:tr h="10058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Poor Consent Practice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Good Consent Practice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One bundled "accept all" checkbox for every use of data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Separate toggles for each distinct use of data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Legal jargon that an average user cannot understand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Plain-language explanation of what is collected and why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Service is unusable unless all data sharing is accepted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Core service still works if optional sharing is declined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2 | Lecture 7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6. Profiling - What It Is &amp; Why It's Risky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846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Profiling is the automated analysis of personal data to infer traits, preferences or predictions about an individual.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can infer sensitive information - such as health status or political views - even from data that seems unrelated or anonymous.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Profiling can lead to differential treatment: different prices, offers or opportunities based on an inferred profile rather than a person's actual choices.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Because profiling operates on inferred data, the person profiled is often unaware of how they are being categorised.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2 | Lecture 7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7. Purpose Limitation - Using Data Only as Intended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846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Purpose limitation means data collected for one stated purpose should not be reused for a different, incompatible purpose without new consent.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directly opposes a common temptation: reusing an existing dataset for a new AI application simply because the data is already available.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Violating purpose limitation breaks the trust that consent was originally built on, even if no law is technically broken.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principle is central to why datasheets, introduced in Lecture 12, document a dataset's intended and recommended uses.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2 | Lecture 7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8. Data Misuse - Common Failure Patterns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846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Scope creep: data collected for one purpose gradually gets used for unrelated analytics or profiling.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Excessive retention: data is kept far longer than needed, increasing exposure if a breach occurs.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Unauthorised sharing: data is passed to third parties without the individual's knowledge or consent.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Re-identification: supposedly anonymised data is combined with other sources to identify individuals again.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2 | Lecture 7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9. Case Example: Privacy Failure in Practice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846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fitness-tracking app shared aggregated user location data publicly to show popular exercise routes.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aggregated data inadvertently revealed the locations of sensitive sites, including military bases, through unusual activity patterns.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individual was named, yet the pattern of behaviour itself exposed information users never intended to share.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case shows that privacy risk does not require identifying a person by name - patterns and inference can be enough.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2 | Lecture 7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10. Privacy by Design - Building It In Early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846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Privacy by design means privacy safeguards are built into a system from the start, not added after a problem is discovered.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practices include data minimisation, clear consent flows, and limiting who inside an organisation can access personal data.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Building privacy in early is consistently cheaper and more effective than retrofitting it after deployment.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Lecture 17 continues this thread with the specific techniques used to implement privacy by design: minimisation, anonymisation and access control.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2026-08-18T02:51:29Z</dcterms:created>
  <dcterms:modified xsi:type="dcterms:W3CDTF">2026-08-18T02:51:29Z</dcterms:modified>
</cp:coreProperties>
</file>