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3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8609D0-0073-432D-B766-868FB1E78F94}" v="1" dt="2026-07-29T02:22:30.5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undo custSel modSld">
      <pc:chgData name="SC22D012-Manoj Kaushik 2022-PHD-Earth&amp;SpaceScience" userId="78d50035-fc00-4ea2-995b-b881e10649a1" providerId="ADAL" clId="{29B47332-549A-4FC0-A3ED-D31212E60846}" dt="2026-07-29T02:22:58.962" v="93" actId="20577"/>
      <pc:docMkLst>
        <pc:docMk/>
      </pc:docMkLst>
      <pc:sldChg chg="modSp mod">
        <pc:chgData name="SC22D012-Manoj Kaushik 2022-PHD-Earth&amp;SpaceScience" userId="78d50035-fc00-4ea2-995b-b881e10649a1" providerId="ADAL" clId="{29B47332-549A-4FC0-A3ED-D31212E60846}" dt="2026-07-28T02:33:20.036" v="6" actId="20577"/>
        <pc:sldMkLst>
          <pc:docMk/>
          <pc:sldMk cId="0" sldId="259"/>
        </pc:sldMkLst>
        <pc:spChg chg="mod">
          <ac:chgData name="SC22D012-Manoj Kaushik 2022-PHD-Earth&amp;SpaceScience" userId="78d50035-fc00-4ea2-995b-b881e10649a1" providerId="ADAL" clId="{29B47332-549A-4FC0-A3ED-D31212E60846}" dt="2026-07-28T02:33:20.036" v="6" actId="20577"/>
          <ac:spMkLst>
            <pc:docMk/>
            <pc:sldMk cId="0" sldId="259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8T02:34:52.655" v="14" actId="20577"/>
        <pc:sldMkLst>
          <pc:docMk/>
          <pc:sldMk cId="0" sldId="260"/>
        </pc:sldMkLst>
        <pc:graphicFrameChg chg="modGraphic">
          <ac:chgData name="SC22D012-Manoj Kaushik 2022-PHD-Earth&amp;SpaceScience" userId="78d50035-fc00-4ea2-995b-b881e10649a1" providerId="ADAL" clId="{29B47332-549A-4FC0-A3ED-D31212E60846}" dt="2026-07-28T02:34:52.655" v="14" actId="20577"/>
          <ac:graphicFrameMkLst>
            <pc:docMk/>
            <pc:sldMk cId="0" sldId="260"/>
            <ac:graphicFrameMk id="8" creationId="{00000000-0000-0000-0000-000000000000}"/>
          </ac:graphicFrameMkLst>
        </pc:graphicFrameChg>
      </pc:sldChg>
      <pc:sldChg chg="modSp mod">
        <pc:chgData name="SC22D012-Manoj Kaushik 2022-PHD-Earth&amp;SpaceScience" userId="78d50035-fc00-4ea2-995b-b881e10649a1" providerId="ADAL" clId="{29B47332-549A-4FC0-A3ED-D31212E60846}" dt="2026-07-29T02:13:51.670" v="37" actId="20577"/>
        <pc:sldMkLst>
          <pc:docMk/>
          <pc:sldMk cId="0" sldId="261"/>
        </pc:sldMkLst>
        <pc:spChg chg="mod">
          <ac:chgData name="SC22D012-Manoj Kaushik 2022-PHD-Earth&amp;SpaceScience" userId="78d50035-fc00-4ea2-995b-b881e10649a1" providerId="ADAL" clId="{29B47332-549A-4FC0-A3ED-D31212E60846}" dt="2026-07-29T02:13:51.670" v="37" actId="20577"/>
          <ac:spMkLst>
            <pc:docMk/>
            <pc:sldMk cId="0" sldId="261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02:13:58.751" v="39" actId="20577"/>
        <pc:sldMkLst>
          <pc:docMk/>
          <pc:sldMk cId="0" sldId="262"/>
        </pc:sldMkLst>
        <pc:spChg chg="mod">
          <ac:chgData name="SC22D012-Manoj Kaushik 2022-PHD-Earth&amp;SpaceScience" userId="78d50035-fc00-4ea2-995b-b881e10649a1" providerId="ADAL" clId="{29B47332-549A-4FC0-A3ED-D31212E60846}" dt="2026-07-29T02:13:58.751" v="39" actId="20577"/>
          <ac:spMkLst>
            <pc:docMk/>
            <pc:sldMk cId="0" sldId="262"/>
            <ac:spMk id="6" creationId="{00000000-0000-0000-0000-000000000000}"/>
          </ac:spMkLst>
        </pc:spChg>
      </pc:sldChg>
      <pc:sldChg chg="addSp delSp modSp mod">
        <pc:chgData name="SC22D012-Manoj Kaushik 2022-PHD-Earth&amp;SpaceScience" userId="78d50035-fc00-4ea2-995b-b881e10649a1" providerId="ADAL" clId="{29B47332-549A-4FC0-A3ED-D31212E60846}" dt="2026-07-29T02:14:06.601" v="41" actId="20577"/>
        <pc:sldMkLst>
          <pc:docMk/>
          <pc:sldMk cId="0" sldId="263"/>
        </pc:sldMkLst>
        <pc:spChg chg="mod">
          <ac:chgData name="SC22D012-Manoj Kaushik 2022-PHD-Earth&amp;SpaceScience" userId="78d50035-fc00-4ea2-995b-b881e10649a1" providerId="ADAL" clId="{29B47332-549A-4FC0-A3ED-D31212E60846}" dt="2026-07-29T02:14:06.601" v="41" actId="20577"/>
          <ac:spMkLst>
            <pc:docMk/>
            <pc:sldMk cId="0" sldId="263"/>
            <ac:spMk id="6" creationId="{00000000-0000-0000-0000-000000000000}"/>
          </ac:spMkLst>
        </pc:spChg>
        <pc:spChg chg="del">
          <ac:chgData name="SC22D012-Manoj Kaushik 2022-PHD-Earth&amp;SpaceScience" userId="78d50035-fc00-4ea2-995b-b881e10649a1" providerId="ADAL" clId="{29B47332-549A-4FC0-A3ED-D31212E60846}" dt="2026-07-29T02:02:41.535" v="19" actId="478"/>
          <ac:spMkLst>
            <pc:docMk/>
            <pc:sldMk cId="0" sldId="263"/>
            <ac:spMk id="8" creationId="{00000000-0000-0000-0000-000000000000}"/>
          </ac:spMkLst>
        </pc:spChg>
        <pc:graphicFrameChg chg="mod">
          <ac:chgData name="SC22D012-Manoj Kaushik 2022-PHD-Earth&amp;SpaceScience" userId="78d50035-fc00-4ea2-995b-b881e10649a1" providerId="ADAL" clId="{29B47332-549A-4FC0-A3ED-D31212E60846}" dt="2026-07-29T02:03:06.066" v="31" actId="1035"/>
          <ac:graphicFrameMkLst>
            <pc:docMk/>
            <pc:sldMk cId="0" sldId="263"/>
            <ac:graphicFrameMk id="9" creationId="{00000000-0000-0000-0000-000000000000}"/>
          </ac:graphicFrameMkLst>
        </pc:graphicFrameChg>
        <pc:graphicFrameChg chg="add mod">
          <ac:chgData name="SC22D012-Manoj Kaushik 2022-PHD-Earth&amp;SpaceScience" userId="78d50035-fc00-4ea2-995b-b881e10649a1" providerId="ADAL" clId="{29B47332-549A-4FC0-A3ED-D31212E60846}" dt="2026-07-29T02:02:51.315" v="21" actId="1076"/>
          <ac:graphicFrameMkLst>
            <pc:docMk/>
            <pc:sldMk cId="0" sldId="263"/>
            <ac:graphicFrameMk id="12" creationId="{BEF8BDAF-0E4E-D856-3DE8-B9F2D878063B}"/>
          </ac:graphicFrameMkLst>
        </pc:graphicFrameChg>
      </pc:sldChg>
      <pc:sldChg chg="modSp mod">
        <pc:chgData name="SC22D012-Manoj Kaushik 2022-PHD-Earth&amp;SpaceScience" userId="78d50035-fc00-4ea2-995b-b881e10649a1" providerId="ADAL" clId="{29B47332-549A-4FC0-A3ED-D31212E60846}" dt="2026-07-29T02:14:22.534" v="45" actId="20577"/>
        <pc:sldMkLst>
          <pc:docMk/>
          <pc:sldMk cId="0" sldId="264"/>
        </pc:sldMkLst>
        <pc:spChg chg="mod">
          <ac:chgData name="SC22D012-Manoj Kaushik 2022-PHD-Earth&amp;SpaceScience" userId="78d50035-fc00-4ea2-995b-b881e10649a1" providerId="ADAL" clId="{29B47332-549A-4FC0-A3ED-D31212E60846}" dt="2026-07-29T02:14:22.534" v="45" actId="20577"/>
          <ac:spMkLst>
            <pc:docMk/>
            <pc:sldMk cId="0" sldId="264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02:14:38.878" v="49" actId="20577"/>
        <pc:sldMkLst>
          <pc:docMk/>
          <pc:sldMk cId="0" sldId="266"/>
        </pc:sldMkLst>
        <pc:spChg chg="mod">
          <ac:chgData name="SC22D012-Manoj Kaushik 2022-PHD-Earth&amp;SpaceScience" userId="78d50035-fc00-4ea2-995b-b881e10649a1" providerId="ADAL" clId="{29B47332-549A-4FC0-A3ED-D31212E60846}" dt="2026-07-29T02:14:38.878" v="49" actId="20577"/>
          <ac:spMkLst>
            <pc:docMk/>
            <pc:sldMk cId="0" sldId="266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02:14:45.975" v="51" actId="20577"/>
        <pc:sldMkLst>
          <pc:docMk/>
          <pc:sldMk cId="0" sldId="267"/>
        </pc:sldMkLst>
        <pc:spChg chg="mod">
          <ac:chgData name="SC22D012-Manoj Kaushik 2022-PHD-Earth&amp;SpaceScience" userId="78d50035-fc00-4ea2-995b-b881e10649a1" providerId="ADAL" clId="{29B47332-549A-4FC0-A3ED-D31212E60846}" dt="2026-07-29T02:14:45.975" v="51" actId="20577"/>
          <ac:spMkLst>
            <pc:docMk/>
            <pc:sldMk cId="0" sldId="267"/>
            <ac:spMk id="6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02:14:57.501" v="55" actId="20577"/>
        <pc:sldMkLst>
          <pc:docMk/>
          <pc:sldMk cId="0" sldId="268"/>
        </pc:sldMkLst>
        <pc:spChg chg="mod">
          <ac:chgData name="SC22D012-Manoj Kaushik 2022-PHD-Earth&amp;SpaceScience" userId="78d50035-fc00-4ea2-995b-b881e10649a1" providerId="ADAL" clId="{29B47332-549A-4FC0-A3ED-D31212E60846}" dt="2026-07-29T02:14:57.501" v="55" actId="20577"/>
          <ac:spMkLst>
            <pc:docMk/>
            <pc:sldMk cId="0" sldId="268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02:20:10.515" v="73" actId="20577"/>
        <pc:sldMkLst>
          <pc:docMk/>
          <pc:sldMk cId="0" sldId="269"/>
        </pc:sldMkLst>
        <pc:spChg chg="mod">
          <ac:chgData name="SC22D012-Manoj Kaushik 2022-PHD-Earth&amp;SpaceScience" userId="78d50035-fc00-4ea2-995b-b881e10649a1" providerId="ADAL" clId="{29B47332-549A-4FC0-A3ED-D31212E60846}" dt="2026-07-29T02:19:49.730" v="72" actId="404"/>
          <ac:spMkLst>
            <pc:docMk/>
            <pc:sldMk cId="0" sldId="269"/>
            <ac:spMk id="7" creationId="{00000000-0000-0000-0000-000000000000}"/>
          </ac:spMkLst>
        </pc:spChg>
        <pc:spChg chg="mod">
          <ac:chgData name="SC22D012-Manoj Kaushik 2022-PHD-Earth&amp;SpaceScience" userId="78d50035-fc00-4ea2-995b-b881e10649a1" providerId="ADAL" clId="{29B47332-549A-4FC0-A3ED-D31212E60846}" dt="2026-07-29T02:20:10.515" v="73" actId="20577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02:15:22.474" v="64" actId="20577"/>
        <pc:sldMkLst>
          <pc:docMk/>
          <pc:sldMk cId="0" sldId="271"/>
        </pc:sldMkLst>
        <pc:spChg chg="mod">
          <ac:chgData name="SC22D012-Manoj Kaushik 2022-PHD-Earth&amp;SpaceScience" userId="78d50035-fc00-4ea2-995b-b881e10649a1" providerId="ADAL" clId="{29B47332-549A-4FC0-A3ED-D31212E60846}" dt="2026-07-29T02:15:22.474" v="64" actId="20577"/>
          <ac:spMkLst>
            <pc:docMk/>
            <pc:sldMk cId="0" sldId="271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02:15:35.736" v="68" actId="20577"/>
        <pc:sldMkLst>
          <pc:docMk/>
          <pc:sldMk cId="0" sldId="272"/>
        </pc:sldMkLst>
        <pc:spChg chg="mod">
          <ac:chgData name="SC22D012-Manoj Kaushik 2022-PHD-Earth&amp;SpaceScience" userId="78d50035-fc00-4ea2-995b-b881e10649a1" providerId="ADAL" clId="{29B47332-549A-4FC0-A3ED-D31212E60846}" dt="2026-07-29T02:15:35.736" v="68" actId="20577"/>
          <ac:spMkLst>
            <pc:docMk/>
            <pc:sldMk cId="0" sldId="272"/>
            <ac:spMk id="7" creationId="{00000000-0000-0000-0000-000000000000}"/>
          </ac:spMkLst>
        </pc:spChg>
      </pc:sldChg>
      <pc:sldChg chg="modSp mod">
        <pc:chgData name="SC22D012-Manoj Kaushik 2022-PHD-Earth&amp;SpaceScience" userId="78d50035-fc00-4ea2-995b-b881e10649a1" providerId="ADAL" clId="{29B47332-549A-4FC0-A3ED-D31212E60846}" dt="2026-07-29T02:22:58.962" v="93" actId="20577"/>
        <pc:sldMkLst>
          <pc:docMk/>
          <pc:sldMk cId="0" sldId="273"/>
        </pc:sldMkLst>
        <pc:spChg chg="mod">
          <ac:chgData name="SC22D012-Manoj Kaushik 2022-PHD-Earth&amp;SpaceScience" userId="78d50035-fc00-4ea2-995b-b881e10649a1" providerId="ADAL" clId="{29B47332-549A-4FC0-A3ED-D31212E60846}" dt="2026-07-29T02:22:58.962" v="93" actId="20577"/>
          <ac:spMkLst>
            <pc:docMk/>
            <pc:sldMk cId="0" sldId="273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854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13232" y="6583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115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Lectures 6 &amp; 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62763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Measuring Bias &amp;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Defining Fairness in AI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subgroup analysis and confusion-matrix measures that detect bias, to the formal group and individual notions of fairness that define what a fair outcome should look like.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" name="Image 0" descr="/home/claude/work/icon_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Subgroup Analysis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/home/claude/work/icon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Confusion-Matrix Metrics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6" name="Image 2" descr="/home/claude/work/icon_bal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 Fairness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3" descr="/home/claude/work/icon_us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Individual Fairness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What is Subgroup Analysis?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10972800" cy="4206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Subgroup analysis evaluates model performance separately for defined groups </a:t>
            </a:r>
            <a:r>
              <a:rPr lang="en-US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 </a:t>
            </a: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such as gender, age or region - instead of relying on one overall average.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model can look highly accurate overall while performing poorly for a particular subgroup.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Groups are usually defined using protected or sensitive attributes relevant to the application.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goal is to surface disparities in accuracy, error rates or outcomes before a model is deployed.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Confusion Matrix Recap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subgroup-wise bias measure is built from one tool: the confusion matrix of a binary classifier (e.g., loan approved / not approved).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540019"/>
              </p:ext>
            </p:extLst>
          </p:nvPr>
        </p:nvGraphicFramePr>
        <p:xfrm>
          <a:off x="1463040" y="2331720"/>
          <a:ext cx="9235440" cy="192024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Predicted: Positive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Predicted: Negative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Actual: Positive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TP - True Positive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FN - False Negative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Actual: Negative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FP - False Positive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TN - </a:t>
                      </a: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True Negative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Confusion-Matrix-Based Bias Measures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10972800" cy="4206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False Positive Rate  FPR = FP / (FP + TN)  - how often the model wrongly predicts the positive outcome.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False Negative Rate  FNR = FN / (FN + TP)  - how often the model misses a true positive.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True Positive Rate  TPR = TP / (TP + FN)  - also called recall or sensitivity.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 gap in these rates between subgroups signals potential bias, even when overall accuracy looks high.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Worked Example - Scenario Setup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bank's AI model predicts loan approval. We evaluate it on 200 test applicants split into two demographic groups of 100 each, with 40 genuinely creditworthy applicants per group.</a:t>
            </a:r>
            <a:endParaRPr lang="en-US" sz="1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560320"/>
          <a:ext cx="10972800" cy="173736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Group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Sample Size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Actually Creditworthy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TP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FP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Group A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Group B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Worked Example - Computing the Metrics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the confusion-matrix values from the previous slide: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6453023"/>
              </p:ext>
            </p:extLst>
          </p:nvPr>
        </p:nvGraphicFramePr>
        <p:xfrm>
          <a:off x="1074420" y="4073652"/>
          <a:ext cx="9601200" cy="242316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57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Metric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Group A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Group B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Gap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TPR (Recall)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32/40 = 80%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20/40 = 50%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 pts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FPR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12/60 = 20%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12/60 = 20%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 pts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FNR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8/40 = 20%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20/40 = 50%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 pts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  <p:graphicFrame>
        <p:nvGraphicFramePr>
          <p:cNvPr id="12" name="Table 0">
            <a:extLst>
              <a:ext uri="{FF2B5EF4-FFF2-40B4-BE49-F238E27FC236}">
                <a16:creationId xmlns:a16="http://schemas.microsoft.com/office/drawing/2014/main" id="{BEF8BDAF-0E4E-D856-3DE8-B9F2D87806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162178"/>
              </p:ext>
            </p:extLst>
          </p:nvPr>
        </p:nvGraphicFramePr>
        <p:xfrm>
          <a:off x="594360" y="1975104"/>
          <a:ext cx="10972800" cy="173736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3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Group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Sample Size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Actually Creditworthy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TP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FP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Group A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Group B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Interpreting Bias from the Numbers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10972800" cy="4206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groups share the same FPR (20%) - but TPR and FNR differ sharply between them.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creditworthy Group B applicant is far more likely to be wrongly denied a loan: FNR of 50% versus 20% for Group A.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Equal FPR alone does not guarantee a fair outcome - the TPR/FNR gap reveals unequal opportunity.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numeric gap is exactly what the group-fairness definitions in the next part are designed to formalise and measure.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Tools for Bias Detection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10972800" cy="4206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Fairlearn (Microsoft): a Python library for assessing and mitigating fairness issues in ML models.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IBM AI Fairness 360 (AIF360): an open-source toolkit offering 70+ fairness metrics and bias-mitigation algorithms.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Aequitas: an audit toolkit that generates subgroup-wise bias reports directly from model predictions.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These tools automate the same subgroup and confusion-matrix analysis performed manually in this lecture.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From Detecting Bias to Defining Fairness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10972800" cy="4206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Detecting a numeric gap tells us bias exists - it does not tell us what a "fair" outcome should look like.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Fairness in AI is the formal, mathematical attempt to define equitable treatment across individuals and groups.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is no single universal definition of fairness - the appropriate notion depends on context and stakes.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rest of this session introduces the two broad families: group fairness and individual fairness.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Group Fairness - Demographic Parity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10972800" cy="4206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Group fairness checks whether a chosen statistical measure is equal across defined subgroups.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Demographic parity (statistical parity): the positive-prediction rate should be equal across groups, regardless of actual outcomes.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Formally: P(prediction = positive | Group A) = P(prediction = positive | Group B).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Limitation: demographic parity can conflict with accuracy when groups genuinely differ in their base rates.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Equal Opportunity &amp; Equalized Odds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10972800" cy="4206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Equal opportunity: TPR should be equal across groups - qualified individuals get an equal chance of a positive outcome.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Equalized odds: both TPR and FPR should be equal across groups - a stricter condition than equal opportunity alone.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definitions directly reuse the confusion-matrix measures computed earlier in this session.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deeper look at these metrics and their trade-offs follows in Lecture 8.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Individual Fairness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10972800" cy="4206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Individual fairness requires that similar individuals receive similar predictions, regardless of group membership.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Fairness is defined at the level of a person, not a demographic category.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depends on a similarity metric - deciding which individuals count as "similar" is itself a design choice.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Individual fairness can conflict with group fairness even when both are pursued in good faith.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Choosing the Right Fairness Notion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08760"/>
          <a:ext cx="10972800" cy="393192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Dimension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Group Fairness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Individual Fairness</a:t>
                      </a:r>
                      <a:endParaRPr lang="en-US" sz="14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Focus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Subgroups defined by sensitive attributes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Similarity between individuals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Key Question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Are outcomes balanced across groups?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Are similar people treated similarly?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Common Metrics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Demographic parity, equal opportunity, equalized odds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Similarity-based consistency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Main Risk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 still treat some individuals within a group unfairly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 allow group-level disparities to persist</a:t>
                      </a:r>
                      <a:endParaRPr lang="en-US" sz="13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503920" y="82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1 | Lectures 6 &amp;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Self-Learning &amp; Team Activity (Unit I)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10972800" cy="4206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Self-Learning Activity: Review a real AI failure and identify the ethical issue, source of bias, affected stakeholders and relevant fairness concerns.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Activity: Analyse an AI application used in daily life and propose measures to make it fairer and safer.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Suggested reading: Denis Rothman, "Hands-On Explainable AI (XAI) with Python" (Packt, 2020); Fairlearn and AIF360 documentation. </a:t>
            </a:r>
            <a:r>
              <a:rPr lang="en-US" sz="180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Link: </a:t>
            </a:r>
            <a:r>
              <a:rPr lang="en-US">
                <a:solidFill>
                  <a:srgbClr val="3333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https</a:t>
            </a:r>
            <a:r>
              <a:rPr lang="en-US" dirty="0">
                <a:solidFill>
                  <a:srgbClr val="3333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://aif360.readthedocs.io/en/stable/</a:t>
            </a:r>
            <a:endParaRPr lang="en-US" sz="1800" dirty="0">
              <a:solidFill>
                <a:srgbClr val="3333FF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1257</Words>
  <Application>Microsoft Macintosh PowerPoint</Application>
  <PresentationFormat>Widescreen</PresentationFormat>
  <Paragraphs>224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3</cp:revision>
  <dcterms:created xsi:type="dcterms:W3CDTF">2026-07-27T01:49:29Z</dcterms:created>
  <dcterms:modified xsi:type="dcterms:W3CDTF">2026-08-18T14:24:45Z</dcterms:modified>
</cp:coreProperties>
</file>