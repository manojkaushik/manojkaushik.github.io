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lecture of Unit I. Lecture 9 produced postfix; today a stack consumes it. Then recursion is revealed as stack behaviour too: the call stack. Hanoi is the trace exercise, tail recursion the closing idea.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precedence and parentheses disappear — the order of symbols already encodes the order of work. That is why one simple scan suffices.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with Lecture 9's five conversion rules: evaluation is simpler because postfix already encodes the order. The stack now holds numbers, not operators.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this row by row, drawing the stack vertically on the board. The multiplication happens before the addition automatically — not because we checked precedence, but because postfix placed * earlier.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overflow check in push (expression with &gt;100 operands) and underflow check in pop (malformed postfix like "+ 2"). Keeping the demo code minimal keeps attention on the algorithm.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Verified: "2 3 4 * + 5 -" returns 9. Explain ch - '0' carefully: characters are small numbers (ASCII), and digit characters sit in a row, so subtracting '0' gives the numeric value. Single digits only — a deliberate simplification.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students predict 6 2 / with the pops swapped before revealing. The commuting operators hiding the bug is why students believe their broken code works — until the first subtraction.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is recursion in the stack unit? Next slide answers it. Emphasise the two-part anatomy — every recursive function students ever write must show both parts.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5, and n + 1 in general — the space cost of recursion is O(n). The unwind multiplication chain on the board: 1, then 1×1, 2×1, 3×2, 4×6 = 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disk 1 from A to C — because disk 3 must eventually go A→C, which needs the two smaller disks parked on B first, and that sub-task starts by moving disk 1 to C. Let them struggle for two minutes; the struggle sells the recursive insight.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parameters just relabel the pegs: in step 1 the helper becomes the destination. Nobody plans 7 moves — the recursion discovers them. That is the power being demonstrated.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the three pegs and perform the 7 moves physically as the table is revealed. Move 4 (gold row) is the single printf of the outermost call; moves 1–3 and 5–7 are the two recursive halves.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Trace: (4,1) (3,4) (2,12) (1,24) (0,24) → 24. The answer builds on the way DOWN, not on the way back up. Both versions verified to return 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Zoom out before the exit ticket. The unit's arc: build the tool two ways, then watch the machine itself use it. Next lecture opens Unit II with queues — the opposite discipline, FIFO.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 answers: (a) 5 1 2 + 4 * + 3 − → stack: 5 | 5,1 | 5,1,2 | 5,3 | 5,3,4 | 5,12 | 17 | 17,3 | 14. Answer 14. (b) 2⁴ − 1 = 15 moves; move #8 is the largest disk, disk 4, A → C — the middle move, same pattern as move 4 for n =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DATA STRUCTURES WITH 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Stack at Work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Postfix Evaluation, Recursion &amp; Tower of Hanoi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I  •  Lecture 10  (final lecture of Unit I)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postfix  •  recursion in C  •  the call stack  •  Tower of Hanoi  •  tail recursion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4206240"/>
            <a:ext cx="109728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0" y="42062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949440" y="3703320"/>
            <a:ext cx="109728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3703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949440" y="3200400"/>
            <a:ext cx="1097280" cy="457200"/>
          </a:xfrm>
          <a:prstGeom prst="rect">
            <a:avLst/>
          </a:prstGeom>
          <a:solidFill>
            <a:srgbClr val="D4A01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0" y="32004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Last time we made postfix — today we use it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307592"/>
            <a:ext cx="79004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Lecture 9 (conversion):  A + B * C − D  →  A B C * + D −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2404872"/>
            <a:ext cx="79004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Lecture 10 (evaluation):  2 3 4 * + 5 −  →  9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expression shape, but now the letters are numbers — so we can compute.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stacked operators; evaluation stacks operands. Two stacks, two jobs.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4434840"/>
            <a:ext cx="8229600" cy="502920"/>
          </a:xfrm>
          <a:prstGeom prst="roundRect">
            <a:avLst>
              <a:gd name="adj" fmla="val 12727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434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pPr indent="0" marL="0">
              <a:buNone/>
            </a:pP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postfix easier for a machine than infix?  (Hint: what two things disappear?)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evaluation algorithm: two rules only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35608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35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3258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 number   </a:t>
            </a:r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it on the stack.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304288"/>
            <a:ext cx="384048" cy="384048"/>
          </a:xfrm>
          <a:prstGeom prst="ellipse">
            <a:avLst/>
          </a:prstGeom>
          <a:solidFill>
            <a:srgbClr val="D4A017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04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1945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 operator   </a:t>
            </a:r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 two numbers, apply the operator, push the result back.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172968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172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30632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input   </a:t>
            </a:r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number left on the stack is the answer.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4050792"/>
            <a:ext cx="79004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precedence table, no parentheses, one left-to-right scan — this is why compilers and calculators evaluate postfix internally.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Trace:  2 3 4 * + 5 −      (infix: 2 + 3 × 4 − 5)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75488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 after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 → push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 → push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2  3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 → push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2  3  4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 4, pop 3 → 3 × 4 = 12 → push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2  12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 12, pop 2 → 2 + 12 = 14 → push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 → push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14  5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−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 5, pop 14 → 14 − 5 = 9 → push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4A0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D4A0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number left — the answer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4A0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simplest stack we can write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297680" cy="3520440"/>
          </a:xfrm>
          <a:prstGeom prst="roundRect">
            <a:avLst>
              <a:gd name="adj" fmla="val 1818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40233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stack[100];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top = -1;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push(int x)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top = top + 1;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stack[top] = x;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pop(void)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x = stack[top];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top = top - 1;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x;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983480" y="132588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bare: no struct, no guards — the Lecture 8 array stack stripped to its engine.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enough here because our expressions are small and well-formed.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lab version you should add the isEmpty and isFull checks from Lecture 8.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983480" y="3931920"/>
            <a:ext cx="3703320" cy="777240"/>
          </a:xfrm>
          <a:prstGeom prst="roundRect">
            <a:avLst>
              <a:gd name="adj" fmla="val 8235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66360" y="3931920"/>
            <a:ext cx="3337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pPr indent="0" marL="0">
              <a:buNone/>
            </a:pP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two safety checks did we leave out, and when exactly would each one save us?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evaluatePostfix — the two rules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5120640" cy="3611880"/>
          </a:xfrm>
          <a:prstGeom prst="roundRect">
            <a:avLst>
              <a:gd name="adj" fmla="val 1772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4846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evaluatePostfix(char expr[])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expr[i] != '\0'; i++)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 ch = expr[i];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(ch == ' ')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continue;        /* skip spaces */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(ch &gt;= '0' &amp;&amp; ch &lt;= '9')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push(ch - '0');  /* rule 1 */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int right = pop();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int left  = pop();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(ch == '+') push(left + right);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(ch == '-') push(left - right);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(ch == '*') push(left * right);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(ch == '/') push(left / right);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pop();            /* the answer */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760720" y="1325880"/>
            <a:ext cx="2926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scan of the string; '\0' marks its end.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- '0' turns the character '7' into the number 7.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branch is rule 2: pop two, apply, push one.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pop returns the last number standing.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trap: which pop is which?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846320" cy="1554480"/>
          </a:xfrm>
          <a:prstGeom prst="roundRect">
            <a:avLst>
              <a:gd name="adj" fmla="val 4118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258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right = pop();   /* popped FIRST  */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left  = pop();   /* popped SECOND */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push(left / right);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4846320" cy="1600200"/>
          </a:xfrm>
          <a:prstGeom prst="roundRect">
            <a:avLst>
              <a:gd name="adj" fmla="val 4000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3044952"/>
            <a:ext cx="451713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 6 2 /
</a:t>
            </a:r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6, push 2. On '/': first pop gives 2 (right), second gives 6 (left).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/ right = 6 / 2 = 3   ✓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them and you compute 2 / 6 = 0   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577840" y="13258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 reverses order: the second operand is on top, so it pops out first.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+ and * the mistake hides (they commute). Division and subtraction expose it.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most common lab bug in postfix evaluation — name the variables left and right and it disappears.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Recursion: a function that calls itself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754880" cy="2286000"/>
          </a:xfrm>
          <a:prstGeom prst="roundRect">
            <a:avLst>
              <a:gd name="adj" fmla="val 2800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factorial(int n)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== 0)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1;         /* base case */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 * factorial(n - 1);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/* recursive case */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0" y="128016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case: the input so small the answer is known directly. Every recursion must have one.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case: solve for n by using the answer for n − 1.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base case → the calls never stop → the program crashes (we will see exactly why next).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4754880" cy="1005840"/>
          </a:xfrm>
          <a:prstGeom prst="roundRect">
            <a:avLst>
              <a:gd name="adj" fmla="val 6364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3730752"/>
            <a:ext cx="442569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as mathematics
</a:t>
            </a:r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4! = 4 × 3!,   3! = 3 × 2!,  …  0! = 1.  The code is the definition, line for line.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recursion lives: the call stack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3108960" cy="475488"/>
          </a:xfrm>
          <a:prstGeom prst="rect">
            <a:avLst/>
          </a:prstGeom>
          <a:solidFill>
            <a:srgbClr val="D4A017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32588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factorial(0)  → 1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892808"/>
            <a:ext cx="3108960" cy="475488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892808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factorial(1)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459736"/>
            <a:ext cx="3108960" cy="475488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459736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factorial(2)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026664"/>
            <a:ext cx="3108960" cy="475488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026664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factorial(3)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593592"/>
            <a:ext cx="3108960" cy="475488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593592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factorial(4)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657600" y="13716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0" y="1325880"/>
            <a:ext cx="4114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PUSHES a frame (its n, its return address). Every return POPS one.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factorial(4) stacks five frames, then they unwind: 1 → 1 → 2 → 6 → 24.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recursion belongs in the stack unit — the machine runs it on a stack.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base case = pushes never stop = the stack fills up: stack overflow.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434840"/>
            <a:ext cx="8229600" cy="502920"/>
          </a:xfrm>
          <a:prstGeom prst="roundRect">
            <a:avLst>
              <a:gd name="adj" fmla="val 12727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434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pPr indent="0" marL="0">
              <a:buNone/>
            </a:pP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frames are on the stack at the deepest moment of factorial(4)?  Of factorial(n)?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Tower of Hanoi: the problem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243584" y="1554480"/>
            <a:ext cx="73152" cy="146304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3017520"/>
            <a:ext cx="1463040" cy="109728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" y="2697480"/>
            <a:ext cx="1325880" cy="274320"/>
          </a:xfrm>
          <a:prstGeom prst="roundRect">
            <a:avLst>
              <a:gd name="adj" fmla="val 16667"/>
            </a:avLst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2386584"/>
            <a:ext cx="1005840" cy="274320"/>
          </a:xfrm>
          <a:prstGeom prst="roundRect">
            <a:avLst>
              <a:gd name="adj" fmla="val 16667"/>
            </a:avLst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260" y="2075688"/>
            <a:ext cx="685800" cy="274320"/>
          </a:xfrm>
          <a:prstGeom prst="roundRect">
            <a:avLst>
              <a:gd name="adj" fmla="val 16667"/>
            </a:avLst>
          </a:prstGeom>
          <a:solidFill>
            <a:srgbClr val="D4A017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43784" y="1554480"/>
            <a:ext cx="73152" cy="146304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3" name="Shape 11"/>
          <p:cNvSpPr/>
          <p:nvPr/>
        </p:nvSpPr>
        <p:spPr>
          <a:xfrm>
            <a:off x="2148840" y="3017520"/>
            <a:ext cx="1463040" cy="109728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4" name="Text 12"/>
          <p:cNvSpPr/>
          <p:nvPr/>
        </p:nvSpPr>
        <p:spPr>
          <a:xfrm>
            <a:off x="260604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443984" y="1554480"/>
            <a:ext cx="73152" cy="146304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6" name="Shape 14"/>
          <p:cNvSpPr/>
          <p:nvPr/>
        </p:nvSpPr>
        <p:spPr>
          <a:xfrm>
            <a:off x="3749040" y="3017520"/>
            <a:ext cx="1463040" cy="109728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7" name="Text 15"/>
          <p:cNvSpPr/>
          <p:nvPr/>
        </p:nvSpPr>
        <p:spPr>
          <a:xfrm>
            <a:off x="420624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0" y="1325880"/>
            <a:ext cx="3200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all disks from peg A to peg C, using B as a helper.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1: move one disk at a time — always the top disk of a peg.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2: a larger disk may never sit on a smaller disk.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moves for n disks: 2ⁿ − 1.  For n = 3, that is 7 moves.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434840"/>
            <a:ext cx="8229600" cy="502920"/>
          </a:xfrm>
          <a:prstGeom prst="roundRect">
            <a:avLst>
              <a:gd name="adj" fmla="val 12727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434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pPr indent="0" marL="0">
              <a:buNone/>
            </a:pP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theory — try to move 3 disks yourself. What is the FIRST move, and why?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recursive insight: three steps, whatever n 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335024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35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2801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top n − 1 disks from A to B  (get them out of the way)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57200" y="1901952"/>
            <a:ext cx="384048" cy="384048"/>
          </a:xfrm>
          <a:prstGeom prst="ellipse">
            <a:avLst/>
          </a:prstGeom>
          <a:solidFill>
            <a:srgbClr val="D4A017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1847088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largest disk from A to C  (one simple move)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414016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n − 1 disks from B to C  (onto the largest)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063240"/>
            <a:ext cx="6400800" cy="1691640"/>
          </a:xfrm>
          <a:prstGeom prst="roundRect">
            <a:avLst>
              <a:gd name="adj" fmla="val 3784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154680"/>
            <a:ext cx="6126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hanoi(int n, char from, char to, char via)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== 1)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printf("Move disk 1: %c -&gt; %c\n", from, to);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return;                     /* base case */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hanoi(n - 1, from, via, to);    /* step 1 */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printf("Move disk %d: %c -&gt; %c\n", n, from, to);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hanoi(n - 1, via, to, from);    /* step 3 */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040880" y="3063240"/>
            <a:ext cx="1645920" cy="1691640"/>
          </a:xfrm>
          <a:prstGeom prst="roundRect">
            <a:avLst>
              <a:gd name="adj" fmla="val 3889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05472" y="3136392"/>
            <a:ext cx="1316736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 and 3 are the SAME problem, one disk smaller — that is the recursion.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for n = 3: the 7 moves appear by themselves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291840"/>
                <a:gridCol w="42976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 printed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came from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Move disk 1:  A → 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hanoi(1, A, C, 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Move disk 2:  A → B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hanoi(2, A, B, C)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Move disk 1:  C → B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disk rejoins on 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4A0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Move disk 3:  A → 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big move — middle of hanoi(3)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Move disk 1:  B → A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unstack the pair again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Move disk 2:  B → 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hanoi(2, B, C, 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Move disk 1:  A → 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 — tower rebuilt on 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2³ − 1 = 7 moves — and this is the program's real output, not a hand-made list.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Tail recursion: when the call is the last act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023360" cy="1691640"/>
          </a:xfrm>
          <a:prstGeom prst="roundRect">
            <a:avLst>
              <a:gd name="adj" fmla="val 3784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2588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normal: work AFTER the call */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factorial(int n)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== 0) return 1;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 * factorial(n - 1);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234440"/>
            <a:ext cx="4023360" cy="1691640"/>
          </a:xfrm>
          <a:prstGeom prst="roundRect">
            <a:avLst>
              <a:gd name="adj" fmla="val 3784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132588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tail: the call IS the answer */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factorialTail(int n, int result)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== 0) return result;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factorialTail(n - 1,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n * result);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310896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version: after factorial(n−1) returns, we still multiply by n — so the frame must wait on the stack.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 version: the answer is carried along in result; when the call returns, there is nothing left to do.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frame with nothing left to do need not be kept — compilers can reuse it, making the recursion run like a loop.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526280"/>
            <a:ext cx="8229600" cy="457200"/>
          </a:xfrm>
          <a:prstGeom prst="roundRect">
            <a:avLst>
              <a:gd name="adj" fmla="val 14000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5262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pPr indent="0" marL="0">
              <a:buNone/>
            </a:pP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it as factorialTail(4, 1). Trace the two arguments at each call — where does the answer build up?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idea ran through the whole unit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353312"/>
            <a:ext cx="790041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 8   </a:t>
            </a:r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ADT on an array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2267712"/>
            <a:ext cx="790041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 9   </a:t>
            </a:r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ADT on linked nodes + infix → postfix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3182112"/>
            <a:ext cx="790041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 10   </a:t>
            </a:r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Stacks at work: evaluation + the call stack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LIFO is not a toy: it evaluates every expression your compiler sees and runs every function call your program makes.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  • 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I complete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Postfix evaluation: numbers push, operators pop two and push one; pop order is right first, then left.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Recursion = base case + recursive case, executed on the call stack: every call pushes a frame, every return pops one.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Tower of Hanoi: move n − 1 away, move the largest, move n − 1 back — 2ⁿ − 1 moves emerge on their own.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 recursion carries the answer downward, so the frame has nothing left to do when the call returns.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657600"/>
            <a:ext cx="7863840" cy="1051560"/>
          </a:xfrm>
          <a:prstGeom prst="roundRect">
            <a:avLst>
              <a:gd name="adj" fmla="val 6087"/>
            </a:avLst>
          </a:prstGeom>
          <a:solidFill>
            <a:srgbClr val="2A3575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749040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TICKET 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Evaluate  5 1 2 + 4 * + 3 −  showing the stack.   (b) How many moves for 4 Hanoi disks, and what is move #8?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48006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Unit II — queues: FIFO, the opposite discipline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2026-07-29T17:23:34Z</dcterms:created>
  <dcterms:modified xsi:type="dcterms:W3CDTF">2026-07-29T17:23:34Z</dcterms:modified>
</cp:coreProperties>
</file>