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97"/>
    <p:restoredTop sz="94610"/>
  </p:normalViewPr>
  <p:slideViewPr>
    <p:cSldViewPr snapToGrid="0" snapToObjects="1">
      <p:cViewPr varScale="1">
        <p:scale>
          <a:sx n="153" d="100"/>
          <a:sy n="153" d="100"/>
        </p:scale>
        <p:origin x="5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22D012-Manoj Kaushik 2022-PHD-Earth&amp;SpaceScience" userId="78d50035-fc00-4ea2-995b-b881e10649a1" providerId="ADAL" clId="{275C7A75-CDE0-511A-B56E-A781402A3859}"/>
    <pc:docChg chg="modSld">
      <pc:chgData name="SC22D012-Manoj Kaushik 2022-PHD-Earth&amp;SpaceScience" userId="78d50035-fc00-4ea2-995b-b881e10649a1" providerId="ADAL" clId="{275C7A75-CDE0-511A-B56E-A781402A3859}" dt="2026-09-01T09:21:13.578" v="3" actId="1076"/>
      <pc:docMkLst>
        <pc:docMk/>
      </pc:docMkLst>
      <pc:sldChg chg="modSp mod">
        <pc:chgData name="SC22D012-Manoj Kaushik 2022-PHD-Earth&amp;SpaceScience" userId="78d50035-fc00-4ea2-995b-b881e10649a1" providerId="ADAL" clId="{275C7A75-CDE0-511A-B56E-A781402A3859}" dt="2026-09-01T09:21:13.578" v="3" actId="1076"/>
        <pc:sldMkLst>
          <pc:docMk/>
          <pc:sldMk cId="0" sldId="260"/>
        </pc:sldMkLst>
        <pc:spChg chg="mod">
          <ac:chgData name="SC22D012-Manoj Kaushik 2022-PHD-Earth&amp;SpaceScience" userId="78d50035-fc00-4ea2-995b-b881e10649a1" providerId="ADAL" clId="{275C7A75-CDE0-511A-B56E-A781402A3859}" dt="2026-09-01T09:21:13.578" v="3" actId="1076"/>
          <ac:spMkLst>
            <pc:docMk/>
            <pc:sldMk cId="0" sldId="260"/>
            <ac:spMk id="9" creationId="{00000000-0000-0000-0000-000000000000}"/>
          </ac:spMkLst>
        </pc:spChg>
        <pc:spChg chg="mod">
          <ac:chgData name="SC22D012-Manoj Kaushik 2022-PHD-Earth&amp;SpaceScience" userId="78d50035-fc00-4ea2-995b-b881e10649a1" providerId="ADAL" clId="{275C7A75-CDE0-511A-B56E-A781402A3859}" dt="2026-09-01T09:21:04.364" v="1" actId="14100"/>
          <ac:spMkLst>
            <pc:docMk/>
            <pc:sldMk cId="0" sldId="260"/>
            <ac:spMk id="10" creationId="{00000000-0000-0000-0000-000000000000}"/>
          </ac:spMkLst>
        </pc:spChg>
        <pc:spChg chg="mod">
          <ac:chgData name="SC22D012-Manoj Kaushik 2022-PHD-Earth&amp;SpaceScience" userId="78d50035-fc00-4ea2-995b-b881e10649a1" providerId="ADAL" clId="{275C7A75-CDE0-511A-B56E-A781402A3859}" dt="2026-09-01T09:21:09.168" v="2" actId="14100"/>
          <ac:spMkLst>
            <pc:docMk/>
            <pc:sldMk cId="0" sldId="260"/>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0195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lecture of Unit III with real C code. Two representations of the SAME tree: array (index arithmetic, no pointers) and linked (two pointers per node, left and right). Both verified by compiling and running.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answer: yes — node 3 has only a left child (6) and no right child, but that is fine because node 3's right slot is the VERY NEXT position that would be filled, and nothing after it exists yet. A gap would only be a problem if some node BEYOND it were already filled.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answer: size 4 — indices 0,1,2,3, no waste at all. Same node count, wildly different array cost, purely because of SHAPE. This is the concrete payoff of Lecture 21's full/complete/skewed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Lecture 20's 'index instead of address' idea, applied to a tree instead of a list — but here the SHAPE itself is exploited: a complete tree's level-order numbering makes these three formulas exact, no next[] array needed at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table (all 7 rows) is in the companion .txt file; these four rows are enough to demonstrate the pattern on the slide. Point out row 0 has no parent and row 3 has no children — both handled by the code's boundary checks, not special-cased formulas.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directly with Lecture 19's Stack/Queue node: same idea (a struct with pointer fields), but 'left' and 'right' mean CHILDREN, not prev/next in a sequence — a genuinely different relationship, same C mechanism.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this exact code produces the same tree as the array version. Point out the elegant symmetry between root-&gt;left-&gt;left in the code and the visual path root -&gt; 2 -&gt; 4 in the diagram.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callback to Lecture 20's array-list vs pointer-list trade-off table — same underlying tension (index arithmetic vs pointer flexibility), now one level up in structure.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answer: parent of 4 = (4-1)/2 = 1 (integer division). left child of 4 = 2*4+1 = 9. right child of 4 = 2*4+2 = 10. Both children exist since MAX index is 10 — a good check for boundary reasoning too.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640080"/>
            <a:ext cx="7863840" cy="320040"/>
          </a:xfrm>
          <a:prstGeom prst="rect">
            <a:avLst/>
          </a:prstGeom>
          <a:noFill/>
          <a:ln/>
        </p:spPr>
        <p:txBody>
          <a:bodyPr wrap="square" lIns="0" tIns="0" rIns="0" bIns="0" rtlCol="0" anchor="ctr"/>
          <a:lstStyle/>
          <a:p>
            <a:pPr marL="0" indent="0">
              <a:buNone/>
            </a:pPr>
            <a:r>
              <a:rPr lang="en-US" sz="1300" b="1" kern="0" spc="200" dirty="0">
                <a:solidFill>
                  <a:srgbClr val="D4A017"/>
                </a:solidFill>
                <a:latin typeface="Calibri" pitchFamily="34" charset="0"/>
                <a:ea typeface="Calibri" pitchFamily="34" charset="-122"/>
                <a:cs typeface="Calibri" pitchFamily="34" charset="-120"/>
              </a:rPr>
              <a:t>TCS302  •  DATA STRUCTURES WITH C</a:t>
            </a:r>
            <a:endParaRPr lang="en-US" sz="1300" dirty="0"/>
          </a:p>
        </p:txBody>
      </p:sp>
      <p:sp>
        <p:nvSpPr>
          <p:cNvPr id="3" name="Text 1"/>
          <p:cNvSpPr/>
          <p:nvPr/>
        </p:nvSpPr>
        <p:spPr>
          <a:xfrm>
            <a:off x="640080" y="1051560"/>
            <a:ext cx="7863840" cy="77724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Storing a Tree in Memory</a:t>
            </a:r>
            <a:endParaRPr lang="en-US" sz="3400" dirty="0"/>
          </a:p>
        </p:txBody>
      </p:sp>
      <p:sp>
        <p:nvSpPr>
          <p:cNvPr id="4" name="Text 2"/>
          <p:cNvSpPr/>
          <p:nvPr/>
        </p:nvSpPr>
        <p:spPr>
          <a:xfrm>
            <a:off x="640080" y="1828800"/>
            <a:ext cx="7863840" cy="457200"/>
          </a:xfrm>
          <a:prstGeom prst="rect">
            <a:avLst/>
          </a:prstGeom>
          <a:noFill/>
          <a:ln/>
        </p:spPr>
        <p:txBody>
          <a:bodyPr wrap="square" lIns="0" tIns="0" rIns="0" bIns="0" rtlCol="0" anchor="ctr"/>
          <a:lstStyle/>
          <a:p>
            <a:pPr marL="0" indent="0">
              <a:buNone/>
            </a:pPr>
            <a:r>
              <a:rPr lang="en-US" sz="1550" dirty="0">
                <a:solidFill>
                  <a:srgbClr val="CADCFC"/>
                </a:solidFill>
                <a:latin typeface="Calibri" pitchFamily="34" charset="0"/>
                <a:ea typeface="Calibri" pitchFamily="34" charset="-122"/>
                <a:cs typeface="Calibri" pitchFamily="34" charset="-120"/>
              </a:rPr>
              <a:t>Complete Binary Trees, Array and Linked Representations</a:t>
            </a:r>
            <a:endParaRPr lang="en-US" sz="1550" dirty="0"/>
          </a:p>
        </p:txBody>
      </p:sp>
      <p:sp>
        <p:nvSpPr>
          <p:cNvPr id="5" name="Text 3"/>
          <p:cNvSpPr/>
          <p:nvPr/>
        </p:nvSpPr>
        <p:spPr>
          <a:xfrm>
            <a:off x="640080" y="2560320"/>
            <a:ext cx="7863840" cy="320040"/>
          </a:xfrm>
          <a:prstGeom prst="rect">
            <a:avLst/>
          </a:prstGeom>
          <a:noFill/>
          <a:ln/>
        </p:spPr>
        <p:txBody>
          <a:bodyPr wrap="square" lIns="0" tIns="0" rIns="0" bIns="0" rtlCol="0" anchor="ctr"/>
          <a:lstStyle/>
          <a:p>
            <a:pPr marL="0" indent="0">
              <a:buNone/>
            </a:pPr>
            <a:r>
              <a:rPr lang="en-US" sz="1400" b="1" dirty="0">
                <a:solidFill>
                  <a:srgbClr val="D4A017"/>
                </a:solidFill>
                <a:latin typeface="Calibri" pitchFamily="34" charset="0"/>
                <a:ea typeface="Calibri" pitchFamily="34" charset="-122"/>
                <a:cs typeface="Calibri" pitchFamily="34" charset="-120"/>
              </a:rPr>
              <a:t>Unit III  •  Lecture 22</a:t>
            </a:r>
            <a:endParaRPr lang="en-US" sz="1400" dirty="0"/>
          </a:p>
        </p:txBody>
      </p:sp>
      <p:sp>
        <p:nvSpPr>
          <p:cNvPr id="6" name="Shape 4"/>
          <p:cNvSpPr/>
          <p:nvPr/>
        </p:nvSpPr>
        <p:spPr>
          <a:xfrm flipH="1">
            <a:off x="3931920" y="3291840"/>
            <a:ext cx="640080" cy="502920"/>
          </a:xfrm>
          <a:prstGeom prst="line">
            <a:avLst/>
          </a:prstGeom>
          <a:noFill/>
          <a:ln w="19050">
            <a:solidFill>
              <a:srgbClr val="8896B0"/>
            </a:solidFill>
            <a:prstDash val="solid"/>
          </a:ln>
        </p:spPr>
        <p:txBody>
          <a:bodyPr/>
          <a:lstStyle/>
          <a:p>
            <a:endParaRPr lang="en-US"/>
          </a:p>
        </p:txBody>
      </p:sp>
      <p:sp>
        <p:nvSpPr>
          <p:cNvPr id="7" name="Shape 5"/>
          <p:cNvSpPr/>
          <p:nvPr/>
        </p:nvSpPr>
        <p:spPr>
          <a:xfrm>
            <a:off x="4572000" y="3291840"/>
            <a:ext cx="640080" cy="502920"/>
          </a:xfrm>
          <a:prstGeom prst="line">
            <a:avLst/>
          </a:prstGeom>
          <a:noFill/>
          <a:ln w="19050">
            <a:solidFill>
              <a:srgbClr val="8896B0"/>
            </a:solidFill>
            <a:prstDash val="solid"/>
          </a:ln>
        </p:spPr>
        <p:txBody>
          <a:bodyPr/>
          <a:lstStyle/>
          <a:p>
            <a:endParaRPr lang="en-US"/>
          </a:p>
        </p:txBody>
      </p:sp>
      <p:sp>
        <p:nvSpPr>
          <p:cNvPr id="8" name="Shape 6"/>
          <p:cNvSpPr/>
          <p:nvPr/>
        </p:nvSpPr>
        <p:spPr>
          <a:xfrm flipH="1">
            <a:off x="3566160" y="3794760"/>
            <a:ext cx="365760" cy="457200"/>
          </a:xfrm>
          <a:prstGeom prst="line">
            <a:avLst/>
          </a:prstGeom>
          <a:noFill/>
          <a:ln w="19050">
            <a:solidFill>
              <a:srgbClr val="8896B0"/>
            </a:solidFill>
            <a:prstDash val="solid"/>
          </a:ln>
        </p:spPr>
        <p:txBody>
          <a:bodyPr/>
          <a:lstStyle/>
          <a:p>
            <a:endParaRPr lang="en-US"/>
          </a:p>
        </p:txBody>
      </p:sp>
      <p:sp>
        <p:nvSpPr>
          <p:cNvPr id="9" name="Shape 7"/>
          <p:cNvSpPr/>
          <p:nvPr/>
        </p:nvSpPr>
        <p:spPr>
          <a:xfrm>
            <a:off x="3931920" y="3794760"/>
            <a:ext cx="365760" cy="457200"/>
          </a:xfrm>
          <a:prstGeom prst="line">
            <a:avLst/>
          </a:prstGeom>
          <a:noFill/>
          <a:ln w="19050">
            <a:solidFill>
              <a:srgbClr val="8896B0"/>
            </a:solidFill>
            <a:prstDash val="solid"/>
          </a:ln>
        </p:spPr>
        <p:txBody>
          <a:bodyPr/>
          <a:lstStyle/>
          <a:p>
            <a:endParaRPr lang="en-US"/>
          </a:p>
        </p:txBody>
      </p:sp>
      <p:sp>
        <p:nvSpPr>
          <p:cNvPr id="10" name="Shape 8"/>
          <p:cNvSpPr/>
          <p:nvPr/>
        </p:nvSpPr>
        <p:spPr>
          <a:xfrm>
            <a:off x="4334256" y="3054096"/>
            <a:ext cx="475488" cy="475488"/>
          </a:xfrm>
          <a:prstGeom prst="ellipse">
            <a:avLst/>
          </a:prstGeom>
          <a:solidFill>
            <a:srgbClr val="D4A017"/>
          </a:solidFill>
          <a:ln w="15875">
            <a:solidFill>
              <a:srgbClr val="1E2761"/>
            </a:solidFill>
            <a:prstDash val="solid"/>
          </a:ln>
        </p:spPr>
        <p:txBody>
          <a:bodyPr/>
          <a:lstStyle/>
          <a:p>
            <a:endParaRPr lang="en-US"/>
          </a:p>
        </p:txBody>
      </p:sp>
      <p:sp>
        <p:nvSpPr>
          <p:cNvPr id="11" name="Text 9"/>
          <p:cNvSpPr/>
          <p:nvPr/>
        </p:nvSpPr>
        <p:spPr>
          <a:xfrm>
            <a:off x="4334256" y="30540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2" name="Shape 10"/>
          <p:cNvSpPr/>
          <p:nvPr/>
        </p:nvSpPr>
        <p:spPr>
          <a:xfrm>
            <a:off x="3712464" y="3575304"/>
            <a:ext cx="438912" cy="438912"/>
          </a:xfrm>
          <a:prstGeom prst="ellipse">
            <a:avLst/>
          </a:prstGeom>
          <a:solidFill>
            <a:srgbClr val="028090"/>
          </a:solidFill>
          <a:ln w="15875">
            <a:solidFill>
              <a:srgbClr val="1E2761"/>
            </a:solidFill>
            <a:prstDash val="solid"/>
          </a:ln>
        </p:spPr>
        <p:txBody>
          <a:bodyPr/>
          <a:lstStyle/>
          <a:p>
            <a:endParaRPr lang="en-US"/>
          </a:p>
        </p:txBody>
      </p:sp>
      <p:sp>
        <p:nvSpPr>
          <p:cNvPr id="13" name="Text 11"/>
          <p:cNvSpPr/>
          <p:nvPr/>
        </p:nvSpPr>
        <p:spPr>
          <a:xfrm>
            <a:off x="3712464" y="357530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4" name="Shape 12"/>
          <p:cNvSpPr/>
          <p:nvPr/>
        </p:nvSpPr>
        <p:spPr>
          <a:xfrm>
            <a:off x="4992624" y="3575304"/>
            <a:ext cx="438912" cy="438912"/>
          </a:xfrm>
          <a:prstGeom prst="ellipse">
            <a:avLst/>
          </a:prstGeom>
          <a:solidFill>
            <a:srgbClr val="028090"/>
          </a:solidFill>
          <a:ln w="15875">
            <a:solidFill>
              <a:srgbClr val="1E2761"/>
            </a:solidFill>
            <a:prstDash val="solid"/>
          </a:ln>
        </p:spPr>
        <p:txBody>
          <a:bodyPr/>
          <a:lstStyle/>
          <a:p>
            <a:endParaRPr lang="en-US"/>
          </a:p>
        </p:txBody>
      </p:sp>
      <p:sp>
        <p:nvSpPr>
          <p:cNvPr id="15" name="Text 13"/>
          <p:cNvSpPr/>
          <p:nvPr/>
        </p:nvSpPr>
        <p:spPr>
          <a:xfrm>
            <a:off x="4992624" y="357530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6" name="Shape 14"/>
          <p:cNvSpPr/>
          <p:nvPr/>
        </p:nvSpPr>
        <p:spPr>
          <a:xfrm>
            <a:off x="3383280" y="4069080"/>
            <a:ext cx="365760" cy="365760"/>
          </a:xfrm>
          <a:prstGeom prst="ellipse">
            <a:avLst/>
          </a:prstGeom>
          <a:solidFill>
            <a:srgbClr val="028090"/>
          </a:solidFill>
          <a:ln w="15875">
            <a:solidFill>
              <a:srgbClr val="1E2761"/>
            </a:solidFill>
            <a:prstDash val="solid"/>
          </a:ln>
        </p:spPr>
        <p:txBody>
          <a:bodyPr/>
          <a:lstStyle/>
          <a:p>
            <a:endParaRPr lang="en-US"/>
          </a:p>
        </p:txBody>
      </p:sp>
      <p:sp>
        <p:nvSpPr>
          <p:cNvPr id="17" name="Text 15"/>
          <p:cNvSpPr/>
          <p:nvPr/>
        </p:nvSpPr>
        <p:spPr>
          <a:xfrm>
            <a:off x="3383280" y="40690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8" name="Shape 16"/>
          <p:cNvSpPr/>
          <p:nvPr/>
        </p:nvSpPr>
        <p:spPr>
          <a:xfrm>
            <a:off x="4114800" y="4069080"/>
            <a:ext cx="365760" cy="365760"/>
          </a:xfrm>
          <a:prstGeom prst="ellipse">
            <a:avLst/>
          </a:prstGeom>
          <a:solidFill>
            <a:srgbClr val="028090"/>
          </a:solidFill>
          <a:ln w="15875">
            <a:solidFill>
              <a:srgbClr val="1E2761"/>
            </a:solidFill>
            <a:prstDash val="solid"/>
          </a:ln>
        </p:spPr>
        <p:txBody>
          <a:bodyPr/>
          <a:lstStyle/>
          <a:p>
            <a:endParaRPr lang="en-US"/>
          </a:p>
        </p:txBody>
      </p:sp>
      <p:sp>
        <p:nvSpPr>
          <p:cNvPr id="19" name="Text 17"/>
          <p:cNvSpPr/>
          <p:nvPr/>
        </p:nvSpPr>
        <p:spPr>
          <a:xfrm>
            <a:off x="4114800" y="40690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Complete binary tree: filled level by level</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02</a:t>
            </a:r>
            <a:endParaRPr lang="en-US" sz="900" dirty="0"/>
          </a:p>
        </p:txBody>
      </p:sp>
      <p:sp>
        <p:nvSpPr>
          <p:cNvPr id="6" name="Shape 4"/>
          <p:cNvSpPr/>
          <p:nvPr/>
        </p:nvSpPr>
        <p:spPr>
          <a:xfrm>
            <a:off x="1737360" y="1280160"/>
            <a:ext cx="548640" cy="548640"/>
          </a:xfrm>
          <a:prstGeom prst="ellipse">
            <a:avLst/>
          </a:prstGeom>
          <a:solidFill>
            <a:srgbClr val="D4A017"/>
          </a:solidFill>
          <a:ln w="15875">
            <a:solidFill>
              <a:srgbClr val="1E2761"/>
            </a:solidFill>
            <a:prstDash val="solid"/>
          </a:ln>
        </p:spPr>
        <p:txBody>
          <a:bodyPr/>
          <a:lstStyle/>
          <a:p>
            <a:endParaRPr lang="en-US"/>
          </a:p>
        </p:txBody>
      </p:sp>
      <p:sp>
        <p:nvSpPr>
          <p:cNvPr id="7" name="Text 5"/>
          <p:cNvSpPr/>
          <p:nvPr/>
        </p:nvSpPr>
        <p:spPr>
          <a:xfrm>
            <a:off x="1737360" y="128016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8" name="Shape 6"/>
          <p:cNvSpPr/>
          <p:nvPr/>
        </p:nvSpPr>
        <p:spPr>
          <a:xfrm>
            <a:off x="1115568" y="1938528"/>
            <a:ext cx="512064" cy="512064"/>
          </a:xfrm>
          <a:prstGeom prst="ellipse">
            <a:avLst/>
          </a:prstGeom>
          <a:solidFill>
            <a:srgbClr val="028090"/>
          </a:solidFill>
          <a:ln w="15875">
            <a:solidFill>
              <a:srgbClr val="1E2761"/>
            </a:solidFill>
            <a:prstDash val="solid"/>
          </a:ln>
        </p:spPr>
        <p:txBody>
          <a:bodyPr/>
          <a:lstStyle/>
          <a:p>
            <a:endParaRPr lang="en-US"/>
          </a:p>
        </p:txBody>
      </p:sp>
      <p:sp>
        <p:nvSpPr>
          <p:cNvPr id="9" name="Text 7"/>
          <p:cNvSpPr/>
          <p:nvPr/>
        </p:nvSpPr>
        <p:spPr>
          <a:xfrm>
            <a:off x="1115568" y="193852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0" name="Shape 8"/>
          <p:cNvSpPr/>
          <p:nvPr/>
        </p:nvSpPr>
        <p:spPr>
          <a:xfrm>
            <a:off x="2395728" y="1938528"/>
            <a:ext cx="512064" cy="512064"/>
          </a:xfrm>
          <a:prstGeom prst="ellipse">
            <a:avLst/>
          </a:prstGeom>
          <a:solidFill>
            <a:srgbClr val="028090"/>
          </a:solidFill>
          <a:ln w="15875">
            <a:solidFill>
              <a:srgbClr val="1E2761"/>
            </a:solidFill>
            <a:prstDash val="solid"/>
          </a:ln>
        </p:spPr>
        <p:txBody>
          <a:bodyPr/>
          <a:lstStyle/>
          <a:p>
            <a:endParaRPr lang="en-US"/>
          </a:p>
        </p:txBody>
      </p:sp>
      <p:sp>
        <p:nvSpPr>
          <p:cNvPr id="11" name="Text 9"/>
          <p:cNvSpPr/>
          <p:nvPr/>
        </p:nvSpPr>
        <p:spPr>
          <a:xfrm>
            <a:off x="2395728" y="193852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2" name="Shape 10"/>
          <p:cNvSpPr/>
          <p:nvPr/>
        </p:nvSpPr>
        <p:spPr>
          <a:xfrm>
            <a:off x="768096" y="2596896"/>
            <a:ext cx="475488" cy="475488"/>
          </a:xfrm>
          <a:prstGeom prst="ellipse">
            <a:avLst/>
          </a:prstGeom>
          <a:solidFill>
            <a:srgbClr val="028090"/>
          </a:solidFill>
          <a:ln w="15875">
            <a:solidFill>
              <a:srgbClr val="1E2761"/>
            </a:solidFill>
            <a:prstDash val="solid"/>
          </a:ln>
        </p:spPr>
        <p:txBody>
          <a:bodyPr/>
          <a:lstStyle/>
          <a:p>
            <a:endParaRPr lang="en-US"/>
          </a:p>
        </p:txBody>
      </p:sp>
      <p:sp>
        <p:nvSpPr>
          <p:cNvPr id="13" name="Text 11"/>
          <p:cNvSpPr/>
          <p:nvPr/>
        </p:nvSpPr>
        <p:spPr>
          <a:xfrm>
            <a:off x="768096" y="25968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4" name="Shape 12"/>
          <p:cNvSpPr/>
          <p:nvPr/>
        </p:nvSpPr>
        <p:spPr>
          <a:xfrm>
            <a:off x="1499616" y="2596896"/>
            <a:ext cx="475488" cy="475488"/>
          </a:xfrm>
          <a:prstGeom prst="ellipse">
            <a:avLst/>
          </a:prstGeom>
          <a:solidFill>
            <a:srgbClr val="028090"/>
          </a:solidFill>
          <a:ln w="15875">
            <a:solidFill>
              <a:srgbClr val="1E2761"/>
            </a:solidFill>
            <a:prstDash val="solid"/>
          </a:ln>
        </p:spPr>
        <p:txBody>
          <a:bodyPr/>
          <a:lstStyle/>
          <a:p>
            <a:endParaRPr lang="en-US"/>
          </a:p>
        </p:txBody>
      </p:sp>
      <p:sp>
        <p:nvSpPr>
          <p:cNvPr id="15" name="Text 13"/>
          <p:cNvSpPr/>
          <p:nvPr/>
        </p:nvSpPr>
        <p:spPr>
          <a:xfrm>
            <a:off x="1499616" y="25968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16" name="Shape 14"/>
          <p:cNvSpPr/>
          <p:nvPr/>
        </p:nvSpPr>
        <p:spPr>
          <a:xfrm>
            <a:off x="2414016" y="2596896"/>
            <a:ext cx="475488" cy="475488"/>
          </a:xfrm>
          <a:prstGeom prst="ellipse">
            <a:avLst/>
          </a:prstGeom>
          <a:solidFill>
            <a:srgbClr val="028090"/>
          </a:solidFill>
          <a:ln w="15875">
            <a:solidFill>
              <a:srgbClr val="1E2761"/>
            </a:solidFill>
            <a:prstDash val="solid"/>
          </a:ln>
        </p:spPr>
        <p:txBody>
          <a:bodyPr/>
          <a:lstStyle/>
          <a:p>
            <a:endParaRPr lang="en-US"/>
          </a:p>
        </p:txBody>
      </p:sp>
      <p:sp>
        <p:nvSpPr>
          <p:cNvPr id="17" name="Text 15"/>
          <p:cNvSpPr/>
          <p:nvPr/>
        </p:nvSpPr>
        <p:spPr>
          <a:xfrm>
            <a:off x="2414016" y="25968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18" name="Shape 16"/>
          <p:cNvSpPr/>
          <p:nvPr/>
        </p:nvSpPr>
        <p:spPr>
          <a:xfrm flipH="1">
            <a:off x="1371600" y="1554480"/>
            <a:ext cx="640080" cy="640080"/>
          </a:xfrm>
          <a:prstGeom prst="line">
            <a:avLst/>
          </a:prstGeom>
          <a:noFill/>
          <a:ln w="19050">
            <a:solidFill>
              <a:srgbClr val="B9C2D0"/>
            </a:solidFill>
            <a:prstDash val="solid"/>
          </a:ln>
        </p:spPr>
        <p:txBody>
          <a:bodyPr/>
          <a:lstStyle/>
          <a:p>
            <a:endParaRPr lang="en-US"/>
          </a:p>
        </p:txBody>
      </p:sp>
      <p:sp>
        <p:nvSpPr>
          <p:cNvPr id="19" name="Shape 17"/>
          <p:cNvSpPr/>
          <p:nvPr/>
        </p:nvSpPr>
        <p:spPr>
          <a:xfrm>
            <a:off x="2011680" y="1554480"/>
            <a:ext cx="640080" cy="640080"/>
          </a:xfrm>
          <a:prstGeom prst="line">
            <a:avLst/>
          </a:prstGeom>
          <a:noFill/>
          <a:ln w="19050">
            <a:solidFill>
              <a:srgbClr val="B9C2D0"/>
            </a:solidFill>
            <a:prstDash val="solid"/>
          </a:ln>
        </p:spPr>
        <p:txBody>
          <a:bodyPr/>
          <a:lstStyle/>
          <a:p>
            <a:endParaRPr lang="en-US"/>
          </a:p>
        </p:txBody>
      </p:sp>
      <p:sp>
        <p:nvSpPr>
          <p:cNvPr id="20" name="Shape 18"/>
          <p:cNvSpPr/>
          <p:nvPr/>
        </p:nvSpPr>
        <p:spPr>
          <a:xfrm flipH="1">
            <a:off x="1005840" y="2194560"/>
            <a:ext cx="365760" cy="640080"/>
          </a:xfrm>
          <a:prstGeom prst="line">
            <a:avLst/>
          </a:prstGeom>
          <a:noFill/>
          <a:ln w="19050">
            <a:solidFill>
              <a:srgbClr val="B9C2D0"/>
            </a:solidFill>
            <a:prstDash val="solid"/>
          </a:ln>
        </p:spPr>
        <p:txBody>
          <a:bodyPr/>
          <a:lstStyle/>
          <a:p>
            <a:endParaRPr lang="en-US"/>
          </a:p>
        </p:txBody>
      </p:sp>
      <p:sp>
        <p:nvSpPr>
          <p:cNvPr id="21" name="Shape 19"/>
          <p:cNvSpPr/>
          <p:nvPr/>
        </p:nvSpPr>
        <p:spPr>
          <a:xfrm>
            <a:off x="1371600" y="2194560"/>
            <a:ext cx="365760" cy="640080"/>
          </a:xfrm>
          <a:prstGeom prst="line">
            <a:avLst/>
          </a:prstGeom>
          <a:noFill/>
          <a:ln w="19050">
            <a:solidFill>
              <a:srgbClr val="B9C2D0"/>
            </a:solidFill>
            <a:prstDash val="solid"/>
          </a:ln>
        </p:spPr>
        <p:txBody>
          <a:bodyPr/>
          <a:lstStyle/>
          <a:p>
            <a:endParaRPr lang="en-US"/>
          </a:p>
        </p:txBody>
      </p:sp>
      <p:sp>
        <p:nvSpPr>
          <p:cNvPr id="22" name="Shape 20"/>
          <p:cNvSpPr/>
          <p:nvPr/>
        </p:nvSpPr>
        <p:spPr>
          <a:xfrm>
            <a:off x="2651760" y="2194560"/>
            <a:ext cx="0" cy="640080"/>
          </a:xfrm>
          <a:prstGeom prst="line">
            <a:avLst/>
          </a:prstGeom>
          <a:noFill/>
          <a:ln w="19050">
            <a:solidFill>
              <a:srgbClr val="B9C2D0"/>
            </a:solidFill>
            <a:prstDash val="solid"/>
          </a:ln>
        </p:spPr>
        <p:txBody>
          <a:bodyPr/>
          <a:lstStyle/>
          <a:p>
            <a:endParaRPr lang="en-US"/>
          </a:p>
        </p:txBody>
      </p:sp>
      <p:sp>
        <p:nvSpPr>
          <p:cNvPr id="23" name="Shape 21"/>
          <p:cNvSpPr/>
          <p:nvPr/>
        </p:nvSpPr>
        <p:spPr>
          <a:xfrm>
            <a:off x="1737360" y="1280160"/>
            <a:ext cx="548640" cy="548640"/>
          </a:xfrm>
          <a:prstGeom prst="ellipse">
            <a:avLst/>
          </a:prstGeom>
          <a:solidFill>
            <a:srgbClr val="D4A017"/>
          </a:solidFill>
          <a:ln w="15875">
            <a:solidFill>
              <a:srgbClr val="1E2761"/>
            </a:solidFill>
            <a:prstDash val="solid"/>
          </a:ln>
        </p:spPr>
        <p:txBody>
          <a:bodyPr/>
          <a:lstStyle/>
          <a:p>
            <a:endParaRPr lang="en-US"/>
          </a:p>
        </p:txBody>
      </p:sp>
      <p:sp>
        <p:nvSpPr>
          <p:cNvPr id="24" name="Text 22"/>
          <p:cNvSpPr/>
          <p:nvPr/>
        </p:nvSpPr>
        <p:spPr>
          <a:xfrm>
            <a:off x="1737360" y="1280160"/>
            <a:ext cx="5486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25" name="Shape 23"/>
          <p:cNvSpPr/>
          <p:nvPr/>
        </p:nvSpPr>
        <p:spPr>
          <a:xfrm>
            <a:off x="1115568" y="1938528"/>
            <a:ext cx="512064" cy="512064"/>
          </a:xfrm>
          <a:prstGeom prst="ellipse">
            <a:avLst/>
          </a:prstGeom>
          <a:solidFill>
            <a:srgbClr val="028090"/>
          </a:solidFill>
          <a:ln w="15875">
            <a:solidFill>
              <a:srgbClr val="1E2761"/>
            </a:solidFill>
            <a:prstDash val="solid"/>
          </a:ln>
        </p:spPr>
        <p:txBody>
          <a:bodyPr/>
          <a:lstStyle/>
          <a:p>
            <a:endParaRPr lang="en-US"/>
          </a:p>
        </p:txBody>
      </p:sp>
      <p:sp>
        <p:nvSpPr>
          <p:cNvPr id="26" name="Text 24"/>
          <p:cNvSpPr/>
          <p:nvPr/>
        </p:nvSpPr>
        <p:spPr>
          <a:xfrm>
            <a:off x="1115568" y="193852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27" name="Shape 25"/>
          <p:cNvSpPr/>
          <p:nvPr/>
        </p:nvSpPr>
        <p:spPr>
          <a:xfrm>
            <a:off x="2395728" y="1938528"/>
            <a:ext cx="512064" cy="512064"/>
          </a:xfrm>
          <a:prstGeom prst="ellipse">
            <a:avLst/>
          </a:prstGeom>
          <a:solidFill>
            <a:srgbClr val="028090"/>
          </a:solidFill>
          <a:ln w="15875">
            <a:solidFill>
              <a:srgbClr val="1E2761"/>
            </a:solidFill>
            <a:prstDash val="solid"/>
          </a:ln>
        </p:spPr>
        <p:txBody>
          <a:bodyPr/>
          <a:lstStyle/>
          <a:p>
            <a:endParaRPr lang="en-US"/>
          </a:p>
        </p:txBody>
      </p:sp>
      <p:sp>
        <p:nvSpPr>
          <p:cNvPr id="28" name="Text 26"/>
          <p:cNvSpPr/>
          <p:nvPr/>
        </p:nvSpPr>
        <p:spPr>
          <a:xfrm>
            <a:off x="2395728" y="193852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9" name="Shape 27"/>
          <p:cNvSpPr/>
          <p:nvPr/>
        </p:nvSpPr>
        <p:spPr>
          <a:xfrm>
            <a:off x="768096" y="2596896"/>
            <a:ext cx="475488" cy="475488"/>
          </a:xfrm>
          <a:prstGeom prst="ellipse">
            <a:avLst/>
          </a:prstGeom>
          <a:solidFill>
            <a:srgbClr val="028090"/>
          </a:solidFill>
          <a:ln w="15875">
            <a:solidFill>
              <a:srgbClr val="1E2761"/>
            </a:solidFill>
            <a:prstDash val="solid"/>
          </a:ln>
        </p:spPr>
        <p:txBody>
          <a:bodyPr/>
          <a:lstStyle/>
          <a:p>
            <a:endParaRPr lang="en-US"/>
          </a:p>
        </p:txBody>
      </p:sp>
      <p:sp>
        <p:nvSpPr>
          <p:cNvPr id="30" name="Text 28"/>
          <p:cNvSpPr/>
          <p:nvPr/>
        </p:nvSpPr>
        <p:spPr>
          <a:xfrm>
            <a:off x="768096" y="25968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31" name="Shape 29"/>
          <p:cNvSpPr/>
          <p:nvPr/>
        </p:nvSpPr>
        <p:spPr>
          <a:xfrm>
            <a:off x="1499616" y="2596896"/>
            <a:ext cx="475488" cy="475488"/>
          </a:xfrm>
          <a:prstGeom prst="ellipse">
            <a:avLst/>
          </a:prstGeom>
          <a:solidFill>
            <a:srgbClr val="028090"/>
          </a:solidFill>
          <a:ln w="15875">
            <a:solidFill>
              <a:srgbClr val="1E2761"/>
            </a:solidFill>
            <a:prstDash val="solid"/>
          </a:ln>
        </p:spPr>
        <p:txBody>
          <a:bodyPr/>
          <a:lstStyle/>
          <a:p>
            <a:endParaRPr lang="en-US"/>
          </a:p>
        </p:txBody>
      </p:sp>
      <p:sp>
        <p:nvSpPr>
          <p:cNvPr id="32" name="Text 30"/>
          <p:cNvSpPr/>
          <p:nvPr/>
        </p:nvSpPr>
        <p:spPr>
          <a:xfrm>
            <a:off x="1499616" y="25968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33" name="Shape 31"/>
          <p:cNvSpPr/>
          <p:nvPr/>
        </p:nvSpPr>
        <p:spPr>
          <a:xfrm>
            <a:off x="2414016" y="2596896"/>
            <a:ext cx="475488" cy="475488"/>
          </a:xfrm>
          <a:prstGeom prst="ellipse">
            <a:avLst/>
          </a:prstGeom>
          <a:solidFill>
            <a:srgbClr val="028090"/>
          </a:solidFill>
          <a:ln w="15875">
            <a:solidFill>
              <a:srgbClr val="1E2761"/>
            </a:solidFill>
            <a:prstDash val="solid"/>
          </a:ln>
        </p:spPr>
        <p:txBody>
          <a:bodyPr/>
          <a:lstStyle/>
          <a:p>
            <a:endParaRPr lang="en-US"/>
          </a:p>
        </p:txBody>
      </p:sp>
      <p:sp>
        <p:nvSpPr>
          <p:cNvPr id="34" name="Text 32"/>
          <p:cNvSpPr/>
          <p:nvPr/>
        </p:nvSpPr>
        <p:spPr>
          <a:xfrm>
            <a:off x="2414016" y="25968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35" name="Text 33"/>
          <p:cNvSpPr/>
          <p:nvPr/>
        </p:nvSpPr>
        <p:spPr>
          <a:xfrm>
            <a:off x="365760" y="3246120"/>
            <a:ext cx="3291840" cy="27432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6 nodes: last level filling LEFT to RIGHT, no gaps</a:t>
            </a:r>
            <a:endParaRPr lang="en-US" sz="1000" dirty="0"/>
          </a:p>
        </p:txBody>
      </p:sp>
      <p:sp>
        <p:nvSpPr>
          <p:cNvPr id="36" name="Shape 34"/>
          <p:cNvSpPr/>
          <p:nvPr/>
        </p:nvSpPr>
        <p:spPr>
          <a:xfrm>
            <a:off x="4023360" y="1280160"/>
            <a:ext cx="4663440" cy="2377440"/>
          </a:xfrm>
          <a:prstGeom prst="roundRect">
            <a:avLst>
              <a:gd name="adj" fmla="val 2692"/>
            </a:avLst>
          </a:prstGeom>
          <a:solidFill>
            <a:srgbClr val="F0F7F7"/>
          </a:solidFill>
          <a:ln w="12700">
            <a:solidFill>
              <a:srgbClr val="028090"/>
            </a:solidFill>
            <a:prstDash val="solid"/>
          </a:ln>
        </p:spPr>
        <p:txBody>
          <a:bodyPr/>
          <a:lstStyle/>
          <a:p>
            <a:endParaRPr lang="en-US"/>
          </a:p>
        </p:txBody>
      </p:sp>
      <p:sp>
        <p:nvSpPr>
          <p:cNvPr id="37" name="Text 35"/>
          <p:cNvSpPr/>
          <p:nvPr/>
        </p:nvSpPr>
        <p:spPr>
          <a:xfrm>
            <a:off x="4187952" y="1353312"/>
            <a:ext cx="4334256" cy="2231136"/>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The precise rule
</a:t>
            </a:r>
            <a:r>
              <a:rPr lang="en-US" sz="1250" dirty="0">
                <a:solidFill>
                  <a:srgbClr val="2B2B2B"/>
                </a:solidFill>
                <a:latin typeface="Calibri" pitchFamily="34" charset="0"/>
                <a:ea typeface="Calibri" pitchFamily="34" charset="-122"/>
                <a:cs typeface="Calibri" pitchFamily="34" charset="-120"/>
              </a:rPr>
              <a:t>Every level is COMPLETELY filled, except possibly the last — and the last level fills strictly LEFT to RIGHT with no gaps.</a:t>
            </a:r>
            <a:endParaRPr lang="en-US" sz="1250" dirty="0"/>
          </a:p>
          <a:p>
            <a:pPr marL="0" indent="0">
              <a:buNone/>
            </a:pPr>
            <a:endParaRPr lang="en-US" sz="1250" dirty="0"/>
          </a:p>
          <a:p>
            <a:pPr marL="0" indent="0">
              <a:buNone/>
            </a:pPr>
            <a:r>
              <a:rPr lang="en-US" sz="1250" dirty="0">
                <a:solidFill>
                  <a:srgbClr val="2B2B2B"/>
                </a:solidFill>
                <a:latin typeface="Calibri" pitchFamily="34" charset="0"/>
                <a:ea typeface="Calibri" pitchFamily="34" charset="-122"/>
                <a:cs typeface="Calibri" pitchFamily="34" charset="-120"/>
              </a:rPr>
              <a:t>A gap anywhere before the rightmost filled position breaks completeness.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Why the shape matters: array space, verified</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03</a:t>
            </a:r>
            <a:endParaRPr lang="en-US" sz="900" dirty="0"/>
          </a:p>
        </p:txBody>
      </p:sp>
      <p:sp>
        <p:nvSpPr>
          <p:cNvPr id="6" name="Shape 4"/>
          <p:cNvSpPr/>
          <p:nvPr/>
        </p:nvSpPr>
        <p:spPr>
          <a:xfrm>
            <a:off x="1261872" y="1353312"/>
            <a:ext cx="402336" cy="402336"/>
          </a:xfrm>
          <a:prstGeom prst="ellipse">
            <a:avLst/>
          </a:prstGeom>
          <a:solidFill>
            <a:srgbClr val="D4A017"/>
          </a:solidFill>
          <a:ln w="15875">
            <a:solidFill>
              <a:srgbClr val="1E2761"/>
            </a:solidFill>
            <a:prstDash val="solid"/>
          </a:ln>
        </p:spPr>
        <p:txBody>
          <a:bodyPr/>
          <a:lstStyle/>
          <a:p>
            <a:endParaRPr lang="en-US"/>
          </a:p>
        </p:txBody>
      </p:sp>
      <p:sp>
        <p:nvSpPr>
          <p:cNvPr id="7" name="Text 5"/>
          <p:cNvSpPr/>
          <p:nvPr/>
        </p:nvSpPr>
        <p:spPr>
          <a:xfrm>
            <a:off x="1261872" y="1353312"/>
            <a:ext cx="402336" cy="402336"/>
          </a:xfrm>
          <a:prstGeom prst="rect">
            <a:avLst/>
          </a:prstGeom>
          <a:noFill/>
          <a:ln/>
        </p:spPr>
        <p:txBody>
          <a:bodyPr wrap="square" lIns="0" tIns="0" rIns="0" bIns="0" rtlCol="0" anchor="ctr"/>
          <a:lstStyle/>
          <a:p>
            <a:pPr marL="0" indent="0" algn="ctr">
              <a:buNone/>
            </a:pPr>
            <a:endParaRPr lang="en-US" sz="1300" dirty="0"/>
          </a:p>
        </p:txBody>
      </p:sp>
      <p:sp>
        <p:nvSpPr>
          <p:cNvPr id="8" name="Shape 6"/>
          <p:cNvSpPr/>
          <p:nvPr/>
        </p:nvSpPr>
        <p:spPr>
          <a:xfrm>
            <a:off x="1920240" y="1920240"/>
            <a:ext cx="365760" cy="365760"/>
          </a:xfrm>
          <a:prstGeom prst="ellipse">
            <a:avLst/>
          </a:prstGeom>
          <a:solidFill>
            <a:srgbClr val="028090"/>
          </a:solidFill>
          <a:ln w="15875">
            <a:solidFill>
              <a:srgbClr val="1E2761"/>
            </a:solidFill>
            <a:prstDash val="solid"/>
          </a:ln>
        </p:spPr>
        <p:txBody>
          <a:bodyPr/>
          <a:lstStyle/>
          <a:p>
            <a:endParaRPr lang="en-US"/>
          </a:p>
        </p:txBody>
      </p:sp>
      <p:sp>
        <p:nvSpPr>
          <p:cNvPr id="9" name="Text 7"/>
          <p:cNvSpPr/>
          <p:nvPr/>
        </p:nvSpPr>
        <p:spPr>
          <a:xfrm>
            <a:off x="1920240" y="1920240"/>
            <a:ext cx="365760" cy="365760"/>
          </a:xfrm>
          <a:prstGeom prst="rect">
            <a:avLst/>
          </a:prstGeom>
          <a:noFill/>
          <a:ln/>
        </p:spPr>
        <p:txBody>
          <a:bodyPr wrap="square" lIns="0" tIns="0" rIns="0" bIns="0" rtlCol="0" anchor="ctr"/>
          <a:lstStyle/>
          <a:p>
            <a:pPr marL="0" indent="0" algn="ctr">
              <a:buNone/>
            </a:pPr>
            <a:endParaRPr lang="en-US" sz="1300" dirty="0"/>
          </a:p>
        </p:txBody>
      </p:sp>
      <p:sp>
        <p:nvSpPr>
          <p:cNvPr id="10" name="Shape 8"/>
          <p:cNvSpPr/>
          <p:nvPr/>
        </p:nvSpPr>
        <p:spPr>
          <a:xfrm>
            <a:off x="2578608" y="2487168"/>
            <a:ext cx="329184" cy="329184"/>
          </a:xfrm>
          <a:prstGeom prst="ellipse">
            <a:avLst/>
          </a:prstGeom>
          <a:solidFill>
            <a:srgbClr val="028090"/>
          </a:solidFill>
          <a:ln w="15875">
            <a:solidFill>
              <a:srgbClr val="1E2761"/>
            </a:solidFill>
            <a:prstDash val="solid"/>
          </a:ln>
        </p:spPr>
        <p:txBody>
          <a:bodyPr/>
          <a:lstStyle/>
          <a:p>
            <a:endParaRPr lang="en-US"/>
          </a:p>
        </p:txBody>
      </p:sp>
      <p:sp>
        <p:nvSpPr>
          <p:cNvPr id="11" name="Text 9"/>
          <p:cNvSpPr/>
          <p:nvPr/>
        </p:nvSpPr>
        <p:spPr>
          <a:xfrm>
            <a:off x="2578608" y="2487168"/>
            <a:ext cx="329184" cy="329184"/>
          </a:xfrm>
          <a:prstGeom prst="rect">
            <a:avLst/>
          </a:prstGeom>
          <a:noFill/>
          <a:ln/>
        </p:spPr>
        <p:txBody>
          <a:bodyPr wrap="square" lIns="0" tIns="0" rIns="0" bIns="0" rtlCol="0" anchor="ctr"/>
          <a:lstStyle/>
          <a:p>
            <a:pPr marL="0" indent="0" algn="ctr">
              <a:buNone/>
            </a:pPr>
            <a:endParaRPr lang="en-US" sz="1300" dirty="0"/>
          </a:p>
        </p:txBody>
      </p:sp>
      <p:sp>
        <p:nvSpPr>
          <p:cNvPr id="12" name="Shape 10"/>
          <p:cNvSpPr/>
          <p:nvPr/>
        </p:nvSpPr>
        <p:spPr>
          <a:xfrm>
            <a:off x="3236976" y="3054096"/>
            <a:ext cx="292608" cy="292608"/>
          </a:xfrm>
          <a:prstGeom prst="ellipse">
            <a:avLst/>
          </a:prstGeom>
          <a:solidFill>
            <a:srgbClr val="028090"/>
          </a:solidFill>
          <a:ln w="15875">
            <a:solidFill>
              <a:srgbClr val="1E2761"/>
            </a:solidFill>
            <a:prstDash val="solid"/>
          </a:ln>
        </p:spPr>
        <p:txBody>
          <a:bodyPr/>
          <a:lstStyle/>
          <a:p>
            <a:endParaRPr lang="en-US"/>
          </a:p>
        </p:txBody>
      </p:sp>
      <p:sp>
        <p:nvSpPr>
          <p:cNvPr id="13" name="Text 11"/>
          <p:cNvSpPr/>
          <p:nvPr/>
        </p:nvSpPr>
        <p:spPr>
          <a:xfrm>
            <a:off x="3236976" y="3054096"/>
            <a:ext cx="292608" cy="292608"/>
          </a:xfrm>
          <a:prstGeom prst="rect">
            <a:avLst/>
          </a:prstGeom>
          <a:noFill/>
          <a:ln/>
        </p:spPr>
        <p:txBody>
          <a:bodyPr wrap="square" lIns="0" tIns="0" rIns="0" bIns="0" rtlCol="0" anchor="ctr"/>
          <a:lstStyle/>
          <a:p>
            <a:pPr marL="0" indent="0" algn="ctr">
              <a:buNone/>
            </a:pPr>
            <a:endParaRPr lang="en-US" sz="1300" dirty="0"/>
          </a:p>
        </p:txBody>
      </p:sp>
      <p:sp>
        <p:nvSpPr>
          <p:cNvPr id="14" name="Shape 12"/>
          <p:cNvSpPr/>
          <p:nvPr/>
        </p:nvSpPr>
        <p:spPr>
          <a:xfrm>
            <a:off x="1463040" y="1554480"/>
            <a:ext cx="640080" cy="548640"/>
          </a:xfrm>
          <a:prstGeom prst="line">
            <a:avLst/>
          </a:prstGeom>
          <a:noFill/>
          <a:ln w="19050">
            <a:solidFill>
              <a:srgbClr val="B9C2D0"/>
            </a:solidFill>
            <a:prstDash val="solid"/>
          </a:ln>
        </p:spPr>
        <p:txBody>
          <a:bodyPr/>
          <a:lstStyle/>
          <a:p>
            <a:endParaRPr lang="en-US"/>
          </a:p>
        </p:txBody>
      </p:sp>
      <p:sp>
        <p:nvSpPr>
          <p:cNvPr id="15" name="Shape 13"/>
          <p:cNvSpPr/>
          <p:nvPr/>
        </p:nvSpPr>
        <p:spPr>
          <a:xfrm>
            <a:off x="2103120" y="2103120"/>
            <a:ext cx="640080" cy="548640"/>
          </a:xfrm>
          <a:prstGeom prst="line">
            <a:avLst/>
          </a:prstGeom>
          <a:noFill/>
          <a:ln w="19050">
            <a:solidFill>
              <a:srgbClr val="B9C2D0"/>
            </a:solidFill>
            <a:prstDash val="solid"/>
          </a:ln>
        </p:spPr>
        <p:txBody>
          <a:bodyPr/>
          <a:lstStyle/>
          <a:p>
            <a:endParaRPr lang="en-US"/>
          </a:p>
        </p:txBody>
      </p:sp>
      <p:sp>
        <p:nvSpPr>
          <p:cNvPr id="16" name="Shape 14"/>
          <p:cNvSpPr/>
          <p:nvPr/>
        </p:nvSpPr>
        <p:spPr>
          <a:xfrm>
            <a:off x="2743200" y="2651760"/>
            <a:ext cx="640080" cy="548640"/>
          </a:xfrm>
          <a:prstGeom prst="line">
            <a:avLst/>
          </a:prstGeom>
          <a:noFill/>
          <a:ln w="19050">
            <a:solidFill>
              <a:srgbClr val="B9C2D0"/>
            </a:solidFill>
            <a:prstDash val="solid"/>
          </a:ln>
        </p:spPr>
        <p:txBody>
          <a:bodyPr/>
          <a:lstStyle/>
          <a:p>
            <a:endParaRPr lang="en-US"/>
          </a:p>
        </p:txBody>
      </p:sp>
      <p:sp>
        <p:nvSpPr>
          <p:cNvPr id="17" name="Shape 15"/>
          <p:cNvSpPr/>
          <p:nvPr/>
        </p:nvSpPr>
        <p:spPr>
          <a:xfrm>
            <a:off x="1261872" y="1353312"/>
            <a:ext cx="402336" cy="402336"/>
          </a:xfrm>
          <a:prstGeom prst="ellipse">
            <a:avLst/>
          </a:prstGeom>
          <a:solidFill>
            <a:srgbClr val="D4A017"/>
          </a:solidFill>
          <a:ln w="15875">
            <a:solidFill>
              <a:srgbClr val="1E2761"/>
            </a:solidFill>
            <a:prstDash val="solid"/>
          </a:ln>
        </p:spPr>
        <p:txBody>
          <a:bodyPr/>
          <a:lstStyle/>
          <a:p>
            <a:endParaRPr lang="en-US"/>
          </a:p>
        </p:txBody>
      </p:sp>
      <p:sp>
        <p:nvSpPr>
          <p:cNvPr id="18" name="Text 16"/>
          <p:cNvSpPr/>
          <p:nvPr/>
        </p:nvSpPr>
        <p:spPr>
          <a:xfrm>
            <a:off x="1261872" y="1353312"/>
            <a:ext cx="402336" cy="402336"/>
          </a:xfrm>
          <a:prstGeom prst="rect">
            <a:avLst/>
          </a:prstGeom>
          <a:noFill/>
          <a:ln/>
        </p:spPr>
        <p:txBody>
          <a:bodyPr wrap="square" lIns="0" tIns="0" rIns="0" bIns="0" rtlCol="0" anchor="ctr"/>
          <a:lstStyle/>
          <a:p>
            <a:pPr marL="0" indent="0" algn="ctr">
              <a:buNone/>
            </a:pPr>
            <a:endParaRPr lang="en-US" sz="1300" dirty="0"/>
          </a:p>
        </p:txBody>
      </p:sp>
      <p:sp>
        <p:nvSpPr>
          <p:cNvPr id="19" name="Shape 17"/>
          <p:cNvSpPr/>
          <p:nvPr/>
        </p:nvSpPr>
        <p:spPr>
          <a:xfrm>
            <a:off x="1920240" y="1920240"/>
            <a:ext cx="365760" cy="365760"/>
          </a:xfrm>
          <a:prstGeom prst="ellipse">
            <a:avLst/>
          </a:prstGeom>
          <a:solidFill>
            <a:srgbClr val="028090"/>
          </a:solidFill>
          <a:ln w="15875">
            <a:solidFill>
              <a:srgbClr val="1E2761"/>
            </a:solidFill>
            <a:prstDash val="solid"/>
          </a:ln>
        </p:spPr>
        <p:txBody>
          <a:bodyPr/>
          <a:lstStyle/>
          <a:p>
            <a:endParaRPr lang="en-US"/>
          </a:p>
        </p:txBody>
      </p:sp>
      <p:sp>
        <p:nvSpPr>
          <p:cNvPr id="20" name="Text 18"/>
          <p:cNvSpPr/>
          <p:nvPr/>
        </p:nvSpPr>
        <p:spPr>
          <a:xfrm>
            <a:off x="1920240" y="1920240"/>
            <a:ext cx="365760" cy="365760"/>
          </a:xfrm>
          <a:prstGeom prst="rect">
            <a:avLst/>
          </a:prstGeom>
          <a:noFill/>
          <a:ln/>
        </p:spPr>
        <p:txBody>
          <a:bodyPr wrap="square" lIns="0" tIns="0" rIns="0" bIns="0" rtlCol="0" anchor="ctr"/>
          <a:lstStyle/>
          <a:p>
            <a:pPr marL="0" indent="0" algn="ctr">
              <a:buNone/>
            </a:pPr>
            <a:endParaRPr lang="en-US" sz="1300" dirty="0"/>
          </a:p>
        </p:txBody>
      </p:sp>
      <p:sp>
        <p:nvSpPr>
          <p:cNvPr id="21" name="Shape 19"/>
          <p:cNvSpPr/>
          <p:nvPr/>
        </p:nvSpPr>
        <p:spPr>
          <a:xfrm>
            <a:off x="2578608" y="2487168"/>
            <a:ext cx="329184" cy="329184"/>
          </a:xfrm>
          <a:prstGeom prst="ellipse">
            <a:avLst/>
          </a:prstGeom>
          <a:solidFill>
            <a:srgbClr val="028090"/>
          </a:solidFill>
          <a:ln w="15875">
            <a:solidFill>
              <a:srgbClr val="1E2761"/>
            </a:solidFill>
            <a:prstDash val="solid"/>
          </a:ln>
        </p:spPr>
        <p:txBody>
          <a:bodyPr/>
          <a:lstStyle/>
          <a:p>
            <a:endParaRPr lang="en-US"/>
          </a:p>
        </p:txBody>
      </p:sp>
      <p:sp>
        <p:nvSpPr>
          <p:cNvPr id="22" name="Text 20"/>
          <p:cNvSpPr/>
          <p:nvPr/>
        </p:nvSpPr>
        <p:spPr>
          <a:xfrm>
            <a:off x="2578608" y="2487168"/>
            <a:ext cx="329184" cy="329184"/>
          </a:xfrm>
          <a:prstGeom prst="rect">
            <a:avLst/>
          </a:prstGeom>
          <a:noFill/>
          <a:ln/>
        </p:spPr>
        <p:txBody>
          <a:bodyPr wrap="square" lIns="0" tIns="0" rIns="0" bIns="0" rtlCol="0" anchor="ctr"/>
          <a:lstStyle/>
          <a:p>
            <a:pPr marL="0" indent="0" algn="ctr">
              <a:buNone/>
            </a:pPr>
            <a:endParaRPr lang="en-US" sz="1300" dirty="0"/>
          </a:p>
        </p:txBody>
      </p:sp>
      <p:sp>
        <p:nvSpPr>
          <p:cNvPr id="23" name="Shape 21"/>
          <p:cNvSpPr/>
          <p:nvPr/>
        </p:nvSpPr>
        <p:spPr>
          <a:xfrm>
            <a:off x="3236976" y="3054096"/>
            <a:ext cx="292608" cy="292608"/>
          </a:xfrm>
          <a:prstGeom prst="ellipse">
            <a:avLst/>
          </a:prstGeom>
          <a:solidFill>
            <a:srgbClr val="028090"/>
          </a:solidFill>
          <a:ln w="15875">
            <a:solidFill>
              <a:srgbClr val="1E2761"/>
            </a:solidFill>
            <a:prstDash val="solid"/>
          </a:ln>
        </p:spPr>
        <p:txBody>
          <a:bodyPr/>
          <a:lstStyle/>
          <a:p>
            <a:endParaRPr lang="en-US"/>
          </a:p>
        </p:txBody>
      </p:sp>
      <p:sp>
        <p:nvSpPr>
          <p:cNvPr id="24" name="Text 22"/>
          <p:cNvSpPr/>
          <p:nvPr/>
        </p:nvSpPr>
        <p:spPr>
          <a:xfrm>
            <a:off x="3236976" y="3054096"/>
            <a:ext cx="292608" cy="292608"/>
          </a:xfrm>
          <a:prstGeom prst="rect">
            <a:avLst/>
          </a:prstGeom>
          <a:noFill/>
          <a:ln/>
        </p:spPr>
        <p:txBody>
          <a:bodyPr wrap="square" lIns="0" tIns="0" rIns="0" bIns="0" rtlCol="0" anchor="ctr"/>
          <a:lstStyle/>
          <a:p>
            <a:pPr marL="0" indent="0" algn="ctr">
              <a:buNone/>
            </a:pPr>
            <a:endParaRPr lang="en-US" sz="1300" dirty="0"/>
          </a:p>
        </p:txBody>
      </p:sp>
      <p:sp>
        <p:nvSpPr>
          <p:cNvPr id="25" name="Text 23"/>
          <p:cNvSpPr/>
          <p:nvPr/>
        </p:nvSpPr>
        <p:spPr>
          <a:xfrm>
            <a:off x="365760" y="3520440"/>
            <a:ext cx="329184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4-node right-skewed tree</a:t>
            </a:r>
            <a:endParaRPr lang="en-US" sz="1050" dirty="0"/>
          </a:p>
        </p:txBody>
      </p:sp>
      <p:sp>
        <p:nvSpPr>
          <p:cNvPr id="26" name="Shape 24"/>
          <p:cNvSpPr/>
          <p:nvPr/>
        </p:nvSpPr>
        <p:spPr>
          <a:xfrm>
            <a:off x="4023360" y="1280160"/>
            <a:ext cx="4663440" cy="2377440"/>
          </a:xfrm>
          <a:prstGeom prst="roundRect">
            <a:avLst>
              <a:gd name="adj" fmla="val 2692"/>
            </a:avLst>
          </a:prstGeom>
          <a:solidFill>
            <a:srgbClr val="FBF5E6"/>
          </a:solidFill>
          <a:ln w="12700">
            <a:solidFill>
              <a:srgbClr val="D4A017"/>
            </a:solidFill>
            <a:prstDash val="solid"/>
          </a:ln>
        </p:spPr>
        <p:txBody>
          <a:bodyPr/>
          <a:lstStyle/>
          <a:p>
            <a:endParaRPr lang="en-US"/>
          </a:p>
        </p:txBody>
      </p:sp>
      <p:sp>
        <p:nvSpPr>
          <p:cNvPr id="27" name="Text 25"/>
          <p:cNvSpPr/>
          <p:nvPr/>
        </p:nvSpPr>
        <p:spPr>
          <a:xfrm>
            <a:off x="4187952" y="1353312"/>
            <a:ext cx="4334256" cy="2231136"/>
          </a:xfrm>
          <a:prstGeom prst="rect">
            <a:avLst/>
          </a:prstGeom>
          <a:noFill/>
          <a:ln/>
        </p:spPr>
        <p:txBody>
          <a:bodyPr wrap="square" lIns="0" tIns="0" rIns="0" bIns="0" rtlCol="0" anchor="ctr"/>
          <a:lstStyle/>
          <a:p>
            <a:pPr marL="0" indent="0">
              <a:buNone/>
            </a:pPr>
            <a:r>
              <a:rPr lang="en-US" sz="1250" b="1" dirty="0">
                <a:solidFill>
                  <a:srgbClr val="D4A017"/>
                </a:solidFill>
                <a:latin typeface="Calibri" pitchFamily="34" charset="0"/>
                <a:ea typeface="Calibri" pitchFamily="34" charset="-122"/>
                <a:cs typeface="Calibri" pitchFamily="34" charset="-120"/>
              </a:rPr>
              <a:t>Verified by index arithmetic
</a:t>
            </a:r>
            <a:r>
              <a:rPr lang="en-US" sz="1250" dirty="0">
                <a:solidFill>
                  <a:srgbClr val="2B2B2B"/>
                </a:solidFill>
                <a:latin typeface="Calibri" pitchFamily="34" charset="0"/>
                <a:ea typeface="Calibri" pitchFamily="34" charset="-122"/>
                <a:cs typeface="Calibri" pitchFamily="34" charset="-120"/>
              </a:rPr>
              <a:t>Right child of index i is 2i+2. Following right, right, right from the root: indices 0, 2, 6, 14.</a:t>
            </a:r>
            <a:endParaRPr lang="en-US" sz="1250" dirty="0"/>
          </a:p>
          <a:p>
            <a:pPr marL="0" indent="0">
              <a:buNone/>
            </a:pPr>
            <a:endParaRPr lang="en-US" sz="1250" dirty="0"/>
          </a:p>
          <a:p>
            <a:pPr marL="0" indent="0">
              <a:buNone/>
            </a:pPr>
            <a:r>
              <a:rPr lang="en-US" sz="1250" dirty="0">
                <a:solidFill>
                  <a:srgbClr val="2B2B2B"/>
                </a:solidFill>
                <a:latin typeface="Calibri" pitchFamily="34" charset="0"/>
                <a:ea typeface="Calibri" pitchFamily="34" charset="-122"/>
                <a:cs typeface="Calibri" pitchFamily="34" charset="-120"/>
              </a:rPr>
              <a:t>An array must be sized 15 to hold index 14 — for only 4 real nodes. 11 slots wasted.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Array representation: three formulas, no pointers</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04</a:t>
            </a:r>
            <a:endParaRPr lang="en-US" sz="900" dirty="0"/>
          </a:p>
        </p:txBody>
      </p:sp>
      <p:sp>
        <p:nvSpPr>
          <p:cNvPr id="6" name="Shape 4"/>
          <p:cNvSpPr/>
          <p:nvPr/>
        </p:nvSpPr>
        <p:spPr>
          <a:xfrm>
            <a:off x="7452360" y="182880"/>
            <a:ext cx="1234440" cy="274320"/>
          </a:xfrm>
          <a:prstGeom prst="roundRect">
            <a:avLst>
              <a:gd name="adj" fmla="val 50000"/>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7452360" y="18288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sp>
        <p:nvSpPr>
          <p:cNvPr id="8" name="Shape 6"/>
          <p:cNvSpPr/>
          <p:nvPr/>
        </p:nvSpPr>
        <p:spPr>
          <a:xfrm>
            <a:off x="1298448" y="1252728"/>
            <a:ext cx="512064" cy="512064"/>
          </a:xfrm>
          <a:prstGeom prst="ellipse">
            <a:avLst/>
          </a:prstGeom>
          <a:solidFill>
            <a:srgbClr val="D4A017"/>
          </a:solidFill>
          <a:ln w="15875">
            <a:solidFill>
              <a:srgbClr val="1E2761"/>
            </a:solidFill>
            <a:prstDash val="solid"/>
          </a:ln>
        </p:spPr>
        <p:txBody>
          <a:bodyPr/>
          <a:lstStyle/>
          <a:p>
            <a:endParaRPr lang="en-US"/>
          </a:p>
        </p:txBody>
      </p:sp>
      <p:sp>
        <p:nvSpPr>
          <p:cNvPr id="9" name="Text 7"/>
          <p:cNvSpPr/>
          <p:nvPr/>
        </p:nvSpPr>
        <p:spPr>
          <a:xfrm>
            <a:off x="1298448" y="125272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0" name="Shape 8"/>
          <p:cNvSpPr/>
          <p:nvPr/>
        </p:nvSpPr>
        <p:spPr>
          <a:xfrm>
            <a:off x="768096" y="1911096"/>
            <a:ext cx="475488" cy="475488"/>
          </a:xfrm>
          <a:prstGeom prst="ellipse">
            <a:avLst/>
          </a:prstGeom>
          <a:solidFill>
            <a:srgbClr val="028090"/>
          </a:solidFill>
          <a:ln w="15875">
            <a:solidFill>
              <a:srgbClr val="1E2761"/>
            </a:solidFill>
            <a:prstDash val="solid"/>
          </a:ln>
        </p:spPr>
        <p:txBody>
          <a:bodyPr/>
          <a:lstStyle/>
          <a:p>
            <a:endParaRPr lang="en-US"/>
          </a:p>
        </p:txBody>
      </p:sp>
      <p:sp>
        <p:nvSpPr>
          <p:cNvPr id="11" name="Text 9"/>
          <p:cNvSpPr/>
          <p:nvPr/>
        </p:nvSpPr>
        <p:spPr>
          <a:xfrm>
            <a:off x="768096" y="19110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2" name="Shape 10"/>
          <p:cNvSpPr/>
          <p:nvPr/>
        </p:nvSpPr>
        <p:spPr>
          <a:xfrm>
            <a:off x="1865376" y="1911096"/>
            <a:ext cx="475488" cy="475488"/>
          </a:xfrm>
          <a:prstGeom prst="ellipse">
            <a:avLst/>
          </a:prstGeom>
          <a:solidFill>
            <a:srgbClr val="028090"/>
          </a:solidFill>
          <a:ln w="15875">
            <a:solidFill>
              <a:srgbClr val="1E2761"/>
            </a:solidFill>
            <a:prstDash val="solid"/>
          </a:ln>
        </p:spPr>
        <p:txBody>
          <a:bodyPr/>
          <a:lstStyle/>
          <a:p>
            <a:endParaRPr lang="en-US"/>
          </a:p>
        </p:txBody>
      </p:sp>
      <p:sp>
        <p:nvSpPr>
          <p:cNvPr id="13" name="Text 11"/>
          <p:cNvSpPr/>
          <p:nvPr/>
        </p:nvSpPr>
        <p:spPr>
          <a:xfrm>
            <a:off x="1865376" y="19110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4" name="Shape 12"/>
          <p:cNvSpPr/>
          <p:nvPr/>
        </p:nvSpPr>
        <p:spPr>
          <a:xfrm>
            <a:off x="42062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15" name="Text 13"/>
          <p:cNvSpPr/>
          <p:nvPr/>
        </p:nvSpPr>
        <p:spPr>
          <a:xfrm>
            <a:off x="42062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6" name="Shape 14"/>
          <p:cNvSpPr/>
          <p:nvPr/>
        </p:nvSpPr>
        <p:spPr>
          <a:xfrm>
            <a:off x="110642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17" name="Text 15"/>
          <p:cNvSpPr/>
          <p:nvPr/>
        </p:nvSpPr>
        <p:spPr>
          <a:xfrm>
            <a:off x="110642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18" name="Shape 16"/>
          <p:cNvSpPr/>
          <p:nvPr/>
        </p:nvSpPr>
        <p:spPr>
          <a:xfrm>
            <a:off x="156362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19" name="Text 17"/>
          <p:cNvSpPr/>
          <p:nvPr/>
        </p:nvSpPr>
        <p:spPr>
          <a:xfrm>
            <a:off x="156362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20" name="Shape 18"/>
          <p:cNvSpPr/>
          <p:nvPr/>
        </p:nvSpPr>
        <p:spPr>
          <a:xfrm>
            <a:off x="220370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21" name="Text 19"/>
          <p:cNvSpPr/>
          <p:nvPr/>
        </p:nvSpPr>
        <p:spPr>
          <a:xfrm>
            <a:off x="220370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7</a:t>
            </a:r>
            <a:endParaRPr lang="en-US" sz="1300" dirty="0"/>
          </a:p>
        </p:txBody>
      </p:sp>
      <p:sp>
        <p:nvSpPr>
          <p:cNvPr id="22" name="Shape 20"/>
          <p:cNvSpPr/>
          <p:nvPr/>
        </p:nvSpPr>
        <p:spPr>
          <a:xfrm flipH="1">
            <a:off x="1005840" y="1508760"/>
            <a:ext cx="548640" cy="640080"/>
          </a:xfrm>
          <a:prstGeom prst="line">
            <a:avLst/>
          </a:prstGeom>
          <a:noFill/>
          <a:ln w="19050">
            <a:solidFill>
              <a:srgbClr val="B9C2D0"/>
            </a:solidFill>
            <a:prstDash val="solid"/>
          </a:ln>
        </p:spPr>
        <p:txBody>
          <a:bodyPr/>
          <a:lstStyle/>
          <a:p>
            <a:endParaRPr lang="en-US"/>
          </a:p>
        </p:txBody>
      </p:sp>
      <p:sp>
        <p:nvSpPr>
          <p:cNvPr id="23" name="Shape 21"/>
          <p:cNvSpPr/>
          <p:nvPr/>
        </p:nvSpPr>
        <p:spPr>
          <a:xfrm>
            <a:off x="1554480" y="1508760"/>
            <a:ext cx="548640" cy="640080"/>
          </a:xfrm>
          <a:prstGeom prst="line">
            <a:avLst/>
          </a:prstGeom>
          <a:noFill/>
          <a:ln w="19050">
            <a:solidFill>
              <a:srgbClr val="B9C2D0"/>
            </a:solidFill>
            <a:prstDash val="solid"/>
          </a:ln>
        </p:spPr>
        <p:txBody>
          <a:bodyPr/>
          <a:lstStyle/>
          <a:p>
            <a:endParaRPr lang="en-US"/>
          </a:p>
        </p:txBody>
      </p:sp>
      <p:sp>
        <p:nvSpPr>
          <p:cNvPr id="24" name="Shape 22"/>
          <p:cNvSpPr/>
          <p:nvPr/>
        </p:nvSpPr>
        <p:spPr>
          <a:xfrm flipH="1">
            <a:off x="640080" y="2148840"/>
            <a:ext cx="365760" cy="640080"/>
          </a:xfrm>
          <a:prstGeom prst="line">
            <a:avLst/>
          </a:prstGeom>
          <a:noFill/>
          <a:ln w="19050">
            <a:solidFill>
              <a:srgbClr val="B9C2D0"/>
            </a:solidFill>
            <a:prstDash val="solid"/>
          </a:ln>
        </p:spPr>
        <p:txBody>
          <a:bodyPr/>
          <a:lstStyle/>
          <a:p>
            <a:endParaRPr lang="en-US"/>
          </a:p>
        </p:txBody>
      </p:sp>
      <p:sp>
        <p:nvSpPr>
          <p:cNvPr id="25" name="Shape 23"/>
          <p:cNvSpPr/>
          <p:nvPr/>
        </p:nvSpPr>
        <p:spPr>
          <a:xfrm>
            <a:off x="1005840" y="2148840"/>
            <a:ext cx="320040" cy="640080"/>
          </a:xfrm>
          <a:prstGeom prst="line">
            <a:avLst/>
          </a:prstGeom>
          <a:noFill/>
          <a:ln w="19050">
            <a:solidFill>
              <a:srgbClr val="B9C2D0"/>
            </a:solidFill>
            <a:prstDash val="solid"/>
          </a:ln>
        </p:spPr>
        <p:txBody>
          <a:bodyPr/>
          <a:lstStyle/>
          <a:p>
            <a:endParaRPr lang="en-US"/>
          </a:p>
        </p:txBody>
      </p:sp>
      <p:sp>
        <p:nvSpPr>
          <p:cNvPr id="26" name="Shape 24"/>
          <p:cNvSpPr/>
          <p:nvPr/>
        </p:nvSpPr>
        <p:spPr>
          <a:xfrm flipH="1">
            <a:off x="1783080" y="2148840"/>
            <a:ext cx="320040" cy="640080"/>
          </a:xfrm>
          <a:prstGeom prst="line">
            <a:avLst/>
          </a:prstGeom>
          <a:noFill/>
          <a:ln w="19050">
            <a:solidFill>
              <a:srgbClr val="B9C2D0"/>
            </a:solidFill>
            <a:prstDash val="solid"/>
          </a:ln>
        </p:spPr>
        <p:txBody>
          <a:bodyPr/>
          <a:lstStyle/>
          <a:p>
            <a:endParaRPr lang="en-US"/>
          </a:p>
        </p:txBody>
      </p:sp>
      <p:sp>
        <p:nvSpPr>
          <p:cNvPr id="27" name="Shape 25"/>
          <p:cNvSpPr/>
          <p:nvPr/>
        </p:nvSpPr>
        <p:spPr>
          <a:xfrm>
            <a:off x="2103120" y="2148840"/>
            <a:ext cx="320040" cy="640080"/>
          </a:xfrm>
          <a:prstGeom prst="line">
            <a:avLst/>
          </a:prstGeom>
          <a:noFill/>
          <a:ln w="19050">
            <a:solidFill>
              <a:srgbClr val="B9C2D0"/>
            </a:solidFill>
            <a:prstDash val="solid"/>
          </a:ln>
        </p:spPr>
        <p:txBody>
          <a:bodyPr/>
          <a:lstStyle/>
          <a:p>
            <a:endParaRPr lang="en-US"/>
          </a:p>
        </p:txBody>
      </p:sp>
      <p:sp>
        <p:nvSpPr>
          <p:cNvPr id="28" name="Shape 26"/>
          <p:cNvSpPr/>
          <p:nvPr/>
        </p:nvSpPr>
        <p:spPr>
          <a:xfrm>
            <a:off x="1298448" y="1252728"/>
            <a:ext cx="512064" cy="512064"/>
          </a:xfrm>
          <a:prstGeom prst="ellipse">
            <a:avLst/>
          </a:prstGeom>
          <a:solidFill>
            <a:srgbClr val="D4A017"/>
          </a:solidFill>
          <a:ln w="15875">
            <a:solidFill>
              <a:srgbClr val="1E2761"/>
            </a:solidFill>
            <a:prstDash val="solid"/>
          </a:ln>
        </p:spPr>
        <p:txBody>
          <a:bodyPr/>
          <a:lstStyle/>
          <a:p>
            <a:endParaRPr lang="en-US"/>
          </a:p>
        </p:txBody>
      </p:sp>
      <p:sp>
        <p:nvSpPr>
          <p:cNvPr id="29" name="Text 27"/>
          <p:cNvSpPr/>
          <p:nvPr/>
        </p:nvSpPr>
        <p:spPr>
          <a:xfrm>
            <a:off x="1298448" y="125272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30" name="Shape 28"/>
          <p:cNvSpPr/>
          <p:nvPr/>
        </p:nvSpPr>
        <p:spPr>
          <a:xfrm>
            <a:off x="768096" y="1911096"/>
            <a:ext cx="475488" cy="475488"/>
          </a:xfrm>
          <a:prstGeom prst="ellipse">
            <a:avLst/>
          </a:prstGeom>
          <a:solidFill>
            <a:srgbClr val="028090"/>
          </a:solidFill>
          <a:ln w="15875">
            <a:solidFill>
              <a:srgbClr val="1E2761"/>
            </a:solidFill>
            <a:prstDash val="solid"/>
          </a:ln>
        </p:spPr>
        <p:txBody>
          <a:bodyPr/>
          <a:lstStyle/>
          <a:p>
            <a:endParaRPr lang="en-US"/>
          </a:p>
        </p:txBody>
      </p:sp>
      <p:sp>
        <p:nvSpPr>
          <p:cNvPr id="31" name="Text 29"/>
          <p:cNvSpPr/>
          <p:nvPr/>
        </p:nvSpPr>
        <p:spPr>
          <a:xfrm>
            <a:off x="768096" y="19110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32" name="Shape 30"/>
          <p:cNvSpPr/>
          <p:nvPr/>
        </p:nvSpPr>
        <p:spPr>
          <a:xfrm>
            <a:off x="1865376" y="1911096"/>
            <a:ext cx="475488" cy="475488"/>
          </a:xfrm>
          <a:prstGeom prst="ellipse">
            <a:avLst/>
          </a:prstGeom>
          <a:solidFill>
            <a:srgbClr val="028090"/>
          </a:solidFill>
          <a:ln w="15875">
            <a:solidFill>
              <a:srgbClr val="1E2761"/>
            </a:solidFill>
            <a:prstDash val="solid"/>
          </a:ln>
        </p:spPr>
        <p:txBody>
          <a:bodyPr/>
          <a:lstStyle/>
          <a:p>
            <a:endParaRPr lang="en-US"/>
          </a:p>
        </p:txBody>
      </p:sp>
      <p:sp>
        <p:nvSpPr>
          <p:cNvPr id="33" name="Text 31"/>
          <p:cNvSpPr/>
          <p:nvPr/>
        </p:nvSpPr>
        <p:spPr>
          <a:xfrm>
            <a:off x="1865376" y="191109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34" name="Shape 32"/>
          <p:cNvSpPr/>
          <p:nvPr/>
        </p:nvSpPr>
        <p:spPr>
          <a:xfrm>
            <a:off x="42062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35" name="Text 33"/>
          <p:cNvSpPr/>
          <p:nvPr/>
        </p:nvSpPr>
        <p:spPr>
          <a:xfrm>
            <a:off x="42062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36" name="Shape 34"/>
          <p:cNvSpPr/>
          <p:nvPr/>
        </p:nvSpPr>
        <p:spPr>
          <a:xfrm>
            <a:off x="110642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37" name="Text 35"/>
          <p:cNvSpPr/>
          <p:nvPr/>
        </p:nvSpPr>
        <p:spPr>
          <a:xfrm>
            <a:off x="110642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38" name="Shape 36"/>
          <p:cNvSpPr/>
          <p:nvPr/>
        </p:nvSpPr>
        <p:spPr>
          <a:xfrm>
            <a:off x="156362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39" name="Text 37"/>
          <p:cNvSpPr/>
          <p:nvPr/>
        </p:nvSpPr>
        <p:spPr>
          <a:xfrm>
            <a:off x="156362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40" name="Shape 38"/>
          <p:cNvSpPr/>
          <p:nvPr/>
        </p:nvSpPr>
        <p:spPr>
          <a:xfrm>
            <a:off x="2203704" y="2569464"/>
            <a:ext cx="438912" cy="438912"/>
          </a:xfrm>
          <a:prstGeom prst="ellipse">
            <a:avLst/>
          </a:prstGeom>
          <a:solidFill>
            <a:srgbClr val="028090"/>
          </a:solidFill>
          <a:ln w="15875">
            <a:solidFill>
              <a:srgbClr val="1E2761"/>
            </a:solidFill>
            <a:prstDash val="solid"/>
          </a:ln>
        </p:spPr>
        <p:txBody>
          <a:bodyPr/>
          <a:lstStyle/>
          <a:p>
            <a:endParaRPr lang="en-US"/>
          </a:p>
        </p:txBody>
      </p:sp>
      <p:sp>
        <p:nvSpPr>
          <p:cNvPr id="41" name="Text 39"/>
          <p:cNvSpPr/>
          <p:nvPr/>
        </p:nvSpPr>
        <p:spPr>
          <a:xfrm>
            <a:off x="2203704" y="25694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7</a:t>
            </a:r>
            <a:endParaRPr lang="en-US" sz="1300" dirty="0"/>
          </a:p>
        </p:txBody>
      </p:sp>
      <p:sp>
        <p:nvSpPr>
          <p:cNvPr id="42" name="Shape 40"/>
          <p:cNvSpPr/>
          <p:nvPr/>
        </p:nvSpPr>
        <p:spPr>
          <a:xfrm>
            <a:off x="365760" y="3246120"/>
            <a:ext cx="402336" cy="365760"/>
          </a:xfrm>
          <a:prstGeom prst="rect">
            <a:avLst/>
          </a:prstGeom>
          <a:solidFill>
            <a:srgbClr val="D4A017"/>
          </a:solidFill>
          <a:ln w="12700">
            <a:solidFill>
              <a:srgbClr val="1E2761"/>
            </a:solidFill>
            <a:prstDash val="solid"/>
          </a:ln>
        </p:spPr>
        <p:txBody>
          <a:bodyPr/>
          <a:lstStyle/>
          <a:p>
            <a:endParaRPr lang="en-US"/>
          </a:p>
        </p:txBody>
      </p:sp>
      <p:sp>
        <p:nvSpPr>
          <p:cNvPr id="43" name="Text 41"/>
          <p:cNvSpPr/>
          <p:nvPr/>
        </p:nvSpPr>
        <p:spPr>
          <a:xfrm>
            <a:off x="365760"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1</a:t>
            </a:r>
            <a:endParaRPr lang="en-US" sz="1000" dirty="0"/>
          </a:p>
        </p:txBody>
      </p:sp>
      <p:sp>
        <p:nvSpPr>
          <p:cNvPr id="44" name="Shape 42"/>
          <p:cNvSpPr/>
          <p:nvPr/>
        </p:nvSpPr>
        <p:spPr>
          <a:xfrm>
            <a:off x="804672" y="3246120"/>
            <a:ext cx="402336" cy="365760"/>
          </a:xfrm>
          <a:prstGeom prst="rect">
            <a:avLst/>
          </a:prstGeom>
          <a:solidFill>
            <a:srgbClr val="028090"/>
          </a:solidFill>
          <a:ln w="12700">
            <a:solidFill>
              <a:srgbClr val="1E2761"/>
            </a:solidFill>
            <a:prstDash val="solid"/>
          </a:ln>
        </p:spPr>
        <p:txBody>
          <a:bodyPr/>
          <a:lstStyle/>
          <a:p>
            <a:endParaRPr lang="en-US"/>
          </a:p>
        </p:txBody>
      </p:sp>
      <p:sp>
        <p:nvSpPr>
          <p:cNvPr id="45" name="Text 43"/>
          <p:cNvSpPr/>
          <p:nvPr/>
        </p:nvSpPr>
        <p:spPr>
          <a:xfrm>
            <a:off x="804672"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2</a:t>
            </a:r>
            <a:endParaRPr lang="en-US" sz="1000" dirty="0"/>
          </a:p>
        </p:txBody>
      </p:sp>
      <p:sp>
        <p:nvSpPr>
          <p:cNvPr id="46" name="Shape 44"/>
          <p:cNvSpPr/>
          <p:nvPr/>
        </p:nvSpPr>
        <p:spPr>
          <a:xfrm>
            <a:off x="1243584" y="3246120"/>
            <a:ext cx="402336" cy="365760"/>
          </a:xfrm>
          <a:prstGeom prst="rect">
            <a:avLst/>
          </a:prstGeom>
          <a:solidFill>
            <a:srgbClr val="028090"/>
          </a:solidFill>
          <a:ln w="12700">
            <a:solidFill>
              <a:srgbClr val="1E2761"/>
            </a:solidFill>
            <a:prstDash val="solid"/>
          </a:ln>
        </p:spPr>
        <p:txBody>
          <a:bodyPr/>
          <a:lstStyle/>
          <a:p>
            <a:endParaRPr lang="en-US"/>
          </a:p>
        </p:txBody>
      </p:sp>
      <p:sp>
        <p:nvSpPr>
          <p:cNvPr id="47" name="Text 45"/>
          <p:cNvSpPr/>
          <p:nvPr/>
        </p:nvSpPr>
        <p:spPr>
          <a:xfrm>
            <a:off x="1243584"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3</a:t>
            </a:r>
            <a:endParaRPr lang="en-US" sz="1000" dirty="0"/>
          </a:p>
        </p:txBody>
      </p:sp>
      <p:sp>
        <p:nvSpPr>
          <p:cNvPr id="48" name="Shape 46"/>
          <p:cNvSpPr/>
          <p:nvPr/>
        </p:nvSpPr>
        <p:spPr>
          <a:xfrm>
            <a:off x="1682496" y="3246120"/>
            <a:ext cx="402336" cy="365760"/>
          </a:xfrm>
          <a:prstGeom prst="rect">
            <a:avLst/>
          </a:prstGeom>
          <a:solidFill>
            <a:srgbClr val="028090"/>
          </a:solidFill>
          <a:ln w="12700">
            <a:solidFill>
              <a:srgbClr val="1E2761"/>
            </a:solidFill>
            <a:prstDash val="solid"/>
          </a:ln>
        </p:spPr>
        <p:txBody>
          <a:bodyPr/>
          <a:lstStyle/>
          <a:p>
            <a:endParaRPr lang="en-US"/>
          </a:p>
        </p:txBody>
      </p:sp>
      <p:sp>
        <p:nvSpPr>
          <p:cNvPr id="49" name="Text 47"/>
          <p:cNvSpPr/>
          <p:nvPr/>
        </p:nvSpPr>
        <p:spPr>
          <a:xfrm>
            <a:off x="1682496"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4</a:t>
            </a:r>
            <a:endParaRPr lang="en-US" sz="1000" dirty="0"/>
          </a:p>
        </p:txBody>
      </p:sp>
      <p:sp>
        <p:nvSpPr>
          <p:cNvPr id="50" name="Shape 48"/>
          <p:cNvSpPr/>
          <p:nvPr/>
        </p:nvSpPr>
        <p:spPr>
          <a:xfrm>
            <a:off x="2121408" y="3246120"/>
            <a:ext cx="402336" cy="365760"/>
          </a:xfrm>
          <a:prstGeom prst="rect">
            <a:avLst/>
          </a:prstGeom>
          <a:solidFill>
            <a:srgbClr val="028090"/>
          </a:solidFill>
          <a:ln w="12700">
            <a:solidFill>
              <a:srgbClr val="1E2761"/>
            </a:solidFill>
            <a:prstDash val="solid"/>
          </a:ln>
        </p:spPr>
        <p:txBody>
          <a:bodyPr/>
          <a:lstStyle/>
          <a:p>
            <a:endParaRPr lang="en-US"/>
          </a:p>
        </p:txBody>
      </p:sp>
      <p:sp>
        <p:nvSpPr>
          <p:cNvPr id="51" name="Text 49"/>
          <p:cNvSpPr/>
          <p:nvPr/>
        </p:nvSpPr>
        <p:spPr>
          <a:xfrm>
            <a:off x="2121408"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5</a:t>
            </a:r>
            <a:endParaRPr lang="en-US" sz="1000" dirty="0"/>
          </a:p>
        </p:txBody>
      </p:sp>
      <p:sp>
        <p:nvSpPr>
          <p:cNvPr id="52" name="Shape 50"/>
          <p:cNvSpPr/>
          <p:nvPr/>
        </p:nvSpPr>
        <p:spPr>
          <a:xfrm>
            <a:off x="2560320" y="3246120"/>
            <a:ext cx="402336" cy="365760"/>
          </a:xfrm>
          <a:prstGeom prst="rect">
            <a:avLst/>
          </a:prstGeom>
          <a:solidFill>
            <a:srgbClr val="028090"/>
          </a:solidFill>
          <a:ln w="12700">
            <a:solidFill>
              <a:srgbClr val="1E2761"/>
            </a:solidFill>
            <a:prstDash val="solid"/>
          </a:ln>
        </p:spPr>
        <p:txBody>
          <a:bodyPr/>
          <a:lstStyle/>
          <a:p>
            <a:endParaRPr lang="en-US"/>
          </a:p>
        </p:txBody>
      </p:sp>
      <p:sp>
        <p:nvSpPr>
          <p:cNvPr id="53" name="Text 51"/>
          <p:cNvSpPr/>
          <p:nvPr/>
        </p:nvSpPr>
        <p:spPr>
          <a:xfrm>
            <a:off x="2560320"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6</a:t>
            </a:r>
            <a:endParaRPr lang="en-US" sz="1000" dirty="0"/>
          </a:p>
        </p:txBody>
      </p:sp>
      <p:sp>
        <p:nvSpPr>
          <p:cNvPr id="54" name="Shape 52"/>
          <p:cNvSpPr/>
          <p:nvPr/>
        </p:nvSpPr>
        <p:spPr>
          <a:xfrm>
            <a:off x="2999232" y="3246120"/>
            <a:ext cx="402336" cy="365760"/>
          </a:xfrm>
          <a:prstGeom prst="rect">
            <a:avLst/>
          </a:prstGeom>
          <a:solidFill>
            <a:srgbClr val="028090"/>
          </a:solidFill>
          <a:ln w="12700">
            <a:solidFill>
              <a:srgbClr val="1E2761"/>
            </a:solidFill>
            <a:prstDash val="solid"/>
          </a:ln>
        </p:spPr>
        <p:txBody>
          <a:bodyPr/>
          <a:lstStyle/>
          <a:p>
            <a:endParaRPr lang="en-US"/>
          </a:p>
        </p:txBody>
      </p:sp>
      <p:sp>
        <p:nvSpPr>
          <p:cNvPr id="55" name="Text 53"/>
          <p:cNvSpPr/>
          <p:nvPr/>
        </p:nvSpPr>
        <p:spPr>
          <a:xfrm>
            <a:off x="2999232" y="3246120"/>
            <a:ext cx="402336"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7</a:t>
            </a:r>
            <a:endParaRPr lang="en-US" sz="1000" dirty="0"/>
          </a:p>
        </p:txBody>
      </p:sp>
      <p:sp>
        <p:nvSpPr>
          <p:cNvPr id="56" name="Text 54"/>
          <p:cNvSpPr/>
          <p:nvPr/>
        </p:nvSpPr>
        <p:spPr>
          <a:xfrm>
            <a:off x="365760" y="3657600"/>
            <a:ext cx="3108960" cy="274320"/>
          </a:xfrm>
          <a:prstGeom prst="rect">
            <a:avLst/>
          </a:prstGeom>
          <a:noFill/>
          <a:ln/>
        </p:spPr>
        <p:txBody>
          <a:bodyPr wrap="square" lIns="0" tIns="0" rIns="0" bIns="0" rtlCol="0" anchor="ctr"/>
          <a:lstStyle/>
          <a:p>
            <a:pPr marL="0" indent="0">
              <a:buNone/>
            </a:pPr>
            <a:r>
              <a:rPr lang="en-US" sz="900" dirty="0">
                <a:solidFill>
                  <a:srgbClr val="6B7280"/>
                </a:solidFill>
                <a:latin typeface="Courier New" pitchFamily="34" charset="0"/>
                <a:ea typeface="Courier New" pitchFamily="34" charset="-122"/>
                <a:cs typeface="Courier New" pitchFamily="34" charset="-120"/>
              </a:rPr>
              <a:t>index: 0   1   2   3   4   5   6</a:t>
            </a:r>
            <a:endParaRPr lang="en-US" sz="900" dirty="0"/>
          </a:p>
        </p:txBody>
      </p:sp>
      <p:sp>
        <p:nvSpPr>
          <p:cNvPr id="57" name="Shape 55"/>
          <p:cNvSpPr/>
          <p:nvPr/>
        </p:nvSpPr>
        <p:spPr>
          <a:xfrm>
            <a:off x="4023360" y="1280160"/>
            <a:ext cx="4663440" cy="2377440"/>
          </a:xfrm>
          <a:prstGeom prst="roundRect">
            <a:avLst>
              <a:gd name="adj" fmla="val 2692"/>
            </a:avLst>
          </a:prstGeom>
          <a:solidFill>
            <a:srgbClr val="F0F7F7"/>
          </a:solidFill>
          <a:ln w="12700">
            <a:solidFill>
              <a:srgbClr val="028090"/>
            </a:solidFill>
            <a:prstDash val="solid"/>
          </a:ln>
        </p:spPr>
        <p:txBody>
          <a:bodyPr/>
          <a:lstStyle/>
          <a:p>
            <a:endParaRPr lang="en-US"/>
          </a:p>
        </p:txBody>
      </p:sp>
      <p:sp>
        <p:nvSpPr>
          <p:cNvPr id="58" name="Text 56"/>
          <p:cNvSpPr/>
          <p:nvPr/>
        </p:nvSpPr>
        <p:spPr>
          <a:xfrm>
            <a:off x="4187952" y="1353312"/>
            <a:ext cx="4334256" cy="2231136"/>
          </a:xfrm>
          <a:prstGeom prst="rect">
            <a:avLst/>
          </a:prstGeom>
          <a:noFill/>
          <a:ln/>
        </p:spPr>
        <p:txBody>
          <a:bodyPr wrap="square" lIns="0" tIns="0" rIns="0" bIns="0" rtlCol="0" anchor="ctr"/>
          <a:lstStyle/>
          <a:p>
            <a:pPr marL="0" indent="0">
              <a:buNone/>
            </a:pPr>
            <a:r>
              <a:rPr lang="en-US" sz="1250" b="1" dirty="0">
                <a:solidFill>
                  <a:srgbClr val="028090"/>
                </a:solidFill>
                <a:latin typeface="Calibri" pitchFamily="34" charset="0"/>
                <a:ea typeface="Calibri" pitchFamily="34" charset="-122"/>
                <a:cs typeface="Calibri" pitchFamily="34" charset="-120"/>
              </a:rPr>
              <a:t>For node at index i
</a:t>
            </a:r>
            <a:r>
              <a:rPr lang="en-US" sz="1350" dirty="0">
                <a:solidFill>
                  <a:srgbClr val="2B2B2B"/>
                </a:solidFill>
                <a:latin typeface="Courier New" pitchFamily="34" charset="0"/>
                <a:ea typeface="Courier New" pitchFamily="34" charset="-122"/>
                <a:cs typeface="Courier New" pitchFamily="34" charset="-120"/>
              </a:rPr>
              <a:t>left child   =  2i + 1
right child  =  2i + 2
parent       =  (i-1) / 2
</a:t>
            </a:r>
            <a:r>
              <a:rPr lang="en-US" sz="1050" i="1" dirty="0">
                <a:solidFill>
                  <a:srgbClr val="6B7280"/>
                </a:solidFill>
                <a:latin typeface="Calibri" pitchFamily="34" charset="0"/>
                <a:ea typeface="Calibri" pitchFamily="34" charset="-122"/>
                <a:cs typeface="Calibri" pitchFamily="34" charset="-120"/>
              </a:rPr>
              <a:t>(integer division for parent)
</a:t>
            </a:r>
            <a:r>
              <a:rPr lang="en-US" sz="1150" dirty="0">
                <a:solidFill>
                  <a:srgbClr val="2B2B2B"/>
                </a:solidFill>
                <a:latin typeface="Calibri" pitchFamily="34" charset="0"/>
                <a:ea typeface="Calibri" pitchFamily="34" charset="-122"/>
                <a:cs typeface="Calibri" pitchFamily="34" charset="-120"/>
              </a:rPr>
              <a:t>No next pointer anywhere — arithmetic replaces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Verified: every parent/child relationship, by formula</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05</a:t>
            </a:r>
            <a:endParaRPr lang="en-US" sz="900" dirty="0"/>
          </a:p>
        </p:txBody>
      </p:sp>
      <p:sp>
        <p:nvSpPr>
          <p:cNvPr id="6" name="Shape 4"/>
          <p:cNvSpPr/>
          <p:nvPr/>
        </p:nvSpPr>
        <p:spPr>
          <a:xfrm>
            <a:off x="7452360" y="182880"/>
            <a:ext cx="1234440" cy="274320"/>
          </a:xfrm>
          <a:prstGeom prst="roundRect">
            <a:avLst>
              <a:gd name="adj" fmla="val 50000"/>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7452360" y="18288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 A</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595360" cy="228600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index</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parent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left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right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none (root)</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1 (2)</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2 (3)</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0 (1)</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3 (4)</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4 (5)</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0 (1)</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5 (6)</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6 (7)</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1 (2)</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none</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100" dirty="0">
                          <a:solidFill>
                            <a:srgbClr val="2B2B2B"/>
                          </a:solidFill>
                          <a:latin typeface="Courier New" pitchFamily="34" charset="0"/>
                          <a:ea typeface="Courier New" pitchFamily="34" charset="-122"/>
                          <a:cs typeface="Courier New" pitchFamily="34" charset="-120"/>
                        </a:rPr>
                        <a:t>none</a:t>
                      </a:r>
                      <a:endParaRPr lang="en-US" sz="1100" dirty="0">
                        <a:latin typeface="Courier New" charset="0"/>
                        <a:ea typeface="Courier New" charset="0"/>
                        <a:cs typeface="Courier New"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p:nvPr/>
        </p:nvSpPr>
        <p:spPr>
          <a:xfrm>
            <a:off x="457200" y="3599409"/>
            <a:ext cx="822960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(values in parentheses show what is STORED at that index — the formula gives the index, tree[index] gives the value)</a:t>
            </a:r>
            <a:endParaRPr lang="en-US" sz="1100" dirty="0"/>
          </a:p>
        </p:txBody>
      </p:sp>
      <p:sp>
        <p:nvSpPr>
          <p:cNvPr id="10" name="Shape 7"/>
          <p:cNvSpPr/>
          <p:nvPr/>
        </p:nvSpPr>
        <p:spPr>
          <a:xfrm>
            <a:off x="457200" y="4056610"/>
            <a:ext cx="8229600" cy="515389"/>
          </a:xfrm>
          <a:prstGeom prst="roundRect">
            <a:avLst>
              <a:gd name="adj" fmla="val 7778"/>
            </a:avLst>
          </a:prstGeom>
          <a:solidFill>
            <a:srgbClr val="FBF5E6"/>
          </a:solidFill>
          <a:ln w="12700">
            <a:solidFill>
              <a:srgbClr val="D4A017"/>
            </a:solidFill>
            <a:prstDash val="solid"/>
          </a:ln>
        </p:spPr>
        <p:txBody>
          <a:bodyPr/>
          <a:lstStyle/>
          <a:p>
            <a:endParaRPr lang="en-US"/>
          </a:p>
        </p:txBody>
      </p:sp>
      <p:sp>
        <p:nvSpPr>
          <p:cNvPr id="11" name="Text 8"/>
          <p:cNvSpPr/>
          <p:nvPr/>
        </p:nvSpPr>
        <p:spPr>
          <a:xfrm>
            <a:off x="621792" y="4123112"/>
            <a:ext cx="7900416" cy="375735"/>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This is the program's real output, compiled and run — every row computed by parentIndex/leftIndex/rightIndex, never hand-filled.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Linked representation: two pointers per node</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06</a:t>
            </a:r>
            <a:endParaRPr lang="en-US" sz="900" dirty="0"/>
          </a:p>
        </p:txBody>
      </p:sp>
      <p:sp>
        <p:nvSpPr>
          <p:cNvPr id="6" name="Shape 4"/>
          <p:cNvSpPr/>
          <p:nvPr/>
        </p:nvSpPr>
        <p:spPr>
          <a:xfrm>
            <a:off x="7452360" y="182880"/>
            <a:ext cx="1234440" cy="274320"/>
          </a:xfrm>
          <a:prstGeom prst="roundRect">
            <a:avLst>
              <a:gd name="adj" fmla="val 50000"/>
            </a:avLst>
          </a:prstGeom>
          <a:solidFill>
            <a:srgbClr val="D4A017"/>
          </a:solidFill>
          <a:ln w="12700">
            <a:solidFill>
              <a:srgbClr val="D4A017"/>
            </a:solidFill>
            <a:prstDash val="solid"/>
          </a:ln>
        </p:spPr>
        <p:txBody>
          <a:bodyPr/>
          <a:lstStyle/>
          <a:p>
            <a:endParaRPr lang="en-US"/>
          </a:p>
        </p:txBody>
      </p:sp>
      <p:sp>
        <p:nvSpPr>
          <p:cNvPr id="7" name="Text 5"/>
          <p:cNvSpPr/>
          <p:nvPr/>
        </p:nvSpPr>
        <p:spPr>
          <a:xfrm>
            <a:off x="7452360" y="18288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 B</a:t>
            </a:r>
            <a:endParaRPr lang="en-US" sz="950" dirty="0"/>
          </a:p>
        </p:txBody>
      </p:sp>
      <p:sp>
        <p:nvSpPr>
          <p:cNvPr id="8" name="Shape 6"/>
          <p:cNvSpPr/>
          <p:nvPr/>
        </p:nvSpPr>
        <p:spPr>
          <a:xfrm>
            <a:off x="457200" y="1188720"/>
            <a:ext cx="4023360" cy="1645920"/>
          </a:xfrm>
          <a:prstGeom prst="roundRect">
            <a:avLst>
              <a:gd name="adj" fmla="val 3889"/>
            </a:avLst>
          </a:prstGeom>
          <a:solidFill>
            <a:srgbClr val="16213E"/>
          </a:solidFill>
          <a:ln w="12700">
            <a:solidFill>
              <a:srgbClr val="16213E"/>
            </a:solidFill>
            <a:prstDash val="solid"/>
          </a:ln>
        </p:spPr>
        <p:txBody>
          <a:bodyPr/>
          <a:lstStyle/>
          <a:p>
            <a:endParaRPr lang="en-US"/>
          </a:p>
        </p:txBody>
      </p:sp>
      <p:sp>
        <p:nvSpPr>
          <p:cNvPr id="9" name="Text 7"/>
          <p:cNvSpPr/>
          <p:nvPr/>
        </p:nvSpPr>
        <p:spPr>
          <a:xfrm>
            <a:off x="594360" y="1280160"/>
            <a:ext cx="3749040" cy="1463040"/>
          </a:xfrm>
          <a:prstGeom prst="rect">
            <a:avLst/>
          </a:prstGeom>
          <a:noFill/>
          <a:ln/>
        </p:spPr>
        <p:txBody>
          <a:bodyPr wrap="square" lIns="0" tIns="0" rIns="0" bIns="0" rtlCol="0" anchor="t"/>
          <a:lstStyle/>
          <a:p>
            <a:pPr marL="0" indent="0">
              <a:lnSpc>
                <a:spcPct val="100000"/>
              </a:lnSpc>
              <a:buNone/>
            </a:pPr>
            <a:r>
              <a:rPr lang="en-US" sz="1400" dirty="0">
                <a:solidFill>
                  <a:srgbClr val="E8F1F2"/>
                </a:solidFill>
                <a:latin typeface="Courier New" pitchFamily="34" charset="0"/>
                <a:ea typeface="Courier New" pitchFamily="34" charset="-122"/>
                <a:cs typeface="Courier New" pitchFamily="34" charset="-120"/>
              </a:rPr>
              <a:t>struct Node</a:t>
            </a:r>
            <a:endParaRPr lang="en-US" sz="1400" dirty="0"/>
          </a:p>
          <a:p>
            <a:pPr marL="0" indent="0">
              <a:lnSpc>
                <a:spcPct val="100000"/>
              </a:lnSpc>
              <a:buNone/>
            </a:pPr>
            <a:r>
              <a:rPr lang="en-US" sz="1400" dirty="0">
                <a:solidFill>
                  <a:srgbClr val="E8F1F2"/>
                </a:solidFill>
                <a:latin typeface="Courier New" pitchFamily="34" charset="0"/>
                <a:ea typeface="Courier New" pitchFamily="34" charset="-122"/>
                <a:cs typeface="Courier New" pitchFamily="34" charset="-120"/>
              </a:rPr>
              <a:t>{</a:t>
            </a:r>
            <a:endParaRPr lang="en-US" sz="1400" dirty="0"/>
          </a:p>
          <a:p>
            <a:pPr marL="0" indent="0">
              <a:lnSpc>
                <a:spcPct val="100000"/>
              </a:lnSpc>
              <a:buNone/>
            </a:pPr>
            <a:r>
              <a:rPr lang="en-US" sz="1400" dirty="0">
                <a:solidFill>
                  <a:srgbClr val="E8F1F2"/>
                </a:solidFill>
                <a:latin typeface="Courier New" pitchFamily="34" charset="0"/>
                <a:ea typeface="Courier New" pitchFamily="34" charset="-122"/>
                <a:cs typeface="Courier New" pitchFamily="34" charset="-120"/>
              </a:rPr>
              <a:t>    int data;</a:t>
            </a:r>
            <a:endParaRPr lang="en-US" sz="1400" dirty="0"/>
          </a:p>
          <a:p>
            <a:pPr marL="0" indent="0">
              <a:lnSpc>
                <a:spcPct val="100000"/>
              </a:lnSpc>
              <a:buNone/>
            </a:pPr>
            <a:r>
              <a:rPr lang="en-US" sz="1400" dirty="0">
                <a:solidFill>
                  <a:srgbClr val="E8F1F2"/>
                </a:solidFill>
                <a:latin typeface="Courier New" pitchFamily="34" charset="0"/>
                <a:ea typeface="Courier New" pitchFamily="34" charset="-122"/>
                <a:cs typeface="Courier New" pitchFamily="34" charset="-120"/>
              </a:rPr>
              <a:t>    struct Node *left;</a:t>
            </a:r>
            <a:endParaRPr lang="en-US" sz="1400" dirty="0"/>
          </a:p>
          <a:p>
            <a:pPr marL="0" indent="0">
              <a:lnSpc>
                <a:spcPct val="100000"/>
              </a:lnSpc>
              <a:buNone/>
            </a:pPr>
            <a:r>
              <a:rPr lang="en-US" sz="1400" dirty="0">
                <a:solidFill>
                  <a:srgbClr val="E8F1F2"/>
                </a:solidFill>
                <a:latin typeface="Courier New" pitchFamily="34" charset="0"/>
                <a:ea typeface="Courier New" pitchFamily="34" charset="-122"/>
                <a:cs typeface="Courier New" pitchFamily="34" charset="-120"/>
              </a:rPr>
              <a:t>    struct Node *right;</a:t>
            </a:r>
            <a:endParaRPr lang="en-US" sz="1400" dirty="0"/>
          </a:p>
          <a:p>
            <a:pPr marL="0" indent="0">
              <a:lnSpc>
                <a:spcPct val="100000"/>
              </a:lnSpc>
              <a:buNone/>
            </a:pPr>
            <a:r>
              <a:rPr lang="en-US" sz="1400" dirty="0">
                <a:solidFill>
                  <a:srgbClr val="E8F1F2"/>
                </a:solidFill>
                <a:latin typeface="Courier New" pitchFamily="34" charset="0"/>
                <a:ea typeface="Courier New" pitchFamily="34" charset="-122"/>
                <a:cs typeface="Courier New" pitchFamily="34" charset="-120"/>
              </a:rPr>
              <a:t>};</a:t>
            </a:r>
            <a:endParaRPr lang="en-US" sz="1400" dirty="0"/>
          </a:p>
        </p:txBody>
      </p:sp>
      <p:sp>
        <p:nvSpPr>
          <p:cNvPr id="10" name="Text 8"/>
          <p:cNvSpPr/>
          <p:nvPr/>
        </p:nvSpPr>
        <p:spPr>
          <a:xfrm>
            <a:off x="4663440" y="1280160"/>
            <a:ext cx="4023360" cy="21945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Same struct shape as every earlier Node — but TWO pointer fields instead of one next.</a:t>
            </a:r>
            <a:endParaRPr lang="en-US" sz="1250" dirty="0"/>
          </a:p>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left and right point at child SUBTREES, or NULL if that side is empty.</a:t>
            </a:r>
            <a:endParaRPr lang="en-US" sz="1250" dirty="0"/>
          </a:p>
          <a:p>
            <a:pPr marL="342900" indent="-342900">
              <a:spcAft>
                <a:spcPts val="800"/>
              </a:spcAft>
              <a:buSzPct val="100000"/>
              <a:buChar char="•"/>
            </a:pPr>
            <a:r>
              <a:rPr lang="en-US" sz="1250" dirty="0">
                <a:solidFill>
                  <a:srgbClr val="2B2B2B"/>
                </a:solidFill>
                <a:latin typeface="Calibri" pitchFamily="34" charset="0"/>
                <a:ea typeface="Calibri" pitchFamily="34" charset="-122"/>
                <a:cs typeface="Calibri" pitchFamily="34" charset="-120"/>
              </a:rPr>
              <a:t>No index arithmetic at all — the shape is whatever the pointers say it is, complete or not.</a:t>
            </a:r>
            <a:endParaRPr lang="en-US" sz="1250" dirty="0"/>
          </a:p>
        </p:txBody>
      </p:sp>
      <p:sp>
        <p:nvSpPr>
          <p:cNvPr id="11" name="Shape 9"/>
          <p:cNvSpPr/>
          <p:nvPr/>
        </p:nvSpPr>
        <p:spPr>
          <a:xfrm>
            <a:off x="1207008" y="3035808"/>
            <a:ext cx="512064" cy="512064"/>
          </a:xfrm>
          <a:prstGeom prst="ellipse">
            <a:avLst/>
          </a:prstGeom>
          <a:solidFill>
            <a:srgbClr val="D4A017"/>
          </a:solidFill>
          <a:ln w="15875">
            <a:solidFill>
              <a:srgbClr val="1E2761"/>
            </a:solidFill>
            <a:prstDash val="solid"/>
          </a:ln>
        </p:spPr>
        <p:txBody>
          <a:bodyPr/>
          <a:lstStyle/>
          <a:p>
            <a:endParaRPr lang="en-US"/>
          </a:p>
        </p:txBody>
      </p:sp>
      <p:sp>
        <p:nvSpPr>
          <p:cNvPr id="12" name="Text 10"/>
          <p:cNvSpPr/>
          <p:nvPr/>
        </p:nvSpPr>
        <p:spPr>
          <a:xfrm>
            <a:off x="1207008" y="303580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3" name="Shape 11"/>
          <p:cNvSpPr/>
          <p:nvPr/>
        </p:nvSpPr>
        <p:spPr>
          <a:xfrm>
            <a:off x="676656" y="3694176"/>
            <a:ext cx="475488" cy="475488"/>
          </a:xfrm>
          <a:prstGeom prst="ellipse">
            <a:avLst/>
          </a:prstGeom>
          <a:solidFill>
            <a:srgbClr val="028090"/>
          </a:solidFill>
          <a:ln w="15875">
            <a:solidFill>
              <a:srgbClr val="1E2761"/>
            </a:solidFill>
            <a:prstDash val="solid"/>
          </a:ln>
        </p:spPr>
        <p:txBody>
          <a:bodyPr/>
          <a:lstStyle/>
          <a:p>
            <a:endParaRPr lang="en-US"/>
          </a:p>
        </p:txBody>
      </p:sp>
      <p:sp>
        <p:nvSpPr>
          <p:cNvPr id="14" name="Text 12"/>
          <p:cNvSpPr/>
          <p:nvPr/>
        </p:nvSpPr>
        <p:spPr>
          <a:xfrm>
            <a:off x="676656" y="36941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5" name="Shape 13"/>
          <p:cNvSpPr/>
          <p:nvPr/>
        </p:nvSpPr>
        <p:spPr>
          <a:xfrm>
            <a:off x="1773936" y="3694176"/>
            <a:ext cx="475488" cy="475488"/>
          </a:xfrm>
          <a:prstGeom prst="ellipse">
            <a:avLst/>
          </a:prstGeom>
          <a:solidFill>
            <a:srgbClr val="028090"/>
          </a:solidFill>
          <a:ln w="15875">
            <a:solidFill>
              <a:srgbClr val="1E2761"/>
            </a:solidFill>
            <a:prstDash val="solid"/>
          </a:ln>
        </p:spPr>
        <p:txBody>
          <a:bodyPr/>
          <a:lstStyle/>
          <a:p>
            <a:endParaRPr lang="en-US"/>
          </a:p>
        </p:txBody>
      </p:sp>
      <p:sp>
        <p:nvSpPr>
          <p:cNvPr id="16" name="Text 14"/>
          <p:cNvSpPr/>
          <p:nvPr/>
        </p:nvSpPr>
        <p:spPr>
          <a:xfrm>
            <a:off x="1773936" y="36941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7" name="Shape 15"/>
          <p:cNvSpPr/>
          <p:nvPr/>
        </p:nvSpPr>
        <p:spPr>
          <a:xfrm flipH="1">
            <a:off x="914400" y="3291840"/>
            <a:ext cx="548640" cy="640080"/>
          </a:xfrm>
          <a:prstGeom prst="line">
            <a:avLst/>
          </a:prstGeom>
          <a:noFill/>
          <a:ln w="19050">
            <a:solidFill>
              <a:srgbClr val="B9C2D0"/>
            </a:solidFill>
            <a:prstDash val="solid"/>
          </a:ln>
        </p:spPr>
        <p:txBody>
          <a:bodyPr/>
          <a:lstStyle/>
          <a:p>
            <a:endParaRPr lang="en-US"/>
          </a:p>
        </p:txBody>
      </p:sp>
      <p:sp>
        <p:nvSpPr>
          <p:cNvPr id="18" name="Shape 16"/>
          <p:cNvSpPr/>
          <p:nvPr/>
        </p:nvSpPr>
        <p:spPr>
          <a:xfrm>
            <a:off x="1463040" y="3291840"/>
            <a:ext cx="548640" cy="640080"/>
          </a:xfrm>
          <a:prstGeom prst="line">
            <a:avLst/>
          </a:prstGeom>
          <a:noFill/>
          <a:ln w="19050">
            <a:solidFill>
              <a:srgbClr val="B9C2D0"/>
            </a:solidFill>
            <a:prstDash val="solid"/>
          </a:ln>
        </p:spPr>
        <p:txBody>
          <a:bodyPr/>
          <a:lstStyle/>
          <a:p>
            <a:endParaRPr lang="en-US"/>
          </a:p>
        </p:txBody>
      </p:sp>
      <p:sp>
        <p:nvSpPr>
          <p:cNvPr id="19" name="Shape 17"/>
          <p:cNvSpPr/>
          <p:nvPr/>
        </p:nvSpPr>
        <p:spPr>
          <a:xfrm>
            <a:off x="1207008" y="3035808"/>
            <a:ext cx="512064" cy="512064"/>
          </a:xfrm>
          <a:prstGeom prst="ellipse">
            <a:avLst/>
          </a:prstGeom>
          <a:solidFill>
            <a:srgbClr val="D4A017"/>
          </a:solidFill>
          <a:ln w="15875">
            <a:solidFill>
              <a:srgbClr val="1E2761"/>
            </a:solidFill>
            <a:prstDash val="solid"/>
          </a:ln>
        </p:spPr>
        <p:txBody>
          <a:bodyPr/>
          <a:lstStyle/>
          <a:p>
            <a:endParaRPr lang="en-US"/>
          </a:p>
        </p:txBody>
      </p:sp>
      <p:sp>
        <p:nvSpPr>
          <p:cNvPr id="20" name="Text 18"/>
          <p:cNvSpPr/>
          <p:nvPr/>
        </p:nvSpPr>
        <p:spPr>
          <a:xfrm>
            <a:off x="1207008" y="3035808"/>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21" name="Shape 19"/>
          <p:cNvSpPr/>
          <p:nvPr/>
        </p:nvSpPr>
        <p:spPr>
          <a:xfrm>
            <a:off x="676656" y="3694176"/>
            <a:ext cx="475488" cy="475488"/>
          </a:xfrm>
          <a:prstGeom prst="ellipse">
            <a:avLst/>
          </a:prstGeom>
          <a:solidFill>
            <a:srgbClr val="028090"/>
          </a:solidFill>
          <a:ln w="15875">
            <a:solidFill>
              <a:srgbClr val="1E2761"/>
            </a:solidFill>
            <a:prstDash val="solid"/>
          </a:ln>
        </p:spPr>
        <p:txBody>
          <a:bodyPr/>
          <a:lstStyle/>
          <a:p>
            <a:endParaRPr lang="en-US"/>
          </a:p>
        </p:txBody>
      </p:sp>
      <p:sp>
        <p:nvSpPr>
          <p:cNvPr id="22" name="Text 20"/>
          <p:cNvSpPr/>
          <p:nvPr/>
        </p:nvSpPr>
        <p:spPr>
          <a:xfrm>
            <a:off x="676656" y="36941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23" name="Shape 21"/>
          <p:cNvSpPr/>
          <p:nvPr/>
        </p:nvSpPr>
        <p:spPr>
          <a:xfrm>
            <a:off x="1773936" y="3694176"/>
            <a:ext cx="475488" cy="475488"/>
          </a:xfrm>
          <a:prstGeom prst="ellipse">
            <a:avLst/>
          </a:prstGeom>
          <a:solidFill>
            <a:srgbClr val="028090"/>
          </a:solidFill>
          <a:ln w="15875">
            <a:solidFill>
              <a:srgbClr val="1E2761"/>
            </a:solidFill>
            <a:prstDash val="solid"/>
          </a:ln>
        </p:spPr>
        <p:txBody>
          <a:bodyPr/>
          <a:lstStyle/>
          <a:p>
            <a:endParaRPr lang="en-US"/>
          </a:p>
        </p:txBody>
      </p:sp>
      <p:sp>
        <p:nvSpPr>
          <p:cNvPr id="24" name="Text 22"/>
          <p:cNvSpPr/>
          <p:nvPr/>
        </p:nvSpPr>
        <p:spPr>
          <a:xfrm>
            <a:off x="1773936" y="36941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5" name="Text 23"/>
          <p:cNvSpPr/>
          <p:nvPr/>
        </p:nvSpPr>
        <p:spPr>
          <a:xfrm>
            <a:off x="2560320" y="3520440"/>
            <a:ext cx="2743200" cy="548640"/>
          </a:xfrm>
          <a:prstGeom prst="rect">
            <a:avLst/>
          </a:prstGeom>
          <a:noFill/>
          <a:ln/>
        </p:spPr>
        <p:txBody>
          <a:bodyPr wrap="square" lIns="0" tIns="0" rIns="0" bIns="0" rtlCol="0" anchor="ctr"/>
          <a:lstStyle/>
          <a:p>
            <a:pPr marL="0" indent="0">
              <a:buNone/>
            </a:pPr>
            <a:r>
              <a:rPr lang="en-US" sz="1100" dirty="0">
                <a:solidFill>
                  <a:srgbClr val="6B7280"/>
                </a:solidFill>
                <a:latin typeface="Courier New" pitchFamily="34" charset="0"/>
                <a:ea typeface="Courier New" pitchFamily="34" charset="-122"/>
                <a:cs typeface="Courier New" pitchFamily="34" charset="-120"/>
              </a:rPr>
              <a:t>root-&gt;left == node(2)</a:t>
            </a:r>
            <a:endParaRPr lang="en-US" sz="1100" dirty="0"/>
          </a:p>
          <a:p>
            <a:pPr marL="0" indent="0">
              <a:buNone/>
            </a:pPr>
            <a:r>
              <a:rPr lang="en-US" sz="1100" dirty="0">
                <a:solidFill>
                  <a:srgbClr val="6B7280"/>
                </a:solidFill>
                <a:latin typeface="Courier New" pitchFamily="34" charset="0"/>
                <a:ea typeface="Courier New" pitchFamily="34" charset="-122"/>
                <a:cs typeface="Courier New" pitchFamily="34" charset="-120"/>
              </a:rPr>
              <a:t>root-&gt;right == node(3)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Building the same 7-node tree, by hand</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07</a:t>
            </a:r>
            <a:endParaRPr lang="en-US" sz="900" dirty="0"/>
          </a:p>
        </p:txBody>
      </p:sp>
      <p:sp>
        <p:nvSpPr>
          <p:cNvPr id="6" name="Shape 4"/>
          <p:cNvSpPr/>
          <p:nvPr/>
        </p:nvSpPr>
        <p:spPr>
          <a:xfrm>
            <a:off x="7452360" y="182880"/>
            <a:ext cx="1234440" cy="274320"/>
          </a:xfrm>
          <a:prstGeom prst="roundRect">
            <a:avLst>
              <a:gd name="adj" fmla="val 50000"/>
            </a:avLst>
          </a:prstGeom>
          <a:solidFill>
            <a:srgbClr val="D4A017"/>
          </a:solidFill>
          <a:ln w="12700">
            <a:solidFill>
              <a:srgbClr val="D4A017"/>
            </a:solidFill>
            <a:prstDash val="solid"/>
          </a:ln>
        </p:spPr>
        <p:txBody>
          <a:bodyPr/>
          <a:lstStyle/>
          <a:p>
            <a:endParaRPr lang="en-US"/>
          </a:p>
        </p:txBody>
      </p:sp>
      <p:sp>
        <p:nvSpPr>
          <p:cNvPr id="7" name="Text 5"/>
          <p:cNvSpPr/>
          <p:nvPr/>
        </p:nvSpPr>
        <p:spPr>
          <a:xfrm>
            <a:off x="7452360" y="18288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PART B</a:t>
            </a:r>
            <a:endParaRPr lang="en-US" sz="950" dirty="0"/>
          </a:p>
        </p:txBody>
      </p:sp>
      <p:sp>
        <p:nvSpPr>
          <p:cNvPr id="8" name="Shape 6"/>
          <p:cNvSpPr/>
          <p:nvPr/>
        </p:nvSpPr>
        <p:spPr>
          <a:xfrm>
            <a:off x="457200" y="1143000"/>
            <a:ext cx="5120640" cy="3657600"/>
          </a:xfrm>
          <a:prstGeom prst="roundRect">
            <a:avLst>
              <a:gd name="adj" fmla="val 1750"/>
            </a:avLst>
          </a:prstGeom>
          <a:solidFill>
            <a:srgbClr val="16213E"/>
          </a:solidFill>
          <a:ln w="12700">
            <a:solidFill>
              <a:srgbClr val="16213E"/>
            </a:solidFill>
            <a:prstDash val="solid"/>
          </a:ln>
        </p:spPr>
        <p:txBody>
          <a:bodyPr/>
          <a:lstStyle/>
          <a:p>
            <a:endParaRPr lang="en-US"/>
          </a:p>
        </p:txBody>
      </p:sp>
      <p:sp>
        <p:nvSpPr>
          <p:cNvPr id="9" name="Text 7"/>
          <p:cNvSpPr/>
          <p:nvPr/>
        </p:nvSpPr>
        <p:spPr>
          <a:xfrm>
            <a:off x="594360" y="1234440"/>
            <a:ext cx="4846320" cy="3474720"/>
          </a:xfrm>
          <a:prstGeom prst="rect">
            <a:avLst/>
          </a:prstGeom>
          <a:noFill/>
          <a:ln/>
        </p:spPr>
        <p:txBody>
          <a:bodyPr wrap="square" lIns="0" tIns="0" rIns="0" bIns="0" rtlCol="0" anchor="t"/>
          <a:lstStyle/>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struct Node *newNode(int value)</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    struct Node *n = malloc(sizeof(*n));</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    if (n == NULL) exit(1);</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    n-&gt;data = value;</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    n-&gt;left = NULL;</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    n-&gt;right = NULL;</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    return n;</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a:t>
            </a:r>
            <a:endParaRPr lang="en-US" sz="1050" dirty="0"/>
          </a:p>
          <a:p>
            <a:pPr marL="0" indent="0">
              <a:lnSpc>
                <a:spcPct val="100000"/>
              </a:lnSpc>
              <a:buNone/>
            </a:pP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struct Node *root = newNode(1);</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root-&gt;left  = newNode(2);</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root-&gt;right = newNode(3);</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root-&gt;left-&gt;left   = newNode(4);</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root-&gt;left-&gt;right  = newNode(5);</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root-&gt;right-&gt;left  = newNode(6);</a:t>
            </a:r>
            <a:endParaRPr lang="en-US" sz="1050" dirty="0"/>
          </a:p>
          <a:p>
            <a:pPr marL="0" indent="0">
              <a:lnSpc>
                <a:spcPct val="100000"/>
              </a:lnSpc>
              <a:buNone/>
            </a:pPr>
            <a:r>
              <a:rPr lang="en-US" sz="1050" dirty="0">
                <a:solidFill>
                  <a:srgbClr val="E8F1F2"/>
                </a:solidFill>
                <a:latin typeface="Courier New" pitchFamily="34" charset="0"/>
                <a:ea typeface="Courier New" pitchFamily="34" charset="-122"/>
                <a:cs typeface="Courier New" pitchFamily="34" charset="-120"/>
              </a:rPr>
              <a:t>root-&gt;right-&gt;right = newNode(7);</a:t>
            </a:r>
            <a:endParaRPr lang="en-US" sz="1050" dirty="0"/>
          </a:p>
        </p:txBody>
      </p:sp>
      <p:sp>
        <p:nvSpPr>
          <p:cNvPr id="10" name="Text 8"/>
          <p:cNvSpPr/>
          <p:nvPr/>
        </p:nvSpPr>
        <p:spPr>
          <a:xfrm>
            <a:off x="5715000" y="1371600"/>
            <a:ext cx="2971800" cy="33832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B2B2B"/>
                </a:solidFill>
                <a:latin typeface="Calibri" pitchFamily="34" charset="0"/>
                <a:ea typeface="Calibri" pitchFamily="34" charset="-122"/>
                <a:cs typeface="Calibri" pitchFamily="34" charset="-120"/>
              </a:rPr>
              <a:t>newNode mirrors every earlier Node constructor — malloc, fill, NULL out the pointers.</a:t>
            </a:r>
            <a:endParaRPr lang="en-US" sz="1100" dirty="0"/>
          </a:p>
          <a:p>
            <a:pPr marL="342900" indent="-342900">
              <a:spcAft>
                <a:spcPts val="800"/>
              </a:spcAft>
              <a:buSzPct val="100000"/>
              <a:buChar char="•"/>
            </a:pPr>
            <a:r>
              <a:rPr lang="en-US" sz="1100" dirty="0">
                <a:solidFill>
                  <a:srgbClr val="2B2B2B"/>
                </a:solidFill>
                <a:latin typeface="Calibri" pitchFamily="34" charset="0"/>
                <a:ea typeface="Calibri" pitchFamily="34" charset="-122"/>
                <a:cs typeface="Calibri" pitchFamily="34" charset="-120"/>
              </a:rPr>
              <a:t>"root-&gt;left-&gt;left" reads exactly like walking down the tree: root, then its left child, then THAT node's left child.</a:t>
            </a:r>
            <a:endParaRPr lang="en-US" sz="1100" dirty="0"/>
          </a:p>
          <a:p>
            <a:pPr marL="342900" indent="-342900">
              <a:spcAft>
                <a:spcPts val="800"/>
              </a:spcAft>
              <a:buSzPct val="100000"/>
              <a:buChar char="•"/>
            </a:pPr>
            <a:r>
              <a:rPr lang="en-US" sz="1100" dirty="0">
                <a:solidFill>
                  <a:srgbClr val="2B2B2B"/>
                </a:solidFill>
                <a:latin typeface="Calibri" pitchFamily="34" charset="0"/>
                <a:ea typeface="Calibri" pitchFamily="34" charset="-122"/>
                <a:cs typeface="Calibri" pitchFamily="34" charset="-120"/>
              </a:rPr>
              <a:t>No formula needed — the chain of arrows in the code IS the chain of arrows in the diagram.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01168"/>
            <a:ext cx="5943600" cy="237744"/>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LECTURE 22</a:t>
            </a:r>
            <a:endParaRPr lang="en-US" sz="1100" dirty="0"/>
          </a:p>
        </p:txBody>
      </p:sp>
      <p:sp>
        <p:nvSpPr>
          <p:cNvPr id="3" name="Text 1"/>
          <p:cNvSpPr/>
          <p:nvPr/>
        </p:nvSpPr>
        <p:spPr>
          <a:xfrm>
            <a:off x="457200" y="438912"/>
            <a:ext cx="8229600" cy="566928"/>
          </a:xfrm>
          <a:prstGeom prst="rect">
            <a:avLst/>
          </a:prstGeom>
          <a:noFill/>
          <a:ln/>
        </p:spPr>
        <p:txBody>
          <a:bodyPr wrap="square" lIns="0" tIns="0" rIns="0" bIns="0" rtlCol="0" anchor="ctr"/>
          <a:lstStyle/>
          <a:p>
            <a:pPr marL="0" indent="0">
              <a:buNone/>
            </a:pPr>
            <a:r>
              <a:rPr lang="en-US" sz="2300" b="1" dirty="0">
                <a:solidFill>
                  <a:srgbClr val="1E2761"/>
                </a:solidFill>
                <a:latin typeface="Cambria" pitchFamily="34" charset="0"/>
                <a:ea typeface="Cambria" pitchFamily="34" charset="-122"/>
                <a:cs typeface="Cambria" pitchFamily="34" charset="-120"/>
              </a:rPr>
              <a:t>Array vs Linked — the trade-off, one more time</a:t>
            </a:r>
            <a:endParaRPr lang="en-US" sz="2300" dirty="0"/>
          </a:p>
        </p:txBody>
      </p:sp>
      <p:sp>
        <p:nvSpPr>
          <p:cNvPr id="4" name="Text 2"/>
          <p:cNvSpPr/>
          <p:nvPr/>
        </p:nvSpPr>
        <p:spPr>
          <a:xfrm>
            <a:off x="457200" y="4846320"/>
            <a:ext cx="27432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TCS302  •  UNIT III</a:t>
            </a:r>
            <a:endParaRPr lang="en-US" sz="900" dirty="0"/>
          </a:p>
        </p:txBody>
      </p:sp>
      <p:sp>
        <p:nvSpPr>
          <p:cNvPr id="5" name="Text 3"/>
          <p:cNvSpPr/>
          <p:nvPr/>
        </p:nvSpPr>
        <p:spPr>
          <a:xfrm>
            <a:off x="8321040" y="4846320"/>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08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182112"/>
        </p:xfrm>
        <a:graphic>
          <a:graphicData uri="http://schemas.openxmlformats.org/drawingml/2006/table">
            <a:tbl>
              <a:tblPr/>
              <a:tblGrid>
                <a:gridCol w="19202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53035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Array Representation</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Linked Representation</a:t>
                      </a:r>
                      <a:endParaRPr lang="en-US" sz="11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0352">
                <a:tc>
                  <a:txBody>
                    <a:bodyPr/>
                    <a:lstStyle/>
                    <a:p>
                      <a:pPr marL="0" indent="0" algn="l">
                        <a:buNone/>
                      </a:pPr>
                      <a:r>
                        <a:rPr lang="en-US" sz="1050" b="1" dirty="0">
                          <a:solidFill>
                            <a:srgbClr val="028090"/>
                          </a:solidFill>
                          <a:latin typeface="Calibri" pitchFamily="34" charset="0"/>
                          <a:ea typeface="Calibri" pitchFamily="34" charset="-122"/>
                          <a:cs typeface="Calibri" pitchFamily="34" charset="-120"/>
                        </a:rPr>
                        <a:t>Navigation</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Index formulas (2i+1, 2i+2)</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Pointers (left, right)</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lgn="l">
                        <a:buNone/>
                      </a:pPr>
                      <a:r>
                        <a:rPr lang="en-US" sz="1050" b="1" dirty="0">
                          <a:solidFill>
                            <a:srgbClr val="028090"/>
                          </a:solidFill>
                          <a:latin typeface="Calibri" pitchFamily="34" charset="0"/>
                          <a:ea typeface="Calibri" pitchFamily="34" charset="-122"/>
                          <a:cs typeface="Calibri" pitchFamily="34" charset="-120"/>
                        </a:rPr>
                        <a:t>Best suited to</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COMPLETE trees</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Any shape, including skewed</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lgn="l">
                        <a:buNone/>
                      </a:pPr>
                      <a:r>
                        <a:rPr lang="en-US" sz="1050" b="1" dirty="0">
                          <a:solidFill>
                            <a:srgbClr val="028090"/>
                          </a:solidFill>
                          <a:latin typeface="Calibri" pitchFamily="34" charset="0"/>
                          <a:ea typeface="Calibri" pitchFamily="34" charset="-122"/>
                          <a:cs typeface="Calibri" pitchFamily="34" charset="-120"/>
                        </a:rPr>
                        <a:t>Wasted memory</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Can be large for skewed trees</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None — exactly as many nodes as exist</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lgn="l">
                        <a:buNone/>
                      </a:pPr>
                      <a:r>
                        <a:rPr lang="en-US" sz="1050" b="1" dirty="0">
                          <a:solidFill>
                            <a:srgbClr val="028090"/>
                          </a:solidFill>
                          <a:latin typeface="Calibri" pitchFamily="34" charset="0"/>
                          <a:ea typeface="Calibri" pitchFamily="34" charset="-122"/>
                          <a:cs typeface="Calibri" pitchFamily="34" charset="-120"/>
                        </a:rPr>
                        <a:t>Insert a new node</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Next free index, O(1) if known</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malloc + one pointer assignment</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lgn="l">
                        <a:buNone/>
                      </a:pPr>
                      <a:r>
                        <a:rPr lang="en-US" sz="1050" b="1" dirty="0">
                          <a:solidFill>
                            <a:srgbClr val="028090"/>
                          </a:solidFill>
                          <a:latin typeface="Calibri" pitchFamily="34" charset="0"/>
                          <a:ea typeface="Calibri" pitchFamily="34" charset="-122"/>
                          <a:cs typeface="Calibri" pitchFamily="34" charset="-120"/>
                        </a:rPr>
                        <a:t>Extra memory per node</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050" dirty="0">
                          <a:solidFill>
                            <a:srgbClr val="2B2B2B"/>
                          </a:solidFill>
                          <a:latin typeface="Calibri" pitchFamily="34" charset="0"/>
                          <a:ea typeface="Calibri" pitchFamily="34" charset="-122"/>
                          <a:cs typeface="Calibri" pitchFamily="34" charset="-120"/>
                        </a:rPr>
                        <a:t>Two pointers (left, right)</a:t>
                      </a:r>
                      <a:endParaRPr lang="en-US" sz="10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274320"/>
          </a:xfrm>
          <a:prstGeom prst="rect">
            <a:avLst/>
          </a:prstGeom>
          <a:noFill/>
          <a:ln/>
        </p:spPr>
        <p:txBody>
          <a:bodyPr wrap="square" lIns="0" tIns="0" rIns="0" bIns="0" rtlCol="0" anchor="ctr"/>
          <a:lstStyle/>
          <a:p>
            <a:pPr marL="0" indent="0">
              <a:buNone/>
            </a:pPr>
            <a:r>
              <a:rPr lang="en-US" sz="1100" b="1" kern="0" spc="200" dirty="0">
                <a:solidFill>
                  <a:srgbClr val="D4A017"/>
                </a:solidFill>
                <a:latin typeface="Calibri" pitchFamily="34" charset="0"/>
                <a:ea typeface="Calibri" pitchFamily="34" charset="-122"/>
                <a:cs typeface="Calibri" pitchFamily="34" charset="-120"/>
              </a:rPr>
              <a:t>LECTURE 22  •  SUMMARY</a:t>
            </a:r>
            <a:endParaRPr lang="en-US" sz="1100" dirty="0"/>
          </a:p>
        </p:txBody>
      </p:sp>
      <p:sp>
        <p:nvSpPr>
          <p:cNvPr id="3" name="Text 1"/>
          <p:cNvSpPr/>
          <p:nvPr/>
        </p:nvSpPr>
        <p:spPr>
          <a:xfrm>
            <a:off x="640080" y="713232"/>
            <a:ext cx="786384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Two ways to store the same shape</a:t>
            </a:r>
            <a:endParaRPr lang="en-US" sz="2600" dirty="0"/>
          </a:p>
        </p:txBody>
      </p:sp>
      <p:sp>
        <p:nvSpPr>
          <p:cNvPr id="4" name="Text 2"/>
          <p:cNvSpPr/>
          <p:nvPr/>
        </p:nvSpPr>
        <p:spPr>
          <a:xfrm>
            <a:off x="640080" y="1371600"/>
            <a:ext cx="7863840" cy="228600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Complete binary tree: every level full except possibly the last, which fills strictly left to right.</a:t>
            </a:r>
            <a:endParaRPr lang="en-US" sz="1350" dirty="0"/>
          </a:p>
          <a:p>
            <a:pPr marL="342900" indent="-3429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Array representation: for index i, left = 2i+1, right = 2i+2, parent = (i-1)/2 — no pointers, but efficient only for complete trees.</a:t>
            </a:r>
            <a:endParaRPr lang="en-US" sz="1350" dirty="0"/>
          </a:p>
          <a:p>
            <a:pPr marL="342900" indent="-3429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A skewed tree wastes massive array space (verified: 4 nodes needing a 15-slot array) — shape drives the cost.</a:t>
            </a:r>
            <a:endParaRPr lang="en-US" sz="1350" dirty="0"/>
          </a:p>
          <a:p>
            <a:pPr marL="342900" indent="-342900">
              <a:spcAft>
                <a:spcPts val="900"/>
              </a:spcAft>
              <a:buSzPct val="100000"/>
              <a:buChar char="•"/>
            </a:pPr>
            <a:r>
              <a:rPr lang="en-US" sz="1350" dirty="0">
                <a:solidFill>
                  <a:srgbClr val="CADCFC"/>
                </a:solidFill>
                <a:latin typeface="Calibri" pitchFamily="34" charset="0"/>
                <a:ea typeface="Calibri" pitchFamily="34" charset="-122"/>
                <a:cs typeface="Calibri" pitchFamily="34" charset="-120"/>
              </a:rPr>
              <a:t>Linked representation: struct Node { data; left; right; } — exactly as much memory as nodes exist, any shape, at the cost of two pointers per node.</a:t>
            </a:r>
            <a:endParaRPr lang="en-US" sz="1350" dirty="0"/>
          </a:p>
        </p:txBody>
      </p:sp>
      <p:sp>
        <p:nvSpPr>
          <p:cNvPr id="5" name="Shape 3"/>
          <p:cNvSpPr/>
          <p:nvPr/>
        </p:nvSpPr>
        <p:spPr>
          <a:xfrm>
            <a:off x="640080" y="3794760"/>
            <a:ext cx="7863840" cy="914400"/>
          </a:xfrm>
          <a:prstGeom prst="roundRect">
            <a:avLst>
              <a:gd name="adj" fmla="val 7000"/>
            </a:avLst>
          </a:prstGeom>
          <a:solidFill>
            <a:srgbClr val="2A3575"/>
          </a:solidFill>
          <a:ln w="12700">
            <a:solidFill>
              <a:srgbClr val="D4A017"/>
            </a:solidFill>
            <a:prstDash val="solid"/>
          </a:ln>
        </p:spPr>
        <p:txBody>
          <a:bodyPr/>
          <a:lstStyle/>
          <a:p>
            <a:endParaRPr lang="en-US"/>
          </a:p>
        </p:txBody>
      </p:sp>
      <p:sp>
        <p:nvSpPr>
          <p:cNvPr id="6" name="Text 4"/>
          <p:cNvSpPr/>
          <p:nvPr/>
        </p:nvSpPr>
        <p:spPr>
          <a:xfrm>
            <a:off x="868680" y="3886200"/>
            <a:ext cx="7406640" cy="731520"/>
          </a:xfrm>
          <a:prstGeom prst="rect">
            <a:avLst/>
          </a:prstGeom>
          <a:noFill/>
          <a:ln/>
        </p:spPr>
        <p:txBody>
          <a:bodyPr wrap="square" lIns="0" tIns="0" rIns="0" bIns="0" rtlCol="0" anchor="ctr"/>
          <a:lstStyle/>
          <a:p>
            <a:pPr marL="0" indent="0">
              <a:buNone/>
            </a:pPr>
            <a:r>
              <a:rPr lang="en-US" sz="1300" b="1" dirty="0">
                <a:solidFill>
                  <a:srgbClr val="D4A017"/>
                </a:solidFill>
                <a:latin typeface="Calibri" pitchFamily="34" charset="0"/>
                <a:ea typeface="Calibri" pitchFamily="34" charset="-122"/>
                <a:cs typeface="Calibri" pitchFamily="34" charset="-120"/>
              </a:rPr>
              <a:t>EXIT TICKET   </a:t>
            </a:r>
            <a:r>
              <a:rPr lang="en-US" sz="1300" dirty="0">
                <a:solidFill>
                  <a:srgbClr val="FFFFFF"/>
                </a:solidFill>
                <a:latin typeface="Calibri" pitchFamily="34" charset="0"/>
                <a:ea typeface="Calibri" pitchFamily="34" charset="-122"/>
                <a:cs typeface="Calibri" pitchFamily="34" charset="-120"/>
              </a:rPr>
              <a:t>A complete binary tree is stored as tree[0..10] (11 nodes). Using the formulas, find the parent, left child, and right child of index 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1395</Words>
  <Application>Microsoft Macintosh PowerPoint</Application>
  <PresentationFormat>On-screen Show (16:9)</PresentationFormat>
  <Paragraphs>191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SC22D012-Manoj Kaushik 2022-PHD-Earth&amp;SpaceScience</cp:lastModifiedBy>
  <cp:revision>4</cp:revision>
  <dcterms:created xsi:type="dcterms:W3CDTF">2026-09-01T06:18:15Z</dcterms:created>
  <dcterms:modified xsi:type="dcterms:W3CDTF">2026-09-03T06:06:32Z</dcterms:modified>
</cp:coreProperties>
</file>