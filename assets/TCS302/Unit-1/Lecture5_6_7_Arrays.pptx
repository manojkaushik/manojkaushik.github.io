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5928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-bar">
            <a:extLst>
              <a:ext uri="{FF2B5EF4-FFF2-40B4-BE49-F238E27FC236}">
                <a16:creationId xmlns:a16="http://schemas.microsoft.com/office/drawing/2014/main" id="{567DD6D8-2A22-4F2A-82A3-D7C72E0B00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course-label">
            <a:extLst>
              <a:ext uri="{FF2B5EF4-FFF2-40B4-BE49-F238E27FC236}">
                <a16:creationId xmlns:a16="http://schemas.microsoft.com/office/drawing/2014/main" id="{E129A50A-D5EC-42B2-A1FE-91BC0F270E72}"/>
              </a:ext>
            </a:extLst>
          </p:cNvPr>
          <p:cNvSpPr>
            <a:spLocks noGrp="1"/>
          </p:cNvSpPr>
          <p:nvPr/>
        </p:nvSpPr>
        <p:spPr>
          <a:xfrm>
            <a:off x="762000" y="685800"/>
            <a:ext cx="628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TCS302  •  DATA STRUCTURES WITH C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E276E413-9FBC-4EED-BFBB-B8F200996867}"/>
              </a:ext>
            </a:extLst>
          </p:cNvPr>
          <p:cNvSpPr>
            <a:spLocks noGrp="1"/>
          </p:cNvSpPr>
          <p:nvPr/>
        </p:nvSpPr>
        <p:spPr>
          <a:xfrm>
            <a:off x="762000" y="1600200"/>
            <a:ext cx="1028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57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Arrays in C</a:t>
            </a:r>
          </a:p>
        </p:txBody>
      </p:sp>
      <p:sp>
        <p:nvSpPr>
          <p:cNvPr id="4" name="deck-subtitle">
            <a:extLst>
              <a:ext uri="{FF2B5EF4-FFF2-40B4-BE49-F238E27FC236}">
                <a16:creationId xmlns:a16="http://schemas.microsoft.com/office/drawing/2014/main" id="{704E7182-CFBA-48A7-A188-37E492D2AF4D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36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Representation, Addressing &amp; Applications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C83F112B-B47B-4942-88C9-C5AF3A3C69D6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790575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lecture-range">
            <a:extLst>
              <a:ext uri="{FF2B5EF4-FFF2-40B4-BE49-F238E27FC236}">
                <a16:creationId xmlns:a16="http://schemas.microsoft.com/office/drawing/2014/main" id="{5AFBD5CB-4D08-4685-B947-2039F48E8295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40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Unit I  •  Combined Lectures 5, 6 and 7</a:t>
            </a:r>
          </a:p>
        </p:txBody>
      </p:sp>
      <p:sp>
        <p:nvSpPr>
          <p:cNvPr id="7" name="label-bg">
            <a:extLst>
              <a:ext uri="{FF2B5EF4-FFF2-40B4-BE49-F238E27FC236}">
                <a16:creationId xmlns:a16="http://schemas.microsoft.com/office/drawing/2014/main" id="{391A7755-7B6F-4517-8F84-A6780AB014FA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2781300" cy="32385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label-text">
            <a:extLst>
              <a:ext uri="{FF2B5EF4-FFF2-40B4-BE49-F238E27FC236}">
                <a16:creationId xmlns:a16="http://schemas.microsoft.com/office/drawing/2014/main" id="{B0DC0293-E602-4697-92A9-5F3A5A5E80FC}"/>
              </a:ext>
            </a:extLst>
          </p:cNvPr>
          <p:cNvSpPr>
            <a:spLocks noGrp="1"/>
          </p:cNvSpPr>
          <p:nvPr/>
        </p:nvSpPr>
        <p:spPr>
          <a:xfrm>
            <a:off x="876300" y="5086350"/>
            <a:ext cx="2590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5  •  1D ARRAYS</a:t>
            </a:r>
          </a:p>
        </p:txBody>
      </p:sp>
      <p:sp>
        <p:nvSpPr>
          <p:cNvPr id="9" name="label-bg">
            <a:extLst>
              <a:ext uri="{FF2B5EF4-FFF2-40B4-BE49-F238E27FC236}">
                <a16:creationId xmlns:a16="http://schemas.microsoft.com/office/drawing/2014/main" id="{03B7FDC3-26A6-44CE-8561-E3C6113D9A6E}"/>
              </a:ext>
            </a:extLst>
          </p:cNvPr>
          <p:cNvSpPr>
            <a:spLocks noGrp="1"/>
          </p:cNvSpPr>
          <p:nvPr/>
        </p:nvSpPr>
        <p:spPr>
          <a:xfrm>
            <a:off x="3714750" y="5067300"/>
            <a:ext cx="3028950" cy="323850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abel-text">
            <a:extLst>
              <a:ext uri="{FF2B5EF4-FFF2-40B4-BE49-F238E27FC236}">
                <a16:creationId xmlns:a16="http://schemas.microsoft.com/office/drawing/2014/main" id="{442F0A95-6C2C-46BB-834E-5C2E2B494CCE}"/>
              </a:ext>
            </a:extLst>
          </p:cNvPr>
          <p:cNvSpPr>
            <a:spLocks noGrp="1"/>
          </p:cNvSpPr>
          <p:nvPr/>
        </p:nvSpPr>
        <p:spPr>
          <a:xfrm>
            <a:off x="3810000" y="5086350"/>
            <a:ext cx="2838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LECTURE 6  •  ADDRESSING</a:t>
            </a:r>
          </a:p>
        </p:txBody>
      </p:sp>
      <p:sp>
        <p:nvSpPr>
          <p:cNvPr id="11" name="label-bg">
            <a:extLst>
              <a:ext uri="{FF2B5EF4-FFF2-40B4-BE49-F238E27FC236}">
                <a16:creationId xmlns:a16="http://schemas.microsoft.com/office/drawing/2014/main" id="{B39C92B0-23DA-45C8-B536-0705EEDBC741}"/>
              </a:ext>
            </a:extLst>
          </p:cNvPr>
          <p:cNvSpPr>
            <a:spLocks noGrp="1"/>
          </p:cNvSpPr>
          <p:nvPr/>
        </p:nvSpPr>
        <p:spPr>
          <a:xfrm>
            <a:off x="6896100" y="506730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FFF6E7"/>
          </a:solidFill>
          <a:ln w="0">
            <a:solidFill>
              <a:srgbClr val="FFF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abel-text">
            <a:extLst>
              <a:ext uri="{FF2B5EF4-FFF2-40B4-BE49-F238E27FC236}">
                <a16:creationId xmlns:a16="http://schemas.microsoft.com/office/drawing/2014/main" id="{6B429118-2694-45EF-9B0E-D3CFC0836673}"/>
              </a:ext>
            </a:extLst>
          </p:cNvPr>
          <p:cNvSpPr>
            <a:spLocks noGrp="1"/>
          </p:cNvSpPr>
          <p:nvPr/>
        </p:nvSpPr>
        <p:spPr>
          <a:xfrm>
            <a:off x="6991350" y="5086350"/>
            <a:ext cx="2952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LECTURE 7  • 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68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esson-label">
            <a:extLst>
              <a:ext uri="{FF2B5EF4-FFF2-40B4-BE49-F238E27FC236}">
                <a16:creationId xmlns:a16="http://schemas.microsoft.com/office/drawing/2014/main" id="{2608D4B0-2430-4A14-AE62-AE69599DF772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LECTURES 5–7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3FFEBFE-0C15-4F3E-AA49-D1324D965FAD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Three questions guide these lectures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76DDBE78-AB04-4F3D-8E0D-F4F2D01F7E2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24B03348-6717-42BE-950E-EC70561506D3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BDB5447B-9FB9-48AA-A7E7-12FD12633FA4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2E9BA40B-7137-4941-9465-B6D9E8FCABD9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B3BF34A8-FE52-4BC9-8645-4EA7B8EF2F3C}"/>
              </a:ext>
            </a:extLst>
          </p:cNvPr>
          <p:cNvSpPr>
            <a:spLocks noGrp="1"/>
          </p:cNvSpPr>
          <p:nvPr/>
        </p:nvSpPr>
        <p:spPr>
          <a:xfrm>
            <a:off x="1733550" y="2457450"/>
            <a:ext cx="6896100" cy="0"/>
          </a:xfrm>
          <a:prstGeom prst="line">
            <a:avLst/>
          </a:prstGeom>
          <a:noFill/>
          <a:ln w="38100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question-number">
            <a:extLst>
              <a:ext uri="{FF2B5EF4-FFF2-40B4-BE49-F238E27FC236}">
                <a16:creationId xmlns:a16="http://schemas.microsoft.com/office/drawing/2014/main" id="{54AEBE63-8746-4700-B6B3-82B4044A6A14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uestion-number-text">
            <a:extLst>
              <a:ext uri="{FF2B5EF4-FFF2-40B4-BE49-F238E27FC236}">
                <a16:creationId xmlns:a16="http://schemas.microsoft.com/office/drawing/2014/main" id="{1AA77820-B096-45DA-99BB-30ADE27E439A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952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33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question-number">
            <a:extLst>
              <a:ext uri="{FF2B5EF4-FFF2-40B4-BE49-F238E27FC236}">
                <a16:creationId xmlns:a16="http://schemas.microsoft.com/office/drawing/2014/main" id="{4FE70347-7C35-4B84-A752-D330A9688214}"/>
              </a:ext>
            </a:extLst>
          </p:cNvPr>
          <p:cNvSpPr>
            <a:spLocks noGrp="1"/>
          </p:cNvSpPr>
          <p:nvPr/>
        </p:nvSpPr>
        <p:spPr>
          <a:xfrm>
            <a:off x="4686300" y="2047875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1905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question-number-text">
            <a:extLst>
              <a:ext uri="{FF2B5EF4-FFF2-40B4-BE49-F238E27FC236}">
                <a16:creationId xmlns:a16="http://schemas.microsoft.com/office/drawing/2014/main" id="{EFF32D66-A249-41A4-92F8-FF9B907919D6}"/>
              </a:ext>
            </a:extLst>
          </p:cNvPr>
          <p:cNvSpPr>
            <a:spLocks noGrp="1"/>
          </p:cNvSpPr>
          <p:nvPr/>
        </p:nvSpPr>
        <p:spPr>
          <a:xfrm>
            <a:off x="4686300" y="2076450"/>
            <a:ext cx="952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33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question-number">
            <a:extLst>
              <a:ext uri="{FF2B5EF4-FFF2-40B4-BE49-F238E27FC236}">
                <a16:creationId xmlns:a16="http://schemas.microsoft.com/office/drawing/2014/main" id="{2B53A14B-D925-40DE-9882-E22F1BFD5810}"/>
              </a:ext>
            </a:extLst>
          </p:cNvPr>
          <p:cNvSpPr>
            <a:spLocks noGrp="1"/>
          </p:cNvSpPr>
          <p:nvPr/>
        </p:nvSpPr>
        <p:spPr>
          <a:xfrm>
            <a:off x="8134350" y="2047875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question-number-text">
            <a:extLst>
              <a:ext uri="{FF2B5EF4-FFF2-40B4-BE49-F238E27FC236}">
                <a16:creationId xmlns:a16="http://schemas.microsoft.com/office/drawing/2014/main" id="{74F94010-5607-4F58-A1A7-11986928E553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952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33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question-1">
            <a:extLst>
              <a:ext uri="{FF2B5EF4-FFF2-40B4-BE49-F238E27FC236}">
                <a16:creationId xmlns:a16="http://schemas.microsoft.com/office/drawing/2014/main" id="{F7FCA224-3635-4D91-A98A-FA37F06B2207}"/>
              </a:ext>
            </a:extLst>
          </p:cNvPr>
          <p:cNvSpPr>
            <a:spLocks noGrp="1"/>
          </p:cNvSpPr>
          <p:nvPr/>
        </p:nvSpPr>
        <p:spPr>
          <a:xfrm>
            <a:off x="819150" y="3219450"/>
            <a:ext cx="276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250" b="1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313F"/>
                </a:solidFill>
                <a:latin typeface="Aptos"/>
                <a:ea typeface="Aptos"/>
                <a:cs typeface="Aptos"/>
              </a:rPr>
              <a:t>How are array elements stored?</a:t>
            </a:r>
          </a:p>
        </p:txBody>
      </p:sp>
      <p:sp>
        <p:nvSpPr>
          <p:cNvPr id="15" name="question-2">
            <a:extLst>
              <a:ext uri="{FF2B5EF4-FFF2-40B4-BE49-F238E27FC236}">
                <a16:creationId xmlns:a16="http://schemas.microsoft.com/office/drawing/2014/main" id="{4756A145-905B-4647-9AC3-DB98F158F7B9}"/>
              </a:ext>
            </a:extLst>
          </p:cNvPr>
          <p:cNvSpPr>
            <a:spLocks noGrp="1"/>
          </p:cNvSpPr>
          <p:nvPr/>
        </p:nvSpPr>
        <p:spPr>
          <a:xfrm>
            <a:off x="4267200" y="3219450"/>
            <a:ext cx="276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250" b="1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313F"/>
                </a:solidFill>
                <a:latin typeface="Aptos"/>
                <a:ea typeface="Aptos"/>
                <a:cs typeface="Aptos"/>
              </a:rPr>
              <a:t>How is an element address calculated?</a:t>
            </a:r>
          </a:p>
        </p:txBody>
      </p:sp>
      <p:sp>
        <p:nvSpPr>
          <p:cNvPr id="16" name="question-3">
            <a:extLst>
              <a:ext uri="{FF2B5EF4-FFF2-40B4-BE49-F238E27FC236}">
                <a16:creationId xmlns:a16="http://schemas.microsoft.com/office/drawing/2014/main" id="{CFAE2AB0-591E-4477-ADCE-189515F7C90F}"/>
              </a:ext>
            </a:extLst>
          </p:cNvPr>
          <p:cNvSpPr>
            <a:spLocks noGrp="1"/>
          </p:cNvSpPr>
          <p:nvPr/>
        </p:nvSpPr>
        <p:spPr>
          <a:xfrm>
            <a:off x="7715250" y="321945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250" b="1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313F"/>
                </a:solidFill>
                <a:latin typeface="Aptos"/>
                <a:ea typeface="Aptos"/>
                <a:cs typeface="Aptos"/>
              </a:rPr>
              <a:t>When is an array the right representation?</a:t>
            </a:r>
          </a:p>
        </p:txBody>
      </p:sp>
      <p:sp>
        <p:nvSpPr>
          <p:cNvPr id="17" name="bullet">
            <a:extLst>
              <a:ext uri="{FF2B5EF4-FFF2-40B4-BE49-F238E27FC236}">
                <a16:creationId xmlns:a16="http://schemas.microsoft.com/office/drawing/2014/main" id="{1AA9DF69-C87B-4DC7-B220-DA3E7D01CFFB}"/>
              </a:ext>
            </a:extLst>
          </p:cNvPr>
          <p:cNvSpPr>
            <a:spLocks noGrp="1"/>
          </p:cNvSpPr>
          <p:nvPr/>
        </p:nvSpPr>
        <p:spPr>
          <a:xfrm>
            <a:off x="2000250" y="45148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ullet-text">
            <a:extLst>
              <a:ext uri="{FF2B5EF4-FFF2-40B4-BE49-F238E27FC236}">
                <a16:creationId xmlns:a16="http://schemas.microsoft.com/office/drawing/2014/main" id="{F9A37266-A1A9-4211-829C-6C770317EFFC}"/>
              </a:ext>
            </a:extLst>
          </p:cNvPr>
          <p:cNvSpPr>
            <a:spLocks noGrp="1"/>
          </p:cNvSpPr>
          <p:nvPr/>
        </p:nvSpPr>
        <p:spPr>
          <a:xfrm>
            <a:off x="2247900" y="4429125"/>
            <a:ext cx="794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Trace one- and two-dimensional arrays in memory.</a:t>
            </a:r>
          </a:p>
        </p:txBody>
      </p:sp>
      <p:sp>
        <p:nvSpPr>
          <p:cNvPr id="19" name="bullet">
            <a:extLst>
              <a:ext uri="{FF2B5EF4-FFF2-40B4-BE49-F238E27FC236}">
                <a16:creationId xmlns:a16="http://schemas.microsoft.com/office/drawing/2014/main" id="{1721EDD3-F30E-4078-86B3-8AC6BBB3B694}"/>
              </a:ext>
            </a:extLst>
          </p:cNvPr>
          <p:cNvSpPr>
            <a:spLocks noGrp="1"/>
          </p:cNvSpPr>
          <p:nvPr/>
        </p:nvSpPr>
        <p:spPr>
          <a:xfrm>
            <a:off x="2000250" y="4933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ullet-text">
            <a:extLst>
              <a:ext uri="{FF2B5EF4-FFF2-40B4-BE49-F238E27FC236}">
                <a16:creationId xmlns:a16="http://schemas.microsoft.com/office/drawing/2014/main" id="{F94D25E0-4592-43AA-A73A-A91B3C6B8F98}"/>
              </a:ext>
            </a:extLst>
          </p:cNvPr>
          <p:cNvSpPr>
            <a:spLocks noGrp="1"/>
          </p:cNvSpPr>
          <p:nvPr/>
        </p:nvSpPr>
        <p:spPr>
          <a:xfrm>
            <a:off x="2247900" y="4848225"/>
            <a:ext cx="794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Write C functions that receive arrays safely.</a:t>
            </a:r>
          </a:p>
        </p:txBody>
      </p:sp>
      <p:sp>
        <p:nvSpPr>
          <p:cNvPr id="21" name="bullet">
            <a:extLst>
              <a:ext uri="{FF2B5EF4-FFF2-40B4-BE49-F238E27FC236}">
                <a16:creationId xmlns:a16="http://schemas.microsoft.com/office/drawing/2014/main" id="{A0A03293-2B19-436E-A2CB-94673560AAD5}"/>
              </a:ext>
            </a:extLst>
          </p:cNvPr>
          <p:cNvSpPr>
            <a:spLocks noGrp="1"/>
          </p:cNvSpPr>
          <p:nvPr/>
        </p:nvSpPr>
        <p:spPr>
          <a:xfrm>
            <a:off x="2000250" y="5353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ullet-text">
            <a:extLst>
              <a:ext uri="{FF2B5EF4-FFF2-40B4-BE49-F238E27FC236}">
                <a16:creationId xmlns:a16="http://schemas.microsoft.com/office/drawing/2014/main" id="{2853B262-1BED-4736-A0D0-720BDF4D000F}"/>
              </a:ext>
            </a:extLst>
          </p:cNvPr>
          <p:cNvSpPr>
            <a:spLocks noGrp="1"/>
          </p:cNvSpPr>
          <p:nvPr/>
        </p:nvSpPr>
        <p:spPr>
          <a:xfrm>
            <a:off x="2247900" y="5267325"/>
            <a:ext cx="794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Select ordered or sparse representations for the problem.</a:t>
            </a:r>
          </a:p>
        </p:txBody>
      </p:sp>
    </p:spTree>
    <p:extLst>
      <p:ext uri="{BB962C8B-B14F-4D97-AF65-F5344CB8AC3E}">
        <p14:creationId xmlns:p14="http://schemas.microsoft.com/office/powerpoint/2010/main" val="76276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esson-label">
            <a:extLst>
              <a:ext uri="{FF2B5EF4-FFF2-40B4-BE49-F238E27FC236}">
                <a16:creationId xmlns:a16="http://schemas.microsoft.com/office/drawing/2014/main" id="{64097A72-4D3B-4327-A123-3DCB8E524E56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4B1B23E-869C-4E8D-BA61-DEFF6016EFA0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An array stores one type in contiguous memory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68230D1D-B63E-49F3-B550-81AB99C3388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B5AFA538-06EC-4F48-96A2-AD9AF460400B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C7E86E0A-95A3-4C06-99AA-E6B11FCB4C08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96701B73-FF72-4E24-9C6F-6570C5BB3DD2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definition">
            <a:extLst>
              <a:ext uri="{FF2B5EF4-FFF2-40B4-BE49-F238E27FC236}">
                <a16:creationId xmlns:a16="http://schemas.microsoft.com/office/drawing/2014/main" id="{7E1300FC-4533-4A7D-8714-CDE51AE61FB2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55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An array is a fixed-size, indexed sequence.</a:t>
            </a:r>
          </a:p>
        </p:txBody>
      </p:sp>
      <p:sp>
        <p:nvSpPr>
          <p:cNvPr id="8" name="bullet">
            <a:extLst>
              <a:ext uri="{FF2B5EF4-FFF2-40B4-BE49-F238E27FC236}">
                <a16:creationId xmlns:a16="http://schemas.microsoft.com/office/drawing/2014/main" id="{2E481A0B-95D2-4F3F-8B24-B5BFD61F4C74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ullet-text">
            <a:extLst>
              <a:ext uri="{FF2B5EF4-FFF2-40B4-BE49-F238E27FC236}">
                <a16:creationId xmlns:a16="http://schemas.microsoft.com/office/drawing/2014/main" id="{33393E76-B51E-469A-98E3-A0A6B0AE075E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42291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Every element has the same data type.</a:t>
            </a:r>
          </a:p>
        </p:txBody>
      </p:sp>
      <p:sp>
        <p:nvSpPr>
          <p:cNvPr id="10" name="bullet">
            <a:extLst>
              <a:ext uri="{FF2B5EF4-FFF2-40B4-BE49-F238E27FC236}">
                <a16:creationId xmlns:a16="http://schemas.microsoft.com/office/drawing/2014/main" id="{0420D9B0-38AB-428A-B830-B611889A65DF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ullet-text">
            <a:extLst>
              <a:ext uri="{FF2B5EF4-FFF2-40B4-BE49-F238E27FC236}">
                <a16:creationId xmlns:a16="http://schemas.microsoft.com/office/drawing/2014/main" id="{50F54857-860E-464B-AD32-5C0D5AF027DE}"/>
              </a:ext>
            </a:extLst>
          </p:cNvPr>
          <p:cNvSpPr>
            <a:spLocks noGrp="1"/>
          </p:cNvSpPr>
          <p:nvPr/>
        </p:nvSpPr>
        <p:spPr>
          <a:xfrm>
            <a:off x="990600" y="2886075"/>
            <a:ext cx="42291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Elements occupy consecutive memory locations.</a:t>
            </a:r>
          </a:p>
        </p:txBody>
      </p:sp>
      <p:sp>
        <p:nvSpPr>
          <p:cNvPr id="12" name="bullet">
            <a:extLst>
              <a:ext uri="{FF2B5EF4-FFF2-40B4-BE49-F238E27FC236}">
                <a16:creationId xmlns:a16="http://schemas.microsoft.com/office/drawing/2014/main" id="{F2DDCFA8-7F57-4B78-9F0D-0754DDEF078B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ullet-text">
            <a:extLst>
              <a:ext uri="{FF2B5EF4-FFF2-40B4-BE49-F238E27FC236}">
                <a16:creationId xmlns:a16="http://schemas.microsoft.com/office/drawing/2014/main" id="{A1EDB1E1-88DB-4E19-BB83-8874746251DF}"/>
              </a:ext>
            </a:extLst>
          </p:cNvPr>
          <p:cNvSpPr>
            <a:spLocks noGrp="1"/>
          </p:cNvSpPr>
          <p:nvPr/>
        </p:nvSpPr>
        <p:spPr>
          <a:xfrm>
            <a:off x="990600" y="3467100"/>
            <a:ext cx="42291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The index identifies a position, not an address.</a:t>
            </a:r>
          </a:p>
        </p:txBody>
      </p:sp>
      <p:sp>
        <p:nvSpPr>
          <p:cNvPr id="14" name="bullet">
            <a:extLst>
              <a:ext uri="{FF2B5EF4-FFF2-40B4-BE49-F238E27FC236}">
                <a16:creationId xmlns:a16="http://schemas.microsoft.com/office/drawing/2014/main" id="{D808394C-A7CC-41B7-A372-F5C0304977F0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ullet-text">
            <a:extLst>
              <a:ext uri="{FF2B5EF4-FFF2-40B4-BE49-F238E27FC236}">
                <a16:creationId xmlns:a16="http://schemas.microsoft.com/office/drawing/2014/main" id="{3F824619-ACD9-4BA6-B4D6-0CBF489F1960}"/>
              </a:ext>
            </a:extLst>
          </p:cNvPr>
          <p:cNvSpPr>
            <a:spLocks noGrp="1"/>
          </p:cNvSpPr>
          <p:nvPr/>
        </p:nvSpPr>
        <p:spPr>
          <a:xfrm>
            <a:off x="990600" y="4048125"/>
            <a:ext cx="42291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Valid C indexes run from 0 to n − 1.</a:t>
            </a:r>
          </a:p>
        </p:txBody>
      </p:sp>
      <p:sp>
        <p:nvSpPr>
          <p:cNvPr id="16" name="array-declaration">
            <a:extLst>
              <a:ext uri="{FF2B5EF4-FFF2-40B4-BE49-F238E27FC236}">
                <a16:creationId xmlns:a16="http://schemas.microsoft.com/office/drawing/2014/main" id="{BB88433B-1BE5-4D3B-BDC4-319164F280AA}"/>
              </a:ext>
            </a:extLst>
          </p:cNvPr>
          <p:cNvSpPr>
            <a:spLocks noGrp="1"/>
          </p:cNvSpPr>
          <p:nvPr/>
        </p:nvSpPr>
        <p:spPr>
          <a:xfrm>
            <a:off x="5905500" y="17526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int marks[5] = {72, 81, 65, 90, 77};</a:t>
            </a:r>
          </a:p>
        </p:txBody>
      </p:sp>
      <p:sp>
        <p:nvSpPr>
          <p:cNvPr id="17" name="array-index">
            <a:extLst>
              <a:ext uri="{FF2B5EF4-FFF2-40B4-BE49-F238E27FC236}">
                <a16:creationId xmlns:a16="http://schemas.microsoft.com/office/drawing/2014/main" id="{C2D19740-1B2D-461F-86AC-61AEAF8C17CB}"/>
              </a:ext>
            </a:extLst>
          </p:cNvPr>
          <p:cNvSpPr>
            <a:spLocks noGrp="1"/>
          </p:cNvSpPr>
          <p:nvPr/>
        </p:nvSpPr>
        <p:spPr>
          <a:xfrm>
            <a:off x="6191250" y="23241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8" name="array-cell">
            <a:extLst>
              <a:ext uri="{FF2B5EF4-FFF2-40B4-BE49-F238E27FC236}">
                <a16:creationId xmlns:a16="http://schemas.microsoft.com/office/drawing/2014/main" id="{C346A461-B96D-4731-BC31-C6CBF0C5F29E}"/>
              </a:ext>
            </a:extLst>
          </p:cNvPr>
          <p:cNvSpPr>
            <a:spLocks noGrp="1"/>
          </p:cNvSpPr>
          <p:nvPr/>
        </p:nvSpPr>
        <p:spPr>
          <a:xfrm>
            <a:off x="6191250" y="2609850"/>
            <a:ext cx="914400" cy="628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rray-value">
            <a:extLst>
              <a:ext uri="{FF2B5EF4-FFF2-40B4-BE49-F238E27FC236}">
                <a16:creationId xmlns:a16="http://schemas.microsoft.com/office/drawing/2014/main" id="{CEB88B1E-5A93-4C0B-9AFC-D093B35684FA}"/>
              </a:ext>
            </a:extLst>
          </p:cNvPr>
          <p:cNvSpPr>
            <a:spLocks noGrp="1"/>
          </p:cNvSpPr>
          <p:nvPr/>
        </p:nvSpPr>
        <p:spPr>
          <a:xfrm>
            <a:off x="6210300" y="2628900"/>
            <a:ext cx="876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72</a:t>
            </a:r>
          </a:p>
        </p:txBody>
      </p:sp>
      <p:sp>
        <p:nvSpPr>
          <p:cNvPr id="20" name="array-address">
            <a:extLst>
              <a:ext uri="{FF2B5EF4-FFF2-40B4-BE49-F238E27FC236}">
                <a16:creationId xmlns:a16="http://schemas.microsoft.com/office/drawing/2014/main" id="{CCC27EA3-3A24-4234-AD78-B80F06DE5DBF}"/>
              </a:ext>
            </a:extLst>
          </p:cNvPr>
          <p:cNvSpPr>
            <a:spLocks noGrp="1"/>
          </p:cNvSpPr>
          <p:nvPr/>
        </p:nvSpPr>
        <p:spPr>
          <a:xfrm>
            <a:off x="6191250" y="33051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1000</a:t>
            </a:r>
          </a:p>
        </p:txBody>
      </p:sp>
      <p:sp>
        <p:nvSpPr>
          <p:cNvPr id="21" name="array-index">
            <a:extLst>
              <a:ext uri="{FF2B5EF4-FFF2-40B4-BE49-F238E27FC236}">
                <a16:creationId xmlns:a16="http://schemas.microsoft.com/office/drawing/2014/main" id="{151F1310-B8E3-41A0-AA36-F786E0CE7415}"/>
              </a:ext>
            </a:extLst>
          </p:cNvPr>
          <p:cNvSpPr>
            <a:spLocks noGrp="1"/>
          </p:cNvSpPr>
          <p:nvPr/>
        </p:nvSpPr>
        <p:spPr>
          <a:xfrm>
            <a:off x="7105650" y="23241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2" name="array-cell">
            <a:extLst>
              <a:ext uri="{FF2B5EF4-FFF2-40B4-BE49-F238E27FC236}">
                <a16:creationId xmlns:a16="http://schemas.microsoft.com/office/drawing/2014/main" id="{3D1E276C-9026-4A33-AA91-E1651AD37957}"/>
              </a:ext>
            </a:extLst>
          </p:cNvPr>
          <p:cNvSpPr>
            <a:spLocks noGrp="1"/>
          </p:cNvSpPr>
          <p:nvPr/>
        </p:nvSpPr>
        <p:spPr>
          <a:xfrm>
            <a:off x="7105650" y="2609850"/>
            <a:ext cx="914400" cy="628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rray-value">
            <a:extLst>
              <a:ext uri="{FF2B5EF4-FFF2-40B4-BE49-F238E27FC236}">
                <a16:creationId xmlns:a16="http://schemas.microsoft.com/office/drawing/2014/main" id="{B4894A3A-D52C-47DB-8EE2-6D12C462ACD6}"/>
              </a:ext>
            </a:extLst>
          </p:cNvPr>
          <p:cNvSpPr>
            <a:spLocks noGrp="1"/>
          </p:cNvSpPr>
          <p:nvPr/>
        </p:nvSpPr>
        <p:spPr>
          <a:xfrm>
            <a:off x="7124700" y="2628900"/>
            <a:ext cx="876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81</a:t>
            </a:r>
          </a:p>
        </p:txBody>
      </p:sp>
      <p:sp>
        <p:nvSpPr>
          <p:cNvPr id="24" name="array-address">
            <a:extLst>
              <a:ext uri="{FF2B5EF4-FFF2-40B4-BE49-F238E27FC236}">
                <a16:creationId xmlns:a16="http://schemas.microsoft.com/office/drawing/2014/main" id="{76F8E120-130C-4679-9D83-DA9AD41EE88C}"/>
              </a:ext>
            </a:extLst>
          </p:cNvPr>
          <p:cNvSpPr>
            <a:spLocks noGrp="1"/>
          </p:cNvSpPr>
          <p:nvPr/>
        </p:nvSpPr>
        <p:spPr>
          <a:xfrm>
            <a:off x="7105650" y="33051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1004</a:t>
            </a:r>
          </a:p>
        </p:txBody>
      </p:sp>
      <p:sp>
        <p:nvSpPr>
          <p:cNvPr id="25" name="array-index">
            <a:extLst>
              <a:ext uri="{FF2B5EF4-FFF2-40B4-BE49-F238E27FC236}">
                <a16:creationId xmlns:a16="http://schemas.microsoft.com/office/drawing/2014/main" id="{D8074104-B12E-4281-BFFB-05764B521B7D}"/>
              </a:ext>
            </a:extLst>
          </p:cNvPr>
          <p:cNvSpPr>
            <a:spLocks noGrp="1"/>
          </p:cNvSpPr>
          <p:nvPr/>
        </p:nvSpPr>
        <p:spPr>
          <a:xfrm>
            <a:off x="8020050" y="23241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6" name="array-cell">
            <a:extLst>
              <a:ext uri="{FF2B5EF4-FFF2-40B4-BE49-F238E27FC236}">
                <a16:creationId xmlns:a16="http://schemas.microsoft.com/office/drawing/2014/main" id="{CFD0707C-72A4-4D76-8BF9-157BA1D782A0}"/>
              </a:ext>
            </a:extLst>
          </p:cNvPr>
          <p:cNvSpPr>
            <a:spLocks noGrp="1"/>
          </p:cNvSpPr>
          <p:nvPr/>
        </p:nvSpPr>
        <p:spPr>
          <a:xfrm>
            <a:off x="8020050" y="2609850"/>
            <a:ext cx="914400" cy="628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rray-value">
            <a:extLst>
              <a:ext uri="{FF2B5EF4-FFF2-40B4-BE49-F238E27FC236}">
                <a16:creationId xmlns:a16="http://schemas.microsoft.com/office/drawing/2014/main" id="{E459121B-C327-4BF8-9874-2CEF5BE02659}"/>
              </a:ext>
            </a:extLst>
          </p:cNvPr>
          <p:cNvSpPr>
            <a:spLocks noGrp="1"/>
          </p:cNvSpPr>
          <p:nvPr/>
        </p:nvSpPr>
        <p:spPr>
          <a:xfrm>
            <a:off x="8039100" y="2628900"/>
            <a:ext cx="876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65</a:t>
            </a:r>
          </a:p>
        </p:txBody>
      </p:sp>
      <p:sp>
        <p:nvSpPr>
          <p:cNvPr id="28" name="array-address">
            <a:extLst>
              <a:ext uri="{FF2B5EF4-FFF2-40B4-BE49-F238E27FC236}">
                <a16:creationId xmlns:a16="http://schemas.microsoft.com/office/drawing/2014/main" id="{E6939392-E16F-41AD-8035-6C373164ACDF}"/>
              </a:ext>
            </a:extLst>
          </p:cNvPr>
          <p:cNvSpPr>
            <a:spLocks noGrp="1"/>
          </p:cNvSpPr>
          <p:nvPr/>
        </p:nvSpPr>
        <p:spPr>
          <a:xfrm>
            <a:off x="8020050" y="33051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1008</a:t>
            </a:r>
          </a:p>
        </p:txBody>
      </p:sp>
      <p:sp>
        <p:nvSpPr>
          <p:cNvPr id="29" name="array-index">
            <a:extLst>
              <a:ext uri="{FF2B5EF4-FFF2-40B4-BE49-F238E27FC236}">
                <a16:creationId xmlns:a16="http://schemas.microsoft.com/office/drawing/2014/main" id="{E87CFB7D-0DCE-401B-BFEA-859C7D129D57}"/>
              </a:ext>
            </a:extLst>
          </p:cNvPr>
          <p:cNvSpPr>
            <a:spLocks noGrp="1"/>
          </p:cNvSpPr>
          <p:nvPr/>
        </p:nvSpPr>
        <p:spPr>
          <a:xfrm>
            <a:off x="8934450" y="23241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0" name="array-cell">
            <a:extLst>
              <a:ext uri="{FF2B5EF4-FFF2-40B4-BE49-F238E27FC236}">
                <a16:creationId xmlns:a16="http://schemas.microsoft.com/office/drawing/2014/main" id="{2BDA645C-8F6A-4C7D-BB63-D3B83760D351}"/>
              </a:ext>
            </a:extLst>
          </p:cNvPr>
          <p:cNvSpPr>
            <a:spLocks noGrp="1"/>
          </p:cNvSpPr>
          <p:nvPr/>
        </p:nvSpPr>
        <p:spPr>
          <a:xfrm>
            <a:off x="8934450" y="2609850"/>
            <a:ext cx="914400" cy="628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rray-value">
            <a:extLst>
              <a:ext uri="{FF2B5EF4-FFF2-40B4-BE49-F238E27FC236}">
                <a16:creationId xmlns:a16="http://schemas.microsoft.com/office/drawing/2014/main" id="{EADA815E-56E4-4484-AC8C-37E69392F323}"/>
              </a:ext>
            </a:extLst>
          </p:cNvPr>
          <p:cNvSpPr>
            <a:spLocks noGrp="1"/>
          </p:cNvSpPr>
          <p:nvPr/>
        </p:nvSpPr>
        <p:spPr>
          <a:xfrm>
            <a:off x="8953500" y="2628900"/>
            <a:ext cx="876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90</a:t>
            </a:r>
          </a:p>
        </p:txBody>
      </p:sp>
      <p:sp>
        <p:nvSpPr>
          <p:cNvPr id="32" name="array-address">
            <a:extLst>
              <a:ext uri="{FF2B5EF4-FFF2-40B4-BE49-F238E27FC236}">
                <a16:creationId xmlns:a16="http://schemas.microsoft.com/office/drawing/2014/main" id="{439CBF38-6E51-43EA-A28D-82344E3E740E}"/>
              </a:ext>
            </a:extLst>
          </p:cNvPr>
          <p:cNvSpPr>
            <a:spLocks noGrp="1"/>
          </p:cNvSpPr>
          <p:nvPr/>
        </p:nvSpPr>
        <p:spPr>
          <a:xfrm>
            <a:off x="8934450" y="33051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1012</a:t>
            </a:r>
          </a:p>
        </p:txBody>
      </p:sp>
      <p:sp>
        <p:nvSpPr>
          <p:cNvPr id="33" name="array-index">
            <a:extLst>
              <a:ext uri="{FF2B5EF4-FFF2-40B4-BE49-F238E27FC236}">
                <a16:creationId xmlns:a16="http://schemas.microsoft.com/office/drawing/2014/main" id="{BF34EA9C-044A-41C5-8047-8328A4138043}"/>
              </a:ext>
            </a:extLst>
          </p:cNvPr>
          <p:cNvSpPr>
            <a:spLocks noGrp="1"/>
          </p:cNvSpPr>
          <p:nvPr/>
        </p:nvSpPr>
        <p:spPr>
          <a:xfrm>
            <a:off x="9848850" y="23241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4" name="array-cell">
            <a:extLst>
              <a:ext uri="{FF2B5EF4-FFF2-40B4-BE49-F238E27FC236}">
                <a16:creationId xmlns:a16="http://schemas.microsoft.com/office/drawing/2014/main" id="{9CDD31C3-6EFB-409C-A69D-4F1A1BB8CFC5}"/>
              </a:ext>
            </a:extLst>
          </p:cNvPr>
          <p:cNvSpPr>
            <a:spLocks noGrp="1"/>
          </p:cNvSpPr>
          <p:nvPr/>
        </p:nvSpPr>
        <p:spPr>
          <a:xfrm>
            <a:off x="9848850" y="2609850"/>
            <a:ext cx="914400" cy="628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rray-value">
            <a:extLst>
              <a:ext uri="{FF2B5EF4-FFF2-40B4-BE49-F238E27FC236}">
                <a16:creationId xmlns:a16="http://schemas.microsoft.com/office/drawing/2014/main" id="{77F93F5E-EF4F-4D3F-A2F6-222103336EBB}"/>
              </a:ext>
            </a:extLst>
          </p:cNvPr>
          <p:cNvSpPr>
            <a:spLocks noGrp="1"/>
          </p:cNvSpPr>
          <p:nvPr/>
        </p:nvSpPr>
        <p:spPr>
          <a:xfrm>
            <a:off x="9867900" y="2628900"/>
            <a:ext cx="876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77</a:t>
            </a:r>
          </a:p>
        </p:txBody>
      </p:sp>
      <p:sp>
        <p:nvSpPr>
          <p:cNvPr id="36" name="array-address">
            <a:extLst>
              <a:ext uri="{FF2B5EF4-FFF2-40B4-BE49-F238E27FC236}">
                <a16:creationId xmlns:a16="http://schemas.microsoft.com/office/drawing/2014/main" id="{30488D44-54EF-4FB4-B235-C830967268E3}"/>
              </a:ext>
            </a:extLst>
          </p:cNvPr>
          <p:cNvSpPr>
            <a:spLocks noGrp="1"/>
          </p:cNvSpPr>
          <p:nvPr/>
        </p:nvSpPr>
        <p:spPr>
          <a:xfrm>
            <a:off x="9848850" y="33051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1016</a:t>
            </a:r>
          </a:p>
        </p:txBody>
      </p:sp>
      <p:sp>
        <p:nvSpPr>
          <p:cNvPr id="37" name="index-label">
            <a:extLst>
              <a:ext uri="{FF2B5EF4-FFF2-40B4-BE49-F238E27FC236}">
                <a16:creationId xmlns:a16="http://schemas.microsoft.com/office/drawing/2014/main" id="{65B70BD9-5E40-436A-8D14-84923BE60E1A}"/>
              </a:ext>
            </a:extLst>
          </p:cNvPr>
          <p:cNvSpPr>
            <a:spLocks noGrp="1"/>
          </p:cNvSpPr>
          <p:nvPr/>
        </p:nvSpPr>
        <p:spPr>
          <a:xfrm>
            <a:off x="5334000" y="232410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index</a:t>
            </a:r>
          </a:p>
        </p:txBody>
      </p:sp>
      <p:sp>
        <p:nvSpPr>
          <p:cNvPr id="38" name="address-label">
            <a:extLst>
              <a:ext uri="{FF2B5EF4-FFF2-40B4-BE49-F238E27FC236}">
                <a16:creationId xmlns:a16="http://schemas.microsoft.com/office/drawing/2014/main" id="{C9C5141E-4202-4716-A1B0-9939E634D71B}"/>
              </a:ext>
            </a:extLst>
          </p:cNvPr>
          <p:cNvSpPr>
            <a:spLocks noGrp="1"/>
          </p:cNvSpPr>
          <p:nvPr/>
        </p:nvSpPr>
        <p:spPr>
          <a:xfrm>
            <a:off x="5219700" y="3371850"/>
            <a:ext cx="89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address</a:t>
            </a:r>
          </a:p>
        </p:txBody>
      </p:sp>
      <p:sp>
        <p:nvSpPr>
          <p:cNvPr id="39" name="width-note">
            <a:extLst>
              <a:ext uri="{FF2B5EF4-FFF2-40B4-BE49-F238E27FC236}">
                <a16:creationId xmlns:a16="http://schemas.microsoft.com/office/drawing/2014/main" id="{D8F6AF95-C073-4B68-8EC5-DA3049D3C056}"/>
              </a:ext>
            </a:extLst>
          </p:cNvPr>
          <p:cNvSpPr>
            <a:spLocks noGrp="1"/>
          </p:cNvSpPr>
          <p:nvPr/>
        </p:nvSpPr>
        <p:spPr>
          <a:xfrm>
            <a:off x="6191250" y="402907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Each int uses w = 4 bytes in this example.</a:t>
            </a:r>
          </a:p>
        </p:txBody>
      </p:sp>
    </p:spTree>
    <p:extLst>
      <p:ext uri="{BB962C8B-B14F-4D97-AF65-F5344CB8AC3E}">
        <p14:creationId xmlns:p14="http://schemas.microsoft.com/office/powerpoint/2010/main" val="90150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esson-label">
            <a:extLst>
              <a:ext uri="{FF2B5EF4-FFF2-40B4-BE49-F238E27FC236}">
                <a16:creationId xmlns:a16="http://schemas.microsoft.com/office/drawing/2014/main" id="{3A104691-66E7-446E-888A-F5131793D9C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1228100-5898-4019-A6C1-7E7352CB1020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Indexing gives every element a predictable address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887FE724-21A5-4356-833B-5212A63E227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75B39D38-DEAD-4786-8CA1-5BA409C3671F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752266CE-D3A5-4A18-BD63-B77FE8EC04D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93CA3963-DA09-4196-8265-2F0941FFD267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formula-band">
            <a:extLst>
              <a:ext uri="{FF2B5EF4-FFF2-40B4-BE49-F238E27FC236}">
                <a16:creationId xmlns:a16="http://schemas.microsoft.com/office/drawing/2014/main" id="{61CA2F3F-0B16-4112-82D3-153D83C570E9}"/>
              </a:ext>
            </a:extLst>
          </p:cNvPr>
          <p:cNvSpPr>
            <a:spLocks noGrp="1"/>
          </p:cNvSpPr>
          <p:nvPr/>
        </p:nvSpPr>
        <p:spPr>
          <a:xfrm>
            <a:off x="1219200" y="1743075"/>
            <a:ext cx="9753600" cy="819150"/>
          </a:xfrm>
          <a:prstGeom prst="roundRect">
            <a:avLst>
              <a:gd name="adj" fmla="val 11628"/>
            </a:avLst>
          </a:prstGeom>
          <a:solidFill>
            <a:srgbClr val="EDF4FF"/>
          </a:solidFill>
          <a:ln w="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rmula">
            <a:extLst>
              <a:ext uri="{FF2B5EF4-FFF2-40B4-BE49-F238E27FC236}">
                <a16:creationId xmlns:a16="http://schemas.microsoft.com/office/drawing/2014/main" id="{E9E10CAD-5DAD-45DB-9118-693B9129B2F1}"/>
              </a:ext>
            </a:extLst>
          </p:cNvPr>
          <p:cNvSpPr>
            <a:spLocks noGrp="1"/>
          </p:cNvSpPr>
          <p:nvPr/>
        </p:nvSpPr>
        <p:spPr>
          <a:xfrm>
            <a:off x="1409700" y="1857375"/>
            <a:ext cx="9372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850" b="1">
                <a:solidFill>
                  <a:srgbClr val="12324A"/>
                </a:solidFill>
                <a:latin typeface="Consolas"/>
                <a:ea typeface="Consolas"/>
                <a:cs typeface="Consolas"/>
              </a:defRPr>
            </a:pPr>
            <a:r>
              <a:rPr sz="2850" b="1">
                <a:solidFill>
                  <a:srgbClr val="12324A"/>
                </a:solidFill>
                <a:latin typeface="Consolas"/>
                <a:ea typeface="Consolas"/>
                <a:cs typeface="Consolas"/>
              </a:rPr>
              <a:t>LOC(A[i]) = Base(A) + (i − LB) × w</a:t>
            </a:r>
          </a:p>
        </p:txBody>
      </p:sp>
      <p:sp>
        <p:nvSpPr>
          <p:cNvPr id="9" name="term-base">
            <a:extLst>
              <a:ext uri="{FF2B5EF4-FFF2-40B4-BE49-F238E27FC236}">
                <a16:creationId xmlns:a16="http://schemas.microsoft.com/office/drawing/2014/main" id="{65511D65-AF96-47BB-9795-BC85F50FBE17}"/>
              </a:ext>
            </a:extLst>
          </p:cNvPr>
          <p:cNvSpPr>
            <a:spLocks noGrp="1"/>
          </p:cNvSpPr>
          <p:nvPr/>
        </p:nvSpPr>
        <p:spPr>
          <a:xfrm>
            <a:off x="1200150" y="2895600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2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Base(A)</a:t>
            </a:r>
          </a:p>
        </p:txBody>
      </p:sp>
      <p:sp>
        <p:nvSpPr>
          <p:cNvPr id="10" name="term-base-desc">
            <a:extLst>
              <a:ext uri="{FF2B5EF4-FFF2-40B4-BE49-F238E27FC236}">
                <a16:creationId xmlns:a16="http://schemas.microsoft.com/office/drawing/2014/main" id="{CD530A24-13AF-4DD6-AFAF-DA3D2AD675EB}"/>
              </a:ext>
            </a:extLst>
          </p:cNvPr>
          <p:cNvSpPr>
            <a:spLocks noGrp="1"/>
          </p:cNvSpPr>
          <p:nvPr/>
        </p:nvSpPr>
        <p:spPr>
          <a:xfrm>
            <a:off x="2781300" y="28956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address of the first logical element</a:t>
            </a:r>
          </a:p>
        </p:txBody>
      </p:sp>
      <p:sp>
        <p:nvSpPr>
          <p:cNvPr id="11" name="term-lb">
            <a:extLst>
              <a:ext uri="{FF2B5EF4-FFF2-40B4-BE49-F238E27FC236}">
                <a16:creationId xmlns:a16="http://schemas.microsoft.com/office/drawing/2014/main" id="{A0937F7D-0687-428F-A227-32D14541F7B2}"/>
              </a:ext>
            </a:extLst>
          </p:cNvPr>
          <p:cNvSpPr>
            <a:spLocks noGrp="1"/>
          </p:cNvSpPr>
          <p:nvPr/>
        </p:nvSpPr>
        <p:spPr>
          <a:xfrm>
            <a:off x="1200150" y="3419475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2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LB</a:t>
            </a:r>
          </a:p>
        </p:txBody>
      </p:sp>
      <p:sp>
        <p:nvSpPr>
          <p:cNvPr id="12" name="term-lb-desc">
            <a:extLst>
              <a:ext uri="{FF2B5EF4-FFF2-40B4-BE49-F238E27FC236}">
                <a16:creationId xmlns:a16="http://schemas.microsoft.com/office/drawing/2014/main" id="{D0C136FC-FAC2-4B4E-A8CE-29764AA966A0}"/>
              </a:ext>
            </a:extLst>
          </p:cNvPr>
          <p:cNvSpPr>
            <a:spLocks noGrp="1"/>
          </p:cNvSpPr>
          <p:nvPr/>
        </p:nvSpPr>
        <p:spPr>
          <a:xfrm>
            <a:off x="2781300" y="341947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lower bound; LB = 0 for a normal C array</a:t>
            </a:r>
          </a:p>
        </p:txBody>
      </p:sp>
      <p:sp>
        <p:nvSpPr>
          <p:cNvPr id="13" name="term-w">
            <a:extLst>
              <a:ext uri="{FF2B5EF4-FFF2-40B4-BE49-F238E27FC236}">
                <a16:creationId xmlns:a16="http://schemas.microsoft.com/office/drawing/2014/main" id="{33A9ED38-363C-4A01-A966-203988EE2B33}"/>
              </a:ext>
            </a:extLst>
          </p:cNvPr>
          <p:cNvSpPr>
            <a:spLocks noGrp="1"/>
          </p:cNvSpPr>
          <p:nvPr/>
        </p:nvSpPr>
        <p:spPr>
          <a:xfrm>
            <a:off x="1200150" y="3943350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2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w</a:t>
            </a:r>
          </a:p>
        </p:txBody>
      </p:sp>
      <p:sp>
        <p:nvSpPr>
          <p:cNvPr id="14" name="term-w-desc">
            <a:extLst>
              <a:ext uri="{FF2B5EF4-FFF2-40B4-BE49-F238E27FC236}">
                <a16:creationId xmlns:a16="http://schemas.microsoft.com/office/drawing/2014/main" id="{1BFDE10A-E0DE-459C-96FF-87D375F16890}"/>
              </a:ext>
            </a:extLst>
          </p:cNvPr>
          <p:cNvSpPr>
            <a:spLocks noGrp="1"/>
          </p:cNvSpPr>
          <p:nvPr/>
        </p:nvSpPr>
        <p:spPr>
          <a:xfrm>
            <a:off x="2781300" y="39433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size of one element in bytes</a:t>
            </a:r>
          </a:p>
        </p:txBody>
      </p:sp>
      <p:sp>
        <p:nvSpPr>
          <p:cNvPr id="15" name="worked-example">
            <a:extLst>
              <a:ext uri="{FF2B5EF4-FFF2-40B4-BE49-F238E27FC236}">
                <a16:creationId xmlns:a16="http://schemas.microsoft.com/office/drawing/2014/main" id="{F2098B52-7B4B-49D3-A35D-B72C1C689527}"/>
              </a:ext>
            </a:extLst>
          </p:cNvPr>
          <p:cNvSpPr>
            <a:spLocks noGrp="1"/>
          </p:cNvSpPr>
          <p:nvPr/>
        </p:nvSpPr>
        <p:spPr>
          <a:xfrm>
            <a:off x="6819900" y="2867025"/>
            <a:ext cx="3905250" cy="19050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worked-label">
            <a:extLst>
              <a:ext uri="{FF2B5EF4-FFF2-40B4-BE49-F238E27FC236}">
                <a16:creationId xmlns:a16="http://schemas.microsoft.com/office/drawing/2014/main" id="{4A7A46A9-E62B-4BB3-8636-8A9A38677384}"/>
              </a:ext>
            </a:extLst>
          </p:cNvPr>
          <p:cNvSpPr>
            <a:spLocks noGrp="1"/>
          </p:cNvSpPr>
          <p:nvPr/>
        </p:nvSpPr>
        <p:spPr>
          <a:xfrm>
            <a:off x="7048500" y="3009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WORKED EXAMPLE</a:t>
            </a:r>
          </a:p>
        </p:txBody>
      </p:sp>
      <p:sp>
        <p:nvSpPr>
          <p:cNvPr id="17" name="worked-text">
            <a:extLst>
              <a:ext uri="{FF2B5EF4-FFF2-40B4-BE49-F238E27FC236}">
                <a16:creationId xmlns:a16="http://schemas.microsoft.com/office/drawing/2014/main" id="{C4D0BDF0-95C4-454A-89DF-1107B6469729}"/>
              </a:ext>
            </a:extLst>
          </p:cNvPr>
          <p:cNvSpPr>
            <a:spLocks noGrp="1"/>
          </p:cNvSpPr>
          <p:nvPr/>
        </p:nvSpPr>
        <p:spPr>
          <a:xfrm>
            <a:off x="7048500" y="3371850"/>
            <a:ext cx="3429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A[6], Base = 500, w = 4</a:t>
            </a:r>
          </a:p>
          <a:p>
            <a:pPr algn="l">
              <a:defRPr sz="2100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Find LOC(A[4])</a:t>
            </a:r>
          </a:p>
          <a:p>
            <a:endParaRPr sz="2100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100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500 + (4 − 0) × 4 = 516</a:t>
            </a:r>
          </a:p>
        </p:txBody>
      </p:sp>
    </p:spTree>
    <p:extLst>
      <p:ext uri="{BB962C8B-B14F-4D97-AF65-F5344CB8AC3E}">
        <p14:creationId xmlns:p14="http://schemas.microsoft.com/office/powerpoint/2010/main" val="199234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esson-label">
            <a:extLst>
              <a:ext uri="{FF2B5EF4-FFF2-40B4-BE49-F238E27FC236}">
                <a16:creationId xmlns:a16="http://schemas.microsoft.com/office/drawing/2014/main" id="{0C9B4473-F9B9-401E-A769-0ABA233D547D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9719D1D-F87A-4495-9CFB-2EAF070C189F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Declare and use one-dimensional arrays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A66E02B4-336B-4AA8-ACAA-F46B2FC58BA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4D784744-03B6-4697-8065-19EF6FFF3395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3EFBAE7F-6113-4480-A292-7E68F452965D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49519B8D-A9FD-43DE-A085-4C8159F05691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6191250" cy="3257550"/>
          </a:xfrm>
          <a:prstGeom prst="roundRect">
            <a:avLst>
              <a:gd name="adj" fmla="val 2339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986CFE79-2167-474D-B026-894FF97038B0}"/>
              </a:ext>
            </a:extLst>
          </p:cNvPr>
          <p:cNvSpPr>
            <a:spLocks noGrp="1"/>
          </p:cNvSpPr>
          <p:nvPr/>
        </p:nvSpPr>
        <p:spPr>
          <a:xfrm>
            <a:off x="876300" y="1876425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DECLARATION + ACCESS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B31C3ED5-FC0F-4869-86C9-8B42144F3456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581025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int score[5] = {82, 75, 91, 68, 88};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score[3] = 70;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printf("%d", score[2]);   // 91</a:t>
            </a:r>
          </a:p>
        </p:txBody>
      </p:sp>
      <p:sp>
        <p:nvSpPr>
          <p:cNvPr id="10" name="reading-title">
            <a:extLst>
              <a:ext uri="{FF2B5EF4-FFF2-40B4-BE49-F238E27FC236}">
                <a16:creationId xmlns:a16="http://schemas.microsoft.com/office/drawing/2014/main" id="{E7370E54-E092-4088-81BA-85C28B231DDD}"/>
              </a:ext>
            </a:extLst>
          </p:cNvPr>
          <p:cNvSpPr>
            <a:spLocks noGrp="1"/>
          </p:cNvSpPr>
          <p:nvPr/>
        </p:nvSpPr>
        <p:spPr>
          <a:xfrm>
            <a:off x="7334250" y="17907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Read the declaration from right to left</a:t>
            </a:r>
          </a:p>
        </p:txBody>
      </p:sp>
      <p:sp>
        <p:nvSpPr>
          <p:cNvPr id="11" name="bullet">
            <a:extLst>
              <a:ext uri="{FF2B5EF4-FFF2-40B4-BE49-F238E27FC236}">
                <a16:creationId xmlns:a16="http://schemas.microsoft.com/office/drawing/2014/main" id="{030E18D2-1DB8-4CF2-A85B-22E35B5E9820}"/>
              </a:ext>
            </a:extLst>
          </p:cNvPr>
          <p:cNvSpPr>
            <a:spLocks noGrp="1"/>
          </p:cNvSpPr>
          <p:nvPr/>
        </p:nvSpPr>
        <p:spPr>
          <a:xfrm>
            <a:off x="7391400" y="2457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ullet-text">
            <a:extLst>
              <a:ext uri="{FF2B5EF4-FFF2-40B4-BE49-F238E27FC236}">
                <a16:creationId xmlns:a16="http://schemas.microsoft.com/office/drawing/2014/main" id="{C8399D62-C145-4EB2-9475-A1BA72BF6FAB}"/>
              </a:ext>
            </a:extLst>
          </p:cNvPr>
          <p:cNvSpPr>
            <a:spLocks noGrp="1"/>
          </p:cNvSpPr>
          <p:nvPr/>
        </p:nvSpPr>
        <p:spPr>
          <a:xfrm>
            <a:off x="7639050" y="2371725"/>
            <a:ext cx="3581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score is an array</a:t>
            </a:r>
          </a:p>
        </p:txBody>
      </p:sp>
      <p:sp>
        <p:nvSpPr>
          <p:cNvPr id="13" name="bullet">
            <a:extLst>
              <a:ext uri="{FF2B5EF4-FFF2-40B4-BE49-F238E27FC236}">
                <a16:creationId xmlns:a16="http://schemas.microsoft.com/office/drawing/2014/main" id="{8C847B7E-EFD7-4D54-8579-F718D34C231B}"/>
              </a:ext>
            </a:extLst>
          </p:cNvPr>
          <p:cNvSpPr>
            <a:spLocks noGrp="1"/>
          </p:cNvSpPr>
          <p:nvPr/>
        </p:nvSpPr>
        <p:spPr>
          <a:xfrm>
            <a:off x="7391400" y="30099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ullet-text">
            <a:extLst>
              <a:ext uri="{FF2B5EF4-FFF2-40B4-BE49-F238E27FC236}">
                <a16:creationId xmlns:a16="http://schemas.microsoft.com/office/drawing/2014/main" id="{2BEE39E8-1062-45AF-9F85-0E71A4AD0D55}"/>
              </a:ext>
            </a:extLst>
          </p:cNvPr>
          <p:cNvSpPr>
            <a:spLocks noGrp="1"/>
          </p:cNvSpPr>
          <p:nvPr/>
        </p:nvSpPr>
        <p:spPr>
          <a:xfrm>
            <a:off x="7639050" y="2924175"/>
            <a:ext cx="3581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with 5 elements</a:t>
            </a:r>
          </a:p>
        </p:txBody>
      </p:sp>
      <p:sp>
        <p:nvSpPr>
          <p:cNvPr id="15" name="bullet">
            <a:extLst>
              <a:ext uri="{FF2B5EF4-FFF2-40B4-BE49-F238E27FC236}">
                <a16:creationId xmlns:a16="http://schemas.microsoft.com/office/drawing/2014/main" id="{D7FECCAC-40B0-4DCB-9081-872F8B2903B6}"/>
              </a:ext>
            </a:extLst>
          </p:cNvPr>
          <p:cNvSpPr>
            <a:spLocks noGrp="1"/>
          </p:cNvSpPr>
          <p:nvPr/>
        </p:nvSpPr>
        <p:spPr>
          <a:xfrm>
            <a:off x="7391400" y="3562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ullet-text">
            <a:extLst>
              <a:ext uri="{FF2B5EF4-FFF2-40B4-BE49-F238E27FC236}">
                <a16:creationId xmlns:a16="http://schemas.microsoft.com/office/drawing/2014/main" id="{B01816BF-6C28-4ECE-A364-562718CD4C80}"/>
              </a:ext>
            </a:extLst>
          </p:cNvPr>
          <p:cNvSpPr>
            <a:spLocks noGrp="1"/>
          </p:cNvSpPr>
          <p:nvPr/>
        </p:nvSpPr>
        <p:spPr>
          <a:xfrm>
            <a:off x="7639050" y="3476625"/>
            <a:ext cx="3581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each element is int</a:t>
            </a:r>
          </a:p>
        </p:txBody>
      </p:sp>
      <p:sp>
        <p:nvSpPr>
          <p:cNvPr id="17" name="bullet">
            <a:extLst>
              <a:ext uri="{FF2B5EF4-FFF2-40B4-BE49-F238E27FC236}">
                <a16:creationId xmlns:a16="http://schemas.microsoft.com/office/drawing/2014/main" id="{1E05101E-ED44-4F31-BB82-49CA50BEDB4D}"/>
              </a:ext>
            </a:extLst>
          </p:cNvPr>
          <p:cNvSpPr>
            <a:spLocks noGrp="1"/>
          </p:cNvSpPr>
          <p:nvPr/>
        </p:nvSpPr>
        <p:spPr>
          <a:xfrm>
            <a:off x="7391400" y="4114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ullet-text">
            <a:extLst>
              <a:ext uri="{FF2B5EF4-FFF2-40B4-BE49-F238E27FC236}">
                <a16:creationId xmlns:a16="http://schemas.microsoft.com/office/drawing/2014/main" id="{B0DBC8CE-D394-4F12-BF0B-570C8F867276}"/>
              </a:ext>
            </a:extLst>
          </p:cNvPr>
          <p:cNvSpPr>
            <a:spLocks noGrp="1"/>
          </p:cNvSpPr>
          <p:nvPr/>
        </p:nvSpPr>
        <p:spPr>
          <a:xfrm>
            <a:off x="7639050" y="4029075"/>
            <a:ext cx="3581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score[3] updates the fourth element</a:t>
            </a:r>
          </a:p>
        </p:txBody>
      </p:sp>
      <p:sp>
        <p:nvSpPr>
          <p:cNvPr id="19" name="bounds-warning">
            <a:extLst>
              <a:ext uri="{FF2B5EF4-FFF2-40B4-BE49-F238E27FC236}">
                <a16:creationId xmlns:a16="http://schemas.microsoft.com/office/drawing/2014/main" id="{E37598F1-6CA4-4201-A227-0FF7D00E58CA}"/>
              </a:ext>
            </a:extLst>
          </p:cNvPr>
          <p:cNvSpPr>
            <a:spLocks noGrp="1"/>
          </p:cNvSpPr>
          <p:nvPr/>
        </p:nvSpPr>
        <p:spPr>
          <a:xfrm>
            <a:off x="7334250" y="4810125"/>
            <a:ext cx="3905250" cy="704850"/>
          </a:xfrm>
          <a:prstGeom prst="roundRect">
            <a:avLst>
              <a:gd name="adj" fmla="val 10811"/>
            </a:avLst>
          </a:prstGeom>
          <a:solidFill>
            <a:srgbClr val="FFF6E7"/>
          </a:solidFill>
          <a:ln w="0">
            <a:solidFill>
              <a:srgbClr val="FFF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warning-title">
            <a:extLst>
              <a:ext uri="{FF2B5EF4-FFF2-40B4-BE49-F238E27FC236}">
                <a16:creationId xmlns:a16="http://schemas.microsoft.com/office/drawing/2014/main" id="{BFE4A31A-7E86-48CE-AD51-5F2D0157B692}"/>
              </a:ext>
            </a:extLst>
          </p:cNvPr>
          <p:cNvSpPr>
            <a:spLocks noGrp="1"/>
          </p:cNvSpPr>
          <p:nvPr/>
        </p:nvSpPr>
        <p:spPr>
          <a:xfrm>
            <a:off x="7524750" y="48958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Bounds matter</a:t>
            </a:r>
          </a:p>
        </p:txBody>
      </p:sp>
      <p:sp>
        <p:nvSpPr>
          <p:cNvPr id="21" name="warning-text">
            <a:extLst>
              <a:ext uri="{FF2B5EF4-FFF2-40B4-BE49-F238E27FC236}">
                <a16:creationId xmlns:a16="http://schemas.microsoft.com/office/drawing/2014/main" id="{EC6CE0F6-C605-45A4-AB19-FDD095EE8BB4}"/>
              </a:ext>
            </a:extLst>
          </p:cNvPr>
          <p:cNvSpPr>
            <a:spLocks noGrp="1"/>
          </p:cNvSpPr>
          <p:nvPr/>
        </p:nvSpPr>
        <p:spPr>
          <a:xfrm>
            <a:off x="7524750" y="51625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score[5] is outside this array.</a:t>
            </a:r>
          </a:p>
        </p:txBody>
      </p:sp>
    </p:spTree>
    <p:extLst>
      <p:ext uri="{BB962C8B-B14F-4D97-AF65-F5344CB8AC3E}">
        <p14:creationId xmlns:p14="http://schemas.microsoft.com/office/powerpoint/2010/main" val="720753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esson-label">
            <a:extLst>
              <a:ext uri="{FF2B5EF4-FFF2-40B4-BE49-F238E27FC236}">
                <a16:creationId xmlns:a16="http://schemas.microsoft.com/office/drawing/2014/main" id="{6C2163D9-D15B-4876-8C51-E83084A74D8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3708BD7-AF77-4CCD-A4FA-E59E46176FB4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 loop traverses; an index updates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DF3C1252-45C4-471A-92B9-D8870DD71927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FA4F453-3678-43D9-AACB-B8FAF637DFEA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6FA79B26-CD61-4603-AA6D-D67983F8EFB0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A1B367E7-B7C5-42C7-B1CD-2046D7ED976B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48F38A25-5417-4024-B1B0-467819DCB1E9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5219700" cy="247650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0EB0CCF7-EC8F-450F-9C61-3366360C1B79}"/>
              </a:ext>
            </a:extLst>
          </p:cNvPr>
          <p:cNvSpPr>
            <a:spLocks noGrp="1"/>
          </p:cNvSpPr>
          <p:nvPr/>
        </p:nvSpPr>
        <p:spPr>
          <a:xfrm>
            <a:off x="876300" y="1876425"/>
            <a:ext cx="483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TRAVERSE ALL ELEMENTS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44891DFB-5269-4632-89CA-14CEF1F4CD6C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48387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int sum = 0;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for (int i = 0; i &lt; n; ++i)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sum += a[i];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ode-panel">
            <a:extLst>
              <a:ext uri="{FF2B5EF4-FFF2-40B4-BE49-F238E27FC236}">
                <a16:creationId xmlns:a16="http://schemas.microsoft.com/office/drawing/2014/main" id="{DBC97978-9D56-4991-9225-EF49B78C0FF5}"/>
              </a:ext>
            </a:extLst>
          </p:cNvPr>
          <p:cNvSpPr>
            <a:spLocks noGrp="1"/>
          </p:cNvSpPr>
          <p:nvPr/>
        </p:nvSpPr>
        <p:spPr>
          <a:xfrm>
            <a:off x="6286500" y="1743075"/>
            <a:ext cx="5219700" cy="247650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de-label">
            <a:extLst>
              <a:ext uri="{FF2B5EF4-FFF2-40B4-BE49-F238E27FC236}">
                <a16:creationId xmlns:a16="http://schemas.microsoft.com/office/drawing/2014/main" id="{F09E7C80-A07B-4502-8817-FEBF332A7690}"/>
              </a:ext>
            </a:extLst>
          </p:cNvPr>
          <p:cNvSpPr>
            <a:spLocks noGrp="1"/>
          </p:cNvSpPr>
          <p:nvPr/>
        </p:nvSpPr>
        <p:spPr>
          <a:xfrm>
            <a:off x="6477000" y="1876425"/>
            <a:ext cx="483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UPDATE ONE ELEMENT</a:t>
            </a:r>
          </a:p>
        </p:txBody>
      </p:sp>
      <p:sp>
        <p:nvSpPr>
          <p:cNvPr id="12" name="code-text">
            <a:extLst>
              <a:ext uri="{FF2B5EF4-FFF2-40B4-BE49-F238E27FC236}">
                <a16:creationId xmlns:a16="http://schemas.microsoft.com/office/drawing/2014/main" id="{60FBEF16-B1D8-4482-89BF-E97F5EB9B0FE}"/>
              </a:ext>
            </a:extLst>
          </p:cNvPr>
          <p:cNvSpPr>
            <a:spLocks noGrp="1"/>
          </p:cNvSpPr>
          <p:nvPr/>
        </p:nvSpPr>
        <p:spPr>
          <a:xfrm>
            <a:off x="6477000" y="2200275"/>
            <a:ext cx="48387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a[2] = a[2] + 5;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// direct access to one element</a:t>
            </a:r>
          </a:p>
        </p:txBody>
      </p:sp>
      <p:sp>
        <p:nvSpPr>
          <p:cNvPr id="13" name="complexity-head-1">
            <a:extLst>
              <a:ext uri="{FF2B5EF4-FFF2-40B4-BE49-F238E27FC236}">
                <a16:creationId xmlns:a16="http://schemas.microsoft.com/office/drawing/2014/main" id="{BE0C6DDB-44DC-4643-B771-D25175827350}"/>
              </a:ext>
            </a:extLst>
          </p:cNvPr>
          <p:cNvSpPr>
            <a:spLocks noGrp="1"/>
          </p:cNvSpPr>
          <p:nvPr/>
        </p:nvSpPr>
        <p:spPr>
          <a:xfrm>
            <a:off x="1409700" y="461962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Operation</a:t>
            </a:r>
          </a:p>
        </p:txBody>
      </p:sp>
      <p:sp>
        <p:nvSpPr>
          <p:cNvPr id="14" name="complexity-head-2">
            <a:extLst>
              <a:ext uri="{FF2B5EF4-FFF2-40B4-BE49-F238E27FC236}">
                <a16:creationId xmlns:a16="http://schemas.microsoft.com/office/drawing/2014/main" id="{5F4557CC-5CE4-4F22-83EC-6388A118042A}"/>
              </a:ext>
            </a:extLst>
          </p:cNvPr>
          <p:cNvSpPr>
            <a:spLocks noGrp="1"/>
          </p:cNvSpPr>
          <p:nvPr/>
        </p:nvSpPr>
        <p:spPr>
          <a:xfrm>
            <a:off x="4248150" y="461962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5" name="divider">
            <a:extLst>
              <a:ext uri="{FF2B5EF4-FFF2-40B4-BE49-F238E27FC236}">
                <a16:creationId xmlns:a16="http://schemas.microsoft.com/office/drawing/2014/main" id="{0BB33EBC-357F-4DEC-BDFB-3844398F7B2A}"/>
              </a:ext>
            </a:extLst>
          </p:cNvPr>
          <p:cNvSpPr>
            <a:spLocks noGrp="1"/>
          </p:cNvSpPr>
          <p:nvPr/>
        </p:nvSpPr>
        <p:spPr>
          <a:xfrm>
            <a:off x="1352550" y="4981575"/>
            <a:ext cx="447675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complexity-operation">
            <a:extLst>
              <a:ext uri="{FF2B5EF4-FFF2-40B4-BE49-F238E27FC236}">
                <a16:creationId xmlns:a16="http://schemas.microsoft.com/office/drawing/2014/main" id="{64E2B83D-54EC-4F68-8862-CA35E884C751}"/>
              </a:ext>
            </a:extLst>
          </p:cNvPr>
          <p:cNvSpPr>
            <a:spLocks noGrp="1"/>
          </p:cNvSpPr>
          <p:nvPr/>
        </p:nvSpPr>
        <p:spPr>
          <a:xfrm>
            <a:off x="1409700" y="50482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Access a[i]</a:t>
            </a:r>
          </a:p>
        </p:txBody>
      </p:sp>
      <p:sp>
        <p:nvSpPr>
          <p:cNvPr id="17" name="complexity-cost">
            <a:extLst>
              <a:ext uri="{FF2B5EF4-FFF2-40B4-BE49-F238E27FC236}">
                <a16:creationId xmlns:a16="http://schemas.microsoft.com/office/drawing/2014/main" id="{974E2F21-6C69-4C35-9912-D1A2FCB24C32}"/>
              </a:ext>
            </a:extLst>
          </p:cNvPr>
          <p:cNvSpPr>
            <a:spLocks noGrp="1"/>
          </p:cNvSpPr>
          <p:nvPr/>
        </p:nvSpPr>
        <p:spPr>
          <a:xfrm>
            <a:off x="4248150" y="50482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O(1)</a:t>
            </a:r>
          </a:p>
        </p:txBody>
      </p:sp>
      <p:sp>
        <p:nvSpPr>
          <p:cNvPr id="18" name="complexity-operation">
            <a:extLst>
              <a:ext uri="{FF2B5EF4-FFF2-40B4-BE49-F238E27FC236}">
                <a16:creationId xmlns:a16="http://schemas.microsoft.com/office/drawing/2014/main" id="{4331B2BD-BB81-49EC-8FBC-5F279EB0D694}"/>
              </a:ext>
            </a:extLst>
          </p:cNvPr>
          <p:cNvSpPr>
            <a:spLocks noGrp="1"/>
          </p:cNvSpPr>
          <p:nvPr/>
        </p:nvSpPr>
        <p:spPr>
          <a:xfrm>
            <a:off x="1409700" y="5353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Update a[i]</a:t>
            </a:r>
          </a:p>
        </p:txBody>
      </p:sp>
      <p:sp>
        <p:nvSpPr>
          <p:cNvPr id="19" name="complexity-cost">
            <a:extLst>
              <a:ext uri="{FF2B5EF4-FFF2-40B4-BE49-F238E27FC236}">
                <a16:creationId xmlns:a16="http://schemas.microsoft.com/office/drawing/2014/main" id="{FE581F0D-829B-42F5-900F-0AB581D49387}"/>
              </a:ext>
            </a:extLst>
          </p:cNvPr>
          <p:cNvSpPr>
            <a:spLocks noGrp="1"/>
          </p:cNvSpPr>
          <p:nvPr/>
        </p:nvSpPr>
        <p:spPr>
          <a:xfrm>
            <a:off x="4248150" y="53530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O(1)</a:t>
            </a:r>
          </a:p>
        </p:txBody>
      </p:sp>
      <p:sp>
        <p:nvSpPr>
          <p:cNvPr id="20" name="complexity-operation">
            <a:extLst>
              <a:ext uri="{FF2B5EF4-FFF2-40B4-BE49-F238E27FC236}">
                <a16:creationId xmlns:a16="http://schemas.microsoft.com/office/drawing/2014/main" id="{57D3E237-69D1-4D05-8B96-FBA49A3CDAB4}"/>
              </a:ext>
            </a:extLst>
          </p:cNvPr>
          <p:cNvSpPr>
            <a:spLocks noGrp="1"/>
          </p:cNvSpPr>
          <p:nvPr/>
        </p:nvSpPr>
        <p:spPr>
          <a:xfrm>
            <a:off x="1409700" y="56578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Traverse n values</a:t>
            </a:r>
          </a:p>
        </p:txBody>
      </p:sp>
      <p:sp>
        <p:nvSpPr>
          <p:cNvPr id="21" name="complexity-cost">
            <a:extLst>
              <a:ext uri="{FF2B5EF4-FFF2-40B4-BE49-F238E27FC236}">
                <a16:creationId xmlns:a16="http://schemas.microsoft.com/office/drawing/2014/main" id="{3D9831FB-3073-4C55-BF12-8F09B7F0CCB9}"/>
              </a:ext>
            </a:extLst>
          </p:cNvPr>
          <p:cNvSpPr>
            <a:spLocks noGrp="1"/>
          </p:cNvSpPr>
          <p:nvPr/>
        </p:nvSpPr>
        <p:spPr>
          <a:xfrm>
            <a:off x="4248150" y="56578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O(n)</a:t>
            </a:r>
          </a:p>
        </p:txBody>
      </p:sp>
      <p:sp>
        <p:nvSpPr>
          <p:cNvPr id="22" name="complexity-takeaway">
            <a:extLst>
              <a:ext uri="{FF2B5EF4-FFF2-40B4-BE49-F238E27FC236}">
                <a16:creationId xmlns:a16="http://schemas.microsoft.com/office/drawing/2014/main" id="{CF410146-2801-4F88-950C-E7042E795279}"/>
              </a:ext>
            </a:extLst>
          </p:cNvPr>
          <p:cNvSpPr>
            <a:spLocks noGrp="1"/>
          </p:cNvSpPr>
          <p:nvPr/>
        </p:nvSpPr>
        <p:spPr>
          <a:xfrm>
            <a:off x="6381750" y="4762500"/>
            <a:ext cx="4857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32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The loop is linear because every element contributes once.</a:t>
            </a:r>
          </a:p>
        </p:txBody>
      </p:sp>
    </p:spTree>
    <p:extLst>
      <p:ext uri="{BB962C8B-B14F-4D97-AF65-F5344CB8AC3E}">
        <p14:creationId xmlns:p14="http://schemas.microsoft.com/office/powerpoint/2010/main" val="276941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lesson-label">
            <a:extLst>
              <a:ext uri="{FF2B5EF4-FFF2-40B4-BE49-F238E27FC236}">
                <a16:creationId xmlns:a16="http://schemas.microsoft.com/office/drawing/2014/main" id="{EF503953-E88C-4785-A71C-AA37F171F9F4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C593F0C-2898-4376-86EC-72522637152C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Insertion and deletion require shifting elements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9749EF49-B604-4EE8-A93B-7E00A39C59A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DD914EA8-2FAF-4F3A-9D6C-16CBBD74DA06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6D4C8DAE-1BC1-4BD4-9841-C9DCF261DAE6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AB2255BE-E700-4BC0-926F-0252228425A7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insert-title">
            <a:extLst>
              <a:ext uri="{FF2B5EF4-FFF2-40B4-BE49-F238E27FC236}">
                <a16:creationId xmlns:a16="http://schemas.microsoft.com/office/drawing/2014/main" id="{2F5A7171-3675-49CA-8994-0FD57E0EA0C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Insert 30 at index 2</a:t>
            </a:r>
          </a:p>
        </p:txBody>
      </p:sp>
      <p:sp>
        <p:nvSpPr>
          <p:cNvPr id="8" name="array-index">
            <a:extLst>
              <a:ext uri="{FF2B5EF4-FFF2-40B4-BE49-F238E27FC236}">
                <a16:creationId xmlns:a16="http://schemas.microsoft.com/office/drawing/2014/main" id="{CB8D26D7-8469-4147-9B81-38D9F4A70F63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9" name="array-cell">
            <a:extLst>
              <a:ext uri="{FF2B5EF4-FFF2-40B4-BE49-F238E27FC236}">
                <a16:creationId xmlns:a16="http://schemas.microsoft.com/office/drawing/2014/main" id="{F745248D-7F5C-40B1-82AC-2EDB35D7A65F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8763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rray-value">
            <a:extLst>
              <a:ext uri="{FF2B5EF4-FFF2-40B4-BE49-F238E27FC236}">
                <a16:creationId xmlns:a16="http://schemas.microsoft.com/office/drawing/2014/main" id="{32592CA1-998B-42DA-B640-FAF8463F5D4F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83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1" name="array-index">
            <a:extLst>
              <a:ext uri="{FF2B5EF4-FFF2-40B4-BE49-F238E27FC236}">
                <a16:creationId xmlns:a16="http://schemas.microsoft.com/office/drawing/2014/main" id="{700C309C-94C0-4E2C-90D9-B1A83EDC0574}"/>
              </a:ext>
            </a:extLst>
          </p:cNvPr>
          <p:cNvSpPr>
            <a:spLocks noGrp="1"/>
          </p:cNvSpPr>
          <p:nvPr/>
        </p:nvSpPr>
        <p:spPr>
          <a:xfrm>
            <a:off x="17526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2" name="array-cell">
            <a:extLst>
              <a:ext uri="{FF2B5EF4-FFF2-40B4-BE49-F238E27FC236}">
                <a16:creationId xmlns:a16="http://schemas.microsoft.com/office/drawing/2014/main" id="{775A93AE-FEE0-4A3A-A9AF-E29A22C5BC57}"/>
              </a:ext>
            </a:extLst>
          </p:cNvPr>
          <p:cNvSpPr>
            <a:spLocks noGrp="1"/>
          </p:cNvSpPr>
          <p:nvPr/>
        </p:nvSpPr>
        <p:spPr>
          <a:xfrm>
            <a:off x="1752600" y="2438400"/>
            <a:ext cx="8763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rray-value">
            <a:extLst>
              <a:ext uri="{FF2B5EF4-FFF2-40B4-BE49-F238E27FC236}">
                <a16:creationId xmlns:a16="http://schemas.microsoft.com/office/drawing/2014/main" id="{17409AA6-C5C5-400A-B304-F4E0CEEDA273}"/>
              </a:ext>
            </a:extLst>
          </p:cNvPr>
          <p:cNvSpPr>
            <a:spLocks noGrp="1"/>
          </p:cNvSpPr>
          <p:nvPr/>
        </p:nvSpPr>
        <p:spPr>
          <a:xfrm>
            <a:off x="1771650" y="2457450"/>
            <a:ext cx="83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14" name="array-index">
            <a:extLst>
              <a:ext uri="{FF2B5EF4-FFF2-40B4-BE49-F238E27FC236}">
                <a16:creationId xmlns:a16="http://schemas.microsoft.com/office/drawing/2014/main" id="{C11E395D-B92E-4F7D-B729-BA0EECE35DF3}"/>
              </a:ext>
            </a:extLst>
          </p:cNvPr>
          <p:cNvSpPr>
            <a:spLocks noGrp="1"/>
          </p:cNvSpPr>
          <p:nvPr/>
        </p:nvSpPr>
        <p:spPr>
          <a:xfrm>
            <a:off x="26289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5" name="array-cell">
            <a:extLst>
              <a:ext uri="{FF2B5EF4-FFF2-40B4-BE49-F238E27FC236}">
                <a16:creationId xmlns:a16="http://schemas.microsoft.com/office/drawing/2014/main" id="{6A08CFBD-DAA4-4DC4-A304-AC4B4827538C}"/>
              </a:ext>
            </a:extLst>
          </p:cNvPr>
          <p:cNvSpPr>
            <a:spLocks noGrp="1"/>
          </p:cNvSpPr>
          <p:nvPr/>
        </p:nvSpPr>
        <p:spPr>
          <a:xfrm>
            <a:off x="2628900" y="2438400"/>
            <a:ext cx="876300" cy="571500"/>
          </a:xfrm>
          <a:prstGeom prst="rect">
            <a:avLst/>
          </a:prstGeom>
          <a:solidFill>
            <a:srgbClr val="FFF6E7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rray-value">
            <a:extLst>
              <a:ext uri="{FF2B5EF4-FFF2-40B4-BE49-F238E27FC236}">
                <a16:creationId xmlns:a16="http://schemas.microsoft.com/office/drawing/2014/main" id="{EE6E8A9D-9BB1-4DEA-843A-FC6EF82C4315}"/>
              </a:ext>
            </a:extLst>
          </p:cNvPr>
          <p:cNvSpPr>
            <a:spLocks noGrp="1"/>
          </p:cNvSpPr>
          <p:nvPr/>
        </p:nvSpPr>
        <p:spPr>
          <a:xfrm>
            <a:off x="2647950" y="2457450"/>
            <a:ext cx="83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17" name="array-index">
            <a:extLst>
              <a:ext uri="{FF2B5EF4-FFF2-40B4-BE49-F238E27FC236}">
                <a16:creationId xmlns:a16="http://schemas.microsoft.com/office/drawing/2014/main" id="{BAC45D4F-00E2-430C-BACA-28DAF0418964}"/>
              </a:ext>
            </a:extLst>
          </p:cNvPr>
          <p:cNvSpPr>
            <a:spLocks noGrp="1"/>
          </p:cNvSpPr>
          <p:nvPr/>
        </p:nvSpPr>
        <p:spPr>
          <a:xfrm>
            <a:off x="35052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array-cell">
            <a:extLst>
              <a:ext uri="{FF2B5EF4-FFF2-40B4-BE49-F238E27FC236}">
                <a16:creationId xmlns:a16="http://schemas.microsoft.com/office/drawing/2014/main" id="{80D2B15E-5A22-4A77-8B85-E37463F4FDA3}"/>
              </a:ext>
            </a:extLst>
          </p:cNvPr>
          <p:cNvSpPr>
            <a:spLocks noGrp="1"/>
          </p:cNvSpPr>
          <p:nvPr/>
        </p:nvSpPr>
        <p:spPr>
          <a:xfrm>
            <a:off x="3505200" y="2438400"/>
            <a:ext cx="876300" cy="571500"/>
          </a:xfrm>
          <a:prstGeom prst="rect">
            <a:avLst/>
          </a:prstGeom>
          <a:solidFill>
            <a:srgbClr val="FFF6E7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rray-value">
            <a:extLst>
              <a:ext uri="{FF2B5EF4-FFF2-40B4-BE49-F238E27FC236}">
                <a16:creationId xmlns:a16="http://schemas.microsoft.com/office/drawing/2014/main" id="{ED703CD3-C685-4D67-8B9A-8EFA5E1082EA}"/>
              </a:ext>
            </a:extLst>
          </p:cNvPr>
          <p:cNvSpPr>
            <a:spLocks noGrp="1"/>
          </p:cNvSpPr>
          <p:nvPr/>
        </p:nvSpPr>
        <p:spPr>
          <a:xfrm>
            <a:off x="3524250" y="2457450"/>
            <a:ext cx="83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20" name="array-index">
            <a:extLst>
              <a:ext uri="{FF2B5EF4-FFF2-40B4-BE49-F238E27FC236}">
                <a16:creationId xmlns:a16="http://schemas.microsoft.com/office/drawing/2014/main" id="{9321E566-B58C-4080-8849-CF1A50FA310B}"/>
              </a:ext>
            </a:extLst>
          </p:cNvPr>
          <p:cNvSpPr>
            <a:spLocks noGrp="1"/>
          </p:cNvSpPr>
          <p:nvPr/>
        </p:nvSpPr>
        <p:spPr>
          <a:xfrm>
            <a:off x="43815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array-cell">
            <a:extLst>
              <a:ext uri="{FF2B5EF4-FFF2-40B4-BE49-F238E27FC236}">
                <a16:creationId xmlns:a16="http://schemas.microsoft.com/office/drawing/2014/main" id="{F6068A2F-2326-43AF-96F1-A2B0E756E20D}"/>
              </a:ext>
            </a:extLst>
          </p:cNvPr>
          <p:cNvSpPr>
            <a:spLocks noGrp="1"/>
          </p:cNvSpPr>
          <p:nvPr/>
        </p:nvSpPr>
        <p:spPr>
          <a:xfrm>
            <a:off x="4381500" y="2438400"/>
            <a:ext cx="876300" cy="571500"/>
          </a:xfrm>
          <a:prstGeom prst="rect">
            <a:avLst/>
          </a:prstGeom>
          <a:solidFill>
            <a:srgbClr val="F4F8FA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rray-value">
            <a:extLst>
              <a:ext uri="{FF2B5EF4-FFF2-40B4-BE49-F238E27FC236}">
                <a16:creationId xmlns:a16="http://schemas.microsoft.com/office/drawing/2014/main" id="{D6425CEE-7806-4844-A968-650A4E27CE24}"/>
              </a:ext>
            </a:extLst>
          </p:cNvPr>
          <p:cNvSpPr>
            <a:spLocks noGrp="1"/>
          </p:cNvSpPr>
          <p:nvPr/>
        </p:nvSpPr>
        <p:spPr>
          <a:xfrm>
            <a:off x="4400550" y="2457450"/>
            <a:ext cx="83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23" name="shift-arrow">
            <a:extLst>
              <a:ext uri="{FF2B5EF4-FFF2-40B4-BE49-F238E27FC236}">
                <a16:creationId xmlns:a16="http://schemas.microsoft.com/office/drawing/2014/main" id="{822A3ACA-8F24-4C90-9556-8F567284F094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shift right  →</a:t>
            </a:r>
          </a:p>
        </p:txBody>
      </p:sp>
      <p:sp>
        <p:nvSpPr>
          <p:cNvPr id="24" name="array-index">
            <a:extLst>
              <a:ext uri="{FF2B5EF4-FFF2-40B4-BE49-F238E27FC236}">
                <a16:creationId xmlns:a16="http://schemas.microsoft.com/office/drawing/2014/main" id="{1A941101-6734-4318-B8FD-1EF420A865AE}"/>
              </a:ext>
            </a:extLst>
          </p:cNvPr>
          <p:cNvSpPr>
            <a:spLocks noGrp="1"/>
          </p:cNvSpPr>
          <p:nvPr/>
        </p:nvSpPr>
        <p:spPr>
          <a:xfrm>
            <a:off x="7219950" y="215265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5" name="array-cell">
            <a:extLst>
              <a:ext uri="{FF2B5EF4-FFF2-40B4-BE49-F238E27FC236}">
                <a16:creationId xmlns:a16="http://schemas.microsoft.com/office/drawing/2014/main" id="{CE97249B-9AA5-4B82-8BD4-0FFA29B120D9}"/>
              </a:ext>
            </a:extLst>
          </p:cNvPr>
          <p:cNvSpPr>
            <a:spLocks noGrp="1"/>
          </p:cNvSpPr>
          <p:nvPr/>
        </p:nvSpPr>
        <p:spPr>
          <a:xfrm>
            <a:off x="7219950" y="2438400"/>
            <a:ext cx="7810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rray-value">
            <a:extLst>
              <a:ext uri="{FF2B5EF4-FFF2-40B4-BE49-F238E27FC236}">
                <a16:creationId xmlns:a16="http://schemas.microsoft.com/office/drawing/2014/main" id="{FD5462F6-0D6B-4A4E-8CCE-8123665A7962}"/>
              </a:ext>
            </a:extLst>
          </p:cNvPr>
          <p:cNvSpPr>
            <a:spLocks noGrp="1"/>
          </p:cNvSpPr>
          <p:nvPr/>
        </p:nvSpPr>
        <p:spPr>
          <a:xfrm>
            <a:off x="7239000" y="2457450"/>
            <a:ext cx="742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7" name="array-index">
            <a:extLst>
              <a:ext uri="{FF2B5EF4-FFF2-40B4-BE49-F238E27FC236}">
                <a16:creationId xmlns:a16="http://schemas.microsoft.com/office/drawing/2014/main" id="{35411290-15E3-4BC7-AD3B-0E1FDCFD0F90}"/>
              </a:ext>
            </a:extLst>
          </p:cNvPr>
          <p:cNvSpPr>
            <a:spLocks noGrp="1"/>
          </p:cNvSpPr>
          <p:nvPr/>
        </p:nvSpPr>
        <p:spPr>
          <a:xfrm>
            <a:off x="8001000" y="215265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8" name="array-cell">
            <a:extLst>
              <a:ext uri="{FF2B5EF4-FFF2-40B4-BE49-F238E27FC236}">
                <a16:creationId xmlns:a16="http://schemas.microsoft.com/office/drawing/2014/main" id="{81C70CD4-4B0D-4462-A864-AB698AAB2C5F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7810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rray-value">
            <a:extLst>
              <a:ext uri="{FF2B5EF4-FFF2-40B4-BE49-F238E27FC236}">
                <a16:creationId xmlns:a16="http://schemas.microsoft.com/office/drawing/2014/main" id="{F875128B-D7C9-43AA-B5AB-F6C923A579DB}"/>
              </a:ext>
            </a:extLst>
          </p:cNvPr>
          <p:cNvSpPr>
            <a:spLocks noGrp="1"/>
          </p:cNvSpPr>
          <p:nvPr/>
        </p:nvSpPr>
        <p:spPr>
          <a:xfrm>
            <a:off x="8020050" y="2457450"/>
            <a:ext cx="742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30" name="array-index">
            <a:extLst>
              <a:ext uri="{FF2B5EF4-FFF2-40B4-BE49-F238E27FC236}">
                <a16:creationId xmlns:a16="http://schemas.microsoft.com/office/drawing/2014/main" id="{4D49186C-CFE7-48D2-8957-49D0193513CC}"/>
              </a:ext>
            </a:extLst>
          </p:cNvPr>
          <p:cNvSpPr>
            <a:spLocks noGrp="1"/>
          </p:cNvSpPr>
          <p:nvPr/>
        </p:nvSpPr>
        <p:spPr>
          <a:xfrm>
            <a:off x="8782050" y="215265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1" name="array-cell">
            <a:extLst>
              <a:ext uri="{FF2B5EF4-FFF2-40B4-BE49-F238E27FC236}">
                <a16:creationId xmlns:a16="http://schemas.microsoft.com/office/drawing/2014/main" id="{EEFEACB0-C616-40E4-B6C6-F113AF6071F6}"/>
              </a:ext>
            </a:extLst>
          </p:cNvPr>
          <p:cNvSpPr>
            <a:spLocks noGrp="1"/>
          </p:cNvSpPr>
          <p:nvPr/>
        </p:nvSpPr>
        <p:spPr>
          <a:xfrm>
            <a:off x="8782050" y="2438400"/>
            <a:ext cx="781050" cy="57150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rray-value">
            <a:extLst>
              <a:ext uri="{FF2B5EF4-FFF2-40B4-BE49-F238E27FC236}">
                <a16:creationId xmlns:a16="http://schemas.microsoft.com/office/drawing/2014/main" id="{C706AAF7-2D82-4F93-B14E-4EAF66128B27}"/>
              </a:ext>
            </a:extLst>
          </p:cNvPr>
          <p:cNvSpPr>
            <a:spLocks noGrp="1"/>
          </p:cNvSpPr>
          <p:nvPr/>
        </p:nvSpPr>
        <p:spPr>
          <a:xfrm>
            <a:off x="8801100" y="2457450"/>
            <a:ext cx="742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33" name="array-index">
            <a:extLst>
              <a:ext uri="{FF2B5EF4-FFF2-40B4-BE49-F238E27FC236}">
                <a16:creationId xmlns:a16="http://schemas.microsoft.com/office/drawing/2014/main" id="{6D70A92B-3899-40AB-92CD-4F957BD784AC}"/>
              </a:ext>
            </a:extLst>
          </p:cNvPr>
          <p:cNvSpPr>
            <a:spLocks noGrp="1"/>
          </p:cNvSpPr>
          <p:nvPr/>
        </p:nvSpPr>
        <p:spPr>
          <a:xfrm>
            <a:off x="9563100" y="215265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4" name="array-cell">
            <a:extLst>
              <a:ext uri="{FF2B5EF4-FFF2-40B4-BE49-F238E27FC236}">
                <a16:creationId xmlns:a16="http://schemas.microsoft.com/office/drawing/2014/main" id="{A961B048-7F4B-4550-98CE-3CE05C25D57E}"/>
              </a:ext>
            </a:extLst>
          </p:cNvPr>
          <p:cNvSpPr>
            <a:spLocks noGrp="1"/>
          </p:cNvSpPr>
          <p:nvPr/>
        </p:nvSpPr>
        <p:spPr>
          <a:xfrm>
            <a:off x="9563100" y="2438400"/>
            <a:ext cx="7810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rray-value">
            <a:extLst>
              <a:ext uri="{FF2B5EF4-FFF2-40B4-BE49-F238E27FC236}">
                <a16:creationId xmlns:a16="http://schemas.microsoft.com/office/drawing/2014/main" id="{05227A6A-5D7E-4C33-B559-D924046ADA3F}"/>
              </a:ext>
            </a:extLst>
          </p:cNvPr>
          <p:cNvSpPr>
            <a:spLocks noGrp="1"/>
          </p:cNvSpPr>
          <p:nvPr/>
        </p:nvSpPr>
        <p:spPr>
          <a:xfrm>
            <a:off x="9582150" y="2457450"/>
            <a:ext cx="742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36" name="array-index">
            <a:extLst>
              <a:ext uri="{FF2B5EF4-FFF2-40B4-BE49-F238E27FC236}">
                <a16:creationId xmlns:a16="http://schemas.microsoft.com/office/drawing/2014/main" id="{CC638530-19F9-491B-9E6C-C3DFEC5B985A}"/>
              </a:ext>
            </a:extLst>
          </p:cNvPr>
          <p:cNvSpPr>
            <a:spLocks noGrp="1"/>
          </p:cNvSpPr>
          <p:nvPr/>
        </p:nvSpPr>
        <p:spPr>
          <a:xfrm>
            <a:off x="10344150" y="215265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7" name="array-cell">
            <a:extLst>
              <a:ext uri="{FF2B5EF4-FFF2-40B4-BE49-F238E27FC236}">
                <a16:creationId xmlns:a16="http://schemas.microsoft.com/office/drawing/2014/main" id="{93D9F448-6F97-4A33-A8F2-CD331D9AC862}"/>
              </a:ext>
            </a:extLst>
          </p:cNvPr>
          <p:cNvSpPr>
            <a:spLocks noGrp="1"/>
          </p:cNvSpPr>
          <p:nvPr/>
        </p:nvSpPr>
        <p:spPr>
          <a:xfrm>
            <a:off x="10344150" y="2438400"/>
            <a:ext cx="7810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array-value">
            <a:extLst>
              <a:ext uri="{FF2B5EF4-FFF2-40B4-BE49-F238E27FC236}">
                <a16:creationId xmlns:a16="http://schemas.microsoft.com/office/drawing/2014/main" id="{35D88FAF-BC8C-485B-8B0F-97EAC8F6F106}"/>
              </a:ext>
            </a:extLst>
          </p:cNvPr>
          <p:cNvSpPr>
            <a:spLocks noGrp="1"/>
          </p:cNvSpPr>
          <p:nvPr/>
        </p:nvSpPr>
        <p:spPr>
          <a:xfrm>
            <a:off x="10363200" y="2457450"/>
            <a:ext cx="742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39" name="delete-title">
            <a:extLst>
              <a:ext uri="{FF2B5EF4-FFF2-40B4-BE49-F238E27FC236}">
                <a16:creationId xmlns:a16="http://schemas.microsoft.com/office/drawing/2014/main" id="{53290860-DCD0-4116-8EFC-9F6C6DD73B4C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Delete the value at index 2</a:t>
            </a:r>
          </a:p>
        </p:txBody>
      </p:sp>
      <p:sp>
        <p:nvSpPr>
          <p:cNvPr id="40" name="array-index">
            <a:extLst>
              <a:ext uri="{FF2B5EF4-FFF2-40B4-BE49-F238E27FC236}">
                <a16:creationId xmlns:a16="http://schemas.microsoft.com/office/drawing/2014/main" id="{BAB46706-30EE-4C88-8CFB-5A4A75D7CE76}"/>
              </a:ext>
            </a:extLst>
          </p:cNvPr>
          <p:cNvSpPr>
            <a:spLocks noGrp="1"/>
          </p:cNvSpPr>
          <p:nvPr/>
        </p:nvSpPr>
        <p:spPr>
          <a:xfrm>
            <a:off x="876300" y="41529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41" name="array-cell">
            <a:extLst>
              <a:ext uri="{FF2B5EF4-FFF2-40B4-BE49-F238E27FC236}">
                <a16:creationId xmlns:a16="http://schemas.microsoft.com/office/drawing/2014/main" id="{E4221DC1-44C2-4DF7-941F-A8D457FFF9E1}"/>
              </a:ext>
            </a:extLst>
          </p:cNvPr>
          <p:cNvSpPr>
            <a:spLocks noGrp="1"/>
          </p:cNvSpPr>
          <p:nvPr/>
        </p:nvSpPr>
        <p:spPr>
          <a:xfrm>
            <a:off x="876300" y="4438650"/>
            <a:ext cx="8763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rray-value">
            <a:extLst>
              <a:ext uri="{FF2B5EF4-FFF2-40B4-BE49-F238E27FC236}">
                <a16:creationId xmlns:a16="http://schemas.microsoft.com/office/drawing/2014/main" id="{439F0797-FF73-4F3B-B596-7B8024E9AF88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83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43" name="array-index">
            <a:extLst>
              <a:ext uri="{FF2B5EF4-FFF2-40B4-BE49-F238E27FC236}">
                <a16:creationId xmlns:a16="http://schemas.microsoft.com/office/drawing/2014/main" id="{07E9E236-E60B-4165-B31C-F54DFD1A98FE}"/>
              </a:ext>
            </a:extLst>
          </p:cNvPr>
          <p:cNvSpPr>
            <a:spLocks noGrp="1"/>
          </p:cNvSpPr>
          <p:nvPr/>
        </p:nvSpPr>
        <p:spPr>
          <a:xfrm>
            <a:off x="1752600" y="41529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44" name="array-cell">
            <a:extLst>
              <a:ext uri="{FF2B5EF4-FFF2-40B4-BE49-F238E27FC236}">
                <a16:creationId xmlns:a16="http://schemas.microsoft.com/office/drawing/2014/main" id="{8079B042-8360-4EBE-87F8-909714CBF9B2}"/>
              </a:ext>
            </a:extLst>
          </p:cNvPr>
          <p:cNvSpPr>
            <a:spLocks noGrp="1"/>
          </p:cNvSpPr>
          <p:nvPr/>
        </p:nvSpPr>
        <p:spPr>
          <a:xfrm>
            <a:off x="1752600" y="4438650"/>
            <a:ext cx="8763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array-value">
            <a:extLst>
              <a:ext uri="{FF2B5EF4-FFF2-40B4-BE49-F238E27FC236}">
                <a16:creationId xmlns:a16="http://schemas.microsoft.com/office/drawing/2014/main" id="{EE8812E0-F764-4D83-B6E0-2D0EFB987A64}"/>
              </a:ext>
            </a:extLst>
          </p:cNvPr>
          <p:cNvSpPr>
            <a:spLocks noGrp="1"/>
          </p:cNvSpPr>
          <p:nvPr/>
        </p:nvSpPr>
        <p:spPr>
          <a:xfrm>
            <a:off x="1771650" y="4457700"/>
            <a:ext cx="83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46" name="array-index">
            <a:extLst>
              <a:ext uri="{FF2B5EF4-FFF2-40B4-BE49-F238E27FC236}">
                <a16:creationId xmlns:a16="http://schemas.microsoft.com/office/drawing/2014/main" id="{8727DE5E-4439-410E-8AE8-05B8C38AB9DC}"/>
              </a:ext>
            </a:extLst>
          </p:cNvPr>
          <p:cNvSpPr>
            <a:spLocks noGrp="1"/>
          </p:cNvSpPr>
          <p:nvPr/>
        </p:nvSpPr>
        <p:spPr>
          <a:xfrm>
            <a:off x="2628900" y="41529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47" name="array-cell">
            <a:extLst>
              <a:ext uri="{FF2B5EF4-FFF2-40B4-BE49-F238E27FC236}">
                <a16:creationId xmlns:a16="http://schemas.microsoft.com/office/drawing/2014/main" id="{8BD1DA38-D414-457A-94AD-54A5520E2206}"/>
              </a:ext>
            </a:extLst>
          </p:cNvPr>
          <p:cNvSpPr>
            <a:spLocks noGrp="1"/>
          </p:cNvSpPr>
          <p:nvPr/>
        </p:nvSpPr>
        <p:spPr>
          <a:xfrm>
            <a:off x="2628900" y="4438650"/>
            <a:ext cx="876300" cy="571500"/>
          </a:xfrm>
          <a:prstGeom prst="rect">
            <a:avLst/>
          </a:prstGeom>
          <a:solidFill>
            <a:srgbClr val="FDECEC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array-value">
            <a:extLst>
              <a:ext uri="{FF2B5EF4-FFF2-40B4-BE49-F238E27FC236}">
                <a16:creationId xmlns:a16="http://schemas.microsoft.com/office/drawing/2014/main" id="{13E6E75C-F10C-4496-B296-9BDB1705E9E5}"/>
              </a:ext>
            </a:extLst>
          </p:cNvPr>
          <p:cNvSpPr>
            <a:spLocks noGrp="1"/>
          </p:cNvSpPr>
          <p:nvPr/>
        </p:nvSpPr>
        <p:spPr>
          <a:xfrm>
            <a:off x="2647950" y="4457700"/>
            <a:ext cx="83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49" name="array-index">
            <a:extLst>
              <a:ext uri="{FF2B5EF4-FFF2-40B4-BE49-F238E27FC236}">
                <a16:creationId xmlns:a16="http://schemas.microsoft.com/office/drawing/2014/main" id="{209F0972-908C-4463-9F7B-E0D353762475}"/>
              </a:ext>
            </a:extLst>
          </p:cNvPr>
          <p:cNvSpPr>
            <a:spLocks noGrp="1"/>
          </p:cNvSpPr>
          <p:nvPr/>
        </p:nvSpPr>
        <p:spPr>
          <a:xfrm>
            <a:off x="3505200" y="41529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50" name="array-cell">
            <a:extLst>
              <a:ext uri="{FF2B5EF4-FFF2-40B4-BE49-F238E27FC236}">
                <a16:creationId xmlns:a16="http://schemas.microsoft.com/office/drawing/2014/main" id="{63D4E859-909F-4CF0-9523-FDB35EF08E31}"/>
              </a:ext>
            </a:extLst>
          </p:cNvPr>
          <p:cNvSpPr>
            <a:spLocks noGrp="1"/>
          </p:cNvSpPr>
          <p:nvPr/>
        </p:nvSpPr>
        <p:spPr>
          <a:xfrm>
            <a:off x="3505200" y="4438650"/>
            <a:ext cx="8763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array-value">
            <a:extLst>
              <a:ext uri="{FF2B5EF4-FFF2-40B4-BE49-F238E27FC236}">
                <a16:creationId xmlns:a16="http://schemas.microsoft.com/office/drawing/2014/main" id="{4613A15F-FAAC-4C9E-99B5-280AC37FFAE3}"/>
              </a:ext>
            </a:extLst>
          </p:cNvPr>
          <p:cNvSpPr>
            <a:spLocks noGrp="1"/>
          </p:cNvSpPr>
          <p:nvPr/>
        </p:nvSpPr>
        <p:spPr>
          <a:xfrm>
            <a:off x="3524250" y="4457700"/>
            <a:ext cx="83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52" name="array-index">
            <a:extLst>
              <a:ext uri="{FF2B5EF4-FFF2-40B4-BE49-F238E27FC236}">
                <a16:creationId xmlns:a16="http://schemas.microsoft.com/office/drawing/2014/main" id="{6CA2821F-183A-4EF1-A2D6-76D89856CA98}"/>
              </a:ext>
            </a:extLst>
          </p:cNvPr>
          <p:cNvSpPr>
            <a:spLocks noGrp="1"/>
          </p:cNvSpPr>
          <p:nvPr/>
        </p:nvSpPr>
        <p:spPr>
          <a:xfrm>
            <a:off x="4381500" y="41529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53" name="array-cell">
            <a:extLst>
              <a:ext uri="{FF2B5EF4-FFF2-40B4-BE49-F238E27FC236}">
                <a16:creationId xmlns:a16="http://schemas.microsoft.com/office/drawing/2014/main" id="{40A4F6DA-4BE7-4163-BE81-08F380D11901}"/>
              </a:ext>
            </a:extLst>
          </p:cNvPr>
          <p:cNvSpPr>
            <a:spLocks noGrp="1"/>
          </p:cNvSpPr>
          <p:nvPr/>
        </p:nvSpPr>
        <p:spPr>
          <a:xfrm>
            <a:off x="4381500" y="4438650"/>
            <a:ext cx="8763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array-value">
            <a:extLst>
              <a:ext uri="{FF2B5EF4-FFF2-40B4-BE49-F238E27FC236}">
                <a16:creationId xmlns:a16="http://schemas.microsoft.com/office/drawing/2014/main" id="{C5D2164F-E8EC-4CEA-90E7-CA5D5D8B5E64}"/>
              </a:ext>
            </a:extLst>
          </p:cNvPr>
          <p:cNvSpPr>
            <a:spLocks noGrp="1"/>
          </p:cNvSpPr>
          <p:nvPr/>
        </p:nvSpPr>
        <p:spPr>
          <a:xfrm>
            <a:off x="4400550" y="4457700"/>
            <a:ext cx="838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55" name="shift-left">
            <a:extLst>
              <a:ext uri="{FF2B5EF4-FFF2-40B4-BE49-F238E27FC236}">
                <a16:creationId xmlns:a16="http://schemas.microsoft.com/office/drawing/2014/main" id="{72051A4E-2A4C-40D5-870C-9C366D5D5D29}"/>
              </a:ext>
            </a:extLst>
          </p:cNvPr>
          <p:cNvSpPr>
            <a:spLocks noGrp="1"/>
          </p:cNvSpPr>
          <p:nvPr/>
        </p:nvSpPr>
        <p:spPr>
          <a:xfrm>
            <a:off x="5619750" y="452437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←  shift left</a:t>
            </a:r>
          </a:p>
        </p:txBody>
      </p:sp>
      <p:sp>
        <p:nvSpPr>
          <p:cNvPr id="56" name="array-index">
            <a:extLst>
              <a:ext uri="{FF2B5EF4-FFF2-40B4-BE49-F238E27FC236}">
                <a16:creationId xmlns:a16="http://schemas.microsoft.com/office/drawing/2014/main" id="{23ECC85D-BC63-45F4-8D60-3202ABE5B1D9}"/>
              </a:ext>
            </a:extLst>
          </p:cNvPr>
          <p:cNvSpPr>
            <a:spLocks noGrp="1"/>
          </p:cNvSpPr>
          <p:nvPr/>
        </p:nvSpPr>
        <p:spPr>
          <a:xfrm>
            <a:off x="7219950" y="415290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57" name="array-cell">
            <a:extLst>
              <a:ext uri="{FF2B5EF4-FFF2-40B4-BE49-F238E27FC236}">
                <a16:creationId xmlns:a16="http://schemas.microsoft.com/office/drawing/2014/main" id="{52ADFCEE-DA41-4291-B127-972455F5E4A8}"/>
              </a:ext>
            </a:extLst>
          </p:cNvPr>
          <p:cNvSpPr>
            <a:spLocks noGrp="1"/>
          </p:cNvSpPr>
          <p:nvPr/>
        </p:nvSpPr>
        <p:spPr>
          <a:xfrm>
            <a:off x="7219950" y="4438650"/>
            <a:ext cx="7810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array-value">
            <a:extLst>
              <a:ext uri="{FF2B5EF4-FFF2-40B4-BE49-F238E27FC236}">
                <a16:creationId xmlns:a16="http://schemas.microsoft.com/office/drawing/2014/main" id="{92968EE9-2558-47CB-A8D3-AAF81FC0DEFE}"/>
              </a:ext>
            </a:extLst>
          </p:cNvPr>
          <p:cNvSpPr>
            <a:spLocks noGrp="1"/>
          </p:cNvSpPr>
          <p:nvPr/>
        </p:nvSpPr>
        <p:spPr>
          <a:xfrm>
            <a:off x="7239000" y="4457700"/>
            <a:ext cx="742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59" name="array-index">
            <a:extLst>
              <a:ext uri="{FF2B5EF4-FFF2-40B4-BE49-F238E27FC236}">
                <a16:creationId xmlns:a16="http://schemas.microsoft.com/office/drawing/2014/main" id="{7E245059-E9E2-4F49-B007-04009C5549D2}"/>
              </a:ext>
            </a:extLst>
          </p:cNvPr>
          <p:cNvSpPr>
            <a:spLocks noGrp="1"/>
          </p:cNvSpPr>
          <p:nvPr/>
        </p:nvSpPr>
        <p:spPr>
          <a:xfrm>
            <a:off x="8001000" y="415290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0" name="array-cell">
            <a:extLst>
              <a:ext uri="{FF2B5EF4-FFF2-40B4-BE49-F238E27FC236}">
                <a16:creationId xmlns:a16="http://schemas.microsoft.com/office/drawing/2014/main" id="{6FF034A2-CCF8-4D1A-9427-787BCEED6DE7}"/>
              </a:ext>
            </a:extLst>
          </p:cNvPr>
          <p:cNvSpPr>
            <a:spLocks noGrp="1"/>
          </p:cNvSpPr>
          <p:nvPr/>
        </p:nvSpPr>
        <p:spPr>
          <a:xfrm>
            <a:off x="8001000" y="4438650"/>
            <a:ext cx="7810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array-value">
            <a:extLst>
              <a:ext uri="{FF2B5EF4-FFF2-40B4-BE49-F238E27FC236}">
                <a16:creationId xmlns:a16="http://schemas.microsoft.com/office/drawing/2014/main" id="{95E8AC10-D4F3-43DC-8EFE-21EC81C4E4B5}"/>
              </a:ext>
            </a:extLst>
          </p:cNvPr>
          <p:cNvSpPr>
            <a:spLocks noGrp="1"/>
          </p:cNvSpPr>
          <p:nvPr/>
        </p:nvSpPr>
        <p:spPr>
          <a:xfrm>
            <a:off x="8020050" y="4457700"/>
            <a:ext cx="742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62" name="array-index">
            <a:extLst>
              <a:ext uri="{FF2B5EF4-FFF2-40B4-BE49-F238E27FC236}">
                <a16:creationId xmlns:a16="http://schemas.microsoft.com/office/drawing/2014/main" id="{F378D569-5031-4EF1-860C-839032CB5E3D}"/>
              </a:ext>
            </a:extLst>
          </p:cNvPr>
          <p:cNvSpPr>
            <a:spLocks noGrp="1"/>
          </p:cNvSpPr>
          <p:nvPr/>
        </p:nvSpPr>
        <p:spPr>
          <a:xfrm>
            <a:off x="8782050" y="415290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63" name="array-cell">
            <a:extLst>
              <a:ext uri="{FF2B5EF4-FFF2-40B4-BE49-F238E27FC236}">
                <a16:creationId xmlns:a16="http://schemas.microsoft.com/office/drawing/2014/main" id="{CBE8559F-F290-4CB5-B822-FD92F1E1593D}"/>
              </a:ext>
            </a:extLst>
          </p:cNvPr>
          <p:cNvSpPr>
            <a:spLocks noGrp="1"/>
          </p:cNvSpPr>
          <p:nvPr/>
        </p:nvSpPr>
        <p:spPr>
          <a:xfrm>
            <a:off x="8782050" y="4438650"/>
            <a:ext cx="7810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array-value">
            <a:extLst>
              <a:ext uri="{FF2B5EF4-FFF2-40B4-BE49-F238E27FC236}">
                <a16:creationId xmlns:a16="http://schemas.microsoft.com/office/drawing/2014/main" id="{9B79F144-0EAF-481F-B58D-26251815514A}"/>
              </a:ext>
            </a:extLst>
          </p:cNvPr>
          <p:cNvSpPr>
            <a:spLocks noGrp="1"/>
          </p:cNvSpPr>
          <p:nvPr/>
        </p:nvSpPr>
        <p:spPr>
          <a:xfrm>
            <a:off x="8801100" y="4457700"/>
            <a:ext cx="742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65" name="array-index">
            <a:extLst>
              <a:ext uri="{FF2B5EF4-FFF2-40B4-BE49-F238E27FC236}">
                <a16:creationId xmlns:a16="http://schemas.microsoft.com/office/drawing/2014/main" id="{28879BD8-68D2-4606-A5E9-F01CB7ED07CA}"/>
              </a:ext>
            </a:extLst>
          </p:cNvPr>
          <p:cNvSpPr>
            <a:spLocks noGrp="1"/>
          </p:cNvSpPr>
          <p:nvPr/>
        </p:nvSpPr>
        <p:spPr>
          <a:xfrm>
            <a:off x="9563100" y="415290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66" name="array-cell">
            <a:extLst>
              <a:ext uri="{FF2B5EF4-FFF2-40B4-BE49-F238E27FC236}">
                <a16:creationId xmlns:a16="http://schemas.microsoft.com/office/drawing/2014/main" id="{46FDF137-E118-4BFA-890E-B519C176B703}"/>
              </a:ext>
            </a:extLst>
          </p:cNvPr>
          <p:cNvSpPr>
            <a:spLocks noGrp="1"/>
          </p:cNvSpPr>
          <p:nvPr/>
        </p:nvSpPr>
        <p:spPr>
          <a:xfrm>
            <a:off x="9563100" y="4438650"/>
            <a:ext cx="7810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array-value">
            <a:extLst>
              <a:ext uri="{FF2B5EF4-FFF2-40B4-BE49-F238E27FC236}">
                <a16:creationId xmlns:a16="http://schemas.microsoft.com/office/drawing/2014/main" id="{7E08733E-7817-4A24-8029-7BD1715BBF4B}"/>
              </a:ext>
            </a:extLst>
          </p:cNvPr>
          <p:cNvSpPr>
            <a:spLocks noGrp="1"/>
          </p:cNvSpPr>
          <p:nvPr/>
        </p:nvSpPr>
        <p:spPr>
          <a:xfrm>
            <a:off x="9582150" y="4457700"/>
            <a:ext cx="742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68" name="array-index">
            <a:extLst>
              <a:ext uri="{FF2B5EF4-FFF2-40B4-BE49-F238E27FC236}">
                <a16:creationId xmlns:a16="http://schemas.microsoft.com/office/drawing/2014/main" id="{75B5B069-35A2-4A38-8DCA-287D9418570D}"/>
              </a:ext>
            </a:extLst>
          </p:cNvPr>
          <p:cNvSpPr>
            <a:spLocks noGrp="1"/>
          </p:cNvSpPr>
          <p:nvPr/>
        </p:nvSpPr>
        <p:spPr>
          <a:xfrm>
            <a:off x="10344150" y="415290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69" name="array-cell">
            <a:extLst>
              <a:ext uri="{FF2B5EF4-FFF2-40B4-BE49-F238E27FC236}">
                <a16:creationId xmlns:a16="http://schemas.microsoft.com/office/drawing/2014/main" id="{2FFC93E8-93E7-4F31-BC28-A3D9AF01E342}"/>
              </a:ext>
            </a:extLst>
          </p:cNvPr>
          <p:cNvSpPr>
            <a:spLocks noGrp="1"/>
          </p:cNvSpPr>
          <p:nvPr/>
        </p:nvSpPr>
        <p:spPr>
          <a:xfrm>
            <a:off x="10344150" y="4438650"/>
            <a:ext cx="781050" cy="571500"/>
          </a:xfrm>
          <a:prstGeom prst="rect">
            <a:avLst/>
          </a:prstGeom>
          <a:solidFill>
            <a:srgbClr val="F4F8FA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array-value">
            <a:extLst>
              <a:ext uri="{FF2B5EF4-FFF2-40B4-BE49-F238E27FC236}">
                <a16:creationId xmlns:a16="http://schemas.microsoft.com/office/drawing/2014/main" id="{78D4591E-117F-4A14-BFF7-82CACFC1B949}"/>
              </a:ext>
            </a:extLst>
          </p:cNvPr>
          <p:cNvSpPr>
            <a:spLocks noGrp="1"/>
          </p:cNvSpPr>
          <p:nvPr/>
        </p:nvSpPr>
        <p:spPr>
          <a:xfrm>
            <a:off x="10363200" y="4457700"/>
            <a:ext cx="742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71" name="cost-band">
            <a:extLst>
              <a:ext uri="{FF2B5EF4-FFF2-40B4-BE49-F238E27FC236}">
                <a16:creationId xmlns:a16="http://schemas.microsoft.com/office/drawing/2014/main" id="{F734B701-8356-46F4-AEF0-E7F986CEFD7D}"/>
              </a:ext>
            </a:extLst>
          </p:cNvPr>
          <p:cNvSpPr>
            <a:spLocks noGrp="1"/>
          </p:cNvSpPr>
          <p:nvPr/>
        </p:nvSpPr>
        <p:spPr>
          <a:xfrm>
            <a:off x="4095750" y="5343524"/>
            <a:ext cx="4000500" cy="761995"/>
          </a:xfrm>
          <a:prstGeom prst="roundRect">
            <a:avLst>
              <a:gd name="adj" fmla="val 17391"/>
            </a:avLst>
          </a:prstGeom>
          <a:solidFill>
            <a:srgbClr val="F4F8FA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cost-text">
            <a:extLst>
              <a:ext uri="{FF2B5EF4-FFF2-40B4-BE49-F238E27FC236}">
                <a16:creationId xmlns:a16="http://schemas.microsoft.com/office/drawing/2014/main" id="{66E3EBCC-2DFD-4CA3-94B8-DD484F1B481B}"/>
              </a:ext>
            </a:extLst>
          </p:cNvPr>
          <p:cNvSpPr>
            <a:spLocks noGrp="1"/>
          </p:cNvSpPr>
          <p:nvPr/>
        </p:nvSpPr>
        <p:spPr>
          <a:xfrm>
            <a:off x="4210050" y="5553075"/>
            <a:ext cx="377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025" b="1" dirty="0">
                <a:solidFill>
                  <a:srgbClr val="12324A"/>
                </a:solidFill>
                <a:latin typeface="Aptos"/>
                <a:ea typeface="Aptos"/>
                <a:cs typeface="Aptos"/>
              </a:rPr>
              <a:t>Worst-case insertion or deletion: O(n)</a:t>
            </a:r>
          </a:p>
        </p:txBody>
      </p:sp>
    </p:spTree>
    <p:extLst>
      <p:ext uri="{BB962C8B-B14F-4D97-AF65-F5344CB8AC3E}">
        <p14:creationId xmlns:p14="http://schemas.microsoft.com/office/powerpoint/2010/main" val="803666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lesson-label">
            <a:extLst>
              <a:ext uri="{FF2B5EF4-FFF2-40B4-BE49-F238E27FC236}">
                <a16:creationId xmlns:a16="http://schemas.microsoft.com/office/drawing/2014/main" id="{58FF652A-0B9E-4CF7-8EE9-9B86DE3946C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6591E69-85CA-4633-A1C3-48865300E4A3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 two-dimensional array is still one linear block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DACDDED3-0726-4AB7-A14F-A6FC54136C4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DB882021-CBC4-4B5B-96C5-A8626E4CE2D4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563B2A7D-1C00-4E81-AEC7-7961A7E98087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CFB2B164-6D0B-451F-AF2B-7223113A6FED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logical-label">
            <a:extLst>
              <a:ext uri="{FF2B5EF4-FFF2-40B4-BE49-F238E27FC236}">
                <a16:creationId xmlns:a16="http://schemas.microsoft.com/office/drawing/2014/main" id="{ECD941AD-CAD4-412F-92AD-E66DB6116374}"/>
              </a:ext>
            </a:extLst>
          </p:cNvPr>
          <p:cNvSpPr>
            <a:spLocks noGrp="1"/>
          </p:cNvSpPr>
          <p:nvPr/>
        </p:nvSpPr>
        <p:spPr>
          <a:xfrm>
            <a:off x="819150" y="17526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Logical view</a:t>
            </a:r>
          </a:p>
        </p:txBody>
      </p:sp>
      <p:sp>
        <p:nvSpPr>
          <p:cNvPr id="8" name="matrix-cell">
            <a:extLst>
              <a:ext uri="{FF2B5EF4-FFF2-40B4-BE49-F238E27FC236}">
                <a16:creationId xmlns:a16="http://schemas.microsoft.com/office/drawing/2014/main" id="{3ABFAFA6-5813-4DF6-8C64-677E3ADA2CD1}"/>
              </a:ext>
            </a:extLst>
          </p:cNvPr>
          <p:cNvSpPr>
            <a:spLocks noGrp="1"/>
          </p:cNvSpPr>
          <p:nvPr/>
        </p:nvSpPr>
        <p:spPr>
          <a:xfrm>
            <a:off x="1238250" y="2400300"/>
            <a:ext cx="876300" cy="64770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matrix-value">
            <a:extLst>
              <a:ext uri="{FF2B5EF4-FFF2-40B4-BE49-F238E27FC236}">
                <a16:creationId xmlns:a16="http://schemas.microsoft.com/office/drawing/2014/main" id="{EC07B60F-280C-4949-9A70-8563608029C9}"/>
              </a:ext>
            </a:extLst>
          </p:cNvPr>
          <p:cNvSpPr>
            <a:spLocks noGrp="1"/>
          </p:cNvSpPr>
          <p:nvPr/>
        </p:nvSpPr>
        <p:spPr>
          <a:xfrm>
            <a:off x="1238250" y="2409825"/>
            <a:ext cx="876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10" name="matrix-cell">
            <a:extLst>
              <a:ext uri="{FF2B5EF4-FFF2-40B4-BE49-F238E27FC236}">
                <a16:creationId xmlns:a16="http://schemas.microsoft.com/office/drawing/2014/main" id="{57E52C70-3A18-42F2-8AA5-2BC5F463BCDF}"/>
              </a:ext>
            </a:extLst>
          </p:cNvPr>
          <p:cNvSpPr>
            <a:spLocks noGrp="1"/>
          </p:cNvSpPr>
          <p:nvPr/>
        </p:nvSpPr>
        <p:spPr>
          <a:xfrm>
            <a:off x="2114550" y="2400300"/>
            <a:ext cx="876300" cy="64770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matrix-value">
            <a:extLst>
              <a:ext uri="{FF2B5EF4-FFF2-40B4-BE49-F238E27FC236}">
                <a16:creationId xmlns:a16="http://schemas.microsoft.com/office/drawing/2014/main" id="{8B27BB16-65BC-48A0-8260-49644D254264}"/>
              </a:ext>
            </a:extLst>
          </p:cNvPr>
          <p:cNvSpPr>
            <a:spLocks noGrp="1"/>
          </p:cNvSpPr>
          <p:nvPr/>
        </p:nvSpPr>
        <p:spPr>
          <a:xfrm>
            <a:off x="2114550" y="2409825"/>
            <a:ext cx="876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2" name="matrix-cell">
            <a:extLst>
              <a:ext uri="{FF2B5EF4-FFF2-40B4-BE49-F238E27FC236}">
                <a16:creationId xmlns:a16="http://schemas.microsoft.com/office/drawing/2014/main" id="{D262EAEA-6E28-4801-A395-68D07B88DB9C}"/>
              </a:ext>
            </a:extLst>
          </p:cNvPr>
          <p:cNvSpPr>
            <a:spLocks noGrp="1"/>
          </p:cNvSpPr>
          <p:nvPr/>
        </p:nvSpPr>
        <p:spPr>
          <a:xfrm>
            <a:off x="2990850" y="2400300"/>
            <a:ext cx="876300" cy="64770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matrix-value">
            <a:extLst>
              <a:ext uri="{FF2B5EF4-FFF2-40B4-BE49-F238E27FC236}">
                <a16:creationId xmlns:a16="http://schemas.microsoft.com/office/drawing/2014/main" id="{975F44BA-4E20-4EDE-B951-EB10892F34E2}"/>
              </a:ext>
            </a:extLst>
          </p:cNvPr>
          <p:cNvSpPr>
            <a:spLocks noGrp="1"/>
          </p:cNvSpPr>
          <p:nvPr/>
        </p:nvSpPr>
        <p:spPr>
          <a:xfrm>
            <a:off x="2990850" y="2409825"/>
            <a:ext cx="876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14" name="matrix-cell">
            <a:extLst>
              <a:ext uri="{FF2B5EF4-FFF2-40B4-BE49-F238E27FC236}">
                <a16:creationId xmlns:a16="http://schemas.microsoft.com/office/drawing/2014/main" id="{E7AE7DF7-553A-437E-8A31-3EF60B415AE5}"/>
              </a:ext>
            </a:extLst>
          </p:cNvPr>
          <p:cNvSpPr>
            <a:spLocks noGrp="1"/>
          </p:cNvSpPr>
          <p:nvPr/>
        </p:nvSpPr>
        <p:spPr>
          <a:xfrm>
            <a:off x="1238250" y="3048000"/>
            <a:ext cx="876300" cy="64770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matrix-value">
            <a:extLst>
              <a:ext uri="{FF2B5EF4-FFF2-40B4-BE49-F238E27FC236}">
                <a16:creationId xmlns:a16="http://schemas.microsoft.com/office/drawing/2014/main" id="{F96A5596-9600-4AA6-8B3C-FC1FF20308DE}"/>
              </a:ext>
            </a:extLst>
          </p:cNvPr>
          <p:cNvSpPr>
            <a:spLocks noGrp="1"/>
          </p:cNvSpPr>
          <p:nvPr/>
        </p:nvSpPr>
        <p:spPr>
          <a:xfrm>
            <a:off x="1238250" y="3057525"/>
            <a:ext cx="876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16" name="matrix-cell">
            <a:extLst>
              <a:ext uri="{FF2B5EF4-FFF2-40B4-BE49-F238E27FC236}">
                <a16:creationId xmlns:a16="http://schemas.microsoft.com/office/drawing/2014/main" id="{1F672DB9-B5B4-4888-A1AF-BAB6CDFD18B0}"/>
              </a:ext>
            </a:extLst>
          </p:cNvPr>
          <p:cNvSpPr>
            <a:spLocks noGrp="1"/>
          </p:cNvSpPr>
          <p:nvPr/>
        </p:nvSpPr>
        <p:spPr>
          <a:xfrm>
            <a:off x="2114550" y="3048000"/>
            <a:ext cx="876300" cy="64770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matrix-value">
            <a:extLst>
              <a:ext uri="{FF2B5EF4-FFF2-40B4-BE49-F238E27FC236}">
                <a16:creationId xmlns:a16="http://schemas.microsoft.com/office/drawing/2014/main" id="{464BD01C-0767-40EE-9AF9-C0C8270C1399}"/>
              </a:ext>
            </a:extLst>
          </p:cNvPr>
          <p:cNvSpPr>
            <a:spLocks noGrp="1"/>
          </p:cNvSpPr>
          <p:nvPr/>
        </p:nvSpPr>
        <p:spPr>
          <a:xfrm>
            <a:off x="2114550" y="3057525"/>
            <a:ext cx="876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18" name="matrix-cell">
            <a:extLst>
              <a:ext uri="{FF2B5EF4-FFF2-40B4-BE49-F238E27FC236}">
                <a16:creationId xmlns:a16="http://schemas.microsoft.com/office/drawing/2014/main" id="{B5023E44-D6DD-4BAD-9CC0-95FFBB3FFDCF}"/>
              </a:ext>
            </a:extLst>
          </p:cNvPr>
          <p:cNvSpPr>
            <a:spLocks noGrp="1"/>
          </p:cNvSpPr>
          <p:nvPr/>
        </p:nvSpPr>
        <p:spPr>
          <a:xfrm>
            <a:off x="2990850" y="3048000"/>
            <a:ext cx="876300" cy="64770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matrix-value">
            <a:extLst>
              <a:ext uri="{FF2B5EF4-FFF2-40B4-BE49-F238E27FC236}">
                <a16:creationId xmlns:a16="http://schemas.microsoft.com/office/drawing/2014/main" id="{2EF5963D-7D8C-4688-9194-BB71CD4F0A8A}"/>
              </a:ext>
            </a:extLst>
          </p:cNvPr>
          <p:cNvSpPr>
            <a:spLocks noGrp="1"/>
          </p:cNvSpPr>
          <p:nvPr/>
        </p:nvSpPr>
        <p:spPr>
          <a:xfrm>
            <a:off x="2990850" y="3057525"/>
            <a:ext cx="876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  <p:sp>
        <p:nvSpPr>
          <p:cNvPr id="20" name="matrix-size">
            <a:extLst>
              <a:ext uri="{FF2B5EF4-FFF2-40B4-BE49-F238E27FC236}">
                <a16:creationId xmlns:a16="http://schemas.microsoft.com/office/drawing/2014/main" id="{4CC1C538-818C-4EC7-BB4E-8960CC923111}"/>
              </a:ext>
            </a:extLst>
          </p:cNvPr>
          <p:cNvSpPr>
            <a:spLocks noGrp="1"/>
          </p:cNvSpPr>
          <p:nvPr/>
        </p:nvSpPr>
        <p:spPr>
          <a:xfrm>
            <a:off x="1085850" y="389572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rows × columns = 2 × 3</a:t>
            </a:r>
          </a:p>
        </p:txBody>
      </p:sp>
      <p:sp>
        <p:nvSpPr>
          <p:cNvPr id="21" name="mapping-arrow">
            <a:extLst>
              <a:ext uri="{FF2B5EF4-FFF2-40B4-BE49-F238E27FC236}">
                <a16:creationId xmlns:a16="http://schemas.microsoft.com/office/drawing/2014/main" id="{B4F25CF9-1E5A-4244-B36E-428E2D6812C3}"/>
              </a:ext>
            </a:extLst>
          </p:cNvPr>
          <p:cNvSpPr>
            <a:spLocks noGrp="1"/>
          </p:cNvSpPr>
          <p:nvPr/>
        </p:nvSpPr>
        <p:spPr>
          <a:xfrm>
            <a:off x="5219700" y="2724150"/>
            <a:ext cx="85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3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physical-label">
            <a:extLst>
              <a:ext uri="{FF2B5EF4-FFF2-40B4-BE49-F238E27FC236}">
                <a16:creationId xmlns:a16="http://schemas.microsoft.com/office/drawing/2014/main" id="{41608547-831D-4F35-9453-5D0CEFA49568}"/>
              </a:ext>
            </a:extLst>
          </p:cNvPr>
          <p:cNvSpPr>
            <a:spLocks noGrp="1"/>
          </p:cNvSpPr>
          <p:nvPr/>
        </p:nvSpPr>
        <p:spPr>
          <a:xfrm>
            <a:off x="6858000" y="175260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Physical order in C</a:t>
            </a:r>
          </a:p>
        </p:txBody>
      </p:sp>
      <p:sp>
        <p:nvSpPr>
          <p:cNvPr id="23" name="array-cell">
            <a:extLst>
              <a:ext uri="{FF2B5EF4-FFF2-40B4-BE49-F238E27FC236}">
                <a16:creationId xmlns:a16="http://schemas.microsoft.com/office/drawing/2014/main" id="{0A77EE1D-D39C-4155-8BB8-94D93CF0C144}"/>
              </a:ext>
            </a:extLst>
          </p:cNvPr>
          <p:cNvSpPr>
            <a:spLocks noGrp="1"/>
          </p:cNvSpPr>
          <p:nvPr/>
        </p:nvSpPr>
        <p:spPr>
          <a:xfrm>
            <a:off x="6515100" y="2609850"/>
            <a:ext cx="781050" cy="60960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rray-value">
            <a:extLst>
              <a:ext uri="{FF2B5EF4-FFF2-40B4-BE49-F238E27FC236}">
                <a16:creationId xmlns:a16="http://schemas.microsoft.com/office/drawing/2014/main" id="{F924F78F-8FE2-4D9C-997A-D11C7FB28729}"/>
              </a:ext>
            </a:extLst>
          </p:cNvPr>
          <p:cNvSpPr>
            <a:spLocks noGrp="1"/>
          </p:cNvSpPr>
          <p:nvPr/>
        </p:nvSpPr>
        <p:spPr>
          <a:xfrm>
            <a:off x="6534150" y="2628900"/>
            <a:ext cx="74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5" name="array-cell">
            <a:extLst>
              <a:ext uri="{FF2B5EF4-FFF2-40B4-BE49-F238E27FC236}">
                <a16:creationId xmlns:a16="http://schemas.microsoft.com/office/drawing/2014/main" id="{C4ABDD6E-B123-4DBF-8620-2322B9A9AC82}"/>
              </a:ext>
            </a:extLst>
          </p:cNvPr>
          <p:cNvSpPr>
            <a:spLocks noGrp="1"/>
          </p:cNvSpPr>
          <p:nvPr/>
        </p:nvSpPr>
        <p:spPr>
          <a:xfrm>
            <a:off x="7296150" y="2609850"/>
            <a:ext cx="781050" cy="60960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rray-value">
            <a:extLst>
              <a:ext uri="{FF2B5EF4-FFF2-40B4-BE49-F238E27FC236}">
                <a16:creationId xmlns:a16="http://schemas.microsoft.com/office/drawing/2014/main" id="{54A8FCD2-60C1-441F-81E4-834734167630}"/>
              </a:ext>
            </a:extLst>
          </p:cNvPr>
          <p:cNvSpPr>
            <a:spLocks noGrp="1"/>
          </p:cNvSpPr>
          <p:nvPr/>
        </p:nvSpPr>
        <p:spPr>
          <a:xfrm>
            <a:off x="7315200" y="2628900"/>
            <a:ext cx="74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7" name="array-cell">
            <a:extLst>
              <a:ext uri="{FF2B5EF4-FFF2-40B4-BE49-F238E27FC236}">
                <a16:creationId xmlns:a16="http://schemas.microsoft.com/office/drawing/2014/main" id="{76680862-D7F3-465B-8E6B-CF0D3B04C3A8}"/>
              </a:ext>
            </a:extLst>
          </p:cNvPr>
          <p:cNvSpPr>
            <a:spLocks noGrp="1"/>
          </p:cNvSpPr>
          <p:nvPr/>
        </p:nvSpPr>
        <p:spPr>
          <a:xfrm>
            <a:off x="8077200" y="2609850"/>
            <a:ext cx="781050" cy="60960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rray-value">
            <a:extLst>
              <a:ext uri="{FF2B5EF4-FFF2-40B4-BE49-F238E27FC236}">
                <a16:creationId xmlns:a16="http://schemas.microsoft.com/office/drawing/2014/main" id="{AB097562-0E84-4F1D-BF6F-41CC6CF0A022}"/>
              </a:ext>
            </a:extLst>
          </p:cNvPr>
          <p:cNvSpPr>
            <a:spLocks noGrp="1"/>
          </p:cNvSpPr>
          <p:nvPr/>
        </p:nvSpPr>
        <p:spPr>
          <a:xfrm>
            <a:off x="8096250" y="2628900"/>
            <a:ext cx="74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9" name="array-cell">
            <a:extLst>
              <a:ext uri="{FF2B5EF4-FFF2-40B4-BE49-F238E27FC236}">
                <a16:creationId xmlns:a16="http://schemas.microsoft.com/office/drawing/2014/main" id="{235D16F8-C147-4C5C-8B32-FEE6452DD041}"/>
              </a:ext>
            </a:extLst>
          </p:cNvPr>
          <p:cNvSpPr>
            <a:spLocks noGrp="1"/>
          </p:cNvSpPr>
          <p:nvPr/>
        </p:nvSpPr>
        <p:spPr>
          <a:xfrm>
            <a:off x="8858250" y="2609850"/>
            <a:ext cx="781050" cy="60960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rray-value">
            <a:extLst>
              <a:ext uri="{FF2B5EF4-FFF2-40B4-BE49-F238E27FC236}">
                <a16:creationId xmlns:a16="http://schemas.microsoft.com/office/drawing/2014/main" id="{E0DA25CF-17BB-4A9B-A52D-C60747A6428E}"/>
              </a:ext>
            </a:extLst>
          </p:cNvPr>
          <p:cNvSpPr>
            <a:spLocks noGrp="1"/>
          </p:cNvSpPr>
          <p:nvPr/>
        </p:nvSpPr>
        <p:spPr>
          <a:xfrm>
            <a:off x="8877300" y="2628900"/>
            <a:ext cx="74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31" name="array-cell">
            <a:extLst>
              <a:ext uri="{FF2B5EF4-FFF2-40B4-BE49-F238E27FC236}">
                <a16:creationId xmlns:a16="http://schemas.microsoft.com/office/drawing/2014/main" id="{7CB43BBE-606E-4A35-A8E3-456779F78371}"/>
              </a:ext>
            </a:extLst>
          </p:cNvPr>
          <p:cNvSpPr>
            <a:spLocks noGrp="1"/>
          </p:cNvSpPr>
          <p:nvPr/>
        </p:nvSpPr>
        <p:spPr>
          <a:xfrm>
            <a:off x="9639300" y="2609850"/>
            <a:ext cx="781050" cy="60960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rray-value">
            <a:extLst>
              <a:ext uri="{FF2B5EF4-FFF2-40B4-BE49-F238E27FC236}">
                <a16:creationId xmlns:a16="http://schemas.microsoft.com/office/drawing/2014/main" id="{D504B1F0-7811-40BA-817B-B9AC40C4B340}"/>
              </a:ext>
            </a:extLst>
          </p:cNvPr>
          <p:cNvSpPr>
            <a:spLocks noGrp="1"/>
          </p:cNvSpPr>
          <p:nvPr/>
        </p:nvSpPr>
        <p:spPr>
          <a:xfrm>
            <a:off x="9658350" y="2628900"/>
            <a:ext cx="74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33" name="array-cell">
            <a:extLst>
              <a:ext uri="{FF2B5EF4-FFF2-40B4-BE49-F238E27FC236}">
                <a16:creationId xmlns:a16="http://schemas.microsoft.com/office/drawing/2014/main" id="{1C153566-D1B4-4C93-85DE-E4E9556BB119}"/>
              </a:ext>
            </a:extLst>
          </p:cNvPr>
          <p:cNvSpPr>
            <a:spLocks noGrp="1"/>
          </p:cNvSpPr>
          <p:nvPr/>
        </p:nvSpPr>
        <p:spPr>
          <a:xfrm>
            <a:off x="10420350" y="2609850"/>
            <a:ext cx="781050" cy="60960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rray-value">
            <a:extLst>
              <a:ext uri="{FF2B5EF4-FFF2-40B4-BE49-F238E27FC236}">
                <a16:creationId xmlns:a16="http://schemas.microsoft.com/office/drawing/2014/main" id="{EC2F17A1-428D-4ACA-A116-5FCF26380EDA}"/>
              </a:ext>
            </a:extLst>
          </p:cNvPr>
          <p:cNvSpPr>
            <a:spLocks noGrp="1"/>
          </p:cNvSpPr>
          <p:nvPr/>
        </p:nvSpPr>
        <p:spPr>
          <a:xfrm>
            <a:off x="10439400" y="2628900"/>
            <a:ext cx="74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  <p:sp>
        <p:nvSpPr>
          <p:cNvPr id="35" name="row0-label">
            <a:extLst>
              <a:ext uri="{FF2B5EF4-FFF2-40B4-BE49-F238E27FC236}">
                <a16:creationId xmlns:a16="http://schemas.microsoft.com/office/drawing/2014/main" id="{662AEBD1-E1BA-44B1-9416-0F3E6A79DD37}"/>
              </a:ext>
            </a:extLst>
          </p:cNvPr>
          <p:cNvSpPr>
            <a:spLocks noGrp="1"/>
          </p:cNvSpPr>
          <p:nvPr/>
        </p:nvSpPr>
        <p:spPr>
          <a:xfrm>
            <a:off x="6667500" y="34099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row 0 first</a:t>
            </a:r>
          </a:p>
        </p:txBody>
      </p:sp>
      <p:sp>
        <p:nvSpPr>
          <p:cNvPr id="36" name="row1-label">
            <a:extLst>
              <a:ext uri="{FF2B5EF4-FFF2-40B4-BE49-F238E27FC236}">
                <a16:creationId xmlns:a16="http://schemas.microsoft.com/office/drawing/2014/main" id="{34A67E75-3A30-4046-A213-AB789F0450BC}"/>
              </a:ext>
            </a:extLst>
          </p:cNvPr>
          <p:cNvSpPr>
            <a:spLocks noGrp="1"/>
          </p:cNvSpPr>
          <p:nvPr/>
        </p:nvSpPr>
        <p:spPr>
          <a:xfrm>
            <a:off x="9010650" y="34099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then row 1</a:t>
            </a:r>
          </a:p>
        </p:txBody>
      </p:sp>
      <p:sp>
        <p:nvSpPr>
          <p:cNvPr id="37" name="code-panel">
            <a:extLst>
              <a:ext uri="{FF2B5EF4-FFF2-40B4-BE49-F238E27FC236}">
                <a16:creationId xmlns:a16="http://schemas.microsoft.com/office/drawing/2014/main" id="{52405591-B887-4B4F-BAB0-499B0558D31B}"/>
              </a:ext>
            </a:extLst>
          </p:cNvPr>
          <p:cNvSpPr>
            <a:spLocks noGrp="1"/>
          </p:cNvSpPr>
          <p:nvPr/>
        </p:nvSpPr>
        <p:spPr>
          <a:xfrm>
            <a:off x="3400425" y="4267200"/>
            <a:ext cx="5391150" cy="180975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ode-label">
            <a:extLst>
              <a:ext uri="{FF2B5EF4-FFF2-40B4-BE49-F238E27FC236}">
                <a16:creationId xmlns:a16="http://schemas.microsoft.com/office/drawing/2014/main" id="{1E0C1BE0-A4A1-4343-A782-D30DDD24B64D}"/>
              </a:ext>
            </a:extLst>
          </p:cNvPr>
          <p:cNvSpPr>
            <a:spLocks noGrp="1"/>
          </p:cNvSpPr>
          <p:nvPr/>
        </p:nvSpPr>
        <p:spPr>
          <a:xfrm>
            <a:off x="3590925" y="4400550"/>
            <a:ext cx="501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 DECLARATION</a:t>
            </a:r>
          </a:p>
        </p:txBody>
      </p:sp>
      <p:sp>
        <p:nvSpPr>
          <p:cNvPr id="39" name="code-text">
            <a:extLst>
              <a:ext uri="{FF2B5EF4-FFF2-40B4-BE49-F238E27FC236}">
                <a16:creationId xmlns:a16="http://schemas.microsoft.com/office/drawing/2014/main" id="{B90B1829-B69D-4616-9589-770AA29CF900}"/>
              </a:ext>
            </a:extLst>
          </p:cNvPr>
          <p:cNvSpPr>
            <a:spLocks noGrp="1"/>
          </p:cNvSpPr>
          <p:nvPr/>
        </p:nvSpPr>
        <p:spPr>
          <a:xfrm>
            <a:off x="3590925" y="4724400"/>
            <a:ext cx="50101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int m[2][3] =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{11, 12, 13},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{21, 22, 23}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07311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esson-label">
            <a:extLst>
              <a:ext uri="{FF2B5EF4-FFF2-40B4-BE49-F238E27FC236}">
                <a16:creationId xmlns:a16="http://schemas.microsoft.com/office/drawing/2014/main" id="{E41C38F2-6DCF-4321-98B8-11074A93AB0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580E745-6468-4CF3-95AC-6EB9EFA70B7E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 stores 2D arrays in row-major order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384B00B0-7B99-46BF-9A36-82A7E6D71A9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FFF83870-1D8B-4E99-AB94-B073A1631D28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7C749440-EB48-4A40-A53D-B536D22A55B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F68EA375-7049-4C37-BB05-5B964CBABACB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ow-major-formula-band">
            <a:extLst>
              <a:ext uri="{FF2B5EF4-FFF2-40B4-BE49-F238E27FC236}">
                <a16:creationId xmlns:a16="http://schemas.microsoft.com/office/drawing/2014/main" id="{75C7B2EF-685C-4C73-B3A9-6CCE18DF157F}"/>
              </a:ext>
            </a:extLst>
          </p:cNvPr>
          <p:cNvSpPr>
            <a:spLocks noGrp="1"/>
          </p:cNvSpPr>
          <p:nvPr/>
        </p:nvSpPr>
        <p:spPr>
          <a:xfrm>
            <a:off x="990600" y="1714500"/>
            <a:ext cx="10210800" cy="876300"/>
          </a:xfrm>
          <a:prstGeom prst="roundRect">
            <a:avLst>
              <a:gd name="adj" fmla="val 10870"/>
            </a:avLst>
          </a:prstGeom>
          <a:solidFill>
            <a:srgbClr val="EDF4FF"/>
          </a:solidFill>
          <a:ln w="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-major-formula">
            <a:extLst>
              <a:ext uri="{FF2B5EF4-FFF2-40B4-BE49-F238E27FC236}">
                <a16:creationId xmlns:a16="http://schemas.microsoft.com/office/drawing/2014/main" id="{2D89570B-856B-43D0-B107-4E99E493AD04}"/>
              </a:ext>
            </a:extLst>
          </p:cNvPr>
          <p:cNvSpPr>
            <a:spLocks noGrp="1"/>
          </p:cNvSpPr>
          <p:nvPr/>
        </p:nvSpPr>
        <p:spPr>
          <a:xfrm>
            <a:off x="1181100" y="1847850"/>
            <a:ext cx="982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550" b="1">
                <a:solidFill>
                  <a:srgbClr val="12324A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12324A"/>
                </a:solidFill>
                <a:latin typeface="Consolas"/>
                <a:ea typeface="Consolas"/>
                <a:cs typeface="Consolas"/>
              </a:rPr>
              <a:t>LOC(A[i][j]) = Base + w × [(i − Lr) × N + (j − Lc)]</a:t>
            </a:r>
          </a:p>
        </p:txBody>
      </p:sp>
      <p:sp>
        <p:nvSpPr>
          <p:cNvPr id="9" name="n-definition">
            <a:extLst>
              <a:ext uri="{FF2B5EF4-FFF2-40B4-BE49-F238E27FC236}">
                <a16:creationId xmlns:a16="http://schemas.microsoft.com/office/drawing/2014/main" id="{1946B983-083D-411D-89C1-E6AADFB8E737}"/>
              </a:ext>
            </a:extLst>
          </p:cNvPr>
          <p:cNvSpPr>
            <a:spLocks noGrp="1"/>
          </p:cNvSpPr>
          <p:nvPr/>
        </p:nvSpPr>
        <p:spPr>
          <a:xfrm>
            <a:off x="1200150" y="2867025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 = number of columns</a:t>
            </a:r>
          </a:p>
        </p:txBody>
      </p:sp>
      <p:sp>
        <p:nvSpPr>
          <p:cNvPr id="10" name="stride-explanation">
            <a:extLst>
              <a:ext uri="{FF2B5EF4-FFF2-40B4-BE49-F238E27FC236}">
                <a16:creationId xmlns:a16="http://schemas.microsoft.com/office/drawing/2014/main" id="{6294A327-413C-4EA6-B4DD-51E667EB77CB}"/>
              </a:ext>
            </a:extLst>
          </p:cNvPr>
          <p:cNvSpPr>
            <a:spLocks noGrp="1"/>
          </p:cNvSpPr>
          <p:nvPr/>
        </p:nvSpPr>
        <p:spPr>
          <a:xfrm>
            <a:off x="1200150" y="3276600"/>
            <a:ext cx="4953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25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One complete row contributes N elements to the offset.</a:t>
            </a:r>
          </a:p>
        </p:txBody>
      </p:sp>
      <p:sp>
        <p:nvSpPr>
          <p:cNvPr id="11" name="sequence-label">
            <a:extLst>
              <a:ext uri="{FF2B5EF4-FFF2-40B4-BE49-F238E27FC236}">
                <a16:creationId xmlns:a16="http://schemas.microsoft.com/office/drawing/2014/main" id="{ADA75B28-E136-4CBD-B3CD-C48704905AD2}"/>
              </a:ext>
            </a:extLst>
          </p:cNvPr>
          <p:cNvSpPr>
            <a:spLocks noGrp="1"/>
          </p:cNvSpPr>
          <p:nvPr/>
        </p:nvSpPr>
        <p:spPr>
          <a:xfrm>
            <a:off x="6705600" y="2867025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Storage sequence</a:t>
            </a:r>
          </a:p>
        </p:txBody>
      </p:sp>
      <p:sp>
        <p:nvSpPr>
          <p:cNvPr id="12" name="array-cell">
            <a:extLst>
              <a:ext uri="{FF2B5EF4-FFF2-40B4-BE49-F238E27FC236}">
                <a16:creationId xmlns:a16="http://schemas.microsoft.com/office/drawing/2014/main" id="{9C2A4CCC-1296-418A-9C07-74AB46D3241A}"/>
              </a:ext>
            </a:extLst>
          </p:cNvPr>
          <p:cNvSpPr>
            <a:spLocks noGrp="1"/>
          </p:cNvSpPr>
          <p:nvPr/>
        </p:nvSpPr>
        <p:spPr>
          <a:xfrm>
            <a:off x="6705600" y="3524250"/>
            <a:ext cx="742950" cy="57150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rray-value">
            <a:extLst>
              <a:ext uri="{FF2B5EF4-FFF2-40B4-BE49-F238E27FC236}">
                <a16:creationId xmlns:a16="http://schemas.microsoft.com/office/drawing/2014/main" id="{BB32DE41-1156-415C-AE50-0DC8BF1468C0}"/>
              </a:ext>
            </a:extLst>
          </p:cNvPr>
          <p:cNvSpPr>
            <a:spLocks noGrp="1"/>
          </p:cNvSpPr>
          <p:nvPr/>
        </p:nvSpPr>
        <p:spPr>
          <a:xfrm>
            <a:off x="6724650" y="3543300"/>
            <a:ext cx="704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a00</a:t>
            </a:r>
          </a:p>
        </p:txBody>
      </p:sp>
      <p:sp>
        <p:nvSpPr>
          <p:cNvPr id="14" name="array-cell">
            <a:extLst>
              <a:ext uri="{FF2B5EF4-FFF2-40B4-BE49-F238E27FC236}">
                <a16:creationId xmlns:a16="http://schemas.microsoft.com/office/drawing/2014/main" id="{B989D44F-A12D-4198-BB96-119F25EA0950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742950" cy="57150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rray-value">
            <a:extLst>
              <a:ext uri="{FF2B5EF4-FFF2-40B4-BE49-F238E27FC236}">
                <a16:creationId xmlns:a16="http://schemas.microsoft.com/office/drawing/2014/main" id="{96007E1B-16B0-4A81-8935-B248AAC19EF1}"/>
              </a:ext>
            </a:extLst>
          </p:cNvPr>
          <p:cNvSpPr>
            <a:spLocks noGrp="1"/>
          </p:cNvSpPr>
          <p:nvPr/>
        </p:nvSpPr>
        <p:spPr>
          <a:xfrm>
            <a:off x="7467600" y="3543300"/>
            <a:ext cx="704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a01</a:t>
            </a:r>
          </a:p>
        </p:txBody>
      </p:sp>
      <p:sp>
        <p:nvSpPr>
          <p:cNvPr id="16" name="array-cell">
            <a:extLst>
              <a:ext uri="{FF2B5EF4-FFF2-40B4-BE49-F238E27FC236}">
                <a16:creationId xmlns:a16="http://schemas.microsoft.com/office/drawing/2014/main" id="{8EE97AEB-B3C2-4CA1-899F-61C65265392C}"/>
              </a:ext>
            </a:extLst>
          </p:cNvPr>
          <p:cNvSpPr>
            <a:spLocks noGrp="1"/>
          </p:cNvSpPr>
          <p:nvPr/>
        </p:nvSpPr>
        <p:spPr>
          <a:xfrm>
            <a:off x="8191500" y="3524250"/>
            <a:ext cx="742950" cy="57150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rray-value">
            <a:extLst>
              <a:ext uri="{FF2B5EF4-FFF2-40B4-BE49-F238E27FC236}">
                <a16:creationId xmlns:a16="http://schemas.microsoft.com/office/drawing/2014/main" id="{244F6C5E-91A6-4214-A569-B1FADBE77AC6}"/>
              </a:ext>
            </a:extLst>
          </p:cNvPr>
          <p:cNvSpPr>
            <a:spLocks noGrp="1"/>
          </p:cNvSpPr>
          <p:nvPr/>
        </p:nvSpPr>
        <p:spPr>
          <a:xfrm>
            <a:off x="8210550" y="3543300"/>
            <a:ext cx="704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a02</a:t>
            </a:r>
          </a:p>
        </p:txBody>
      </p:sp>
      <p:sp>
        <p:nvSpPr>
          <p:cNvPr id="18" name="array-cell">
            <a:extLst>
              <a:ext uri="{FF2B5EF4-FFF2-40B4-BE49-F238E27FC236}">
                <a16:creationId xmlns:a16="http://schemas.microsoft.com/office/drawing/2014/main" id="{C909A048-580D-4046-8C3B-2A8B0533A470}"/>
              </a:ext>
            </a:extLst>
          </p:cNvPr>
          <p:cNvSpPr>
            <a:spLocks noGrp="1"/>
          </p:cNvSpPr>
          <p:nvPr/>
        </p:nvSpPr>
        <p:spPr>
          <a:xfrm>
            <a:off x="8934450" y="3524250"/>
            <a:ext cx="742950" cy="57150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rray-value">
            <a:extLst>
              <a:ext uri="{FF2B5EF4-FFF2-40B4-BE49-F238E27FC236}">
                <a16:creationId xmlns:a16="http://schemas.microsoft.com/office/drawing/2014/main" id="{4A024451-1896-47E0-BBB5-9E83CCEC87C0}"/>
              </a:ext>
            </a:extLst>
          </p:cNvPr>
          <p:cNvSpPr>
            <a:spLocks noGrp="1"/>
          </p:cNvSpPr>
          <p:nvPr/>
        </p:nvSpPr>
        <p:spPr>
          <a:xfrm>
            <a:off x="8953500" y="3543300"/>
            <a:ext cx="704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a10</a:t>
            </a:r>
          </a:p>
        </p:txBody>
      </p:sp>
      <p:sp>
        <p:nvSpPr>
          <p:cNvPr id="20" name="array-cell">
            <a:extLst>
              <a:ext uri="{FF2B5EF4-FFF2-40B4-BE49-F238E27FC236}">
                <a16:creationId xmlns:a16="http://schemas.microsoft.com/office/drawing/2014/main" id="{E1C4D5C2-E1FE-4047-B88C-E996CBD75B5C}"/>
              </a:ext>
            </a:extLst>
          </p:cNvPr>
          <p:cNvSpPr>
            <a:spLocks noGrp="1"/>
          </p:cNvSpPr>
          <p:nvPr/>
        </p:nvSpPr>
        <p:spPr>
          <a:xfrm>
            <a:off x="9677400" y="3524250"/>
            <a:ext cx="742950" cy="57150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rray-value">
            <a:extLst>
              <a:ext uri="{FF2B5EF4-FFF2-40B4-BE49-F238E27FC236}">
                <a16:creationId xmlns:a16="http://schemas.microsoft.com/office/drawing/2014/main" id="{F207BC9A-2957-42D6-9156-9742F11FBA78}"/>
              </a:ext>
            </a:extLst>
          </p:cNvPr>
          <p:cNvSpPr>
            <a:spLocks noGrp="1"/>
          </p:cNvSpPr>
          <p:nvPr/>
        </p:nvSpPr>
        <p:spPr>
          <a:xfrm>
            <a:off x="9696450" y="3543300"/>
            <a:ext cx="704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a11</a:t>
            </a:r>
          </a:p>
        </p:txBody>
      </p:sp>
      <p:sp>
        <p:nvSpPr>
          <p:cNvPr id="22" name="array-cell">
            <a:extLst>
              <a:ext uri="{FF2B5EF4-FFF2-40B4-BE49-F238E27FC236}">
                <a16:creationId xmlns:a16="http://schemas.microsoft.com/office/drawing/2014/main" id="{915664EA-8B0C-47CC-8A20-A3F12F617593}"/>
              </a:ext>
            </a:extLst>
          </p:cNvPr>
          <p:cNvSpPr>
            <a:spLocks noGrp="1"/>
          </p:cNvSpPr>
          <p:nvPr/>
        </p:nvSpPr>
        <p:spPr>
          <a:xfrm>
            <a:off x="10420350" y="3524250"/>
            <a:ext cx="742950" cy="57150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rray-value">
            <a:extLst>
              <a:ext uri="{FF2B5EF4-FFF2-40B4-BE49-F238E27FC236}">
                <a16:creationId xmlns:a16="http://schemas.microsoft.com/office/drawing/2014/main" id="{AC042531-49E7-4E74-BA62-0C60A1F3EB51}"/>
              </a:ext>
            </a:extLst>
          </p:cNvPr>
          <p:cNvSpPr>
            <a:spLocks noGrp="1"/>
          </p:cNvSpPr>
          <p:nvPr/>
        </p:nvSpPr>
        <p:spPr>
          <a:xfrm>
            <a:off x="10439400" y="3543300"/>
            <a:ext cx="704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a12</a:t>
            </a:r>
          </a:p>
        </p:txBody>
      </p:sp>
      <p:sp>
        <p:nvSpPr>
          <p:cNvPr id="24" name="skip-rows">
            <a:extLst>
              <a:ext uri="{FF2B5EF4-FFF2-40B4-BE49-F238E27FC236}">
                <a16:creationId xmlns:a16="http://schemas.microsoft.com/office/drawing/2014/main" id="{2D847D3C-1E1F-4E9C-9949-1183165A48C2}"/>
              </a:ext>
            </a:extLst>
          </p:cNvPr>
          <p:cNvSpPr>
            <a:spLocks noGrp="1"/>
          </p:cNvSpPr>
          <p:nvPr/>
        </p:nvSpPr>
        <p:spPr>
          <a:xfrm>
            <a:off x="1524000" y="45720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1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skip i rows</a:t>
            </a:r>
          </a:p>
        </p:txBody>
      </p:sp>
      <p:sp>
        <p:nvSpPr>
          <p:cNvPr id="25" name="move-columns">
            <a:extLst>
              <a:ext uri="{FF2B5EF4-FFF2-40B4-BE49-F238E27FC236}">
                <a16:creationId xmlns:a16="http://schemas.microsoft.com/office/drawing/2014/main" id="{5B236145-4A5C-46BF-9550-E739C1E28A47}"/>
              </a:ext>
            </a:extLst>
          </p:cNvPr>
          <p:cNvSpPr>
            <a:spLocks noGrp="1"/>
          </p:cNvSpPr>
          <p:nvPr/>
        </p:nvSpPr>
        <p:spPr>
          <a:xfrm>
            <a:off x="4343400" y="45720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then move j columns</a:t>
            </a:r>
          </a:p>
        </p:txBody>
      </p:sp>
      <p:sp>
        <p:nvSpPr>
          <p:cNvPr id="26" name="offset-equation">
            <a:extLst>
              <a:ext uri="{FF2B5EF4-FFF2-40B4-BE49-F238E27FC236}">
                <a16:creationId xmlns:a16="http://schemas.microsoft.com/office/drawing/2014/main" id="{E02F6CD9-2077-48BA-90AB-825C63126B8D}"/>
              </a:ext>
            </a:extLst>
          </p:cNvPr>
          <p:cNvSpPr>
            <a:spLocks noGrp="1"/>
          </p:cNvSpPr>
          <p:nvPr/>
        </p:nvSpPr>
        <p:spPr>
          <a:xfrm>
            <a:off x="7524750" y="4572000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250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offset = i × N + j</a:t>
            </a:r>
          </a:p>
        </p:txBody>
      </p:sp>
    </p:spTree>
    <p:extLst>
      <p:ext uri="{BB962C8B-B14F-4D97-AF65-F5344CB8AC3E}">
        <p14:creationId xmlns:p14="http://schemas.microsoft.com/office/powerpoint/2010/main" val="1977549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esson-label">
            <a:extLst>
              <a:ext uri="{FF2B5EF4-FFF2-40B4-BE49-F238E27FC236}">
                <a16:creationId xmlns:a16="http://schemas.microsoft.com/office/drawing/2014/main" id="{80C6E360-64F4-4BE7-8925-DC840E4D4E86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A50F256-194C-4A33-8919-EB4341EAE5DF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Use the row-major formula to compute any address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2DF7C211-320B-44BC-A6A2-8183160A8D27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774C1847-8B85-420E-AE56-BEE388B6A0B8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307FE5B7-51D3-46FA-B021-65DE17D65F40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19569F8C-2EE6-4014-8947-84FD607128E6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given">
            <a:extLst>
              <a:ext uri="{FF2B5EF4-FFF2-40B4-BE49-F238E27FC236}">
                <a16:creationId xmlns:a16="http://schemas.microsoft.com/office/drawing/2014/main" id="{0F54F425-B35F-469D-B5B9-9F1618A044C1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Given: int A[3][4], Base = 1000, w = 4 bytes</a:t>
            </a:r>
          </a:p>
        </p:txBody>
      </p:sp>
      <p:sp>
        <p:nvSpPr>
          <p:cNvPr id="8" name="matrix-cell">
            <a:extLst>
              <a:ext uri="{FF2B5EF4-FFF2-40B4-BE49-F238E27FC236}">
                <a16:creationId xmlns:a16="http://schemas.microsoft.com/office/drawing/2014/main" id="{8266B99E-8987-4BE4-8286-D4A6E3259F08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857250" cy="57150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matrix-value">
            <a:extLst>
              <a:ext uri="{FF2B5EF4-FFF2-40B4-BE49-F238E27FC236}">
                <a16:creationId xmlns:a16="http://schemas.microsoft.com/office/drawing/2014/main" id="{8C6A46E1-5B0E-45AB-95C2-881888B42772}"/>
              </a:ext>
            </a:extLst>
          </p:cNvPr>
          <p:cNvSpPr>
            <a:spLocks noGrp="1"/>
          </p:cNvSpPr>
          <p:nvPr/>
        </p:nvSpPr>
        <p:spPr>
          <a:xfrm>
            <a:off x="781050" y="25050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A00</a:t>
            </a:r>
          </a:p>
        </p:txBody>
      </p:sp>
      <p:sp>
        <p:nvSpPr>
          <p:cNvPr id="10" name="matrix-cell">
            <a:extLst>
              <a:ext uri="{FF2B5EF4-FFF2-40B4-BE49-F238E27FC236}">
                <a16:creationId xmlns:a16="http://schemas.microsoft.com/office/drawing/2014/main" id="{AC2C4D0D-C893-4D56-8642-389C3CCCAFEA}"/>
              </a:ext>
            </a:extLst>
          </p:cNvPr>
          <p:cNvSpPr>
            <a:spLocks noGrp="1"/>
          </p:cNvSpPr>
          <p:nvPr/>
        </p:nvSpPr>
        <p:spPr>
          <a:xfrm>
            <a:off x="1638300" y="2495550"/>
            <a:ext cx="857250" cy="57150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matrix-value">
            <a:extLst>
              <a:ext uri="{FF2B5EF4-FFF2-40B4-BE49-F238E27FC236}">
                <a16:creationId xmlns:a16="http://schemas.microsoft.com/office/drawing/2014/main" id="{81467120-4BA6-4D7A-94D0-95D5747C35A2}"/>
              </a:ext>
            </a:extLst>
          </p:cNvPr>
          <p:cNvSpPr>
            <a:spLocks noGrp="1"/>
          </p:cNvSpPr>
          <p:nvPr/>
        </p:nvSpPr>
        <p:spPr>
          <a:xfrm>
            <a:off x="1638300" y="25050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A01</a:t>
            </a:r>
          </a:p>
        </p:txBody>
      </p:sp>
      <p:sp>
        <p:nvSpPr>
          <p:cNvPr id="12" name="matrix-cell">
            <a:extLst>
              <a:ext uri="{FF2B5EF4-FFF2-40B4-BE49-F238E27FC236}">
                <a16:creationId xmlns:a16="http://schemas.microsoft.com/office/drawing/2014/main" id="{C5336DF5-48B5-48DF-AB30-AFF77B1AAA5E}"/>
              </a:ext>
            </a:extLst>
          </p:cNvPr>
          <p:cNvSpPr>
            <a:spLocks noGrp="1"/>
          </p:cNvSpPr>
          <p:nvPr/>
        </p:nvSpPr>
        <p:spPr>
          <a:xfrm>
            <a:off x="2495550" y="2495550"/>
            <a:ext cx="857250" cy="57150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matrix-value">
            <a:extLst>
              <a:ext uri="{FF2B5EF4-FFF2-40B4-BE49-F238E27FC236}">
                <a16:creationId xmlns:a16="http://schemas.microsoft.com/office/drawing/2014/main" id="{B9627A13-C45A-4240-8CB4-64F9686F6583}"/>
              </a:ext>
            </a:extLst>
          </p:cNvPr>
          <p:cNvSpPr>
            <a:spLocks noGrp="1"/>
          </p:cNvSpPr>
          <p:nvPr/>
        </p:nvSpPr>
        <p:spPr>
          <a:xfrm>
            <a:off x="2495550" y="25050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A02</a:t>
            </a:r>
          </a:p>
        </p:txBody>
      </p:sp>
      <p:sp>
        <p:nvSpPr>
          <p:cNvPr id="14" name="matrix-cell">
            <a:extLst>
              <a:ext uri="{FF2B5EF4-FFF2-40B4-BE49-F238E27FC236}">
                <a16:creationId xmlns:a16="http://schemas.microsoft.com/office/drawing/2014/main" id="{3A772DAF-A699-44E3-BC45-346DCD55CE4A}"/>
              </a:ext>
            </a:extLst>
          </p:cNvPr>
          <p:cNvSpPr>
            <a:spLocks noGrp="1"/>
          </p:cNvSpPr>
          <p:nvPr/>
        </p:nvSpPr>
        <p:spPr>
          <a:xfrm>
            <a:off x="3352800" y="2495550"/>
            <a:ext cx="857250" cy="57150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matrix-value">
            <a:extLst>
              <a:ext uri="{FF2B5EF4-FFF2-40B4-BE49-F238E27FC236}">
                <a16:creationId xmlns:a16="http://schemas.microsoft.com/office/drawing/2014/main" id="{BC4DE029-05E4-45FE-ACBE-60404B1777B1}"/>
              </a:ext>
            </a:extLst>
          </p:cNvPr>
          <p:cNvSpPr>
            <a:spLocks noGrp="1"/>
          </p:cNvSpPr>
          <p:nvPr/>
        </p:nvSpPr>
        <p:spPr>
          <a:xfrm>
            <a:off x="3352800" y="25050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A03</a:t>
            </a:r>
          </a:p>
        </p:txBody>
      </p:sp>
      <p:sp>
        <p:nvSpPr>
          <p:cNvPr id="16" name="matrix-cell">
            <a:extLst>
              <a:ext uri="{FF2B5EF4-FFF2-40B4-BE49-F238E27FC236}">
                <a16:creationId xmlns:a16="http://schemas.microsoft.com/office/drawing/2014/main" id="{DCEB0322-9CD5-41C5-803C-31C956A1ED5F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857250" cy="57150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matrix-value">
            <a:extLst>
              <a:ext uri="{FF2B5EF4-FFF2-40B4-BE49-F238E27FC236}">
                <a16:creationId xmlns:a16="http://schemas.microsoft.com/office/drawing/2014/main" id="{824E2033-7DBE-477E-B309-E97A5511064F}"/>
              </a:ext>
            </a:extLst>
          </p:cNvPr>
          <p:cNvSpPr>
            <a:spLocks noGrp="1"/>
          </p:cNvSpPr>
          <p:nvPr/>
        </p:nvSpPr>
        <p:spPr>
          <a:xfrm>
            <a:off x="781050" y="30765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A10</a:t>
            </a:r>
          </a:p>
        </p:txBody>
      </p:sp>
      <p:sp>
        <p:nvSpPr>
          <p:cNvPr id="18" name="matrix-cell">
            <a:extLst>
              <a:ext uri="{FF2B5EF4-FFF2-40B4-BE49-F238E27FC236}">
                <a16:creationId xmlns:a16="http://schemas.microsoft.com/office/drawing/2014/main" id="{7A69FBDE-DB18-42E8-B0E8-1F82A4338924}"/>
              </a:ext>
            </a:extLst>
          </p:cNvPr>
          <p:cNvSpPr>
            <a:spLocks noGrp="1"/>
          </p:cNvSpPr>
          <p:nvPr/>
        </p:nvSpPr>
        <p:spPr>
          <a:xfrm>
            <a:off x="1638300" y="3067050"/>
            <a:ext cx="857250" cy="57150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matrix-value">
            <a:extLst>
              <a:ext uri="{FF2B5EF4-FFF2-40B4-BE49-F238E27FC236}">
                <a16:creationId xmlns:a16="http://schemas.microsoft.com/office/drawing/2014/main" id="{0472571D-3ACD-428E-8445-10EFBD25AAD3}"/>
              </a:ext>
            </a:extLst>
          </p:cNvPr>
          <p:cNvSpPr>
            <a:spLocks noGrp="1"/>
          </p:cNvSpPr>
          <p:nvPr/>
        </p:nvSpPr>
        <p:spPr>
          <a:xfrm>
            <a:off x="1638300" y="30765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A11</a:t>
            </a:r>
          </a:p>
        </p:txBody>
      </p:sp>
      <p:sp>
        <p:nvSpPr>
          <p:cNvPr id="20" name="matrix-cell">
            <a:extLst>
              <a:ext uri="{FF2B5EF4-FFF2-40B4-BE49-F238E27FC236}">
                <a16:creationId xmlns:a16="http://schemas.microsoft.com/office/drawing/2014/main" id="{35D94B18-43FB-4508-87F8-E52953008455}"/>
              </a:ext>
            </a:extLst>
          </p:cNvPr>
          <p:cNvSpPr>
            <a:spLocks noGrp="1"/>
          </p:cNvSpPr>
          <p:nvPr/>
        </p:nvSpPr>
        <p:spPr>
          <a:xfrm>
            <a:off x="2495550" y="3067050"/>
            <a:ext cx="857250" cy="57150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atrix-value">
            <a:extLst>
              <a:ext uri="{FF2B5EF4-FFF2-40B4-BE49-F238E27FC236}">
                <a16:creationId xmlns:a16="http://schemas.microsoft.com/office/drawing/2014/main" id="{B6AC11D8-1944-46A4-866D-5CB7B66F939F}"/>
              </a:ext>
            </a:extLst>
          </p:cNvPr>
          <p:cNvSpPr>
            <a:spLocks noGrp="1"/>
          </p:cNvSpPr>
          <p:nvPr/>
        </p:nvSpPr>
        <p:spPr>
          <a:xfrm>
            <a:off x="2495550" y="30765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A12</a:t>
            </a:r>
          </a:p>
        </p:txBody>
      </p:sp>
      <p:sp>
        <p:nvSpPr>
          <p:cNvPr id="22" name="matrix-cell">
            <a:extLst>
              <a:ext uri="{FF2B5EF4-FFF2-40B4-BE49-F238E27FC236}">
                <a16:creationId xmlns:a16="http://schemas.microsoft.com/office/drawing/2014/main" id="{7ACABCB8-CD0E-4206-9266-08D87956EBEC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857250" cy="57150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matrix-value">
            <a:extLst>
              <a:ext uri="{FF2B5EF4-FFF2-40B4-BE49-F238E27FC236}">
                <a16:creationId xmlns:a16="http://schemas.microsoft.com/office/drawing/2014/main" id="{D4224970-DC06-4C19-94EF-FB01FE9EBDFE}"/>
              </a:ext>
            </a:extLst>
          </p:cNvPr>
          <p:cNvSpPr>
            <a:spLocks noGrp="1"/>
          </p:cNvSpPr>
          <p:nvPr/>
        </p:nvSpPr>
        <p:spPr>
          <a:xfrm>
            <a:off x="3352800" y="30765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A13</a:t>
            </a:r>
          </a:p>
        </p:txBody>
      </p:sp>
      <p:sp>
        <p:nvSpPr>
          <p:cNvPr id="24" name="matrix-cell">
            <a:extLst>
              <a:ext uri="{FF2B5EF4-FFF2-40B4-BE49-F238E27FC236}">
                <a16:creationId xmlns:a16="http://schemas.microsoft.com/office/drawing/2014/main" id="{1B1D80C2-0B5D-423A-9FBB-AEA3BFCDA72D}"/>
              </a:ext>
            </a:extLst>
          </p:cNvPr>
          <p:cNvSpPr>
            <a:spLocks noGrp="1"/>
          </p:cNvSpPr>
          <p:nvPr/>
        </p:nvSpPr>
        <p:spPr>
          <a:xfrm>
            <a:off x="781050" y="3638550"/>
            <a:ext cx="857250" cy="57150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matrix-value">
            <a:extLst>
              <a:ext uri="{FF2B5EF4-FFF2-40B4-BE49-F238E27FC236}">
                <a16:creationId xmlns:a16="http://schemas.microsoft.com/office/drawing/2014/main" id="{E01D8BBF-2BF7-481F-B379-7A957D247FD3}"/>
              </a:ext>
            </a:extLst>
          </p:cNvPr>
          <p:cNvSpPr>
            <a:spLocks noGrp="1"/>
          </p:cNvSpPr>
          <p:nvPr/>
        </p:nvSpPr>
        <p:spPr>
          <a:xfrm>
            <a:off x="781050" y="36480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A20</a:t>
            </a:r>
          </a:p>
        </p:txBody>
      </p:sp>
      <p:sp>
        <p:nvSpPr>
          <p:cNvPr id="26" name="matrix-cell">
            <a:extLst>
              <a:ext uri="{FF2B5EF4-FFF2-40B4-BE49-F238E27FC236}">
                <a16:creationId xmlns:a16="http://schemas.microsoft.com/office/drawing/2014/main" id="{0FDB85DD-1705-4C5F-8E5F-68A47610FBDB}"/>
              </a:ext>
            </a:extLst>
          </p:cNvPr>
          <p:cNvSpPr>
            <a:spLocks noGrp="1"/>
          </p:cNvSpPr>
          <p:nvPr/>
        </p:nvSpPr>
        <p:spPr>
          <a:xfrm>
            <a:off x="1638300" y="3638550"/>
            <a:ext cx="857250" cy="571500"/>
          </a:xfrm>
          <a:prstGeom prst="rect">
            <a:avLst/>
          </a:prstGeom>
          <a:solidFill>
            <a:srgbClr val="FFF6E7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matrix-value">
            <a:extLst>
              <a:ext uri="{FF2B5EF4-FFF2-40B4-BE49-F238E27FC236}">
                <a16:creationId xmlns:a16="http://schemas.microsoft.com/office/drawing/2014/main" id="{030802E0-493A-4186-A74E-BEAA7B878084}"/>
              </a:ext>
            </a:extLst>
          </p:cNvPr>
          <p:cNvSpPr>
            <a:spLocks noGrp="1"/>
          </p:cNvSpPr>
          <p:nvPr/>
        </p:nvSpPr>
        <p:spPr>
          <a:xfrm>
            <a:off x="1638300" y="36480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D97706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D97706"/>
                </a:solidFill>
                <a:latin typeface="Consolas"/>
                <a:ea typeface="Consolas"/>
                <a:cs typeface="Consolas"/>
              </a:rPr>
              <a:t>A21</a:t>
            </a:r>
          </a:p>
        </p:txBody>
      </p:sp>
      <p:sp>
        <p:nvSpPr>
          <p:cNvPr id="28" name="matrix-cell">
            <a:extLst>
              <a:ext uri="{FF2B5EF4-FFF2-40B4-BE49-F238E27FC236}">
                <a16:creationId xmlns:a16="http://schemas.microsoft.com/office/drawing/2014/main" id="{437CA9FF-8275-46A1-A34E-4CF78F2C285C}"/>
              </a:ext>
            </a:extLst>
          </p:cNvPr>
          <p:cNvSpPr>
            <a:spLocks noGrp="1"/>
          </p:cNvSpPr>
          <p:nvPr/>
        </p:nvSpPr>
        <p:spPr>
          <a:xfrm>
            <a:off x="2495550" y="3638550"/>
            <a:ext cx="857250" cy="57150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matrix-value">
            <a:extLst>
              <a:ext uri="{FF2B5EF4-FFF2-40B4-BE49-F238E27FC236}">
                <a16:creationId xmlns:a16="http://schemas.microsoft.com/office/drawing/2014/main" id="{F10DCEDA-9477-4178-BBB6-A32D4DD3B351}"/>
              </a:ext>
            </a:extLst>
          </p:cNvPr>
          <p:cNvSpPr>
            <a:spLocks noGrp="1"/>
          </p:cNvSpPr>
          <p:nvPr/>
        </p:nvSpPr>
        <p:spPr>
          <a:xfrm>
            <a:off x="2495550" y="36480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A22</a:t>
            </a:r>
          </a:p>
        </p:txBody>
      </p:sp>
      <p:sp>
        <p:nvSpPr>
          <p:cNvPr id="30" name="matrix-cell">
            <a:extLst>
              <a:ext uri="{FF2B5EF4-FFF2-40B4-BE49-F238E27FC236}">
                <a16:creationId xmlns:a16="http://schemas.microsoft.com/office/drawing/2014/main" id="{D9D353FA-82EA-4647-974A-006BC3B5FACE}"/>
              </a:ext>
            </a:extLst>
          </p:cNvPr>
          <p:cNvSpPr>
            <a:spLocks noGrp="1"/>
          </p:cNvSpPr>
          <p:nvPr/>
        </p:nvSpPr>
        <p:spPr>
          <a:xfrm>
            <a:off x="3352800" y="3638550"/>
            <a:ext cx="857250" cy="57150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atrix-value">
            <a:extLst>
              <a:ext uri="{FF2B5EF4-FFF2-40B4-BE49-F238E27FC236}">
                <a16:creationId xmlns:a16="http://schemas.microsoft.com/office/drawing/2014/main" id="{B3BDCAF2-842E-4C31-84FD-6E07B0C9E37C}"/>
              </a:ext>
            </a:extLst>
          </p:cNvPr>
          <p:cNvSpPr>
            <a:spLocks noGrp="1"/>
          </p:cNvSpPr>
          <p:nvPr/>
        </p:nvSpPr>
        <p:spPr>
          <a:xfrm>
            <a:off x="3352800" y="364807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A23</a:t>
            </a:r>
          </a:p>
        </p:txBody>
      </p:sp>
      <p:sp>
        <p:nvSpPr>
          <p:cNvPr id="32" name="target">
            <a:extLst>
              <a:ext uri="{FF2B5EF4-FFF2-40B4-BE49-F238E27FC236}">
                <a16:creationId xmlns:a16="http://schemas.microsoft.com/office/drawing/2014/main" id="{DE3EA702-7BD2-4D53-85FB-C04F460063CD}"/>
              </a:ext>
            </a:extLst>
          </p:cNvPr>
          <p:cNvSpPr>
            <a:spLocks noGrp="1"/>
          </p:cNvSpPr>
          <p:nvPr/>
        </p:nvSpPr>
        <p:spPr>
          <a:xfrm>
            <a:off x="1200150" y="447675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250" b="1">
                <a:solidFill>
                  <a:srgbClr val="D9770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D97706"/>
                </a:solidFill>
                <a:latin typeface="Consolas"/>
                <a:ea typeface="Consolas"/>
                <a:cs typeface="Consolas"/>
              </a:rPr>
              <a:t>Target: A[2][1]</a:t>
            </a:r>
          </a:p>
        </p:txBody>
      </p:sp>
      <p:sp>
        <p:nvSpPr>
          <p:cNvPr id="33" name="step-number">
            <a:extLst>
              <a:ext uri="{FF2B5EF4-FFF2-40B4-BE49-F238E27FC236}">
                <a16:creationId xmlns:a16="http://schemas.microsoft.com/office/drawing/2014/main" id="{4CFDD5C6-DE0B-4E1A-8566-49B9A5E9AD57}"/>
              </a:ext>
            </a:extLst>
          </p:cNvPr>
          <p:cNvSpPr>
            <a:spLocks noGrp="1"/>
          </p:cNvSpPr>
          <p:nvPr/>
        </p:nvSpPr>
        <p:spPr>
          <a:xfrm>
            <a:off x="5505450" y="21907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tep-number-text">
            <a:extLst>
              <a:ext uri="{FF2B5EF4-FFF2-40B4-BE49-F238E27FC236}">
                <a16:creationId xmlns:a16="http://schemas.microsoft.com/office/drawing/2014/main" id="{886B170E-D1F4-4657-AFF7-7B76BD009EB5}"/>
              </a:ext>
            </a:extLst>
          </p:cNvPr>
          <p:cNvSpPr>
            <a:spLocks noGrp="1"/>
          </p:cNvSpPr>
          <p:nvPr/>
        </p:nvSpPr>
        <p:spPr>
          <a:xfrm>
            <a:off x="5505450" y="220980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step-text">
            <a:extLst>
              <a:ext uri="{FF2B5EF4-FFF2-40B4-BE49-F238E27FC236}">
                <a16:creationId xmlns:a16="http://schemas.microsoft.com/office/drawing/2014/main" id="{2F6EB8A8-E999-430B-AD94-8ADB51299A69}"/>
              </a:ext>
            </a:extLst>
          </p:cNvPr>
          <p:cNvSpPr>
            <a:spLocks noGrp="1"/>
          </p:cNvSpPr>
          <p:nvPr/>
        </p:nvSpPr>
        <p:spPr>
          <a:xfrm>
            <a:off x="6229350" y="2190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N = 4 columns</a:t>
            </a:r>
          </a:p>
        </p:txBody>
      </p:sp>
      <p:sp>
        <p:nvSpPr>
          <p:cNvPr id="36" name="step-number">
            <a:extLst>
              <a:ext uri="{FF2B5EF4-FFF2-40B4-BE49-F238E27FC236}">
                <a16:creationId xmlns:a16="http://schemas.microsoft.com/office/drawing/2014/main" id="{E53FE12F-66E1-41C1-BFC9-79020BE83F54}"/>
              </a:ext>
            </a:extLst>
          </p:cNvPr>
          <p:cNvSpPr>
            <a:spLocks noGrp="1"/>
          </p:cNvSpPr>
          <p:nvPr/>
        </p:nvSpPr>
        <p:spPr>
          <a:xfrm>
            <a:off x="5505450" y="29146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ep-number-text">
            <a:extLst>
              <a:ext uri="{FF2B5EF4-FFF2-40B4-BE49-F238E27FC236}">
                <a16:creationId xmlns:a16="http://schemas.microsoft.com/office/drawing/2014/main" id="{C3DC1CDB-114C-4C6D-BA4E-D2098AFDE79D}"/>
              </a:ext>
            </a:extLst>
          </p:cNvPr>
          <p:cNvSpPr>
            <a:spLocks noGrp="1"/>
          </p:cNvSpPr>
          <p:nvPr/>
        </p:nvSpPr>
        <p:spPr>
          <a:xfrm>
            <a:off x="5505450" y="293370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8" name="step-text">
            <a:extLst>
              <a:ext uri="{FF2B5EF4-FFF2-40B4-BE49-F238E27FC236}">
                <a16:creationId xmlns:a16="http://schemas.microsoft.com/office/drawing/2014/main" id="{687EBDE0-A0D0-410E-BF0C-5529C5754FF0}"/>
              </a:ext>
            </a:extLst>
          </p:cNvPr>
          <p:cNvSpPr>
            <a:spLocks noGrp="1"/>
          </p:cNvSpPr>
          <p:nvPr/>
        </p:nvSpPr>
        <p:spPr>
          <a:xfrm>
            <a:off x="6229350" y="29146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8313F"/>
                </a:solidFill>
                <a:latin typeface="Consolas"/>
                <a:ea typeface="Consolas"/>
                <a:cs typeface="Consolas"/>
              </a:rPr>
              <a:t>offset = 2 × 4 + 1 = 9</a:t>
            </a:r>
          </a:p>
        </p:txBody>
      </p:sp>
      <p:sp>
        <p:nvSpPr>
          <p:cNvPr id="39" name="step-number">
            <a:extLst>
              <a:ext uri="{FF2B5EF4-FFF2-40B4-BE49-F238E27FC236}">
                <a16:creationId xmlns:a16="http://schemas.microsoft.com/office/drawing/2014/main" id="{2BA42595-7A6A-4B0E-B5FD-AF270C1856DD}"/>
              </a:ext>
            </a:extLst>
          </p:cNvPr>
          <p:cNvSpPr>
            <a:spLocks noGrp="1"/>
          </p:cNvSpPr>
          <p:nvPr/>
        </p:nvSpPr>
        <p:spPr>
          <a:xfrm>
            <a:off x="5505450" y="36385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tep-number-text">
            <a:extLst>
              <a:ext uri="{FF2B5EF4-FFF2-40B4-BE49-F238E27FC236}">
                <a16:creationId xmlns:a16="http://schemas.microsoft.com/office/drawing/2014/main" id="{0E7E7F50-24BD-4D9D-8089-A980F52F0B94}"/>
              </a:ext>
            </a:extLst>
          </p:cNvPr>
          <p:cNvSpPr>
            <a:spLocks noGrp="1"/>
          </p:cNvSpPr>
          <p:nvPr/>
        </p:nvSpPr>
        <p:spPr>
          <a:xfrm>
            <a:off x="5505450" y="365760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1" name="step-text">
            <a:extLst>
              <a:ext uri="{FF2B5EF4-FFF2-40B4-BE49-F238E27FC236}">
                <a16:creationId xmlns:a16="http://schemas.microsoft.com/office/drawing/2014/main" id="{CCF26B0A-7C6E-445B-8D38-5B1A3FAC181B}"/>
              </a:ext>
            </a:extLst>
          </p:cNvPr>
          <p:cNvSpPr>
            <a:spLocks noGrp="1"/>
          </p:cNvSpPr>
          <p:nvPr/>
        </p:nvSpPr>
        <p:spPr>
          <a:xfrm>
            <a:off x="6229350" y="3638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8313F"/>
                </a:solidFill>
                <a:latin typeface="Consolas"/>
                <a:ea typeface="Consolas"/>
                <a:cs typeface="Consolas"/>
              </a:rPr>
              <a:t>byte displacement = 9 × 4 = 36</a:t>
            </a:r>
          </a:p>
        </p:txBody>
      </p:sp>
      <p:sp>
        <p:nvSpPr>
          <p:cNvPr id="42" name="step-number">
            <a:extLst>
              <a:ext uri="{FF2B5EF4-FFF2-40B4-BE49-F238E27FC236}">
                <a16:creationId xmlns:a16="http://schemas.microsoft.com/office/drawing/2014/main" id="{583F052C-1790-4507-B077-6940611CE633}"/>
              </a:ext>
            </a:extLst>
          </p:cNvPr>
          <p:cNvSpPr>
            <a:spLocks noGrp="1"/>
          </p:cNvSpPr>
          <p:nvPr/>
        </p:nvSpPr>
        <p:spPr>
          <a:xfrm>
            <a:off x="5505450" y="43624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tep-number-text">
            <a:extLst>
              <a:ext uri="{FF2B5EF4-FFF2-40B4-BE49-F238E27FC236}">
                <a16:creationId xmlns:a16="http://schemas.microsoft.com/office/drawing/2014/main" id="{DD6BE1DB-2120-46B9-A634-71551F925F55}"/>
              </a:ext>
            </a:extLst>
          </p:cNvPr>
          <p:cNvSpPr>
            <a:spLocks noGrp="1"/>
          </p:cNvSpPr>
          <p:nvPr/>
        </p:nvSpPr>
        <p:spPr>
          <a:xfrm>
            <a:off x="5505450" y="438150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4" name="step-text">
            <a:extLst>
              <a:ext uri="{FF2B5EF4-FFF2-40B4-BE49-F238E27FC236}">
                <a16:creationId xmlns:a16="http://schemas.microsoft.com/office/drawing/2014/main" id="{8EBE1582-66E8-4A30-A90C-51F9242657FE}"/>
              </a:ext>
            </a:extLst>
          </p:cNvPr>
          <p:cNvSpPr>
            <a:spLocks noGrp="1"/>
          </p:cNvSpPr>
          <p:nvPr/>
        </p:nvSpPr>
        <p:spPr>
          <a:xfrm>
            <a:off x="6229350" y="43624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1">
                <a:solidFill>
                  <a:srgbClr val="12324A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12324A"/>
                </a:solidFill>
                <a:latin typeface="Consolas"/>
                <a:ea typeface="Consolas"/>
                <a:cs typeface="Consolas"/>
              </a:rPr>
              <a:t>LOC(A[2][1]) = 1000 + 36 = 1036</a:t>
            </a:r>
          </a:p>
        </p:txBody>
      </p:sp>
    </p:spTree>
    <p:extLst>
      <p:ext uri="{BB962C8B-B14F-4D97-AF65-F5344CB8AC3E}">
        <p14:creationId xmlns:p14="http://schemas.microsoft.com/office/powerpoint/2010/main" val="593439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lesson-label">
            <a:extLst>
              <a:ext uri="{FF2B5EF4-FFF2-40B4-BE49-F238E27FC236}">
                <a16:creationId xmlns:a16="http://schemas.microsoft.com/office/drawing/2014/main" id="{7CF19AB5-501E-44BD-A837-6F714BAE2BCA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DAAEE59-8AAF-40A7-8BFE-0EE07ACBF02B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Column-major order changes only the stride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5566E6CF-D472-46F5-B4BB-0016FC5A142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DCF98773-F0D0-4924-8A60-624F817E38A1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36A9F9C6-31D0-46C6-9C12-EFF46775EA2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7EAAC212-F79F-413D-99DB-2D26696293CC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column-major-formula-band">
            <a:extLst>
              <a:ext uri="{FF2B5EF4-FFF2-40B4-BE49-F238E27FC236}">
                <a16:creationId xmlns:a16="http://schemas.microsoft.com/office/drawing/2014/main" id="{36B178E2-9CAA-4B50-8906-46DE2D47C34D}"/>
              </a:ext>
            </a:extLst>
          </p:cNvPr>
          <p:cNvSpPr>
            <a:spLocks noGrp="1"/>
          </p:cNvSpPr>
          <p:nvPr/>
        </p:nvSpPr>
        <p:spPr>
          <a:xfrm>
            <a:off x="990600" y="1714500"/>
            <a:ext cx="10210800" cy="819150"/>
          </a:xfrm>
          <a:prstGeom prst="roundRect">
            <a:avLst>
              <a:gd name="adj" fmla="val 11628"/>
            </a:avLst>
          </a:prstGeom>
          <a:solidFill>
            <a:srgbClr val="FFF6E7"/>
          </a:solidFill>
          <a:ln w="0">
            <a:solidFill>
              <a:srgbClr val="FFF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lumn-major-formula">
            <a:extLst>
              <a:ext uri="{FF2B5EF4-FFF2-40B4-BE49-F238E27FC236}">
                <a16:creationId xmlns:a16="http://schemas.microsoft.com/office/drawing/2014/main" id="{717CF3E9-B8BD-44AA-81D4-105E313DD63E}"/>
              </a:ext>
            </a:extLst>
          </p:cNvPr>
          <p:cNvSpPr>
            <a:spLocks noGrp="1"/>
          </p:cNvSpPr>
          <p:nvPr/>
        </p:nvSpPr>
        <p:spPr>
          <a:xfrm>
            <a:off x="1181100" y="1838325"/>
            <a:ext cx="982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550" b="1">
                <a:solidFill>
                  <a:srgbClr val="12324A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12324A"/>
                </a:solidFill>
                <a:latin typeface="Consolas"/>
                <a:ea typeface="Consolas"/>
                <a:cs typeface="Consolas"/>
              </a:rPr>
              <a:t>LOC(A[i][j]) = Base + w × [(j − Lc) × M + (i − Lr)]</a:t>
            </a:r>
          </a:p>
        </p:txBody>
      </p:sp>
      <p:sp>
        <p:nvSpPr>
          <p:cNvPr id="9" name="m-definition">
            <a:extLst>
              <a:ext uri="{FF2B5EF4-FFF2-40B4-BE49-F238E27FC236}">
                <a16:creationId xmlns:a16="http://schemas.microsoft.com/office/drawing/2014/main" id="{92C02054-D973-4725-AB36-B93EA5C67C25}"/>
              </a:ext>
            </a:extLst>
          </p:cNvPr>
          <p:cNvSpPr>
            <a:spLocks noGrp="1"/>
          </p:cNvSpPr>
          <p:nvPr/>
        </p:nvSpPr>
        <p:spPr>
          <a:xfrm>
            <a:off x="1219200" y="28575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2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 = number of rows</a:t>
            </a:r>
          </a:p>
        </p:txBody>
      </p:sp>
      <p:sp>
        <p:nvSpPr>
          <p:cNvPr id="10" name="row-major-label">
            <a:extLst>
              <a:ext uri="{FF2B5EF4-FFF2-40B4-BE49-F238E27FC236}">
                <a16:creationId xmlns:a16="http://schemas.microsoft.com/office/drawing/2014/main" id="{1FC11220-B363-46DE-823D-0F1942F315B7}"/>
              </a:ext>
            </a:extLst>
          </p:cNvPr>
          <p:cNvSpPr>
            <a:spLocks noGrp="1"/>
          </p:cNvSpPr>
          <p:nvPr/>
        </p:nvSpPr>
        <p:spPr>
          <a:xfrm>
            <a:off x="1219200" y="34766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Row-major sequence</a:t>
            </a:r>
          </a:p>
        </p:txBody>
      </p:sp>
      <p:sp>
        <p:nvSpPr>
          <p:cNvPr id="11" name="array-cell">
            <a:extLst>
              <a:ext uri="{FF2B5EF4-FFF2-40B4-BE49-F238E27FC236}">
                <a16:creationId xmlns:a16="http://schemas.microsoft.com/office/drawing/2014/main" id="{08EC49BA-5E20-40AE-84B4-54157052CB0D}"/>
              </a:ext>
            </a:extLst>
          </p:cNvPr>
          <p:cNvSpPr>
            <a:spLocks noGrp="1"/>
          </p:cNvSpPr>
          <p:nvPr/>
        </p:nvSpPr>
        <p:spPr>
          <a:xfrm>
            <a:off x="1219200" y="4048125"/>
            <a:ext cx="704850" cy="55245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array-value">
            <a:extLst>
              <a:ext uri="{FF2B5EF4-FFF2-40B4-BE49-F238E27FC236}">
                <a16:creationId xmlns:a16="http://schemas.microsoft.com/office/drawing/2014/main" id="{D48F1C47-A872-49D9-B9C6-9F5FB2A0D561}"/>
              </a:ext>
            </a:extLst>
          </p:cNvPr>
          <p:cNvSpPr>
            <a:spLocks noGrp="1"/>
          </p:cNvSpPr>
          <p:nvPr/>
        </p:nvSpPr>
        <p:spPr>
          <a:xfrm>
            <a:off x="123825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a00</a:t>
            </a:r>
          </a:p>
        </p:txBody>
      </p:sp>
      <p:sp>
        <p:nvSpPr>
          <p:cNvPr id="13" name="array-cell">
            <a:extLst>
              <a:ext uri="{FF2B5EF4-FFF2-40B4-BE49-F238E27FC236}">
                <a16:creationId xmlns:a16="http://schemas.microsoft.com/office/drawing/2014/main" id="{8E878E0D-C370-45DA-86FF-EAC94EBF00C7}"/>
              </a:ext>
            </a:extLst>
          </p:cNvPr>
          <p:cNvSpPr>
            <a:spLocks noGrp="1"/>
          </p:cNvSpPr>
          <p:nvPr/>
        </p:nvSpPr>
        <p:spPr>
          <a:xfrm>
            <a:off x="1924050" y="4048125"/>
            <a:ext cx="704850" cy="55245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rray-value">
            <a:extLst>
              <a:ext uri="{FF2B5EF4-FFF2-40B4-BE49-F238E27FC236}">
                <a16:creationId xmlns:a16="http://schemas.microsoft.com/office/drawing/2014/main" id="{18185F65-FBB8-4F1E-A2F0-ED96CA79F37A}"/>
              </a:ext>
            </a:extLst>
          </p:cNvPr>
          <p:cNvSpPr>
            <a:spLocks noGrp="1"/>
          </p:cNvSpPr>
          <p:nvPr/>
        </p:nvSpPr>
        <p:spPr>
          <a:xfrm>
            <a:off x="194310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a01</a:t>
            </a:r>
          </a:p>
        </p:txBody>
      </p:sp>
      <p:sp>
        <p:nvSpPr>
          <p:cNvPr id="15" name="array-cell">
            <a:extLst>
              <a:ext uri="{FF2B5EF4-FFF2-40B4-BE49-F238E27FC236}">
                <a16:creationId xmlns:a16="http://schemas.microsoft.com/office/drawing/2014/main" id="{65206041-6DE1-4E9A-8022-9BE7D6DDEC07}"/>
              </a:ext>
            </a:extLst>
          </p:cNvPr>
          <p:cNvSpPr>
            <a:spLocks noGrp="1"/>
          </p:cNvSpPr>
          <p:nvPr/>
        </p:nvSpPr>
        <p:spPr>
          <a:xfrm>
            <a:off x="2628900" y="4048125"/>
            <a:ext cx="704850" cy="55245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rray-value">
            <a:extLst>
              <a:ext uri="{FF2B5EF4-FFF2-40B4-BE49-F238E27FC236}">
                <a16:creationId xmlns:a16="http://schemas.microsoft.com/office/drawing/2014/main" id="{B703CEE0-C3B9-4E3A-B283-B530E9C090E7}"/>
              </a:ext>
            </a:extLst>
          </p:cNvPr>
          <p:cNvSpPr>
            <a:spLocks noGrp="1"/>
          </p:cNvSpPr>
          <p:nvPr/>
        </p:nvSpPr>
        <p:spPr>
          <a:xfrm>
            <a:off x="264795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a02</a:t>
            </a:r>
          </a:p>
        </p:txBody>
      </p:sp>
      <p:sp>
        <p:nvSpPr>
          <p:cNvPr id="17" name="array-cell">
            <a:extLst>
              <a:ext uri="{FF2B5EF4-FFF2-40B4-BE49-F238E27FC236}">
                <a16:creationId xmlns:a16="http://schemas.microsoft.com/office/drawing/2014/main" id="{AF3C0FC1-8545-474E-9B5C-89C1426485AD}"/>
              </a:ext>
            </a:extLst>
          </p:cNvPr>
          <p:cNvSpPr>
            <a:spLocks noGrp="1"/>
          </p:cNvSpPr>
          <p:nvPr/>
        </p:nvSpPr>
        <p:spPr>
          <a:xfrm>
            <a:off x="3333750" y="4048125"/>
            <a:ext cx="704850" cy="55245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rray-value">
            <a:extLst>
              <a:ext uri="{FF2B5EF4-FFF2-40B4-BE49-F238E27FC236}">
                <a16:creationId xmlns:a16="http://schemas.microsoft.com/office/drawing/2014/main" id="{765FB44C-9FD3-4A34-84AB-50D5B95958F3}"/>
              </a:ext>
            </a:extLst>
          </p:cNvPr>
          <p:cNvSpPr>
            <a:spLocks noGrp="1"/>
          </p:cNvSpPr>
          <p:nvPr/>
        </p:nvSpPr>
        <p:spPr>
          <a:xfrm>
            <a:off x="335280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a10</a:t>
            </a:r>
          </a:p>
        </p:txBody>
      </p:sp>
      <p:sp>
        <p:nvSpPr>
          <p:cNvPr id="19" name="array-cell">
            <a:extLst>
              <a:ext uri="{FF2B5EF4-FFF2-40B4-BE49-F238E27FC236}">
                <a16:creationId xmlns:a16="http://schemas.microsoft.com/office/drawing/2014/main" id="{5A5455F9-07D7-4782-BC0C-DB40856894EE}"/>
              </a:ext>
            </a:extLst>
          </p:cNvPr>
          <p:cNvSpPr>
            <a:spLocks noGrp="1"/>
          </p:cNvSpPr>
          <p:nvPr/>
        </p:nvSpPr>
        <p:spPr>
          <a:xfrm>
            <a:off x="4038600" y="4048125"/>
            <a:ext cx="704850" cy="55245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rray-value">
            <a:extLst>
              <a:ext uri="{FF2B5EF4-FFF2-40B4-BE49-F238E27FC236}">
                <a16:creationId xmlns:a16="http://schemas.microsoft.com/office/drawing/2014/main" id="{69ECE139-A749-4BA2-8035-16BA2DBCA4C9}"/>
              </a:ext>
            </a:extLst>
          </p:cNvPr>
          <p:cNvSpPr>
            <a:spLocks noGrp="1"/>
          </p:cNvSpPr>
          <p:nvPr/>
        </p:nvSpPr>
        <p:spPr>
          <a:xfrm>
            <a:off x="405765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a11</a:t>
            </a:r>
          </a:p>
        </p:txBody>
      </p:sp>
      <p:sp>
        <p:nvSpPr>
          <p:cNvPr id="21" name="array-cell">
            <a:extLst>
              <a:ext uri="{FF2B5EF4-FFF2-40B4-BE49-F238E27FC236}">
                <a16:creationId xmlns:a16="http://schemas.microsoft.com/office/drawing/2014/main" id="{5B4A5E55-9805-4499-B56D-5769B9F8B61A}"/>
              </a:ext>
            </a:extLst>
          </p:cNvPr>
          <p:cNvSpPr>
            <a:spLocks noGrp="1"/>
          </p:cNvSpPr>
          <p:nvPr/>
        </p:nvSpPr>
        <p:spPr>
          <a:xfrm>
            <a:off x="4743450" y="4048125"/>
            <a:ext cx="704850" cy="55245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rray-value">
            <a:extLst>
              <a:ext uri="{FF2B5EF4-FFF2-40B4-BE49-F238E27FC236}">
                <a16:creationId xmlns:a16="http://schemas.microsoft.com/office/drawing/2014/main" id="{942EFC18-B16E-432F-B954-B7BF4526017A}"/>
              </a:ext>
            </a:extLst>
          </p:cNvPr>
          <p:cNvSpPr>
            <a:spLocks noGrp="1"/>
          </p:cNvSpPr>
          <p:nvPr/>
        </p:nvSpPr>
        <p:spPr>
          <a:xfrm>
            <a:off x="476250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a12</a:t>
            </a:r>
          </a:p>
        </p:txBody>
      </p:sp>
      <p:sp>
        <p:nvSpPr>
          <p:cNvPr id="23" name="col-major-label">
            <a:extLst>
              <a:ext uri="{FF2B5EF4-FFF2-40B4-BE49-F238E27FC236}">
                <a16:creationId xmlns:a16="http://schemas.microsoft.com/office/drawing/2014/main" id="{A0385857-896B-4191-ACF2-4E03B7A55B9F}"/>
              </a:ext>
            </a:extLst>
          </p:cNvPr>
          <p:cNvSpPr>
            <a:spLocks noGrp="1"/>
          </p:cNvSpPr>
          <p:nvPr/>
        </p:nvSpPr>
        <p:spPr>
          <a:xfrm>
            <a:off x="6572250" y="3476625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Column-major sequence</a:t>
            </a:r>
          </a:p>
        </p:txBody>
      </p:sp>
      <p:sp>
        <p:nvSpPr>
          <p:cNvPr id="24" name="array-cell">
            <a:extLst>
              <a:ext uri="{FF2B5EF4-FFF2-40B4-BE49-F238E27FC236}">
                <a16:creationId xmlns:a16="http://schemas.microsoft.com/office/drawing/2014/main" id="{C059F783-EDA5-4AD4-8AB4-8DEF7525A9AE}"/>
              </a:ext>
            </a:extLst>
          </p:cNvPr>
          <p:cNvSpPr>
            <a:spLocks noGrp="1"/>
          </p:cNvSpPr>
          <p:nvPr/>
        </p:nvSpPr>
        <p:spPr>
          <a:xfrm>
            <a:off x="6572250" y="4048125"/>
            <a:ext cx="704850" cy="55245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rray-value">
            <a:extLst>
              <a:ext uri="{FF2B5EF4-FFF2-40B4-BE49-F238E27FC236}">
                <a16:creationId xmlns:a16="http://schemas.microsoft.com/office/drawing/2014/main" id="{32311EEB-8B2D-4144-ADA6-307DC4260AD7}"/>
              </a:ext>
            </a:extLst>
          </p:cNvPr>
          <p:cNvSpPr>
            <a:spLocks noGrp="1"/>
          </p:cNvSpPr>
          <p:nvPr/>
        </p:nvSpPr>
        <p:spPr>
          <a:xfrm>
            <a:off x="659130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a00</a:t>
            </a:r>
          </a:p>
        </p:txBody>
      </p:sp>
      <p:sp>
        <p:nvSpPr>
          <p:cNvPr id="26" name="array-cell">
            <a:extLst>
              <a:ext uri="{FF2B5EF4-FFF2-40B4-BE49-F238E27FC236}">
                <a16:creationId xmlns:a16="http://schemas.microsoft.com/office/drawing/2014/main" id="{1416D203-CB4B-40DC-B5B5-E4D90D37FBDC}"/>
              </a:ext>
            </a:extLst>
          </p:cNvPr>
          <p:cNvSpPr>
            <a:spLocks noGrp="1"/>
          </p:cNvSpPr>
          <p:nvPr/>
        </p:nvSpPr>
        <p:spPr>
          <a:xfrm>
            <a:off x="7277100" y="4048125"/>
            <a:ext cx="704850" cy="55245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rray-value">
            <a:extLst>
              <a:ext uri="{FF2B5EF4-FFF2-40B4-BE49-F238E27FC236}">
                <a16:creationId xmlns:a16="http://schemas.microsoft.com/office/drawing/2014/main" id="{BC0EA5CC-26CD-45CE-86CC-90346EE4B705}"/>
              </a:ext>
            </a:extLst>
          </p:cNvPr>
          <p:cNvSpPr>
            <a:spLocks noGrp="1"/>
          </p:cNvSpPr>
          <p:nvPr/>
        </p:nvSpPr>
        <p:spPr>
          <a:xfrm>
            <a:off x="729615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a10</a:t>
            </a:r>
          </a:p>
        </p:txBody>
      </p:sp>
      <p:sp>
        <p:nvSpPr>
          <p:cNvPr id="28" name="array-cell">
            <a:extLst>
              <a:ext uri="{FF2B5EF4-FFF2-40B4-BE49-F238E27FC236}">
                <a16:creationId xmlns:a16="http://schemas.microsoft.com/office/drawing/2014/main" id="{DEFF2CFF-6A0C-4FC0-9583-453B59027FF3}"/>
              </a:ext>
            </a:extLst>
          </p:cNvPr>
          <p:cNvSpPr>
            <a:spLocks noGrp="1"/>
          </p:cNvSpPr>
          <p:nvPr/>
        </p:nvSpPr>
        <p:spPr>
          <a:xfrm>
            <a:off x="7981950" y="4048125"/>
            <a:ext cx="704850" cy="55245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rray-value">
            <a:extLst>
              <a:ext uri="{FF2B5EF4-FFF2-40B4-BE49-F238E27FC236}">
                <a16:creationId xmlns:a16="http://schemas.microsoft.com/office/drawing/2014/main" id="{FA5A2784-3F9C-4727-95ED-C715230981C8}"/>
              </a:ext>
            </a:extLst>
          </p:cNvPr>
          <p:cNvSpPr>
            <a:spLocks noGrp="1"/>
          </p:cNvSpPr>
          <p:nvPr/>
        </p:nvSpPr>
        <p:spPr>
          <a:xfrm>
            <a:off x="800100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a01</a:t>
            </a:r>
          </a:p>
        </p:txBody>
      </p:sp>
      <p:sp>
        <p:nvSpPr>
          <p:cNvPr id="30" name="array-cell">
            <a:extLst>
              <a:ext uri="{FF2B5EF4-FFF2-40B4-BE49-F238E27FC236}">
                <a16:creationId xmlns:a16="http://schemas.microsoft.com/office/drawing/2014/main" id="{838FA3E6-D319-455C-BFAD-0A3D79020852}"/>
              </a:ext>
            </a:extLst>
          </p:cNvPr>
          <p:cNvSpPr>
            <a:spLocks noGrp="1"/>
          </p:cNvSpPr>
          <p:nvPr/>
        </p:nvSpPr>
        <p:spPr>
          <a:xfrm>
            <a:off x="8686800" y="4048125"/>
            <a:ext cx="704850" cy="55245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rray-value">
            <a:extLst>
              <a:ext uri="{FF2B5EF4-FFF2-40B4-BE49-F238E27FC236}">
                <a16:creationId xmlns:a16="http://schemas.microsoft.com/office/drawing/2014/main" id="{A9F99F75-EF21-4297-B38E-FC3E7C792CBC}"/>
              </a:ext>
            </a:extLst>
          </p:cNvPr>
          <p:cNvSpPr>
            <a:spLocks noGrp="1"/>
          </p:cNvSpPr>
          <p:nvPr/>
        </p:nvSpPr>
        <p:spPr>
          <a:xfrm>
            <a:off x="870585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a11</a:t>
            </a:r>
          </a:p>
        </p:txBody>
      </p:sp>
      <p:sp>
        <p:nvSpPr>
          <p:cNvPr id="32" name="array-cell">
            <a:extLst>
              <a:ext uri="{FF2B5EF4-FFF2-40B4-BE49-F238E27FC236}">
                <a16:creationId xmlns:a16="http://schemas.microsoft.com/office/drawing/2014/main" id="{C2C2334F-4780-40DE-B8DE-F9CCB83D0C35}"/>
              </a:ext>
            </a:extLst>
          </p:cNvPr>
          <p:cNvSpPr>
            <a:spLocks noGrp="1"/>
          </p:cNvSpPr>
          <p:nvPr/>
        </p:nvSpPr>
        <p:spPr>
          <a:xfrm>
            <a:off x="9391650" y="4048125"/>
            <a:ext cx="704850" cy="552450"/>
          </a:xfrm>
          <a:prstGeom prst="rect">
            <a:avLst/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rray-value">
            <a:extLst>
              <a:ext uri="{FF2B5EF4-FFF2-40B4-BE49-F238E27FC236}">
                <a16:creationId xmlns:a16="http://schemas.microsoft.com/office/drawing/2014/main" id="{907C6719-262C-4B17-862F-128C26BF6557}"/>
              </a:ext>
            </a:extLst>
          </p:cNvPr>
          <p:cNvSpPr>
            <a:spLocks noGrp="1"/>
          </p:cNvSpPr>
          <p:nvPr/>
        </p:nvSpPr>
        <p:spPr>
          <a:xfrm>
            <a:off x="941070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a02</a:t>
            </a:r>
          </a:p>
        </p:txBody>
      </p:sp>
      <p:sp>
        <p:nvSpPr>
          <p:cNvPr id="34" name="array-cell">
            <a:extLst>
              <a:ext uri="{FF2B5EF4-FFF2-40B4-BE49-F238E27FC236}">
                <a16:creationId xmlns:a16="http://schemas.microsoft.com/office/drawing/2014/main" id="{17693424-0778-4F3A-B47D-4D9751B50EF7}"/>
              </a:ext>
            </a:extLst>
          </p:cNvPr>
          <p:cNvSpPr>
            <a:spLocks noGrp="1"/>
          </p:cNvSpPr>
          <p:nvPr/>
        </p:nvSpPr>
        <p:spPr>
          <a:xfrm>
            <a:off x="10096500" y="4048125"/>
            <a:ext cx="704850" cy="55245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rray-value">
            <a:extLst>
              <a:ext uri="{FF2B5EF4-FFF2-40B4-BE49-F238E27FC236}">
                <a16:creationId xmlns:a16="http://schemas.microsoft.com/office/drawing/2014/main" id="{5A97D265-28D9-4471-8951-1188EA2F4452}"/>
              </a:ext>
            </a:extLst>
          </p:cNvPr>
          <p:cNvSpPr>
            <a:spLocks noGrp="1"/>
          </p:cNvSpPr>
          <p:nvPr/>
        </p:nvSpPr>
        <p:spPr>
          <a:xfrm>
            <a:off x="10115550" y="4067175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a12</a:t>
            </a:r>
          </a:p>
        </p:txBody>
      </p:sp>
      <p:sp>
        <p:nvSpPr>
          <p:cNvPr id="36" name="c-note">
            <a:extLst>
              <a:ext uri="{FF2B5EF4-FFF2-40B4-BE49-F238E27FC236}">
                <a16:creationId xmlns:a16="http://schemas.microsoft.com/office/drawing/2014/main" id="{886B560D-F084-4C6F-9ADB-60C4E7A85011}"/>
              </a:ext>
            </a:extLst>
          </p:cNvPr>
          <p:cNvSpPr>
            <a:spLocks noGrp="1"/>
          </p:cNvSpPr>
          <p:nvPr/>
        </p:nvSpPr>
        <p:spPr>
          <a:xfrm>
            <a:off x="1219200" y="5095875"/>
            <a:ext cx="9525000" cy="571500"/>
          </a:xfrm>
          <a:prstGeom prst="roundRect">
            <a:avLst>
              <a:gd name="adj" fmla="val 13333"/>
            </a:avLst>
          </a:prstGeom>
          <a:solidFill>
            <a:srgbClr val="F4F8FA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-note-text">
            <a:extLst>
              <a:ext uri="{FF2B5EF4-FFF2-40B4-BE49-F238E27FC236}">
                <a16:creationId xmlns:a16="http://schemas.microsoft.com/office/drawing/2014/main" id="{F9A146A9-6C47-48F8-BBE3-8321BB170587}"/>
              </a:ext>
            </a:extLst>
          </p:cNvPr>
          <p:cNvSpPr>
            <a:spLocks noGrp="1"/>
          </p:cNvSpPr>
          <p:nvPr/>
        </p:nvSpPr>
        <p:spPr>
          <a:xfrm>
            <a:off x="1428750" y="5191125"/>
            <a:ext cx="910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95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C uses row-major order. Column-major order is useful for comparison and address-analysis questions.</a:t>
            </a:r>
          </a:p>
        </p:txBody>
      </p:sp>
    </p:spTree>
    <p:extLst>
      <p:ext uri="{BB962C8B-B14F-4D97-AF65-F5344CB8AC3E}">
        <p14:creationId xmlns:p14="http://schemas.microsoft.com/office/powerpoint/2010/main" val="1940073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sson-label">
            <a:extLst>
              <a:ext uri="{FF2B5EF4-FFF2-40B4-BE49-F238E27FC236}">
                <a16:creationId xmlns:a16="http://schemas.microsoft.com/office/drawing/2014/main" id="{2BC97544-A680-4662-A4F7-1F593010956D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1B8A6D0-CBA9-44D7-9DD1-C895C55C6848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Three dimensions extend the same address logic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1817BC6D-C9A9-4263-9ED9-B8AD1F9CFB4F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E1C6FD8B-9783-4291-8DC0-991F5DEE5277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76D31D8B-F460-4397-AC32-6251DB04053F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5FAFE7C3-3494-4AF3-ACD7-F70A246C9DDF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3d-intro">
            <a:extLst>
              <a:ext uri="{FF2B5EF4-FFF2-40B4-BE49-F238E27FC236}">
                <a16:creationId xmlns:a16="http://schemas.microsoft.com/office/drawing/2014/main" id="{EC3710B8-898A-4FD7-A8C9-2D7148F2728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25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For A[D1][D2][D3] in row-major order:</a:t>
            </a:r>
          </a:p>
        </p:txBody>
      </p:sp>
      <p:sp>
        <p:nvSpPr>
          <p:cNvPr id="8" name="3d-formula-band">
            <a:extLst>
              <a:ext uri="{FF2B5EF4-FFF2-40B4-BE49-F238E27FC236}">
                <a16:creationId xmlns:a16="http://schemas.microsoft.com/office/drawing/2014/main" id="{B1FCEDF6-C17B-466C-A072-F406668104B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19150"/>
          </a:xfrm>
          <a:prstGeom prst="roundRect">
            <a:avLst>
              <a:gd name="adj" fmla="val 11628"/>
            </a:avLst>
          </a:prstGeom>
          <a:solidFill>
            <a:srgbClr val="EDF4FF"/>
          </a:solidFill>
          <a:ln w="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3d-formula">
            <a:extLst>
              <a:ext uri="{FF2B5EF4-FFF2-40B4-BE49-F238E27FC236}">
                <a16:creationId xmlns:a16="http://schemas.microsoft.com/office/drawing/2014/main" id="{270AB506-B759-410B-850E-D2610E301332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10439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400" b="1">
                <a:solidFill>
                  <a:srgbClr val="12324A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2324A"/>
                </a:solidFill>
                <a:latin typeface="Consolas"/>
                <a:ea typeface="Consolas"/>
                <a:cs typeface="Consolas"/>
              </a:rPr>
              <a:t>offset = ((i − L1) × D2 + (j − L2)) × D3 + (k − L3)</a:t>
            </a:r>
          </a:p>
        </p:txBody>
      </p:sp>
      <p:sp>
        <p:nvSpPr>
          <p:cNvPr id="10" name="dimension-label">
            <a:extLst>
              <a:ext uri="{FF2B5EF4-FFF2-40B4-BE49-F238E27FC236}">
                <a16:creationId xmlns:a16="http://schemas.microsoft.com/office/drawing/2014/main" id="{818AE5DD-372A-441C-9FD6-F3F6D7B2818E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PLANES</a:t>
            </a:r>
          </a:p>
        </p:txBody>
      </p:sp>
      <p:sp>
        <p:nvSpPr>
          <p:cNvPr id="11" name="dimension-term">
            <a:extLst>
              <a:ext uri="{FF2B5EF4-FFF2-40B4-BE49-F238E27FC236}">
                <a16:creationId xmlns:a16="http://schemas.microsoft.com/office/drawing/2014/main" id="{338AFFB8-3F65-4383-86D2-190BCBBCDAE2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3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 × D2 × D3</a:t>
            </a:r>
          </a:p>
        </p:txBody>
      </p:sp>
      <p:sp>
        <p:nvSpPr>
          <p:cNvPr id="12" name="dimension-label">
            <a:extLst>
              <a:ext uri="{FF2B5EF4-FFF2-40B4-BE49-F238E27FC236}">
                <a16:creationId xmlns:a16="http://schemas.microsoft.com/office/drawing/2014/main" id="{AE6E09C6-546B-4E2B-A724-6BC2B014E6FE}"/>
              </a:ext>
            </a:extLst>
          </p:cNvPr>
          <p:cNvSpPr>
            <a:spLocks noGrp="1"/>
          </p:cNvSpPr>
          <p:nvPr/>
        </p:nvSpPr>
        <p:spPr>
          <a:xfrm>
            <a:off x="4476750" y="34290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ROWS</a:t>
            </a:r>
          </a:p>
        </p:txBody>
      </p:sp>
      <p:sp>
        <p:nvSpPr>
          <p:cNvPr id="13" name="dimension-term">
            <a:extLst>
              <a:ext uri="{FF2B5EF4-FFF2-40B4-BE49-F238E27FC236}">
                <a16:creationId xmlns:a16="http://schemas.microsoft.com/office/drawing/2014/main" id="{3F19BAAD-5661-4FEE-8E28-5823F93396B5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3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j × D3</a:t>
            </a:r>
          </a:p>
        </p:txBody>
      </p:sp>
      <p:sp>
        <p:nvSpPr>
          <p:cNvPr id="14" name="dimension-label">
            <a:extLst>
              <a:ext uri="{FF2B5EF4-FFF2-40B4-BE49-F238E27FC236}">
                <a16:creationId xmlns:a16="http://schemas.microsoft.com/office/drawing/2014/main" id="{8537697D-5E37-4605-B8B7-C6DC1AFD960D}"/>
              </a:ext>
            </a:extLst>
          </p:cNvPr>
          <p:cNvSpPr>
            <a:spLocks noGrp="1"/>
          </p:cNvSpPr>
          <p:nvPr/>
        </p:nvSpPr>
        <p:spPr>
          <a:xfrm>
            <a:off x="7905750" y="34290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COLUMNS</a:t>
            </a:r>
          </a:p>
        </p:txBody>
      </p:sp>
      <p:sp>
        <p:nvSpPr>
          <p:cNvPr id="15" name="dimension-term">
            <a:extLst>
              <a:ext uri="{FF2B5EF4-FFF2-40B4-BE49-F238E27FC236}">
                <a16:creationId xmlns:a16="http://schemas.microsoft.com/office/drawing/2014/main" id="{7189B6CF-651F-4FB8-97C6-9F3C1BBC7872}"/>
              </a:ext>
            </a:extLst>
          </p:cNvPr>
          <p:cNvSpPr>
            <a:spLocks noGrp="1"/>
          </p:cNvSpPr>
          <p:nvPr/>
        </p:nvSpPr>
        <p:spPr>
          <a:xfrm>
            <a:off x="7905750" y="384810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3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k</a:t>
            </a:r>
          </a:p>
        </p:txBody>
      </p:sp>
      <p:sp>
        <p:nvSpPr>
          <p:cNvPr id="16" name="3d-example">
            <a:extLst>
              <a:ext uri="{FF2B5EF4-FFF2-40B4-BE49-F238E27FC236}">
                <a16:creationId xmlns:a16="http://schemas.microsoft.com/office/drawing/2014/main" id="{6F6B0DB4-EE02-43C9-A6CA-0912940C8C1D}"/>
              </a:ext>
            </a:extLst>
          </p:cNvPr>
          <p:cNvSpPr>
            <a:spLocks noGrp="1"/>
          </p:cNvSpPr>
          <p:nvPr/>
        </p:nvSpPr>
        <p:spPr>
          <a:xfrm>
            <a:off x="2038350" y="4705350"/>
            <a:ext cx="8115300" cy="819150"/>
          </a:xfrm>
          <a:prstGeom prst="roundRect">
            <a:avLst>
              <a:gd name="adj" fmla="val 9302"/>
            </a:avLst>
          </a:prstGeom>
          <a:solidFill>
            <a:srgbClr val="F4F8FA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3d-example-text">
            <a:extLst>
              <a:ext uri="{FF2B5EF4-FFF2-40B4-BE49-F238E27FC236}">
                <a16:creationId xmlns:a16="http://schemas.microsoft.com/office/drawing/2014/main" id="{4F33D348-CC7A-4A83-B514-CF527BBB4B73}"/>
              </a:ext>
            </a:extLst>
          </p:cNvPr>
          <p:cNvSpPr>
            <a:spLocks noGrp="1"/>
          </p:cNvSpPr>
          <p:nvPr/>
        </p:nvSpPr>
        <p:spPr>
          <a:xfrm>
            <a:off x="2266950" y="4829175"/>
            <a:ext cx="7658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0">
                <a:solidFill>
                  <a:srgbClr val="18313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8313F"/>
                </a:solidFill>
                <a:latin typeface="Consolas"/>
                <a:ea typeface="Consolas"/>
                <a:cs typeface="Consolas"/>
              </a:rPr>
              <a:t>Example: A[2][3][4], target A[1][2][3]  →  offset = ((1 × 3) + 2) × 4 + 3 = 23</a:t>
            </a:r>
          </a:p>
        </p:txBody>
      </p:sp>
    </p:spTree>
    <p:extLst>
      <p:ext uri="{BB962C8B-B14F-4D97-AF65-F5344CB8AC3E}">
        <p14:creationId xmlns:p14="http://schemas.microsoft.com/office/powerpoint/2010/main" val="646326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esson-label">
            <a:extLst>
              <a:ext uri="{FF2B5EF4-FFF2-40B4-BE49-F238E27FC236}">
                <a16:creationId xmlns:a16="http://schemas.microsoft.com/office/drawing/2014/main" id="{5C76A492-3559-43F8-9042-4BEC1F9940A3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F814A1F-4AD9-48DD-B1C1-089D9BFB7B21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Pass an array by sending its first element's address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BDEFF87F-8722-4757-A964-70DDFCC160D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8CCD9707-3B64-44D0-92C4-1DD9E24E4146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5103A410-0CBA-48B2-8C01-6995F10E9A7B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80FF01A8-588A-45ED-B197-0F163400DDDE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6A03E427-C0F0-4F07-B0C1-05865AEA7DA8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6286500" cy="3409950"/>
          </a:xfrm>
          <a:prstGeom prst="roundRect">
            <a:avLst>
              <a:gd name="adj" fmla="val 2235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0371B966-CFC6-4849-9568-0A44F81617FB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ARRAY AS A PARAMETER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3CC05D8E-A7FE-4F89-AA06-75BBCE561FAE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5905500" cy="281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printArray(const int a[], int n)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for (int i = 0; i &lt; n; ++i)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printf("%d ", a[i]);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printArray(score, 5);</a:t>
            </a:r>
          </a:p>
        </p:txBody>
      </p:sp>
      <p:sp>
        <p:nvSpPr>
          <p:cNvPr id="10" name="parameter-title">
            <a:extLst>
              <a:ext uri="{FF2B5EF4-FFF2-40B4-BE49-F238E27FC236}">
                <a16:creationId xmlns:a16="http://schemas.microsoft.com/office/drawing/2014/main" id="{63FC708D-494A-496D-A760-F2AF83BC91D2}"/>
              </a:ext>
            </a:extLst>
          </p:cNvPr>
          <p:cNvSpPr>
            <a:spLocks noGrp="1"/>
          </p:cNvSpPr>
          <p:nvPr/>
        </p:nvSpPr>
        <p:spPr>
          <a:xfrm>
            <a:off x="7429500" y="1790700"/>
            <a:ext cx="3695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What the function receives</a:t>
            </a:r>
          </a:p>
        </p:txBody>
      </p:sp>
      <p:sp>
        <p:nvSpPr>
          <p:cNvPr id="11" name="bullet">
            <a:extLst>
              <a:ext uri="{FF2B5EF4-FFF2-40B4-BE49-F238E27FC236}">
                <a16:creationId xmlns:a16="http://schemas.microsoft.com/office/drawing/2014/main" id="{18A47E28-B0B9-449E-A347-0B64749A9C92}"/>
              </a:ext>
            </a:extLst>
          </p:cNvPr>
          <p:cNvSpPr>
            <a:spLocks noGrp="1"/>
          </p:cNvSpPr>
          <p:nvPr/>
        </p:nvSpPr>
        <p:spPr>
          <a:xfrm>
            <a:off x="7467600" y="24860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ullet-text">
            <a:extLst>
              <a:ext uri="{FF2B5EF4-FFF2-40B4-BE49-F238E27FC236}">
                <a16:creationId xmlns:a16="http://schemas.microsoft.com/office/drawing/2014/main" id="{28490725-2430-49BF-9B03-50865504F04E}"/>
              </a:ext>
            </a:extLst>
          </p:cNvPr>
          <p:cNvSpPr>
            <a:spLocks noGrp="1"/>
          </p:cNvSpPr>
          <p:nvPr/>
        </p:nvSpPr>
        <p:spPr>
          <a:xfrm>
            <a:off x="7715250" y="2400300"/>
            <a:ext cx="3562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a refers to the first element.</a:t>
            </a:r>
          </a:p>
        </p:txBody>
      </p:sp>
      <p:sp>
        <p:nvSpPr>
          <p:cNvPr id="13" name="bullet">
            <a:extLst>
              <a:ext uri="{FF2B5EF4-FFF2-40B4-BE49-F238E27FC236}">
                <a16:creationId xmlns:a16="http://schemas.microsoft.com/office/drawing/2014/main" id="{8319742B-84E8-4E2A-94AC-E3B8C9E8A178}"/>
              </a:ext>
            </a:extLst>
          </p:cNvPr>
          <p:cNvSpPr>
            <a:spLocks noGrp="1"/>
          </p:cNvSpPr>
          <p:nvPr/>
        </p:nvSpPr>
        <p:spPr>
          <a:xfrm>
            <a:off x="7467600" y="31146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ullet-text">
            <a:extLst>
              <a:ext uri="{FF2B5EF4-FFF2-40B4-BE49-F238E27FC236}">
                <a16:creationId xmlns:a16="http://schemas.microsoft.com/office/drawing/2014/main" id="{8788552E-6502-4E26-8E68-59C15A396EB0}"/>
              </a:ext>
            </a:extLst>
          </p:cNvPr>
          <p:cNvSpPr>
            <a:spLocks noGrp="1"/>
          </p:cNvSpPr>
          <p:nvPr/>
        </p:nvSpPr>
        <p:spPr>
          <a:xfrm>
            <a:off x="7715250" y="3028950"/>
            <a:ext cx="3562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The array length is not carried automatically.</a:t>
            </a:r>
          </a:p>
        </p:txBody>
      </p:sp>
      <p:sp>
        <p:nvSpPr>
          <p:cNvPr id="15" name="bullet">
            <a:extLst>
              <a:ext uri="{FF2B5EF4-FFF2-40B4-BE49-F238E27FC236}">
                <a16:creationId xmlns:a16="http://schemas.microsoft.com/office/drawing/2014/main" id="{2A57D1E2-1123-415A-8CD9-F1B211224CE1}"/>
              </a:ext>
            </a:extLst>
          </p:cNvPr>
          <p:cNvSpPr>
            <a:spLocks noGrp="1"/>
          </p:cNvSpPr>
          <p:nvPr/>
        </p:nvSpPr>
        <p:spPr>
          <a:xfrm>
            <a:off x="7467600" y="3743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ullet-text">
            <a:extLst>
              <a:ext uri="{FF2B5EF4-FFF2-40B4-BE49-F238E27FC236}">
                <a16:creationId xmlns:a16="http://schemas.microsoft.com/office/drawing/2014/main" id="{8F6EAEBA-01C3-4406-A5D4-7487F9D76BD6}"/>
              </a:ext>
            </a:extLst>
          </p:cNvPr>
          <p:cNvSpPr>
            <a:spLocks noGrp="1"/>
          </p:cNvSpPr>
          <p:nvPr/>
        </p:nvSpPr>
        <p:spPr>
          <a:xfrm>
            <a:off x="7715250" y="3657600"/>
            <a:ext cx="3562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Pass n explicitly to keep the loop in bounds.</a:t>
            </a:r>
          </a:p>
        </p:txBody>
      </p:sp>
      <p:sp>
        <p:nvSpPr>
          <p:cNvPr id="17" name="bullet">
            <a:extLst>
              <a:ext uri="{FF2B5EF4-FFF2-40B4-BE49-F238E27FC236}">
                <a16:creationId xmlns:a16="http://schemas.microsoft.com/office/drawing/2014/main" id="{F94A5151-C6EC-4C10-B7FC-E8E1D4E5C908}"/>
              </a:ext>
            </a:extLst>
          </p:cNvPr>
          <p:cNvSpPr>
            <a:spLocks noGrp="1"/>
          </p:cNvSpPr>
          <p:nvPr/>
        </p:nvSpPr>
        <p:spPr>
          <a:xfrm>
            <a:off x="7467600" y="4371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ullet-text">
            <a:extLst>
              <a:ext uri="{FF2B5EF4-FFF2-40B4-BE49-F238E27FC236}">
                <a16:creationId xmlns:a16="http://schemas.microsoft.com/office/drawing/2014/main" id="{AD141247-2CED-429C-81CB-C896215FEE71}"/>
              </a:ext>
            </a:extLst>
          </p:cNvPr>
          <p:cNvSpPr>
            <a:spLocks noGrp="1"/>
          </p:cNvSpPr>
          <p:nvPr/>
        </p:nvSpPr>
        <p:spPr>
          <a:xfrm>
            <a:off x="7715250" y="4286250"/>
            <a:ext cx="3562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const prevents accidental element changes.</a:t>
            </a:r>
          </a:p>
        </p:txBody>
      </p:sp>
      <p:sp>
        <p:nvSpPr>
          <p:cNvPr id="19" name="pointer-equivalence">
            <a:extLst>
              <a:ext uri="{FF2B5EF4-FFF2-40B4-BE49-F238E27FC236}">
                <a16:creationId xmlns:a16="http://schemas.microsoft.com/office/drawing/2014/main" id="{0BF8CAD4-16F4-4D6F-937D-3C668E344579}"/>
              </a:ext>
            </a:extLst>
          </p:cNvPr>
          <p:cNvSpPr>
            <a:spLocks noGrp="1"/>
          </p:cNvSpPr>
          <p:nvPr/>
        </p:nvSpPr>
        <p:spPr>
          <a:xfrm>
            <a:off x="7429500" y="5057775"/>
            <a:ext cx="3695700" cy="609600"/>
          </a:xfrm>
          <a:prstGeom prst="roundRect">
            <a:avLst>
              <a:gd name="adj" fmla="val 12500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pointer-equivalence-text">
            <a:extLst>
              <a:ext uri="{FF2B5EF4-FFF2-40B4-BE49-F238E27FC236}">
                <a16:creationId xmlns:a16="http://schemas.microsoft.com/office/drawing/2014/main" id="{13ECD12E-1297-4417-933E-9FF480A270D9}"/>
              </a:ext>
            </a:extLst>
          </p:cNvPr>
          <p:cNvSpPr>
            <a:spLocks noGrp="1"/>
          </p:cNvSpPr>
          <p:nvPr/>
        </p:nvSpPr>
        <p:spPr>
          <a:xfrm>
            <a:off x="7600950" y="5172075"/>
            <a:ext cx="335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2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a[i] means *(a + i)</a:t>
            </a:r>
          </a:p>
        </p:txBody>
      </p:sp>
    </p:spTree>
    <p:extLst>
      <p:ext uri="{BB962C8B-B14F-4D97-AF65-F5344CB8AC3E}">
        <p14:creationId xmlns:p14="http://schemas.microsoft.com/office/powerpoint/2010/main" val="2096713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esson-label">
            <a:extLst>
              <a:ext uri="{FF2B5EF4-FFF2-40B4-BE49-F238E27FC236}">
                <a16:creationId xmlns:a16="http://schemas.microsoft.com/office/drawing/2014/main" id="{C81EACA6-EF78-44E7-AEFA-F360E15D6623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136F044-E39E-47C9-85DE-340DCD60FFBC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 2D parameter needs its column size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D43A60EC-06FB-46FF-999D-4FC8009EA40C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E69707ED-1012-41E1-9B55-1CC0981D639A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AF6BD966-80C6-4282-8817-63BC10101067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87BD5E20-BBA4-4B4B-B851-793454FC7716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67D90AED-B14E-4F87-B8EC-86E242185137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6191250" cy="3352800"/>
          </a:xfrm>
          <a:prstGeom prst="roundRect">
            <a:avLst>
              <a:gd name="adj" fmla="val 2273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5F9527D3-64EB-4641-9F2D-B0020F5C9DDC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FIXED COLUMN COUNT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9029AC4A-454A-444D-98D2-319E78248B2F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581025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printMatrix(int rows, int a[][4])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for (int i = 0; i &lt; rows; ++i)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for (int j = 0; j &lt; 4; ++j)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    printf("%d ", a[i][j]);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why-columns">
            <a:extLst>
              <a:ext uri="{FF2B5EF4-FFF2-40B4-BE49-F238E27FC236}">
                <a16:creationId xmlns:a16="http://schemas.microsoft.com/office/drawing/2014/main" id="{B570C324-4399-4664-8394-5DDA67D3FD9E}"/>
              </a:ext>
            </a:extLst>
          </p:cNvPr>
          <p:cNvSpPr>
            <a:spLocks noGrp="1"/>
          </p:cNvSpPr>
          <p:nvPr/>
        </p:nvSpPr>
        <p:spPr>
          <a:xfrm>
            <a:off x="7391400" y="17907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Why is 4 required?</a:t>
            </a:r>
          </a:p>
        </p:txBody>
      </p:sp>
      <p:sp>
        <p:nvSpPr>
          <p:cNvPr id="11" name="stride-reason">
            <a:extLst>
              <a:ext uri="{FF2B5EF4-FFF2-40B4-BE49-F238E27FC236}">
                <a16:creationId xmlns:a16="http://schemas.microsoft.com/office/drawing/2014/main" id="{F88AC67C-3362-4E1A-A193-D1F1C3A02693}"/>
              </a:ext>
            </a:extLst>
          </p:cNvPr>
          <p:cNvSpPr>
            <a:spLocks noGrp="1"/>
          </p:cNvSpPr>
          <p:nvPr/>
        </p:nvSpPr>
        <p:spPr>
          <a:xfrm>
            <a:off x="7429500" y="2381250"/>
            <a:ext cx="3695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The compiler needs the row stride to calculate:</a:t>
            </a:r>
          </a:p>
        </p:txBody>
      </p:sp>
      <p:sp>
        <p:nvSpPr>
          <p:cNvPr id="12" name="2d-offset">
            <a:extLst>
              <a:ext uri="{FF2B5EF4-FFF2-40B4-BE49-F238E27FC236}">
                <a16:creationId xmlns:a16="http://schemas.microsoft.com/office/drawing/2014/main" id="{5A2B8F82-896C-4E5D-AF3C-9EC1C3A8F287}"/>
              </a:ext>
            </a:extLst>
          </p:cNvPr>
          <p:cNvSpPr>
            <a:spLocks noGrp="1"/>
          </p:cNvSpPr>
          <p:nvPr/>
        </p:nvSpPr>
        <p:spPr>
          <a:xfrm>
            <a:off x="7429500" y="3190875"/>
            <a:ext cx="3695700" cy="685800"/>
          </a:xfrm>
          <a:prstGeom prst="roundRect">
            <a:avLst>
              <a:gd name="adj" fmla="val 11111"/>
            </a:avLst>
          </a:prstGeom>
          <a:solidFill>
            <a:srgbClr val="EDF4FF"/>
          </a:solidFill>
          <a:ln w="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2d-offset-text">
            <a:extLst>
              <a:ext uri="{FF2B5EF4-FFF2-40B4-BE49-F238E27FC236}">
                <a16:creationId xmlns:a16="http://schemas.microsoft.com/office/drawing/2014/main" id="{31AC0EAC-B07C-4E76-A612-712FC1A2F042}"/>
              </a:ext>
            </a:extLst>
          </p:cNvPr>
          <p:cNvSpPr>
            <a:spLocks noGrp="1"/>
          </p:cNvSpPr>
          <p:nvPr/>
        </p:nvSpPr>
        <p:spPr>
          <a:xfrm>
            <a:off x="7600950" y="3314700"/>
            <a:ext cx="335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400" b="1">
                <a:solidFill>
                  <a:srgbClr val="12324A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2324A"/>
                </a:solidFill>
                <a:latin typeface="Consolas"/>
                <a:ea typeface="Consolas"/>
                <a:cs typeface="Consolas"/>
              </a:rPr>
              <a:t>offset = i × 4 + j</a:t>
            </a:r>
          </a:p>
        </p:txBody>
      </p:sp>
      <p:sp>
        <p:nvSpPr>
          <p:cNvPr id="14" name="vla-label">
            <a:extLst>
              <a:ext uri="{FF2B5EF4-FFF2-40B4-BE49-F238E27FC236}">
                <a16:creationId xmlns:a16="http://schemas.microsoft.com/office/drawing/2014/main" id="{CA8E9321-EF45-48B0-921A-91087D0687B4}"/>
              </a:ext>
            </a:extLst>
          </p:cNvPr>
          <p:cNvSpPr>
            <a:spLocks noGrp="1"/>
          </p:cNvSpPr>
          <p:nvPr/>
        </p:nvSpPr>
        <p:spPr>
          <a:xfrm>
            <a:off x="7429500" y="4286250"/>
            <a:ext cx="3695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C99 variable-length alternative</a:t>
            </a:r>
          </a:p>
        </p:txBody>
      </p:sp>
      <p:sp>
        <p:nvSpPr>
          <p:cNvPr id="15" name="vla-code">
            <a:extLst>
              <a:ext uri="{FF2B5EF4-FFF2-40B4-BE49-F238E27FC236}">
                <a16:creationId xmlns:a16="http://schemas.microsoft.com/office/drawing/2014/main" id="{13C578EB-42DF-4B3D-A864-7C3616F01B66}"/>
              </a:ext>
            </a:extLst>
          </p:cNvPr>
          <p:cNvSpPr>
            <a:spLocks noGrp="1"/>
          </p:cNvSpPr>
          <p:nvPr/>
        </p:nvSpPr>
        <p:spPr>
          <a:xfrm>
            <a:off x="7429500" y="4733925"/>
            <a:ext cx="3790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950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f(int r, int c, int a[r][c]);</a:t>
            </a:r>
          </a:p>
        </p:txBody>
      </p:sp>
    </p:spTree>
    <p:extLst>
      <p:ext uri="{BB962C8B-B14F-4D97-AF65-F5344CB8AC3E}">
        <p14:creationId xmlns:p14="http://schemas.microsoft.com/office/powerpoint/2010/main" val="971179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lesson-label">
            <a:extLst>
              <a:ext uri="{FF2B5EF4-FFF2-40B4-BE49-F238E27FC236}">
                <a16:creationId xmlns:a16="http://schemas.microsoft.com/office/drawing/2014/main" id="{5FE21A7D-33F9-45E5-8AA2-7A482FE7B5A3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4FF4B39-7CEF-47F4-B384-F7807831FA76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Arrays simplify counting, lookup, and tabulation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BB19E51F-BD37-4F09-8014-0019D1F3925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91130F55-375E-4381-A60B-A9051B007125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8FB6E2BA-B573-4487-A555-5EAF183B7983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B98E03B1-E938-4F07-95C6-1C467BF81B06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application-number">
            <a:extLst>
              <a:ext uri="{FF2B5EF4-FFF2-40B4-BE49-F238E27FC236}">
                <a16:creationId xmlns:a16="http://schemas.microsoft.com/office/drawing/2014/main" id="{D86521CF-DA74-4DDE-99F7-4E31C93EDA64}"/>
              </a:ext>
            </a:extLst>
          </p:cNvPr>
          <p:cNvSpPr>
            <a:spLocks noGrp="1"/>
          </p:cNvSpPr>
          <p:nvPr/>
        </p:nvSpPr>
        <p:spPr>
          <a:xfrm>
            <a:off x="742950" y="18288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 w="14288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pplication-number-text">
            <a:extLst>
              <a:ext uri="{FF2B5EF4-FFF2-40B4-BE49-F238E27FC236}">
                <a16:creationId xmlns:a16="http://schemas.microsoft.com/office/drawing/2014/main" id="{43BF8EE0-6E0B-4527-9B2B-2B053D731573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application-title">
            <a:extLst>
              <a:ext uri="{FF2B5EF4-FFF2-40B4-BE49-F238E27FC236}">
                <a16:creationId xmlns:a16="http://schemas.microsoft.com/office/drawing/2014/main" id="{05C09D9F-5672-453C-953E-8E9374C4C4F6}"/>
              </a:ext>
            </a:extLst>
          </p:cNvPr>
          <p:cNvSpPr>
            <a:spLocks noGrp="1"/>
          </p:cNvSpPr>
          <p:nvPr/>
        </p:nvSpPr>
        <p:spPr>
          <a:xfrm>
            <a:off x="1504950" y="175260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25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Frequency counting</a:t>
            </a:r>
          </a:p>
        </p:txBody>
      </p:sp>
      <p:sp>
        <p:nvSpPr>
          <p:cNvPr id="10" name="application-desc">
            <a:extLst>
              <a:ext uri="{FF2B5EF4-FFF2-40B4-BE49-F238E27FC236}">
                <a16:creationId xmlns:a16="http://schemas.microsoft.com/office/drawing/2014/main" id="{1334B0FC-7F31-4F49-9157-4CE3FEA2BAC4}"/>
              </a:ext>
            </a:extLst>
          </p:cNvPr>
          <p:cNvSpPr>
            <a:spLocks noGrp="1"/>
          </p:cNvSpPr>
          <p:nvPr/>
        </p:nvSpPr>
        <p:spPr>
          <a:xfrm>
            <a:off x="1504950" y="2152650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02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count[value]++ records how often a value occurs.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488269C8-FC42-4B67-92AD-B973EF26DD0C}"/>
              </a:ext>
            </a:extLst>
          </p:cNvPr>
          <p:cNvSpPr>
            <a:spLocks noGrp="1"/>
          </p:cNvSpPr>
          <p:nvPr/>
        </p:nvSpPr>
        <p:spPr>
          <a:xfrm>
            <a:off x="1504950" y="2619375"/>
            <a:ext cx="9048750" cy="0"/>
          </a:xfrm>
          <a:prstGeom prst="line">
            <a:avLst/>
          </a:prstGeom>
          <a:noFill/>
          <a:ln w="9525">
            <a:solidFill>
              <a:srgbClr val="E8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application-number">
            <a:extLst>
              <a:ext uri="{FF2B5EF4-FFF2-40B4-BE49-F238E27FC236}">
                <a16:creationId xmlns:a16="http://schemas.microsoft.com/office/drawing/2014/main" id="{A1047723-AFB8-49C6-A91C-D715493E23DB}"/>
              </a:ext>
            </a:extLst>
          </p:cNvPr>
          <p:cNvSpPr>
            <a:spLocks noGrp="1"/>
          </p:cNvSpPr>
          <p:nvPr/>
        </p:nvSpPr>
        <p:spPr>
          <a:xfrm>
            <a:off x="742950" y="27622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pplication-number-text">
            <a:extLst>
              <a:ext uri="{FF2B5EF4-FFF2-40B4-BE49-F238E27FC236}">
                <a16:creationId xmlns:a16="http://schemas.microsoft.com/office/drawing/2014/main" id="{00039E68-1D21-4889-9BC6-75B36EFF9C3F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application-title">
            <a:extLst>
              <a:ext uri="{FF2B5EF4-FFF2-40B4-BE49-F238E27FC236}">
                <a16:creationId xmlns:a16="http://schemas.microsoft.com/office/drawing/2014/main" id="{69934B9A-705A-436B-ACCD-E33AA9C7D496}"/>
              </a:ext>
            </a:extLst>
          </p:cNvPr>
          <p:cNvSpPr>
            <a:spLocks noGrp="1"/>
          </p:cNvSpPr>
          <p:nvPr/>
        </p:nvSpPr>
        <p:spPr>
          <a:xfrm>
            <a:off x="1504950" y="268605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25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Searching and lookup</a:t>
            </a:r>
          </a:p>
        </p:txBody>
      </p:sp>
      <p:sp>
        <p:nvSpPr>
          <p:cNvPr id="15" name="application-desc">
            <a:extLst>
              <a:ext uri="{FF2B5EF4-FFF2-40B4-BE49-F238E27FC236}">
                <a16:creationId xmlns:a16="http://schemas.microsoft.com/office/drawing/2014/main" id="{A936E173-BEC5-4946-A562-0C25D7EE9E5B}"/>
              </a:ext>
            </a:extLst>
          </p:cNvPr>
          <p:cNvSpPr>
            <a:spLocks noGrp="1"/>
          </p:cNvSpPr>
          <p:nvPr/>
        </p:nvSpPr>
        <p:spPr>
          <a:xfrm>
            <a:off x="1504950" y="3086100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02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Indexes provide direct access; ordered arrays support binary search.</a:t>
            </a:r>
          </a:p>
        </p:txBody>
      </p:sp>
      <p:sp>
        <p:nvSpPr>
          <p:cNvPr id="16" name="divider">
            <a:extLst>
              <a:ext uri="{FF2B5EF4-FFF2-40B4-BE49-F238E27FC236}">
                <a16:creationId xmlns:a16="http://schemas.microsoft.com/office/drawing/2014/main" id="{39571942-3074-46D5-9DED-38FD5D9CF38E}"/>
              </a:ext>
            </a:extLst>
          </p:cNvPr>
          <p:cNvSpPr>
            <a:spLocks noGrp="1"/>
          </p:cNvSpPr>
          <p:nvPr/>
        </p:nvSpPr>
        <p:spPr>
          <a:xfrm>
            <a:off x="1504950" y="3552825"/>
            <a:ext cx="9048750" cy="0"/>
          </a:xfrm>
          <a:prstGeom prst="line">
            <a:avLst/>
          </a:prstGeom>
          <a:noFill/>
          <a:ln w="9525">
            <a:solidFill>
              <a:srgbClr val="E8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pplication-number">
            <a:extLst>
              <a:ext uri="{FF2B5EF4-FFF2-40B4-BE49-F238E27FC236}">
                <a16:creationId xmlns:a16="http://schemas.microsoft.com/office/drawing/2014/main" id="{4564DBB0-6AB7-4758-897A-4B616CB03A6C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 w="14288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pplication-number-text">
            <a:extLst>
              <a:ext uri="{FF2B5EF4-FFF2-40B4-BE49-F238E27FC236}">
                <a16:creationId xmlns:a16="http://schemas.microsoft.com/office/drawing/2014/main" id="{1889CEA9-F91E-41F2-877C-49C18F4D9994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application-title">
            <a:extLst>
              <a:ext uri="{FF2B5EF4-FFF2-40B4-BE49-F238E27FC236}">
                <a16:creationId xmlns:a16="http://schemas.microsoft.com/office/drawing/2014/main" id="{527C7878-A398-45C0-8B50-8ADE157B85F0}"/>
              </a:ext>
            </a:extLst>
          </p:cNvPr>
          <p:cNvSpPr>
            <a:spLocks noGrp="1"/>
          </p:cNvSpPr>
          <p:nvPr/>
        </p:nvSpPr>
        <p:spPr>
          <a:xfrm>
            <a:off x="1504950" y="361950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25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Tables and matrices</a:t>
            </a:r>
          </a:p>
        </p:txBody>
      </p:sp>
      <p:sp>
        <p:nvSpPr>
          <p:cNvPr id="20" name="application-desc">
            <a:extLst>
              <a:ext uri="{FF2B5EF4-FFF2-40B4-BE49-F238E27FC236}">
                <a16:creationId xmlns:a16="http://schemas.microsoft.com/office/drawing/2014/main" id="{9C00C206-9E19-4438-9C87-DC0CCB312E19}"/>
              </a:ext>
            </a:extLst>
          </p:cNvPr>
          <p:cNvSpPr>
            <a:spLocks noGrp="1"/>
          </p:cNvSpPr>
          <p:nvPr/>
        </p:nvSpPr>
        <p:spPr>
          <a:xfrm>
            <a:off x="1504950" y="4019550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02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Rows and columns model marks, images, grids, and numeric data.</a:t>
            </a:r>
          </a:p>
        </p:txBody>
      </p:sp>
      <p:sp>
        <p:nvSpPr>
          <p:cNvPr id="21" name="divider">
            <a:extLst>
              <a:ext uri="{FF2B5EF4-FFF2-40B4-BE49-F238E27FC236}">
                <a16:creationId xmlns:a16="http://schemas.microsoft.com/office/drawing/2014/main" id="{4E421D01-E8C6-4591-AF29-C34A7B06EB64}"/>
              </a:ext>
            </a:extLst>
          </p:cNvPr>
          <p:cNvSpPr>
            <a:spLocks noGrp="1"/>
          </p:cNvSpPr>
          <p:nvPr/>
        </p:nvSpPr>
        <p:spPr>
          <a:xfrm>
            <a:off x="1504950" y="4486275"/>
            <a:ext cx="9048750" cy="0"/>
          </a:xfrm>
          <a:prstGeom prst="line">
            <a:avLst/>
          </a:prstGeom>
          <a:noFill/>
          <a:ln w="9525">
            <a:solidFill>
              <a:srgbClr val="E8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pplication-number">
            <a:extLst>
              <a:ext uri="{FF2B5EF4-FFF2-40B4-BE49-F238E27FC236}">
                <a16:creationId xmlns:a16="http://schemas.microsoft.com/office/drawing/2014/main" id="{559CD4C9-E030-4232-9021-6A5561B69A8F}"/>
              </a:ext>
            </a:extLst>
          </p:cNvPr>
          <p:cNvSpPr>
            <a:spLocks noGrp="1"/>
          </p:cNvSpPr>
          <p:nvPr/>
        </p:nvSpPr>
        <p:spPr>
          <a:xfrm>
            <a:off x="742950" y="46291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pplication-number-text">
            <a:extLst>
              <a:ext uri="{FF2B5EF4-FFF2-40B4-BE49-F238E27FC236}">
                <a16:creationId xmlns:a16="http://schemas.microsoft.com/office/drawing/2014/main" id="{B2C6A99A-D6C8-40B6-A394-D647FCF42EAD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application-title">
            <a:extLst>
              <a:ext uri="{FF2B5EF4-FFF2-40B4-BE49-F238E27FC236}">
                <a16:creationId xmlns:a16="http://schemas.microsoft.com/office/drawing/2014/main" id="{2FA66E43-A3E4-4564-813A-AF7E62D650C7}"/>
              </a:ext>
            </a:extLst>
          </p:cNvPr>
          <p:cNvSpPr>
            <a:spLocks noGrp="1"/>
          </p:cNvSpPr>
          <p:nvPr/>
        </p:nvSpPr>
        <p:spPr>
          <a:xfrm>
            <a:off x="1504950" y="455295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25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Building other structures</a:t>
            </a:r>
          </a:p>
        </p:txBody>
      </p:sp>
      <p:sp>
        <p:nvSpPr>
          <p:cNvPr id="25" name="application-desc">
            <a:extLst>
              <a:ext uri="{FF2B5EF4-FFF2-40B4-BE49-F238E27FC236}">
                <a16:creationId xmlns:a16="http://schemas.microsoft.com/office/drawing/2014/main" id="{9E130639-55D7-4222-BA67-90511C85A1BF}"/>
              </a:ext>
            </a:extLst>
          </p:cNvPr>
          <p:cNvSpPr>
            <a:spLocks noGrp="1"/>
          </p:cNvSpPr>
          <p:nvPr/>
        </p:nvSpPr>
        <p:spPr>
          <a:xfrm>
            <a:off x="1504950" y="4953000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02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Stacks, queues, heaps, and strings can use arrays.</a:t>
            </a:r>
          </a:p>
        </p:txBody>
      </p:sp>
      <p:sp>
        <p:nvSpPr>
          <p:cNvPr id="26" name="selection-question">
            <a:extLst>
              <a:ext uri="{FF2B5EF4-FFF2-40B4-BE49-F238E27FC236}">
                <a16:creationId xmlns:a16="http://schemas.microsoft.com/office/drawing/2014/main" id="{689CDB52-45BA-4796-B722-89F82C97BAF3}"/>
              </a:ext>
            </a:extLst>
          </p:cNvPr>
          <p:cNvSpPr>
            <a:spLocks noGrp="1"/>
          </p:cNvSpPr>
          <p:nvPr/>
        </p:nvSpPr>
        <p:spPr>
          <a:xfrm>
            <a:off x="8096250" y="5219700"/>
            <a:ext cx="2857500" cy="495300"/>
          </a:xfrm>
          <a:prstGeom prst="roundRect">
            <a:avLst>
              <a:gd name="adj" fmla="val 15385"/>
            </a:avLst>
          </a:prstGeom>
          <a:solidFill>
            <a:srgbClr val="FFF6E7"/>
          </a:solidFill>
          <a:ln w="0">
            <a:solidFill>
              <a:srgbClr val="FFF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election-question-text">
            <a:extLst>
              <a:ext uri="{FF2B5EF4-FFF2-40B4-BE49-F238E27FC236}">
                <a16:creationId xmlns:a16="http://schemas.microsoft.com/office/drawing/2014/main" id="{3A6A83B6-8627-4D19-B253-8BF676E873EA}"/>
              </a:ext>
            </a:extLst>
          </p:cNvPr>
          <p:cNvSpPr>
            <a:spLocks noGrp="1"/>
          </p:cNvSpPr>
          <p:nvPr/>
        </p:nvSpPr>
        <p:spPr>
          <a:xfrm>
            <a:off x="8267700" y="5305425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Question: Is the size known?</a:t>
            </a:r>
          </a:p>
        </p:txBody>
      </p:sp>
    </p:spTree>
    <p:extLst>
      <p:ext uri="{BB962C8B-B14F-4D97-AF65-F5344CB8AC3E}">
        <p14:creationId xmlns:p14="http://schemas.microsoft.com/office/powerpoint/2010/main" val="1885651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lesson-label">
            <a:extLst>
              <a:ext uri="{FF2B5EF4-FFF2-40B4-BE49-F238E27FC236}">
                <a16:creationId xmlns:a16="http://schemas.microsoft.com/office/drawing/2014/main" id="{1023A1F7-0119-4419-AC8F-4887FECD65A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2D29188-73E4-4BDA-9261-B2C7E72D68CE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Ordered arrays speed search but slow updates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90DF2AB2-6028-4729-906E-4E3549D3D996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A3ECDAAB-6156-4AC0-831F-09DAEBBE7ECC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251DA244-B858-4893-9E4F-E14D2FBD4135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D6F0CD9D-6140-4B03-9037-2CBF078D8439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ordered-label">
            <a:extLst>
              <a:ext uri="{FF2B5EF4-FFF2-40B4-BE49-F238E27FC236}">
                <a16:creationId xmlns:a16="http://schemas.microsoft.com/office/drawing/2014/main" id="{92E524C9-EF71-4319-A09A-A4E8CFA983E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Ordered list</a:t>
            </a:r>
          </a:p>
        </p:txBody>
      </p:sp>
      <p:sp>
        <p:nvSpPr>
          <p:cNvPr id="8" name="array-index">
            <a:extLst>
              <a:ext uri="{FF2B5EF4-FFF2-40B4-BE49-F238E27FC236}">
                <a16:creationId xmlns:a16="http://schemas.microsoft.com/office/drawing/2014/main" id="{55A64F9B-E4FD-4CC1-946D-472BA5222F05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9" name="array-cell">
            <a:extLst>
              <a:ext uri="{FF2B5EF4-FFF2-40B4-BE49-F238E27FC236}">
                <a16:creationId xmlns:a16="http://schemas.microsoft.com/office/drawing/2014/main" id="{7E65519E-B1BE-420B-9696-A8BB8D1BA250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8191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rray-value">
            <a:extLst>
              <a:ext uri="{FF2B5EF4-FFF2-40B4-BE49-F238E27FC236}">
                <a16:creationId xmlns:a16="http://schemas.microsoft.com/office/drawing/2014/main" id="{86E75E91-1B35-4178-A5B2-AC60992194F9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781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1" name="array-index">
            <a:extLst>
              <a:ext uri="{FF2B5EF4-FFF2-40B4-BE49-F238E27FC236}">
                <a16:creationId xmlns:a16="http://schemas.microsoft.com/office/drawing/2014/main" id="{6777A68C-2D0D-446D-B8CC-A1E1B1B284BD}"/>
              </a:ext>
            </a:extLst>
          </p:cNvPr>
          <p:cNvSpPr>
            <a:spLocks noGrp="1"/>
          </p:cNvSpPr>
          <p:nvPr/>
        </p:nvSpPr>
        <p:spPr>
          <a:xfrm>
            <a:off x="1638300" y="2171700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2" name="array-cell">
            <a:extLst>
              <a:ext uri="{FF2B5EF4-FFF2-40B4-BE49-F238E27FC236}">
                <a16:creationId xmlns:a16="http://schemas.microsoft.com/office/drawing/2014/main" id="{ACD8E3DA-0F18-4B86-88B2-04E870F898B0}"/>
              </a:ext>
            </a:extLst>
          </p:cNvPr>
          <p:cNvSpPr>
            <a:spLocks noGrp="1"/>
          </p:cNvSpPr>
          <p:nvPr/>
        </p:nvSpPr>
        <p:spPr>
          <a:xfrm>
            <a:off x="1638300" y="2457450"/>
            <a:ext cx="8191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rray-value">
            <a:extLst>
              <a:ext uri="{FF2B5EF4-FFF2-40B4-BE49-F238E27FC236}">
                <a16:creationId xmlns:a16="http://schemas.microsoft.com/office/drawing/2014/main" id="{4F888437-84B4-4B67-9DB7-4F491DD6F707}"/>
              </a:ext>
            </a:extLst>
          </p:cNvPr>
          <p:cNvSpPr>
            <a:spLocks noGrp="1"/>
          </p:cNvSpPr>
          <p:nvPr/>
        </p:nvSpPr>
        <p:spPr>
          <a:xfrm>
            <a:off x="1657350" y="2476500"/>
            <a:ext cx="781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14" name="array-index">
            <a:extLst>
              <a:ext uri="{FF2B5EF4-FFF2-40B4-BE49-F238E27FC236}">
                <a16:creationId xmlns:a16="http://schemas.microsoft.com/office/drawing/2014/main" id="{5D462A6D-4CF0-403E-9080-CAF0EE197E1E}"/>
              </a:ext>
            </a:extLst>
          </p:cNvPr>
          <p:cNvSpPr>
            <a:spLocks noGrp="1"/>
          </p:cNvSpPr>
          <p:nvPr/>
        </p:nvSpPr>
        <p:spPr>
          <a:xfrm>
            <a:off x="2457450" y="2171700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5" name="array-cell">
            <a:extLst>
              <a:ext uri="{FF2B5EF4-FFF2-40B4-BE49-F238E27FC236}">
                <a16:creationId xmlns:a16="http://schemas.microsoft.com/office/drawing/2014/main" id="{A3391AA8-4BBB-4BC9-83B7-2317A36AB344}"/>
              </a:ext>
            </a:extLst>
          </p:cNvPr>
          <p:cNvSpPr>
            <a:spLocks noGrp="1"/>
          </p:cNvSpPr>
          <p:nvPr/>
        </p:nvSpPr>
        <p:spPr>
          <a:xfrm>
            <a:off x="2457450" y="2457450"/>
            <a:ext cx="8191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rray-value">
            <a:extLst>
              <a:ext uri="{FF2B5EF4-FFF2-40B4-BE49-F238E27FC236}">
                <a16:creationId xmlns:a16="http://schemas.microsoft.com/office/drawing/2014/main" id="{66F0D0C7-F899-44EA-81F6-7715B5ACCCFA}"/>
              </a:ext>
            </a:extLst>
          </p:cNvPr>
          <p:cNvSpPr>
            <a:spLocks noGrp="1"/>
          </p:cNvSpPr>
          <p:nvPr/>
        </p:nvSpPr>
        <p:spPr>
          <a:xfrm>
            <a:off x="2476500" y="2476500"/>
            <a:ext cx="781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17" name="array-index">
            <a:extLst>
              <a:ext uri="{FF2B5EF4-FFF2-40B4-BE49-F238E27FC236}">
                <a16:creationId xmlns:a16="http://schemas.microsoft.com/office/drawing/2014/main" id="{0BC28408-529A-4E51-AC63-1A664A21EC39}"/>
              </a:ext>
            </a:extLst>
          </p:cNvPr>
          <p:cNvSpPr>
            <a:spLocks noGrp="1"/>
          </p:cNvSpPr>
          <p:nvPr/>
        </p:nvSpPr>
        <p:spPr>
          <a:xfrm>
            <a:off x="3276600" y="2171700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array-cell">
            <a:extLst>
              <a:ext uri="{FF2B5EF4-FFF2-40B4-BE49-F238E27FC236}">
                <a16:creationId xmlns:a16="http://schemas.microsoft.com/office/drawing/2014/main" id="{D268F178-999F-4C8A-8DB3-27EA7606BDBA}"/>
              </a:ext>
            </a:extLst>
          </p:cNvPr>
          <p:cNvSpPr>
            <a:spLocks noGrp="1"/>
          </p:cNvSpPr>
          <p:nvPr/>
        </p:nvSpPr>
        <p:spPr>
          <a:xfrm>
            <a:off x="3276600" y="2457450"/>
            <a:ext cx="8191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rray-value">
            <a:extLst>
              <a:ext uri="{FF2B5EF4-FFF2-40B4-BE49-F238E27FC236}">
                <a16:creationId xmlns:a16="http://schemas.microsoft.com/office/drawing/2014/main" id="{18F7BA31-E3FC-4039-87C6-3A9880AC5A16}"/>
              </a:ext>
            </a:extLst>
          </p:cNvPr>
          <p:cNvSpPr>
            <a:spLocks noGrp="1"/>
          </p:cNvSpPr>
          <p:nvPr/>
        </p:nvSpPr>
        <p:spPr>
          <a:xfrm>
            <a:off x="3295650" y="2476500"/>
            <a:ext cx="781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  <p:sp>
        <p:nvSpPr>
          <p:cNvPr id="20" name="array-index">
            <a:extLst>
              <a:ext uri="{FF2B5EF4-FFF2-40B4-BE49-F238E27FC236}">
                <a16:creationId xmlns:a16="http://schemas.microsoft.com/office/drawing/2014/main" id="{0B483BB5-1AF9-47CA-9920-8FF87968F63A}"/>
              </a:ext>
            </a:extLst>
          </p:cNvPr>
          <p:cNvSpPr>
            <a:spLocks noGrp="1"/>
          </p:cNvSpPr>
          <p:nvPr/>
        </p:nvSpPr>
        <p:spPr>
          <a:xfrm>
            <a:off x="4095750" y="2171700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array-cell">
            <a:extLst>
              <a:ext uri="{FF2B5EF4-FFF2-40B4-BE49-F238E27FC236}">
                <a16:creationId xmlns:a16="http://schemas.microsoft.com/office/drawing/2014/main" id="{B4556E53-3B22-4E9A-B328-154EEFC0B7F5}"/>
              </a:ext>
            </a:extLst>
          </p:cNvPr>
          <p:cNvSpPr>
            <a:spLocks noGrp="1"/>
          </p:cNvSpPr>
          <p:nvPr/>
        </p:nvSpPr>
        <p:spPr>
          <a:xfrm>
            <a:off x="4095750" y="2457450"/>
            <a:ext cx="8191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rray-value">
            <a:extLst>
              <a:ext uri="{FF2B5EF4-FFF2-40B4-BE49-F238E27FC236}">
                <a16:creationId xmlns:a16="http://schemas.microsoft.com/office/drawing/2014/main" id="{0C716DC8-CFF6-419C-99BC-92C242FDC275}"/>
              </a:ext>
            </a:extLst>
          </p:cNvPr>
          <p:cNvSpPr>
            <a:spLocks noGrp="1"/>
          </p:cNvSpPr>
          <p:nvPr/>
        </p:nvSpPr>
        <p:spPr>
          <a:xfrm>
            <a:off x="4114800" y="2476500"/>
            <a:ext cx="781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44</a:t>
            </a:r>
          </a:p>
        </p:txBody>
      </p:sp>
      <p:sp>
        <p:nvSpPr>
          <p:cNvPr id="23" name="array-index">
            <a:extLst>
              <a:ext uri="{FF2B5EF4-FFF2-40B4-BE49-F238E27FC236}">
                <a16:creationId xmlns:a16="http://schemas.microsoft.com/office/drawing/2014/main" id="{A33C74E2-C68B-4DA9-A168-7DBFAC845406}"/>
              </a:ext>
            </a:extLst>
          </p:cNvPr>
          <p:cNvSpPr>
            <a:spLocks noGrp="1"/>
          </p:cNvSpPr>
          <p:nvPr/>
        </p:nvSpPr>
        <p:spPr>
          <a:xfrm>
            <a:off x="4914900" y="2171700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4" name="array-cell">
            <a:extLst>
              <a:ext uri="{FF2B5EF4-FFF2-40B4-BE49-F238E27FC236}">
                <a16:creationId xmlns:a16="http://schemas.microsoft.com/office/drawing/2014/main" id="{0E10754C-293B-4B0A-BA8C-AB90FD6A36C9}"/>
              </a:ext>
            </a:extLst>
          </p:cNvPr>
          <p:cNvSpPr>
            <a:spLocks noGrp="1"/>
          </p:cNvSpPr>
          <p:nvPr/>
        </p:nvSpPr>
        <p:spPr>
          <a:xfrm>
            <a:off x="4914900" y="2457450"/>
            <a:ext cx="819150" cy="590550"/>
          </a:xfrm>
          <a:prstGeom prst="rect">
            <a:avLst/>
          </a:prstGeom>
          <a:solidFill>
            <a:srgbClr val="F4F8FA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rray-value">
            <a:extLst>
              <a:ext uri="{FF2B5EF4-FFF2-40B4-BE49-F238E27FC236}">
                <a16:creationId xmlns:a16="http://schemas.microsoft.com/office/drawing/2014/main" id="{20560CE5-BF6D-4E7C-97F8-580A61E137E5}"/>
              </a:ext>
            </a:extLst>
          </p:cNvPr>
          <p:cNvSpPr>
            <a:spLocks noGrp="1"/>
          </p:cNvSpPr>
          <p:nvPr/>
        </p:nvSpPr>
        <p:spPr>
          <a:xfrm>
            <a:off x="4933950" y="2476500"/>
            <a:ext cx="781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26" name="insert-27">
            <a:extLst>
              <a:ext uri="{FF2B5EF4-FFF2-40B4-BE49-F238E27FC236}">
                <a16:creationId xmlns:a16="http://schemas.microsoft.com/office/drawing/2014/main" id="{0B864979-AD6C-4D84-8D2B-8FCC53585383}"/>
              </a:ext>
            </a:extLst>
          </p:cNvPr>
          <p:cNvSpPr>
            <a:spLocks noGrp="1"/>
          </p:cNvSpPr>
          <p:nvPr/>
        </p:nvSpPr>
        <p:spPr>
          <a:xfrm>
            <a:off x="6343650" y="249555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Insert 27</a:t>
            </a:r>
          </a:p>
        </p:txBody>
      </p:sp>
      <p:sp>
        <p:nvSpPr>
          <p:cNvPr id="27" name="insert-arrow">
            <a:extLst>
              <a:ext uri="{FF2B5EF4-FFF2-40B4-BE49-F238E27FC236}">
                <a16:creationId xmlns:a16="http://schemas.microsoft.com/office/drawing/2014/main" id="{BFFDE6B3-670F-4C49-BB7E-D2F05604BFDF}"/>
              </a:ext>
            </a:extLst>
          </p:cNvPr>
          <p:cNvSpPr>
            <a:spLocks noGrp="1"/>
          </p:cNvSpPr>
          <p:nvPr/>
        </p:nvSpPr>
        <p:spPr>
          <a:xfrm>
            <a:off x="7620000" y="2495550"/>
            <a:ext cx="523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8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array-index">
            <a:extLst>
              <a:ext uri="{FF2B5EF4-FFF2-40B4-BE49-F238E27FC236}">
                <a16:creationId xmlns:a16="http://schemas.microsoft.com/office/drawing/2014/main" id="{10AF275A-89C3-4022-AFD8-0F4FEA78B791}"/>
              </a:ext>
            </a:extLst>
          </p:cNvPr>
          <p:cNvSpPr>
            <a:spLocks noGrp="1"/>
          </p:cNvSpPr>
          <p:nvPr/>
        </p:nvSpPr>
        <p:spPr>
          <a:xfrm>
            <a:off x="8191500" y="217170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9" name="array-cell">
            <a:extLst>
              <a:ext uri="{FF2B5EF4-FFF2-40B4-BE49-F238E27FC236}">
                <a16:creationId xmlns:a16="http://schemas.microsoft.com/office/drawing/2014/main" id="{38C200ED-4864-40E0-9512-676C1408AF89}"/>
              </a:ext>
            </a:extLst>
          </p:cNvPr>
          <p:cNvSpPr>
            <a:spLocks noGrp="1"/>
          </p:cNvSpPr>
          <p:nvPr/>
        </p:nvSpPr>
        <p:spPr>
          <a:xfrm>
            <a:off x="8191500" y="2457450"/>
            <a:ext cx="5143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rray-value">
            <a:extLst>
              <a:ext uri="{FF2B5EF4-FFF2-40B4-BE49-F238E27FC236}">
                <a16:creationId xmlns:a16="http://schemas.microsoft.com/office/drawing/2014/main" id="{8C815875-1339-4FFA-9C8E-F05B17DB1F0C}"/>
              </a:ext>
            </a:extLst>
          </p:cNvPr>
          <p:cNvSpPr>
            <a:spLocks noGrp="1"/>
          </p:cNvSpPr>
          <p:nvPr/>
        </p:nvSpPr>
        <p:spPr>
          <a:xfrm>
            <a:off x="8210550" y="2476500"/>
            <a:ext cx="47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1" name="array-index">
            <a:extLst>
              <a:ext uri="{FF2B5EF4-FFF2-40B4-BE49-F238E27FC236}">
                <a16:creationId xmlns:a16="http://schemas.microsoft.com/office/drawing/2014/main" id="{C7E203AC-161F-4B14-A4E2-23B32118C50B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2" name="array-cell">
            <a:extLst>
              <a:ext uri="{FF2B5EF4-FFF2-40B4-BE49-F238E27FC236}">
                <a16:creationId xmlns:a16="http://schemas.microsoft.com/office/drawing/2014/main" id="{0BAB3900-0020-46D2-826B-FF086903C122}"/>
              </a:ext>
            </a:extLst>
          </p:cNvPr>
          <p:cNvSpPr>
            <a:spLocks noGrp="1"/>
          </p:cNvSpPr>
          <p:nvPr/>
        </p:nvSpPr>
        <p:spPr>
          <a:xfrm>
            <a:off x="8705850" y="2457450"/>
            <a:ext cx="5143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rray-value">
            <a:extLst>
              <a:ext uri="{FF2B5EF4-FFF2-40B4-BE49-F238E27FC236}">
                <a16:creationId xmlns:a16="http://schemas.microsoft.com/office/drawing/2014/main" id="{E63DFDFA-FA1C-4944-8216-92546A1C0427}"/>
              </a:ext>
            </a:extLst>
          </p:cNvPr>
          <p:cNvSpPr>
            <a:spLocks noGrp="1"/>
          </p:cNvSpPr>
          <p:nvPr/>
        </p:nvSpPr>
        <p:spPr>
          <a:xfrm>
            <a:off x="8724900" y="2476500"/>
            <a:ext cx="47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34" name="array-index">
            <a:extLst>
              <a:ext uri="{FF2B5EF4-FFF2-40B4-BE49-F238E27FC236}">
                <a16:creationId xmlns:a16="http://schemas.microsoft.com/office/drawing/2014/main" id="{09B03BAA-F6BA-44AA-AB05-B0B6A42AB87E}"/>
              </a:ext>
            </a:extLst>
          </p:cNvPr>
          <p:cNvSpPr>
            <a:spLocks noGrp="1"/>
          </p:cNvSpPr>
          <p:nvPr/>
        </p:nvSpPr>
        <p:spPr>
          <a:xfrm>
            <a:off x="9220200" y="217170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5" name="array-cell">
            <a:extLst>
              <a:ext uri="{FF2B5EF4-FFF2-40B4-BE49-F238E27FC236}">
                <a16:creationId xmlns:a16="http://schemas.microsoft.com/office/drawing/2014/main" id="{9A38CD95-7D9C-4B71-8E4B-810A71B00ACE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5143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array-value">
            <a:extLst>
              <a:ext uri="{FF2B5EF4-FFF2-40B4-BE49-F238E27FC236}">
                <a16:creationId xmlns:a16="http://schemas.microsoft.com/office/drawing/2014/main" id="{32EEB797-C7FD-443E-AEB0-178E4BF6A180}"/>
              </a:ext>
            </a:extLst>
          </p:cNvPr>
          <p:cNvSpPr>
            <a:spLocks noGrp="1"/>
          </p:cNvSpPr>
          <p:nvPr/>
        </p:nvSpPr>
        <p:spPr>
          <a:xfrm>
            <a:off x="9239250" y="2476500"/>
            <a:ext cx="47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37" name="array-index">
            <a:extLst>
              <a:ext uri="{FF2B5EF4-FFF2-40B4-BE49-F238E27FC236}">
                <a16:creationId xmlns:a16="http://schemas.microsoft.com/office/drawing/2014/main" id="{4EF86001-F914-4978-8591-A05A2A1C7E7D}"/>
              </a:ext>
            </a:extLst>
          </p:cNvPr>
          <p:cNvSpPr>
            <a:spLocks noGrp="1"/>
          </p:cNvSpPr>
          <p:nvPr/>
        </p:nvSpPr>
        <p:spPr>
          <a:xfrm>
            <a:off x="9734550" y="217170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8" name="array-cell">
            <a:extLst>
              <a:ext uri="{FF2B5EF4-FFF2-40B4-BE49-F238E27FC236}">
                <a16:creationId xmlns:a16="http://schemas.microsoft.com/office/drawing/2014/main" id="{9A8695D4-86D3-43B3-A170-7F08B11E8653}"/>
              </a:ext>
            </a:extLst>
          </p:cNvPr>
          <p:cNvSpPr>
            <a:spLocks noGrp="1"/>
          </p:cNvSpPr>
          <p:nvPr/>
        </p:nvSpPr>
        <p:spPr>
          <a:xfrm>
            <a:off x="9734550" y="2457450"/>
            <a:ext cx="514350" cy="590550"/>
          </a:xfrm>
          <a:prstGeom prst="rect">
            <a:avLst/>
          </a:prstGeom>
          <a:solidFill>
            <a:srgbClr val="EAF6F4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array-value">
            <a:extLst>
              <a:ext uri="{FF2B5EF4-FFF2-40B4-BE49-F238E27FC236}">
                <a16:creationId xmlns:a16="http://schemas.microsoft.com/office/drawing/2014/main" id="{1AA93D89-7F18-41FE-AAC6-C7341117D78C}"/>
              </a:ext>
            </a:extLst>
          </p:cNvPr>
          <p:cNvSpPr>
            <a:spLocks noGrp="1"/>
          </p:cNvSpPr>
          <p:nvPr/>
        </p:nvSpPr>
        <p:spPr>
          <a:xfrm>
            <a:off x="9753600" y="2476500"/>
            <a:ext cx="47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40" name="array-index">
            <a:extLst>
              <a:ext uri="{FF2B5EF4-FFF2-40B4-BE49-F238E27FC236}">
                <a16:creationId xmlns:a16="http://schemas.microsoft.com/office/drawing/2014/main" id="{703E5DFC-9472-4BD1-9424-C682E3EB28CC}"/>
              </a:ext>
            </a:extLst>
          </p:cNvPr>
          <p:cNvSpPr>
            <a:spLocks noGrp="1"/>
          </p:cNvSpPr>
          <p:nvPr/>
        </p:nvSpPr>
        <p:spPr>
          <a:xfrm>
            <a:off x="10248900" y="217170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41" name="array-cell">
            <a:extLst>
              <a:ext uri="{FF2B5EF4-FFF2-40B4-BE49-F238E27FC236}">
                <a16:creationId xmlns:a16="http://schemas.microsoft.com/office/drawing/2014/main" id="{03AE1C9F-AC9F-4709-9634-1A22689D9EF1}"/>
              </a:ext>
            </a:extLst>
          </p:cNvPr>
          <p:cNvSpPr>
            <a:spLocks noGrp="1"/>
          </p:cNvSpPr>
          <p:nvPr/>
        </p:nvSpPr>
        <p:spPr>
          <a:xfrm>
            <a:off x="10248900" y="2457450"/>
            <a:ext cx="5143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rray-value">
            <a:extLst>
              <a:ext uri="{FF2B5EF4-FFF2-40B4-BE49-F238E27FC236}">
                <a16:creationId xmlns:a16="http://schemas.microsoft.com/office/drawing/2014/main" id="{9428FC0F-E73E-4025-80E0-31D788EEBD08}"/>
              </a:ext>
            </a:extLst>
          </p:cNvPr>
          <p:cNvSpPr>
            <a:spLocks noGrp="1"/>
          </p:cNvSpPr>
          <p:nvPr/>
        </p:nvSpPr>
        <p:spPr>
          <a:xfrm>
            <a:off x="10267950" y="2476500"/>
            <a:ext cx="47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  <p:sp>
        <p:nvSpPr>
          <p:cNvPr id="43" name="array-index">
            <a:extLst>
              <a:ext uri="{FF2B5EF4-FFF2-40B4-BE49-F238E27FC236}">
                <a16:creationId xmlns:a16="http://schemas.microsoft.com/office/drawing/2014/main" id="{028D3A8E-6906-4369-B8BA-94BB92EDD1F8}"/>
              </a:ext>
            </a:extLst>
          </p:cNvPr>
          <p:cNvSpPr>
            <a:spLocks noGrp="1"/>
          </p:cNvSpPr>
          <p:nvPr/>
        </p:nvSpPr>
        <p:spPr>
          <a:xfrm>
            <a:off x="10763250" y="217170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650" b="0">
                <a:solidFill>
                  <a:srgbClr val="566B7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66B78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44" name="array-cell">
            <a:extLst>
              <a:ext uri="{FF2B5EF4-FFF2-40B4-BE49-F238E27FC236}">
                <a16:creationId xmlns:a16="http://schemas.microsoft.com/office/drawing/2014/main" id="{17BC026E-2E2C-462A-8CD4-7D7542F9322F}"/>
              </a:ext>
            </a:extLst>
          </p:cNvPr>
          <p:cNvSpPr>
            <a:spLocks noGrp="1"/>
          </p:cNvSpPr>
          <p:nvPr/>
        </p:nvSpPr>
        <p:spPr>
          <a:xfrm>
            <a:off x="10763250" y="2457450"/>
            <a:ext cx="5143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array-value">
            <a:extLst>
              <a:ext uri="{FF2B5EF4-FFF2-40B4-BE49-F238E27FC236}">
                <a16:creationId xmlns:a16="http://schemas.microsoft.com/office/drawing/2014/main" id="{80CD523A-CD2B-45FD-AB9A-D57A84667EC9}"/>
              </a:ext>
            </a:extLst>
          </p:cNvPr>
          <p:cNvSpPr>
            <a:spLocks noGrp="1"/>
          </p:cNvSpPr>
          <p:nvPr/>
        </p:nvSpPr>
        <p:spPr>
          <a:xfrm>
            <a:off x="10782300" y="2476500"/>
            <a:ext cx="47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44</a:t>
            </a:r>
          </a:p>
        </p:txBody>
      </p:sp>
      <p:sp>
        <p:nvSpPr>
          <p:cNvPr id="46" name="ordered-rule">
            <a:extLst>
              <a:ext uri="{FF2B5EF4-FFF2-40B4-BE49-F238E27FC236}">
                <a16:creationId xmlns:a16="http://schemas.microsoft.com/office/drawing/2014/main" id="{99819D34-4D2F-47BE-B793-9E234D255152}"/>
              </a:ext>
            </a:extLst>
          </p:cNvPr>
          <p:cNvSpPr>
            <a:spLocks noGrp="1"/>
          </p:cNvSpPr>
          <p:nvPr/>
        </p:nvSpPr>
        <p:spPr>
          <a:xfrm>
            <a:off x="819150" y="3752850"/>
            <a:ext cx="10420350" cy="514350"/>
          </a:xfrm>
          <a:prstGeom prst="roundRect">
            <a:avLst>
              <a:gd name="adj" fmla="val 14815"/>
            </a:avLst>
          </a:prstGeom>
          <a:solidFill>
            <a:srgbClr val="F4F8FA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rdered-rule-text">
            <a:extLst>
              <a:ext uri="{FF2B5EF4-FFF2-40B4-BE49-F238E27FC236}">
                <a16:creationId xmlns:a16="http://schemas.microsoft.com/office/drawing/2014/main" id="{1F4D1340-DF4C-4B6B-8E91-C67C9F4C8CB3}"/>
              </a:ext>
            </a:extLst>
          </p:cNvPr>
          <p:cNvSpPr>
            <a:spLocks noGrp="1"/>
          </p:cNvSpPr>
          <p:nvPr/>
        </p:nvSpPr>
        <p:spPr>
          <a:xfrm>
            <a:off x="990600" y="3838575"/>
            <a:ext cx="10077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100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Invariant: after every operation, a[0] ≤ a[1] ≤ … ≤ a[n−1]</a:t>
            </a:r>
          </a:p>
        </p:txBody>
      </p:sp>
      <p:sp>
        <p:nvSpPr>
          <p:cNvPr id="48" name="ordered-operation">
            <a:extLst>
              <a:ext uri="{FF2B5EF4-FFF2-40B4-BE49-F238E27FC236}">
                <a16:creationId xmlns:a16="http://schemas.microsoft.com/office/drawing/2014/main" id="{97C098F1-6DFE-499D-82B6-610E9EDF74F0}"/>
              </a:ext>
            </a:extLst>
          </p:cNvPr>
          <p:cNvSpPr>
            <a:spLocks noGrp="1"/>
          </p:cNvSpPr>
          <p:nvPr/>
        </p:nvSpPr>
        <p:spPr>
          <a:xfrm>
            <a:off x="990600" y="46958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Binary search</a:t>
            </a:r>
          </a:p>
        </p:txBody>
      </p:sp>
      <p:sp>
        <p:nvSpPr>
          <p:cNvPr id="49" name="ordered-cost">
            <a:extLst>
              <a:ext uri="{FF2B5EF4-FFF2-40B4-BE49-F238E27FC236}">
                <a16:creationId xmlns:a16="http://schemas.microsoft.com/office/drawing/2014/main" id="{7C140F0C-6B36-40F8-B866-07B2A0C3CA91}"/>
              </a:ext>
            </a:extLst>
          </p:cNvPr>
          <p:cNvSpPr>
            <a:spLocks noGrp="1"/>
          </p:cNvSpPr>
          <p:nvPr/>
        </p:nvSpPr>
        <p:spPr>
          <a:xfrm>
            <a:off x="990600" y="509587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4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O(log n)</a:t>
            </a:r>
          </a:p>
        </p:txBody>
      </p:sp>
      <p:sp>
        <p:nvSpPr>
          <p:cNvPr id="50" name="ordered-operation">
            <a:extLst>
              <a:ext uri="{FF2B5EF4-FFF2-40B4-BE49-F238E27FC236}">
                <a16:creationId xmlns:a16="http://schemas.microsoft.com/office/drawing/2014/main" id="{3C1CE1FD-70D8-4F0D-A05A-DC69E4BEA608}"/>
              </a:ext>
            </a:extLst>
          </p:cNvPr>
          <p:cNvSpPr>
            <a:spLocks noGrp="1"/>
          </p:cNvSpPr>
          <p:nvPr/>
        </p:nvSpPr>
        <p:spPr>
          <a:xfrm>
            <a:off x="4419600" y="46958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Find insert position</a:t>
            </a:r>
          </a:p>
        </p:txBody>
      </p:sp>
      <p:sp>
        <p:nvSpPr>
          <p:cNvPr id="51" name="ordered-cost">
            <a:extLst>
              <a:ext uri="{FF2B5EF4-FFF2-40B4-BE49-F238E27FC236}">
                <a16:creationId xmlns:a16="http://schemas.microsoft.com/office/drawing/2014/main" id="{B17BDC58-2F76-400D-9CB2-621070ED4CD9}"/>
              </a:ext>
            </a:extLst>
          </p:cNvPr>
          <p:cNvSpPr>
            <a:spLocks noGrp="1"/>
          </p:cNvSpPr>
          <p:nvPr/>
        </p:nvSpPr>
        <p:spPr>
          <a:xfrm>
            <a:off x="4419600" y="509587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400" b="1">
                <a:solidFill>
                  <a:srgbClr val="12324A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2324A"/>
                </a:solidFill>
                <a:latin typeface="Consolas"/>
                <a:ea typeface="Consolas"/>
                <a:cs typeface="Consolas"/>
              </a:rPr>
              <a:t>O(log n)</a:t>
            </a:r>
          </a:p>
        </p:txBody>
      </p:sp>
      <p:sp>
        <p:nvSpPr>
          <p:cNvPr id="52" name="ordered-operation">
            <a:extLst>
              <a:ext uri="{FF2B5EF4-FFF2-40B4-BE49-F238E27FC236}">
                <a16:creationId xmlns:a16="http://schemas.microsoft.com/office/drawing/2014/main" id="{F5E9B7A4-2C65-482B-ABED-6DBC5AD9C73F}"/>
              </a:ext>
            </a:extLst>
          </p:cNvPr>
          <p:cNvSpPr>
            <a:spLocks noGrp="1"/>
          </p:cNvSpPr>
          <p:nvPr/>
        </p:nvSpPr>
        <p:spPr>
          <a:xfrm>
            <a:off x="7848600" y="46958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Shift elements</a:t>
            </a:r>
          </a:p>
        </p:txBody>
      </p:sp>
      <p:sp>
        <p:nvSpPr>
          <p:cNvPr id="53" name="ordered-cost">
            <a:extLst>
              <a:ext uri="{FF2B5EF4-FFF2-40B4-BE49-F238E27FC236}">
                <a16:creationId xmlns:a16="http://schemas.microsoft.com/office/drawing/2014/main" id="{CBA92D0F-94F4-4F8F-9361-7AD3F77E3E54}"/>
              </a:ext>
            </a:extLst>
          </p:cNvPr>
          <p:cNvSpPr>
            <a:spLocks noGrp="1"/>
          </p:cNvSpPr>
          <p:nvPr/>
        </p:nvSpPr>
        <p:spPr>
          <a:xfrm>
            <a:off x="7848600" y="509587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400" b="1">
                <a:solidFill>
                  <a:srgbClr val="D97706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D97706"/>
                </a:solidFill>
                <a:latin typeface="Consolas"/>
                <a:ea typeface="Consolas"/>
                <a:cs typeface="Consolas"/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365790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lesson-label">
            <a:extLst>
              <a:ext uri="{FF2B5EF4-FFF2-40B4-BE49-F238E27FC236}">
                <a16:creationId xmlns:a16="http://schemas.microsoft.com/office/drawing/2014/main" id="{16D2C159-B7AD-4989-AE0E-87198777225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BA69927-0C73-45EB-B08A-27171F1751E5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Sparse matrices should store only non-zero values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60E1CB77-A6D3-45AC-AB99-897DE3F58665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8FB155DD-777A-4888-BC8A-4831AC92F27A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03C1622C-7568-40B5-92C2-C0C07BD8726E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81D90F87-4797-4CCB-B539-C23C22BEB6A8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dense-label">
            <a:extLst>
              <a:ext uri="{FF2B5EF4-FFF2-40B4-BE49-F238E27FC236}">
                <a16:creationId xmlns:a16="http://schemas.microsoft.com/office/drawing/2014/main" id="{7808BE1D-A12C-4627-BB4E-5E6ADC70663C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Dense view</a:t>
            </a:r>
          </a:p>
        </p:txBody>
      </p:sp>
      <p:sp>
        <p:nvSpPr>
          <p:cNvPr id="8" name="matrix-cell">
            <a:extLst>
              <a:ext uri="{FF2B5EF4-FFF2-40B4-BE49-F238E27FC236}">
                <a16:creationId xmlns:a16="http://schemas.microsoft.com/office/drawing/2014/main" id="{E75E0E29-0CAC-453E-8992-4259342E7159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590550" cy="47625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matrix-value">
            <a:extLst>
              <a:ext uri="{FF2B5EF4-FFF2-40B4-BE49-F238E27FC236}">
                <a16:creationId xmlns:a16="http://schemas.microsoft.com/office/drawing/2014/main" id="{6C759B75-9CD6-4E04-9E48-C17AC4C387D3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0" name="matrix-cell">
            <a:extLst>
              <a:ext uri="{FF2B5EF4-FFF2-40B4-BE49-F238E27FC236}">
                <a16:creationId xmlns:a16="http://schemas.microsoft.com/office/drawing/2014/main" id="{58B8B7E5-1470-411B-807C-07FEDAAD401F}"/>
              </a:ext>
            </a:extLst>
          </p:cNvPr>
          <p:cNvSpPr>
            <a:spLocks noGrp="1"/>
          </p:cNvSpPr>
          <p:nvPr/>
        </p:nvSpPr>
        <p:spPr>
          <a:xfrm>
            <a:off x="1409700" y="2324100"/>
            <a:ext cx="590550" cy="47625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matrix-value">
            <a:extLst>
              <a:ext uri="{FF2B5EF4-FFF2-40B4-BE49-F238E27FC236}">
                <a16:creationId xmlns:a16="http://schemas.microsoft.com/office/drawing/2014/main" id="{E08DECE9-A1F2-4E7F-B486-F989784310F4}"/>
              </a:ext>
            </a:extLst>
          </p:cNvPr>
          <p:cNvSpPr>
            <a:spLocks noGrp="1"/>
          </p:cNvSpPr>
          <p:nvPr/>
        </p:nvSpPr>
        <p:spPr>
          <a:xfrm>
            <a:off x="1409700" y="23336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2" name="matrix-cell">
            <a:extLst>
              <a:ext uri="{FF2B5EF4-FFF2-40B4-BE49-F238E27FC236}">
                <a16:creationId xmlns:a16="http://schemas.microsoft.com/office/drawing/2014/main" id="{A063512A-AF5C-4EF7-B462-D0633AD820FC}"/>
              </a:ext>
            </a:extLst>
          </p:cNvPr>
          <p:cNvSpPr>
            <a:spLocks noGrp="1"/>
          </p:cNvSpPr>
          <p:nvPr/>
        </p:nvSpPr>
        <p:spPr>
          <a:xfrm>
            <a:off x="2000250" y="2324100"/>
            <a:ext cx="590550" cy="47625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matrix-value">
            <a:extLst>
              <a:ext uri="{FF2B5EF4-FFF2-40B4-BE49-F238E27FC236}">
                <a16:creationId xmlns:a16="http://schemas.microsoft.com/office/drawing/2014/main" id="{A6B003C2-C834-476E-B673-5D78242BA58E}"/>
              </a:ext>
            </a:extLst>
          </p:cNvPr>
          <p:cNvSpPr>
            <a:spLocks noGrp="1"/>
          </p:cNvSpPr>
          <p:nvPr/>
        </p:nvSpPr>
        <p:spPr>
          <a:xfrm>
            <a:off x="2000250" y="23336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14" name="matrix-cell">
            <a:extLst>
              <a:ext uri="{FF2B5EF4-FFF2-40B4-BE49-F238E27FC236}">
                <a16:creationId xmlns:a16="http://schemas.microsoft.com/office/drawing/2014/main" id="{CA187E70-B37D-4E8A-9E40-F8A6D5CE5E60}"/>
              </a:ext>
            </a:extLst>
          </p:cNvPr>
          <p:cNvSpPr>
            <a:spLocks noGrp="1"/>
          </p:cNvSpPr>
          <p:nvPr/>
        </p:nvSpPr>
        <p:spPr>
          <a:xfrm>
            <a:off x="2590800" y="2324100"/>
            <a:ext cx="590550" cy="47625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matrix-value">
            <a:extLst>
              <a:ext uri="{FF2B5EF4-FFF2-40B4-BE49-F238E27FC236}">
                <a16:creationId xmlns:a16="http://schemas.microsoft.com/office/drawing/2014/main" id="{393C05DD-39BF-4AF3-A361-B8E8A1577B2B}"/>
              </a:ext>
            </a:extLst>
          </p:cNvPr>
          <p:cNvSpPr>
            <a:spLocks noGrp="1"/>
          </p:cNvSpPr>
          <p:nvPr/>
        </p:nvSpPr>
        <p:spPr>
          <a:xfrm>
            <a:off x="2590800" y="23336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6" name="matrix-cell">
            <a:extLst>
              <a:ext uri="{FF2B5EF4-FFF2-40B4-BE49-F238E27FC236}">
                <a16:creationId xmlns:a16="http://schemas.microsoft.com/office/drawing/2014/main" id="{C2EA6800-F63F-4F18-AFD6-7722733BE93C}"/>
              </a:ext>
            </a:extLst>
          </p:cNvPr>
          <p:cNvSpPr>
            <a:spLocks noGrp="1"/>
          </p:cNvSpPr>
          <p:nvPr/>
        </p:nvSpPr>
        <p:spPr>
          <a:xfrm>
            <a:off x="3181350" y="2324100"/>
            <a:ext cx="590550" cy="47625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matrix-value">
            <a:extLst>
              <a:ext uri="{FF2B5EF4-FFF2-40B4-BE49-F238E27FC236}">
                <a16:creationId xmlns:a16="http://schemas.microsoft.com/office/drawing/2014/main" id="{3BF7BBDD-DF91-4D76-84A5-DE6298C1401D}"/>
              </a:ext>
            </a:extLst>
          </p:cNvPr>
          <p:cNvSpPr>
            <a:spLocks noGrp="1"/>
          </p:cNvSpPr>
          <p:nvPr/>
        </p:nvSpPr>
        <p:spPr>
          <a:xfrm>
            <a:off x="3181350" y="23336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8" name="matrix-cell">
            <a:extLst>
              <a:ext uri="{FF2B5EF4-FFF2-40B4-BE49-F238E27FC236}">
                <a16:creationId xmlns:a16="http://schemas.microsoft.com/office/drawing/2014/main" id="{B279FBAF-3308-41D0-9DCF-47774494E83A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590550" cy="47625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matrix-value">
            <a:extLst>
              <a:ext uri="{FF2B5EF4-FFF2-40B4-BE49-F238E27FC236}">
                <a16:creationId xmlns:a16="http://schemas.microsoft.com/office/drawing/2014/main" id="{FCF67838-09C6-4615-A487-6035950F3481}"/>
              </a:ext>
            </a:extLst>
          </p:cNvPr>
          <p:cNvSpPr>
            <a:spLocks noGrp="1"/>
          </p:cNvSpPr>
          <p:nvPr/>
        </p:nvSpPr>
        <p:spPr>
          <a:xfrm>
            <a:off x="819150" y="28098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0" name="matrix-cell">
            <a:extLst>
              <a:ext uri="{FF2B5EF4-FFF2-40B4-BE49-F238E27FC236}">
                <a16:creationId xmlns:a16="http://schemas.microsoft.com/office/drawing/2014/main" id="{0B1FC8AB-CB63-4B12-BC6B-021990B8AC91}"/>
              </a:ext>
            </a:extLst>
          </p:cNvPr>
          <p:cNvSpPr>
            <a:spLocks noGrp="1"/>
          </p:cNvSpPr>
          <p:nvPr/>
        </p:nvSpPr>
        <p:spPr>
          <a:xfrm>
            <a:off x="1409700" y="2800350"/>
            <a:ext cx="590550" cy="47625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atrix-value">
            <a:extLst>
              <a:ext uri="{FF2B5EF4-FFF2-40B4-BE49-F238E27FC236}">
                <a16:creationId xmlns:a16="http://schemas.microsoft.com/office/drawing/2014/main" id="{4A6A7DE2-2D8E-4724-A0AF-BF0E11C70DFB}"/>
              </a:ext>
            </a:extLst>
          </p:cNvPr>
          <p:cNvSpPr>
            <a:spLocks noGrp="1"/>
          </p:cNvSpPr>
          <p:nvPr/>
        </p:nvSpPr>
        <p:spPr>
          <a:xfrm>
            <a:off x="1409700" y="28098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2" name="matrix-cell">
            <a:extLst>
              <a:ext uri="{FF2B5EF4-FFF2-40B4-BE49-F238E27FC236}">
                <a16:creationId xmlns:a16="http://schemas.microsoft.com/office/drawing/2014/main" id="{5C7DF537-3FA9-4358-822E-2E0552874C90}"/>
              </a:ext>
            </a:extLst>
          </p:cNvPr>
          <p:cNvSpPr>
            <a:spLocks noGrp="1"/>
          </p:cNvSpPr>
          <p:nvPr/>
        </p:nvSpPr>
        <p:spPr>
          <a:xfrm>
            <a:off x="2000250" y="2800350"/>
            <a:ext cx="590550" cy="47625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matrix-value">
            <a:extLst>
              <a:ext uri="{FF2B5EF4-FFF2-40B4-BE49-F238E27FC236}">
                <a16:creationId xmlns:a16="http://schemas.microsoft.com/office/drawing/2014/main" id="{6F0D3798-47FC-43BB-A040-5B517DAFBDDE}"/>
              </a:ext>
            </a:extLst>
          </p:cNvPr>
          <p:cNvSpPr>
            <a:spLocks noGrp="1"/>
          </p:cNvSpPr>
          <p:nvPr/>
        </p:nvSpPr>
        <p:spPr>
          <a:xfrm>
            <a:off x="2000250" y="28098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4" name="matrix-cell">
            <a:extLst>
              <a:ext uri="{FF2B5EF4-FFF2-40B4-BE49-F238E27FC236}">
                <a16:creationId xmlns:a16="http://schemas.microsoft.com/office/drawing/2014/main" id="{580EC002-D0F5-400E-8CF2-6F53DD8B9E70}"/>
              </a:ext>
            </a:extLst>
          </p:cNvPr>
          <p:cNvSpPr>
            <a:spLocks noGrp="1"/>
          </p:cNvSpPr>
          <p:nvPr/>
        </p:nvSpPr>
        <p:spPr>
          <a:xfrm>
            <a:off x="2590800" y="2800350"/>
            <a:ext cx="590550" cy="47625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matrix-value">
            <a:extLst>
              <a:ext uri="{FF2B5EF4-FFF2-40B4-BE49-F238E27FC236}">
                <a16:creationId xmlns:a16="http://schemas.microsoft.com/office/drawing/2014/main" id="{F93F3C3C-DCC3-4582-A7DA-A9C4F396CA5A}"/>
              </a:ext>
            </a:extLst>
          </p:cNvPr>
          <p:cNvSpPr>
            <a:spLocks noGrp="1"/>
          </p:cNvSpPr>
          <p:nvPr/>
        </p:nvSpPr>
        <p:spPr>
          <a:xfrm>
            <a:off x="2590800" y="28098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6" name="matrix-cell">
            <a:extLst>
              <a:ext uri="{FF2B5EF4-FFF2-40B4-BE49-F238E27FC236}">
                <a16:creationId xmlns:a16="http://schemas.microsoft.com/office/drawing/2014/main" id="{70303269-2AAA-4BD7-BD85-152BB3756384}"/>
              </a:ext>
            </a:extLst>
          </p:cNvPr>
          <p:cNvSpPr>
            <a:spLocks noGrp="1"/>
          </p:cNvSpPr>
          <p:nvPr/>
        </p:nvSpPr>
        <p:spPr>
          <a:xfrm>
            <a:off x="3181350" y="2800350"/>
            <a:ext cx="590550" cy="47625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matrix-value">
            <a:extLst>
              <a:ext uri="{FF2B5EF4-FFF2-40B4-BE49-F238E27FC236}">
                <a16:creationId xmlns:a16="http://schemas.microsoft.com/office/drawing/2014/main" id="{4F9563D4-1338-46B4-93F2-9E92219AAE58}"/>
              </a:ext>
            </a:extLst>
          </p:cNvPr>
          <p:cNvSpPr>
            <a:spLocks noGrp="1"/>
          </p:cNvSpPr>
          <p:nvPr/>
        </p:nvSpPr>
        <p:spPr>
          <a:xfrm>
            <a:off x="3181350" y="28098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8" name="matrix-cell">
            <a:extLst>
              <a:ext uri="{FF2B5EF4-FFF2-40B4-BE49-F238E27FC236}">
                <a16:creationId xmlns:a16="http://schemas.microsoft.com/office/drawing/2014/main" id="{7458D0DB-0CCC-4B42-81E0-EA8CCBD99251}"/>
              </a:ext>
            </a:extLst>
          </p:cNvPr>
          <p:cNvSpPr>
            <a:spLocks noGrp="1"/>
          </p:cNvSpPr>
          <p:nvPr/>
        </p:nvSpPr>
        <p:spPr>
          <a:xfrm>
            <a:off x="819150" y="3276600"/>
            <a:ext cx="590550" cy="47625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matrix-value">
            <a:extLst>
              <a:ext uri="{FF2B5EF4-FFF2-40B4-BE49-F238E27FC236}">
                <a16:creationId xmlns:a16="http://schemas.microsoft.com/office/drawing/2014/main" id="{5DB87191-CBBB-4580-A6CD-D54E0A6248DC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0" name="matrix-cell">
            <a:extLst>
              <a:ext uri="{FF2B5EF4-FFF2-40B4-BE49-F238E27FC236}">
                <a16:creationId xmlns:a16="http://schemas.microsoft.com/office/drawing/2014/main" id="{00FA221A-B4D4-4EEB-8C42-8DEAC6BFC823}"/>
              </a:ext>
            </a:extLst>
          </p:cNvPr>
          <p:cNvSpPr>
            <a:spLocks noGrp="1"/>
          </p:cNvSpPr>
          <p:nvPr/>
        </p:nvSpPr>
        <p:spPr>
          <a:xfrm>
            <a:off x="1409700" y="3276600"/>
            <a:ext cx="590550" cy="47625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atrix-value">
            <a:extLst>
              <a:ext uri="{FF2B5EF4-FFF2-40B4-BE49-F238E27FC236}">
                <a16:creationId xmlns:a16="http://schemas.microsoft.com/office/drawing/2014/main" id="{C1687233-A866-44FB-9791-73EDE4FC919F}"/>
              </a:ext>
            </a:extLst>
          </p:cNvPr>
          <p:cNvSpPr>
            <a:spLocks noGrp="1"/>
          </p:cNvSpPr>
          <p:nvPr/>
        </p:nvSpPr>
        <p:spPr>
          <a:xfrm>
            <a:off x="1409700" y="32861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2" name="matrix-cell">
            <a:extLst>
              <a:ext uri="{FF2B5EF4-FFF2-40B4-BE49-F238E27FC236}">
                <a16:creationId xmlns:a16="http://schemas.microsoft.com/office/drawing/2014/main" id="{5C5A9881-C373-4DC3-93CE-EDA640E785D6}"/>
              </a:ext>
            </a:extLst>
          </p:cNvPr>
          <p:cNvSpPr>
            <a:spLocks noGrp="1"/>
          </p:cNvSpPr>
          <p:nvPr/>
        </p:nvSpPr>
        <p:spPr>
          <a:xfrm>
            <a:off x="2000250" y="3276600"/>
            <a:ext cx="590550" cy="47625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matrix-value">
            <a:extLst>
              <a:ext uri="{FF2B5EF4-FFF2-40B4-BE49-F238E27FC236}">
                <a16:creationId xmlns:a16="http://schemas.microsoft.com/office/drawing/2014/main" id="{7AA22F84-755F-4E7C-AA77-6160340C0152}"/>
              </a:ext>
            </a:extLst>
          </p:cNvPr>
          <p:cNvSpPr>
            <a:spLocks noGrp="1"/>
          </p:cNvSpPr>
          <p:nvPr/>
        </p:nvSpPr>
        <p:spPr>
          <a:xfrm>
            <a:off x="2000250" y="32861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4" name="matrix-cell">
            <a:extLst>
              <a:ext uri="{FF2B5EF4-FFF2-40B4-BE49-F238E27FC236}">
                <a16:creationId xmlns:a16="http://schemas.microsoft.com/office/drawing/2014/main" id="{C387DA51-5053-4F49-BE2B-2B5C2ADC3B5E}"/>
              </a:ext>
            </a:extLst>
          </p:cNvPr>
          <p:cNvSpPr>
            <a:spLocks noGrp="1"/>
          </p:cNvSpPr>
          <p:nvPr/>
        </p:nvSpPr>
        <p:spPr>
          <a:xfrm>
            <a:off x="2590800" y="3276600"/>
            <a:ext cx="590550" cy="47625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matrix-value">
            <a:extLst>
              <a:ext uri="{FF2B5EF4-FFF2-40B4-BE49-F238E27FC236}">
                <a16:creationId xmlns:a16="http://schemas.microsoft.com/office/drawing/2014/main" id="{52C59325-7D05-4F57-8517-1A1037878D4E}"/>
              </a:ext>
            </a:extLst>
          </p:cNvPr>
          <p:cNvSpPr>
            <a:spLocks noGrp="1"/>
          </p:cNvSpPr>
          <p:nvPr/>
        </p:nvSpPr>
        <p:spPr>
          <a:xfrm>
            <a:off x="2590800" y="32861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6" name="matrix-cell">
            <a:extLst>
              <a:ext uri="{FF2B5EF4-FFF2-40B4-BE49-F238E27FC236}">
                <a16:creationId xmlns:a16="http://schemas.microsoft.com/office/drawing/2014/main" id="{93B00899-C536-4384-B96B-2D4EC558185D}"/>
              </a:ext>
            </a:extLst>
          </p:cNvPr>
          <p:cNvSpPr>
            <a:spLocks noGrp="1"/>
          </p:cNvSpPr>
          <p:nvPr/>
        </p:nvSpPr>
        <p:spPr>
          <a:xfrm>
            <a:off x="3181350" y="3276600"/>
            <a:ext cx="590550" cy="476250"/>
          </a:xfrm>
          <a:prstGeom prst="rect">
            <a:avLst/>
          </a:prstGeom>
          <a:solidFill>
            <a:srgbClr val="EDF4FF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matrix-value">
            <a:extLst>
              <a:ext uri="{FF2B5EF4-FFF2-40B4-BE49-F238E27FC236}">
                <a16:creationId xmlns:a16="http://schemas.microsoft.com/office/drawing/2014/main" id="{BDE6C6C0-ADC2-4264-8D5A-DC2D26D78302}"/>
              </a:ext>
            </a:extLst>
          </p:cNvPr>
          <p:cNvSpPr>
            <a:spLocks noGrp="1"/>
          </p:cNvSpPr>
          <p:nvPr/>
        </p:nvSpPr>
        <p:spPr>
          <a:xfrm>
            <a:off x="3181350" y="32861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8" name="matrix-cell">
            <a:extLst>
              <a:ext uri="{FF2B5EF4-FFF2-40B4-BE49-F238E27FC236}">
                <a16:creationId xmlns:a16="http://schemas.microsoft.com/office/drawing/2014/main" id="{1E773D41-AEF1-49C2-8235-E7146DEFE091}"/>
              </a:ext>
            </a:extLst>
          </p:cNvPr>
          <p:cNvSpPr>
            <a:spLocks noGrp="1"/>
          </p:cNvSpPr>
          <p:nvPr/>
        </p:nvSpPr>
        <p:spPr>
          <a:xfrm>
            <a:off x="819150" y="3752850"/>
            <a:ext cx="590550" cy="47625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matrix-value">
            <a:extLst>
              <a:ext uri="{FF2B5EF4-FFF2-40B4-BE49-F238E27FC236}">
                <a16:creationId xmlns:a16="http://schemas.microsoft.com/office/drawing/2014/main" id="{BA212ADE-8626-4E6D-A5CC-67A548F5AAD6}"/>
              </a:ext>
            </a:extLst>
          </p:cNvPr>
          <p:cNvSpPr>
            <a:spLocks noGrp="1"/>
          </p:cNvSpPr>
          <p:nvPr/>
        </p:nvSpPr>
        <p:spPr>
          <a:xfrm>
            <a:off x="819150" y="37623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40" name="matrix-cell">
            <a:extLst>
              <a:ext uri="{FF2B5EF4-FFF2-40B4-BE49-F238E27FC236}">
                <a16:creationId xmlns:a16="http://schemas.microsoft.com/office/drawing/2014/main" id="{876B682B-26FB-42E0-AA8F-3DB76519589B}"/>
              </a:ext>
            </a:extLst>
          </p:cNvPr>
          <p:cNvSpPr>
            <a:spLocks noGrp="1"/>
          </p:cNvSpPr>
          <p:nvPr/>
        </p:nvSpPr>
        <p:spPr>
          <a:xfrm>
            <a:off x="1409700" y="3752850"/>
            <a:ext cx="590550" cy="47625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matrix-value">
            <a:extLst>
              <a:ext uri="{FF2B5EF4-FFF2-40B4-BE49-F238E27FC236}">
                <a16:creationId xmlns:a16="http://schemas.microsoft.com/office/drawing/2014/main" id="{756EC853-5442-4A0C-A487-5756C2B7750D}"/>
              </a:ext>
            </a:extLst>
          </p:cNvPr>
          <p:cNvSpPr>
            <a:spLocks noGrp="1"/>
          </p:cNvSpPr>
          <p:nvPr/>
        </p:nvSpPr>
        <p:spPr>
          <a:xfrm>
            <a:off x="1409700" y="37623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42" name="matrix-cell">
            <a:extLst>
              <a:ext uri="{FF2B5EF4-FFF2-40B4-BE49-F238E27FC236}">
                <a16:creationId xmlns:a16="http://schemas.microsoft.com/office/drawing/2014/main" id="{674AB02D-A571-4C0A-982E-2D9F0C777226}"/>
              </a:ext>
            </a:extLst>
          </p:cNvPr>
          <p:cNvSpPr>
            <a:spLocks noGrp="1"/>
          </p:cNvSpPr>
          <p:nvPr/>
        </p:nvSpPr>
        <p:spPr>
          <a:xfrm>
            <a:off x="2000250" y="3752850"/>
            <a:ext cx="590550" cy="47625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matrix-value">
            <a:extLst>
              <a:ext uri="{FF2B5EF4-FFF2-40B4-BE49-F238E27FC236}">
                <a16:creationId xmlns:a16="http://schemas.microsoft.com/office/drawing/2014/main" id="{40821E18-C175-4B8D-AE61-AD83DC0106FB}"/>
              </a:ext>
            </a:extLst>
          </p:cNvPr>
          <p:cNvSpPr>
            <a:spLocks noGrp="1"/>
          </p:cNvSpPr>
          <p:nvPr/>
        </p:nvSpPr>
        <p:spPr>
          <a:xfrm>
            <a:off x="2000250" y="37623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44" name="matrix-cell">
            <a:extLst>
              <a:ext uri="{FF2B5EF4-FFF2-40B4-BE49-F238E27FC236}">
                <a16:creationId xmlns:a16="http://schemas.microsoft.com/office/drawing/2014/main" id="{A5CFA8C2-9BE6-4CB1-91B7-730B809BECDF}"/>
              </a:ext>
            </a:extLst>
          </p:cNvPr>
          <p:cNvSpPr>
            <a:spLocks noGrp="1"/>
          </p:cNvSpPr>
          <p:nvPr/>
        </p:nvSpPr>
        <p:spPr>
          <a:xfrm>
            <a:off x="2590800" y="3752850"/>
            <a:ext cx="590550" cy="47625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matrix-value">
            <a:extLst>
              <a:ext uri="{FF2B5EF4-FFF2-40B4-BE49-F238E27FC236}">
                <a16:creationId xmlns:a16="http://schemas.microsoft.com/office/drawing/2014/main" id="{8FF918E7-BC6E-4C02-B6E6-64E1BD56055B}"/>
              </a:ext>
            </a:extLst>
          </p:cNvPr>
          <p:cNvSpPr>
            <a:spLocks noGrp="1"/>
          </p:cNvSpPr>
          <p:nvPr/>
        </p:nvSpPr>
        <p:spPr>
          <a:xfrm>
            <a:off x="2590800" y="37623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6" name="matrix-cell">
            <a:extLst>
              <a:ext uri="{FF2B5EF4-FFF2-40B4-BE49-F238E27FC236}">
                <a16:creationId xmlns:a16="http://schemas.microsoft.com/office/drawing/2014/main" id="{D17D1E53-E81F-40D8-A97D-DB0773F106F3}"/>
              </a:ext>
            </a:extLst>
          </p:cNvPr>
          <p:cNvSpPr>
            <a:spLocks noGrp="1"/>
          </p:cNvSpPr>
          <p:nvPr/>
        </p:nvSpPr>
        <p:spPr>
          <a:xfrm>
            <a:off x="3181350" y="3752850"/>
            <a:ext cx="590550" cy="476250"/>
          </a:xfrm>
          <a:prstGeom prst="rect">
            <a:avLst/>
          </a:prstGeom>
          <a:solidFill>
            <a:srgbClr val="EAF6F4"/>
          </a:solidFill>
          <a:ln w="11430">
            <a:solidFill>
              <a:srgbClr val="12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matrix-value">
            <a:extLst>
              <a:ext uri="{FF2B5EF4-FFF2-40B4-BE49-F238E27FC236}">
                <a16:creationId xmlns:a16="http://schemas.microsoft.com/office/drawing/2014/main" id="{D6A91748-D59C-479A-ACC0-77D9F868662E}"/>
              </a:ext>
            </a:extLst>
          </p:cNvPr>
          <p:cNvSpPr>
            <a:spLocks noGrp="1"/>
          </p:cNvSpPr>
          <p:nvPr/>
        </p:nvSpPr>
        <p:spPr>
          <a:xfrm>
            <a:off x="3181350" y="37623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48" name="dense-desc">
            <a:extLst>
              <a:ext uri="{FF2B5EF4-FFF2-40B4-BE49-F238E27FC236}">
                <a16:creationId xmlns:a16="http://schemas.microsoft.com/office/drawing/2014/main" id="{CC72C6D3-3729-4666-8991-56630694F657}"/>
              </a:ext>
            </a:extLst>
          </p:cNvPr>
          <p:cNvSpPr>
            <a:spLocks noGrp="1"/>
          </p:cNvSpPr>
          <p:nvPr/>
        </p:nvSpPr>
        <p:spPr>
          <a:xfrm>
            <a:off x="819150" y="430530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4 × 5 matrix; 4 non-zero values</a:t>
            </a:r>
          </a:p>
        </p:txBody>
      </p:sp>
      <p:sp>
        <p:nvSpPr>
          <p:cNvPr id="49" name="sparse-arrow">
            <a:extLst>
              <a:ext uri="{FF2B5EF4-FFF2-40B4-BE49-F238E27FC236}">
                <a16:creationId xmlns:a16="http://schemas.microsoft.com/office/drawing/2014/main" id="{282BAD50-A3AF-4A52-8273-EF9F8CDD0E09}"/>
              </a:ext>
            </a:extLst>
          </p:cNvPr>
          <p:cNvSpPr>
            <a:spLocks noGrp="1"/>
          </p:cNvSpPr>
          <p:nvPr/>
        </p:nvSpPr>
        <p:spPr>
          <a:xfrm>
            <a:off x="4400550" y="2990850"/>
            <a:ext cx="723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34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0" name="triplet-label">
            <a:extLst>
              <a:ext uri="{FF2B5EF4-FFF2-40B4-BE49-F238E27FC236}">
                <a16:creationId xmlns:a16="http://schemas.microsoft.com/office/drawing/2014/main" id="{2D0BA422-2289-4FFE-86CE-4F96916FEC0A}"/>
              </a:ext>
            </a:extLst>
          </p:cNvPr>
          <p:cNvSpPr>
            <a:spLocks noGrp="1"/>
          </p:cNvSpPr>
          <p:nvPr/>
        </p:nvSpPr>
        <p:spPr>
          <a:xfrm>
            <a:off x="5543550" y="17335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Triplet representation</a:t>
            </a:r>
          </a:p>
        </p:txBody>
      </p:sp>
      <p:sp>
        <p:nvSpPr>
          <p:cNvPr id="51" name="triplet-cell">
            <a:extLst>
              <a:ext uri="{FF2B5EF4-FFF2-40B4-BE49-F238E27FC236}">
                <a16:creationId xmlns:a16="http://schemas.microsoft.com/office/drawing/2014/main" id="{47E09F47-3D24-4E7B-B1E5-B85A55B51200}"/>
              </a:ext>
            </a:extLst>
          </p:cNvPr>
          <p:cNvSpPr>
            <a:spLocks noGrp="1"/>
          </p:cNvSpPr>
          <p:nvPr/>
        </p:nvSpPr>
        <p:spPr>
          <a:xfrm>
            <a:off x="5810250" y="2247900"/>
            <a:ext cx="1409700" cy="495300"/>
          </a:xfrm>
          <a:prstGeom prst="rect">
            <a:avLst/>
          </a:prstGeom>
          <a:solidFill>
            <a:srgbClr val="12324A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riplet-text">
            <a:extLst>
              <a:ext uri="{FF2B5EF4-FFF2-40B4-BE49-F238E27FC236}">
                <a16:creationId xmlns:a16="http://schemas.microsoft.com/office/drawing/2014/main" id="{8090F5FD-D3DF-4B99-B59F-E2C999C80AA0}"/>
              </a:ext>
            </a:extLst>
          </p:cNvPr>
          <p:cNvSpPr>
            <a:spLocks noGrp="1"/>
          </p:cNvSpPr>
          <p:nvPr/>
        </p:nvSpPr>
        <p:spPr>
          <a:xfrm>
            <a:off x="5810250" y="22574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row</a:t>
            </a:r>
          </a:p>
        </p:txBody>
      </p:sp>
      <p:sp>
        <p:nvSpPr>
          <p:cNvPr id="53" name="triplet-cell">
            <a:extLst>
              <a:ext uri="{FF2B5EF4-FFF2-40B4-BE49-F238E27FC236}">
                <a16:creationId xmlns:a16="http://schemas.microsoft.com/office/drawing/2014/main" id="{F68D4348-FC6D-4FCB-B301-FF8E02E84B65}"/>
              </a:ext>
            </a:extLst>
          </p:cNvPr>
          <p:cNvSpPr>
            <a:spLocks noGrp="1"/>
          </p:cNvSpPr>
          <p:nvPr/>
        </p:nvSpPr>
        <p:spPr>
          <a:xfrm>
            <a:off x="7219950" y="2247900"/>
            <a:ext cx="1409700" cy="495300"/>
          </a:xfrm>
          <a:prstGeom prst="rect">
            <a:avLst/>
          </a:prstGeom>
          <a:solidFill>
            <a:srgbClr val="12324A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riplet-text">
            <a:extLst>
              <a:ext uri="{FF2B5EF4-FFF2-40B4-BE49-F238E27FC236}">
                <a16:creationId xmlns:a16="http://schemas.microsoft.com/office/drawing/2014/main" id="{AE56C479-9196-4C0A-8967-DE653B195924}"/>
              </a:ext>
            </a:extLst>
          </p:cNvPr>
          <p:cNvSpPr>
            <a:spLocks noGrp="1"/>
          </p:cNvSpPr>
          <p:nvPr/>
        </p:nvSpPr>
        <p:spPr>
          <a:xfrm>
            <a:off x="7219950" y="22574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col</a:t>
            </a:r>
          </a:p>
        </p:txBody>
      </p:sp>
      <p:sp>
        <p:nvSpPr>
          <p:cNvPr id="55" name="triplet-cell">
            <a:extLst>
              <a:ext uri="{FF2B5EF4-FFF2-40B4-BE49-F238E27FC236}">
                <a16:creationId xmlns:a16="http://schemas.microsoft.com/office/drawing/2014/main" id="{EB95A8F8-1856-4A33-BCFF-396AD2D58A42}"/>
              </a:ext>
            </a:extLst>
          </p:cNvPr>
          <p:cNvSpPr>
            <a:spLocks noGrp="1"/>
          </p:cNvSpPr>
          <p:nvPr/>
        </p:nvSpPr>
        <p:spPr>
          <a:xfrm>
            <a:off x="8629650" y="2247900"/>
            <a:ext cx="1409700" cy="495300"/>
          </a:xfrm>
          <a:prstGeom prst="rect">
            <a:avLst/>
          </a:prstGeom>
          <a:solidFill>
            <a:srgbClr val="12324A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riplet-text">
            <a:extLst>
              <a:ext uri="{FF2B5EF4-FFF2-40B4-BE49-F238E27FC236}">
                <a16:creationId xmlns:a16="http://schemas.microsoft.com/office/drawing/2014/main" id="{E3F8EC41-A1DD-4EF7-B7D6-DE3A9E582938}"/>
              </a:ext>
            </a:extLst>
          </p:cNvPr>
          <p:cNvSpPr>
            <a:spLocks noGrp="1"/>
          </p:cNvSpPr>
          <p:nvPr/>
        </p:nvSpPr>
        <p:spPr>
          <a:xfrm>
            <a:off x="8629650" y="22574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value</a:t>
            </a:r>
          </a:p>
        </p:txBody>
      </p:sp>
      <p:sp>
        <p:nvSpPr>
          <p:cNvPr id="57" name="triplet-cell">
            <a:extLst>
              <a:ext uri="{FF2B5EF4-FFF2-40B4-BE49-F238E27FC236}">
                <a16:creationId xmlns:a16="http://schemas.microsoft.com/office/drawing/2014/main" id="{AE9AE334-A13E-4502-A30F-9B7EAA1FBFFF}"/>
              </a:ext>
            </a:extLst>
          </p:cNvPr>
          <p:cNvSpPr>
            <a:spLocks noGrp="1"/>
          </p:cNvSpPr>
          <p:nvPr/>
        </p:nvSpPr>
        <p:spPr>
          <a:xfrm>
            <a:off x="5810250" y="2743200"/>
            <a:ext cx="1409700" cy="495300"/>
          </a:xfrm>
          <a:prstGeom prst="rect">
            <a:avLst/>
          </a:prstGeom>
          <a:solidFill>
            <a:srgbClr val="FFF6E7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riplet-text">
            <a:extLst>
              <a:ext uri="{FF2B5EF4-FFF2-40B4-BE49-F238E27FC236}">
                <a16:creationId xmlns:a16="http://schemas.microsoft.com/office/drawing/2014/main" id="{D12F3527-ED47-4607-9A9C-91FA32B1D411}"/>
              </a:ext>
            </a:extLst>
          </p:cNvPr>
          <p:cNvSpPr>
            <a:spLocks noGrp="1"/>
          </p:cNvSpPr>
          <p:nvPr/>
        </p:nvSpPr>
        <p:spPr>
          <a:xfrm>
            <a:off x="5810250" y="27527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D97706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D97706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59" name="triplet-cell">
            <a:extLst>
              <a:ext uri="{FF2B5EF4-FFF2-40B4-BE49-F238E27FC236}">
                <a16:creationId xmlns:a16="http://schemas.microsoft.com/office/drawing/2014/main" id="{44EED8E5-94FF-45A4-B33A-AF519B6A1D19}"/>
              </a:ext>
            </a:extLst>
          </p:cNvPr>
          <p:cNvSpPr>
            <a:spLocks noGrp="1"/>
          </p:cNvSpPr>
          <p:nvPr/>
        </p:nvSpPr>
        <p:spPr>
          <a:xfrm>
            <a:off x="7219950" y="2743200"/>
            <a:ext cx="1409700" cy="495300"/>
          </a:xfrm>
          <a:prstGeom prst="rect">
            <a:avLst/>
          </a:prstGeom>
          <a:solidFill>
            <a:srgbClr val="FFF6E7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riplet-text">
            <a:extLst>
              <a:ext uri="{FF2B5EF4-FFF2-40B4-BE49-F238E27FC236}">
                <a16:creationId xmlns:a16="http://schemas.microsoft.com/office/drawing/2014/main" id="{16511731-F238-4802-AE25-D33A11989A3E}"/>
              </a:ext>
            </a:extLst>
          </p:cNvPr>
          <p:cNvSpPr>
            <a:spLocks noGrp="1"/>
          </p:cNvSpPr>
          <p:nvPr/>
        </p:nvSpPr>
        <p:spPr>
          <a:xfrm>
            <a:off x="7219950" y="27527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D97706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D97706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61" name="triplet-cell">
            <a:extLst>
              <a:ext uri="{FF2B5EF4-FFF2-40B4-BE49-F238E27FC236}">
                <a16:creationId xmlns:a16="http://schemas.microsoft.com/office/drawing/2014/main" id="{E6FE3385-2E37-426E-A82B-62C2C76BCA27}"/>
              </a:ext>
            </a:extLst>
          </p:cNvPr>
          <p:cNvSpPr>
            <a:spLocks noGrp="1"/>
          </p:cNvSpPr>
          <p:nvPr/>
        </p:nvSpPr>
        <p:spPr>
          <a:xfrm>
            <a:off x="8629650" y="2743200"/>
            <a:ext cx="1409700" cy="495300"/>
          </a:xfrm>
          <a:prstGeom prst="rect">
            <a:avLst/>
          </a:prstGeom>
          <a:solidFill>
            <a:srgbClr val="FFF6E7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riplet-text">
            <a:extLst>
              <a:ext uri="{FF2B5EF4-FFF2-40B4-BE49-F238E27FC236}">
                <a16:creationId xmlns:a16="http://schemas.microsoft.com/office/drawing/2014/main" id="{B14E483B-500D-44A2-873D-D0A771374974}"/>
              </a:ext>
            </a:extLst>
          </p:cNvPr>
          <p:cNvSpPr>
            <a:spLocks noGrp="1"/>
          </p:cNvSpPr>
          <p:nvPr/>
        </p:nvSpPr>
        <p:spPr>
          <a:xfrm>
            <a:off x="8629650" y="27527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D97706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D97706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63" name="triplet-cell">
            <a:extLst>
              <a:ext uri="{FF2B5EF4-FFF2-40B4-BE49-F238E27FC236}">
                <a16:creationId xmlns:a16="http://schemas.microsoft.com/office/drawing/2014/main" id="{8C808C90-F553-42FC-B5D5-6851AF6DC2F8}"/>
              </a:ext>
            </a:extLst>
          </p:cNvPr>
          <p:cNvSpPr>
            <a:spLocks noGrp="1"/>
          </p:cNvSpPr>
          <p:nvPr/>
        </p:nvSpPr>
        <p:spPr>
          <a:xfrm>
            <a:off x="5810250" y="32385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riplet-text">
            <a:extLst>
              <a:ext uri="{FF2B5EF4-FFF2-40B4-BE49-F238E27FC236}">
                <a16:creationId xmlns:a16="http://schemas.microsoft.com/office/drawing/2014/main" id="{1BD6B64F-4DBB-437F-A242-4FEFE380F3A5}"/>
              </a:ext>
            </a:extLst>
          </p:cNvPr>
          <p:cNvSpPr>
            <a:spLocks noGrp="1"/>
          </p:cNvSpPr>
          <p:nvPr/>
        </p:nvSpPr>
        <p:spPr>
          <a:xfrm>
            <a:off x="5810250" y="32480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65" name="triplet-cell">
            <a:extLst>
              <a:ext uri="{FF2B5EF4-FFF2-40B4-BE49-F238E27FC236}">
                <a16:creationId xmlns:a16="http://schemas.microsoft.com/office/drawing/2014/main" id="{2A100316-C4AB-4459-AB5C-0EFC066361E2}"/>
              </a:ext>
            </a:extLst>
          </p:cNvPr>
          <p:cNvSpPr>
            <a:spLocks noGrp="1"/>
          </p:cNvSpPr>
          <p:nvPr/>
        </p:nvSpPr>
        <p:spPr>
          <a:xfrm>
            <a:off x="7219950" y="32385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riplet-text">
            <a:extLst>
              <a:ext uri="{FF2B5EF4-FFF2-40B4-BE49-F238E27FC236}">
                <a16:creationId xmlns:a16="http://schemas.microsoft.com/office/drawing/2014/main" id="{7199C31C-7827-419E-8BA0-1E1ABF31D9E7}"/>
              </a:ext>
            </a:extLst>
          </p:cNvPr>
          <p:cNvSpPr>
            <a:spLocks noGrp="1"/>
          </p:cNvSpPr>
          <p:nvPr/>
        </p:nvSpPr>
        <p:spPr>
          <a:xfrm>
            <a:off x="7219950" y="32480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67" name="triplet-cell">
            <a:extLst>
              <a:ext uri="{FF2B5EF4-FFF2-40B4-BE49-F238E27FC236}">
                <a16:creationId xmlns:a16="http://schemas.microsoft.com/office/drawing/2014/main" id="{97C95B94-D399-4755-8848-BE81546F0EAD}"/>
              </a:ext>
            </a:extLst>
          </p:cNvPr>
          <p:cNvSpPr>
            <a:spLocks noGrp="1"/>
          </p:cNvSpPr>
          <p:nvPr/>
        </p:nvSpPr>
        <p:spPr>
          <a:xfrm>
            <a:off x="8629650" y="32385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riplet-text">
            <a:extLst>
              <a:ext uri="{FF2B5EF4-FFF2-40B4-BE49-F238E27FC236}">
                <a16:creationId xmlns:a16="http://schemas.microsoft.com/office/drawing/2014/main" id="{410E566B-2138-421F-9C76-DD96D3F630F7}"/>
              </a:ext>
            </a:extLst>
          </p:cNvPr>
          <p:cNvSpPr>
            <a:spLocks noGrp="1"/>
          </p:cNvSpPr>
          <p:nvPr/>
        </p:nvSpPr>
        <p:spPr>
          <a:xfrm>
            <a:off x="8629650" y="32480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69" name="triplet-cell">
            <a:extLst>
              <a:ext uri="{FF2B5EF4-FFF2-40B4-BE49-F238E27FC236}">
                <a16:creationId xmlns:a16="http://schemas.microsoft.com/office/drawing/2014/main" id="{4D14031F-8A9A-4B21-A752-7D08A880A235}"/>
              </a:ext>
            </a:extLst>
          </p:cNvPr>
          <p:cNvSpPr>
            <a:spLocks noGrp="1"/>
          </p:cNvSpPr>
          <p:nvPr/>
        </p:nvSpPr>
        <p:spPr>
          <a:xfrm>
            <a:off x="5810250" y="37338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riplet-text">
            <a:extLst>
              <a:ext uri="{FF2B5EF4-FFF2-40B4-BE49-F238E27FC236}">
                <a16:creationId xmlns:a16="http://schemas.microsoft.com/office/drawing/2014/main" id="{DD7C7972-9BD3-4A62-BF4B-78252CF3E49A}"/>
              </a:ext>
            </a:extLst>
          </p:cNvPr>
          <p:cNvSpPr>
            <a:spLocks noGrp="1"/>
          </p:cNvSpPr>
          <p:nvPr/>
        </p:nvSpPr>
        <p:spPr>
          <a:xfrm>
            <a:off x="5810250" y="37433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1" name="triplet-cell">
            <a:extLst>
              <a:ext uri="{FF2B5EF4-FFF2-40B4-BE49-F238E27FC236}">
                <a16:creationId xmlns:a16="http://schemas.microsoft.com/office/drawing/2014/main" id="{C9A19957-DFAB-417D-A218-9B04212384EE}"/>
              </a:ext>
            </a:extLst>
          </p:cNvPr>
          <p:cNvSpPr>
            <a:spLocks noGrp="1"/>
          </p:cNvSpPr>
          <p:nvPr/>
        </p:nvSpPr>
        <p:spPr>
          <a:xfrm>
            <a:off x="7219950" y="37338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riplet-text">
            <a:extLst>
              <a:ext uri="{FF2B5EF4-FFF2-40B4-BE49-F238E27FC236}">
                <a16:creationId xmlns:a16="http://schemas.microsoft.com/office/drawing/2014/main" id="{121B0AE7-FD2B-4C78-80AF-AE9B50960727}"/>
              </a:ext>
            </a:extLst>
          </p:cNvPr>
          <p:cNvSpPr>
            <a:spLocks noGrp="1"/>
          </p:cNvSpPr>
          <p:nvPr/>
        </p:nvSpPr>
        <p:spPr>
          <a:xfrm>
            <a:off x="7219950" y="37433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73" name="triplet-cell">
            <a:extLst>
              <a:ext uri="{FF2B5EF4-FFF2-40B4-BE49-F238E27FC236}">
                <a16:creationId xmlns:a16="http://schemas.microsoft.com/office/drawing/2014/main" id="{64631132-29B2-477A-83F0-BB5C8B504DAB}"/>
              </a:ext>
            </a:extLst>
          </p:cNvPr>
          <p:cNvSpPr>
            <a:spLocks noGrp="1"/>
          </p:cNvSpPr>
          <p:nvPr/>
        </p:nvSpPr>
        <p:spPr>
          <a:xfrm>
            <a:off x="8629650" y="37338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riplet-text">
            <a:extLst>
              <a:ext uri="{FF2B5EF4-FFF2-40B4-BE49-F238E27FC236}">
                <a16:creationId xmlns:a16="http://schemas.microsoft.com/office/drawing/2014/main" id="{A037618E-5A81-4B00-A04E-969BEF4CA2F4}"/>
              </a:ext>
            </a:extLst>
          </p:cNvPr>
          <p:cNvSpPr>
            <a:spLocks noGrp="1"/>
          </p:cNvSpPr>
          <p:nvPr/>
        </p:nvSpPr>
        <p:spPr>
          <a:xfrm>
            <a:off x="8629650" y="37433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75" name="triplet-cell">
            <a:extLst>
              <a:ext uri="{FF2B5EF4-FFF2-40B4-BE49-F238E27FC236}">
                <a16:creationId xmlns:a16="http://schemas.microsoft.com/office/drawing/2014/main" id="{CF9EDAE3-3A73-4728-B7AA-316727C25AC6}"/>
              </a:ext>
            </a:extLst>
          </p:cNvPr>
          <p:cNvSpPr>
            <a:spLocks noGrp="1"/>
          </p:cNvSpPr>
          <p:nvPr/>
        </p:nvSpPr>
        <p:spPr>
          <a:xfrm>
            <a:off x="5810250" y="42291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riplet-text">
            <a:extLst>
              <a:ext uri="{FF2B5EF4-FFF2-40B4-BE49-F238E27FC236}">
                <a16:creationId xmlns:a16="http://schemas.microsoft.com/office/drawing/2014/main" id="{FB5D0709-971F-4C7B-8A9C-EF15C3C7D238}"/>
              </a:ext>
            </a:extLst>
          </p:cNvPr>
          <p:cNvSpPr>
            <a:spLocks noGrp="1"/>
          </p:cNvSpPr>
          <p:nvPr/>
        </p:nvSpPr>
        <p:spPr>
          <a:xfrm>
            <a:off x="5810250" y="42386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77" name="triplet-cell">
            <a:extLst>
              <a:ext uri="{FF2B5EF4-FFF2-40B4-BE49-F238E27FC236}">
                <a16:creationId xmlns:a16="http://schemas.microsoft.com/office/drawing/2014/main" id="{D69FF5F2-1047-418D-8C5A-971EB8927330}"/>
              </a:ext>
            </a:extLst>
          </p:cNvPr>
          <p:cNvSpPr>
            <a:spLocks noGrp="1"/>
          </p:cNvSpPr>
          <p:nvPr/>
        </p:nvSpPr>
        <p:spPr>
          <a:xfrm>
            <a:off x="7219950" y="42291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riplet-text">
            <a:extLst>
              <a:ext uri="{FF2B5EF4-FFF2-40B4-BE49-F238E27FC236}">
                <a16:creationId xmlns:a16="http://schemas.microsoft.com/office/drawing/2014/main" id="{67291F21-CBB4-4412-B55D-74397F39336B}"/>
              </a:ext>
            </a:extLst>
          </p:cNvPr>
          <p:cNvSpPr>
            <a:spLocks noGrp="1"/>
          </p:cNvSpPr>
          <p:nvPr/>
        </p:nvSpPr>
        <p:spPr>
          <a:xfrm>
            <a:off x="7219950" y="42386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79" name="triplet-cell">
            <a:extLst>
              <a:ext uri="{FF2B5EF4-FFF2-40B4-BE49-F238E27FC236}">
                <a16:creationId xmlns:a16="http://schemas.microsoft.com/office/drawing/2014/main" id="{D3B56F6E-5E9B-4A1B-A344-381DE716FAAE}"/>
              </a:ext>
            </a:extLst>
          </p:cNvPr>
          <p:cNvSpPr>
            <a:spLocks noGrp="1"/>
          </p:cNvSpPr>
          <p:nvPr/>
        </p:nvSpPr>
        <p:spPr>
          <a:xfrm>
            <a:off x="8629650" y="42291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riplet-text">
            <a:extLst>
              <a:ext uri="{FF2B5EF4-FFF2-40B4-BE49-F238E27FC236}">
                <a16:creationId xmlns:a16="http://schemas.microsoft.com/office/drawing/2014/main" id="{86DA0376-9A2D-4ED3-9437-86922493EC7D}"/>
              </a:ext>
            </a:extLst>
          </p:cNvPr>
          <p:cNvSpPr>
            <a:spLocks noGrp="1"/>
          </p:cNvSpPr>
          <p:nvPr/>
        </p:nvSpPr>
        <p:spPr>
          <a:xfrm>
            <a:off x="8629650" y="42386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81" name="triplet-cell">
            <a:extLst>
              <a:ext uri="{FF2B5EF4-FFF2-40B4-BE49-F238E27FC236}">
                <a16:creationId xmlns:a16="http://schemas.microsoft.com/office/drawing/2014/main" id="{5C2CDD7B-A985-46FA-8666-31A2ECDCC93F}"/>
              </a:ext>
            </a:extLst>
          </p:cNvPr>
          <p:cNvSpPr>
            <a:spLocks noGrp="1"/>
          </p:cNvSpPr>
          <p:nvPr/>
        </p:nvSpPr>
        <p:spPr>
          <a:xfrm>
            <a:off x="5810250" y="47244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riplet-text">
            <a:extLst>
              <a:ext uri="{FF2B5EF4-FFF2-40B4-BE49-F238E27FC236}">
                <a16:creationId xmlns:a16="http://schemas.microsoft.com/office/drawing/2014/main" id="{DD3D706C-BBC8-4835-9FB0-DA19DC7CA7A8}"/>
              </a:ext>
            </a:extLst>
          </p:cNvPr>
          <p:cNvSpPr>
            <a:spLocks noGrp="1"/>
          </p:cNvSpPr>
          <p:nvPr/>
        </p:nvSpPr>
        <p:spPr>
          <a:xfrm>
            <a:off x="5810250" y="47339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83" name="triplet-cell">
            <a:extLst>
              <a:ext uri="{FF2B5EF4-FFF2-40B4-BE49-F238E27FC236}">
                <a16:creationId xmlns:a16="http://schemas.microsoft.com/office/drawing/2014/main" id="{DDE8B60C-A22B-42C5-A1D0-F14CF7972849}"/>
              </a:ext>
            </a:extLst>
          </p:cNvPr>
          <p:cNvSpPr>
            <a:spLocks noGrp="1"/>
          </p:cNvSpPr>
          <p:nvPr/>
        </p:nvSpPr>
        <p:spPr>
          <a:xfrm>
            <a:off x="7219950" y="47244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riplet-text">
            <a:extLst>
              <a:ext uri="{FF2B5EF4-FFF2-40B4-BE49-F238E27FC236}">
                <a16:creationId xmlns:a16="http://schemas.microsoft.com/office/drawing/2014/main" id="{7E4D9F70-7409-491F-B9E7-329F51813C9E}"/>
              </a:ext>
            </a:extLst>
          </p:cNvPr>
          <p:cNvSpPr>
            <a:spLocks noGrp="1"/>
          </p:cNvSpPr>
          <p:nvPr/>
        </p:nvSpPr>
        <p:spPr>
          <a:xfrm>
            <a:off x="7219950" y="47339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85" name="triplet-cell">
            <a:extLst>
              <a:ext uri="{FF2B5EF4-FFF2-40B4-BE49-F238E27FC236}">
                <a16:creationId xmlns:a16="http://schemas.microsoft.com/office/drawing/2014/main" id="{B84BA2B8-A987-4D2D-8D9B-2A321BFA8A97}"/>
              </a:ext>
            </a:extLst>
          </p:cNvPr>
          <p:cNvSpPr>
            <a:spLocks noGrp="1"/>
          </p:cNvSpPr>
          <p:nvPr/>
        </p:nvSpPr>
        <p:spPr>
          <a:xfrm>
            <a:off x="8629650" y="4724400"/>
            <a:ext cx="14097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riplet-text">
            <a:extLst>
              <a:ext uri="{FF2B5EF4-FFF2-40B4-BE49-F238E27FC236}">
                <a16:creationId xmlns:a16="http://schemas.microsoft.com/office/drawing/2014/main" id="{1D2122F5-E537-42F8-9698-2542006C0052}"/>
              </a:ext>
            </a:extLst>
          </p:cNvPr>
          <p:cNvSpPr>
            <a:spLocks noGrp="1"/>
          </p:cNvSpPr>
          <p:nvPr/>
        </p:nvSpPr>
        <p:spPr>
          <a:xfrm>
            <a:off x="8629650" y="4733925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87" name="sparse-note">
            <a:extLst>
              <a:ext uri="{FF2B5EF4-FFF2-40B4-BE49-F238E27FC236}">
                <a16:creationId xmlns:a16="http://schemas.microsoft.com/office/drawing/2014/main" id="{70E027D4-2D61-4184-A59E-59EFB2E1EFBC}"/>
              </a:ext>
            </a:extLst>
          </p:cNvPr>
          <p:cNvSpPr>
            <a:spLocks noGrp="1"/>
          </p:cNvSpPr>
          <p:nvPr/>
        </p:nvSpPr>
        <p:spPr>
          <a:xfrm>
            <a:off x="5543550" y="5314950"/>
            <a:ext cx="5048250" cy="495300"/>
          </a:xfrm>
          <a:prstGeom prst="roundRect">
            <a:avLst>
              <a:gd name="adj" fmla="val 15385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parse-note-text">
            <a:extLst>
              <a:ext uri="{FF2B5EF4-FFF2-40B4-BE49-F238E27FC236}">
                <a16:creationId xmlns:a16="http://schemas.microsoft.com/office/drawing/2014/main" id="{A4FA523E-B6EB-437D-AD98-C68BA817C6F6}"/>
              </a:ext>
            </a:extLst>
          </p:cNvPr>
          <p:cNvSpPr>
            <a:spLocks noGrp="1"/>
          </p:cNvSpPr>
          <p:nvPr/>
        </p:nvSpPr>
        <p:spPr>
          <a:xfrm>
            <a:off x="5657850" y="5353050"/>
            <a:ext cx="4819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Store (row, column, value) for each non-zero entry.</a:t>
            </a:r>
          </a:p>
        </p:txBody>
      </p:sp>
    </p:spTree>
    <p:extLst>
      <p:ext uri="{BB962C8B-B14F-4D97-AF65-F5344CB8AC3E}">
        <p14:creationId xmlns:p14="http://schemas.microsoft.com/office/powerpoint/2010/main" val="1825446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esson-label">
            <a:extLst>
              <a:ext uri="{FF2B5EF4-FFF2-40B4-BE49-F238E27FC236}">
                <a16:creationId xmlns:a16="http://schemas.microsoft.com/office/drawing/2014/main" id="{B9CA505D-77CE-4183-8437-089631F24135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LECTURES 5–7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E9A04AF-6141-4D23-A5D0-C6FAF79FEE93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Choose the representation that matches the data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25AFFC71-625F-4082-9231-026E837AD5DF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9C64A39D-EE15-4BA1-8F7D-0963F3808BDB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340755C2-D779-42D2-8FED-EB640B117E7E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94610E60-4AB9-4355-8EC7-C0E6690CD49B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scenario">
            <a:extLst>
              <a:ext uri="{FF2B5EF4-FFF2-40B4-BE49-F238E27FC236}">
                <a16:creationId xmlns:a16="http://schemas.microsoft.com/office/drawing/2014/main" id="{CE761786-566F-4B52-A0CC-F4C92B022AEE}"/>
              </a:ext>
            </a:extLst>
          </p:cNvPr>
          <p:cNvSpPr>
            <a:spLocks noGrp="1"/>
          </p:cNvSpPr>
          <p:nvPr/>
        </p:nvSpPr>
        <p:spPr>
          <a:xfrm>
            <a:off x="895350" y="1733550"/>
            <a:ext cx="571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7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Need constant-time indexed access</a:t>
            </a:r>
          </a:p>
        </p:txBody>
      </p:sp>
      <p:sp>
        <p:nvSpPr>
          <p:cNvPr id="8" name="choice-arrow">
            <a:extLst>
              <a:ext uri="{FF2B5EF4-FFF2-40B4-BE49-F238E27FC236}">
                <a16:creationId xmlns:a16="http://schemas.microsoft.com/office/drawing/2014/main" id="{F82203F0-757D-45CC-862C-A2E7107B7C59}"/>
              </a:ext>
            </a:extLst>
          </p:cNvPr>
          <p:cNvSpPr>
            <a:spLocks noGrp="1"/>
          </p:cNvSpPr>
          <p:nvPr/>
        </p:nvSpPr>
        <p:spPr>
          <a:xfrm>
            <a:off x="6667500" y="17335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5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choice-bg">
            <a:extLst>
              <a:ext uri="{FF2B5EF4-FFF2-40B4-BE49-F238E27FC236}">
                <a16:creationId xmlns:a16="http://schemas.microsoft.com/office/drawing/2014/main" id="{1C576CC9-CB7D-4991-BC75-52C9268F5B3F}"/>
              </a:ext>
            </a:extLst>
          </p:cNvPr>
          <p:cNvSpPr>
            <a:spLocks noGrp="1"/>
          </p:cNvSpPr>
          <p:nvPr/>
        </p:nvSpPr>
        <p:spPr>
          <a:xfrm>
            <a:off x="7524750" y="1781175"/>
            <a:ext cx="3333750" cy="400050"/>
          </a:xfrm>
          <a:prstGeom prst="roundRect">
            <a:avLst>
              <a:gd name="adj" fmla="val 19048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hoice">
            <a:extLst>
              <a:ext uri="{FF2B5EF4-FFF2-40B4-BE49-F238E27FC236}">
                <a16:creationId xmlns:a16="http://schemas.microsoft.com/office/drawing/2014/main" id="{E9174744-9811-490F-A4C4-05AC9CE202C1}"/>
              </a:ext>
            </a:extLst>
          </p:cNvPr>
          <p:cNvSpPr>
            <a:spLocks noGrp="1"/>
          </p:cNvSpPr>
          <p:nvPr/>
        </p:nvSpPr>
        <p:spPr>
          <a:xfrm>
            <a:off x="7677150" y="180022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1D array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65C2FBD5-225D-4916-BA59-9B75AD9E73B3}"/>
              </a:ext>
            </a:extLst>
          </p:cNvPr>
          <p:cNvSpPr>
            <a:spLocks noGrp="1"/>
          </p:cNvSpPr>
          <p:nvPr/>
        </p:nvSpPr>
        <p:spPr>
          <a:xfrm>
            <a:off x="895350" y="2352675"/>
            <a:ext cx="9963150" cy="0"/>
          </a:xfrm>
          <a:prstGeom prst="line">
            <a:avLst/>
          </a:prstGeom>
          <a:noFill/>
          <a:ln w="9525">
            <a:solidFill>
              <a:srgbClr val="E8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cenario">
            <a:extLst>
              <a:ext uri="{FF2B5EF4-FFF2-40B4-BE49-F238E27FC236}">
                <a16:creationId xmlns:a16="http://schemas.microsoft.com/office/drawing/2014/main" id="{C66C9D17-F11A-44E6-863E-8AA333897CAF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571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7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Model a rectangular C table</a:t>
            </a:r>
          </a:p>
        </p:txBody>
      </p:sp>
      <p:sp>
        <p:nvSpPr>
          <p:cNvPr id="13" name="choice-arrow">
            <a:extLst>
              <a:ext uri="{FF2B5EF4-FFF2-40B4-BE49-F238E27FC236}">
                <a16:creationId xmlns:a16="http://schemas.microsoft.com/office/drawing/2014/main" id="{890D39B0-8AE3-4C4F-8988-C46ABD1D6BDE}"/>
              </a:ext>
            </a:extLst>
          </p:cNvPr>
          <p:cNvSpPr>
            <a:spLocks noGrp="1"/>
          </p:cNvSpPr>
          <p:nvPr/>
        </p:nvSpPr>
        <p:spPr>
          <a:xfrm>
            <a:off x="6667500" y="247650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5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choice-bg">
            <a:extLst>
              <a:ext uri="{FF2B5EF4-FFF2-40B4-BE49-F238E27FC236}">
                <a16:creationId xmlns:a16="http://schemas.microsoft.com/office/drawing/2014/main" id="{598C4090-D443-405D-A764-595D3014122F}"/>
              </a:ext>
            </a:extLst>
          </p:cNvPr>
          <p:cNvSpPr>
            <a:spLocks noGrp="1"/>
          </p:cNvSpPr>
          <p:nvPr/>
        </p:nvSpPr>
        <p:spPr>
          <a:xfrm>
            <a:off x="7524750" y="2524125"/>
            <a:ext cx="3333750" cy="400050"/>
          </a:xfrm>
          <a:prstGeom prst="roundRect">
            <a:avLst>
              <a:gd name="adj" fmla="val 19048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hoice">
            <a:extLst>
              <a:ext uri="{FF2B5EF4-FFF2-40B4-BE49-F238E27FC236}">
                <a16:creationId xmlns:a16="http://schemas.microsoft.com/office/drawing/2014/main" id="{1A59CC4C-6796-4052-AD17-216F63FE0DFB}"/>
              </a:ext>
            </a:extLst>
          </p:cNvPr>
          <p:cNvSpPr>
            <a:spLocks noGrp="1"/>
          </p:cNvSpPr>
          <p:nvPr/>
        </p:nvSpPr>
        <p:spPr>
          <a:xfrm>
            <a:off x="7677150" y="254317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2D row-major array</a:t>
            </a:r>
          </a:p>
        </p:txBody>
      </p:sp>
      <p:sp>
        <p:nvSpPr>
          <p:cNvPr id="16" name="divider">
            <a:extLst>
              <a:ext uri="{FF2B5EF4-FFF2-40B4-BE49-F238E27FC236}">
                <a16:creationId xmlns:a16="http://schemas.microsoft.com/office/drawing/2014/main" id="{D0DF67E1-EFAF-40E0-817D-9DC99EC5ECC2}"/>
              </a:ext>
            </a:extLst>
          </p:cNvPr>
          <p:cNvSpPr>
            <a:spLocks noGrp="1"/>
          </p:cNvSpPr>
          <p:nvPr/>
        </p:nvSpPr>
        <p:spPr>
          <a:xfrm>
            <a:off x="895350" y="3095625"/>
            <a:ext cx="9963150" cy="0"/>
          </a:xfrm>
          <a:prstGeom prst="line">
            <a:avLst/>
          </a:prstGeom>
          <a:noFill/>
          <a:ln w="9525">
            <a:solidFill>
              <a:srgbClr val="E8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cenario">
            <a:extLst>
              <a:ext uri="{FF2B5EF4-FFF2-40B4-BE49-F238E27FC236}">
                <a16:creationId xmlns:a16="http://schemas.microsoft.com/office/drawing/2014/main" id="{BBD16C12-CDAA-465E-B4BF-7B34DA26D4C8}"/>
              </a:ext>
            </a:extLst>
          </p:cNvPr>
          <p:cNvSpPr>
            <a:spLocks noGrp="1"/>
          </p:cNvSpPr>
          <p:nvPr/>
        </p:nvSpPr>
        <p:spPr>
          <a:xfrm>
            <a:off x="895350" y="3219450"/>
            <a:ext cx="571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7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Search often; update rarely</a:t>
            </a:r>
          </a:p>
        </p:txBody>
      </p:sp>
      <p:sp>
        <p:nvSpPr>
          <p:cNvPr id="18" name="choice-arrow">
            <a:extLst>
              <a:ext uri="{FF2B5EF4-FFF2-40B4-BE49-F238E27FC236}">
                <a16:creationId xmlns:a16="http://schemas.microsoft.com/office/drawing/2014/main" id="{73658E37-6349-423B-83EC-F2240B93AE5C}"/>
              </a:ext>
            </a:extLst>
          </p:cNvPr>
          <p:cNvSpPr>
            <a:spLocks noGrp="1"/>
          </p:cNvSpPr>
          <p:nvPr/>
        </p:nvSpPr>
        <p:spPr>
          <a:xfrm>
            <a:off x="6667500" y="32194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5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choice-bg">
            <a:extLst>
              <a:ext uri="{FF2B5EF4-FFF2-40B4-BE49-F238E27FC236}">
                <a16:creationId xmlns:a16="http://schemas.microsoft.com/office/drawing/2014/main" id="{D2136E15-0F69-42EA-97C4-6381CD7628E0}"/>
              </a:ext>
            </a:extLst>
          </p:cNvPr>
          <p:cNvSpPr>
            <a:spLocks noGrp="1"/>
          </p:cNvSpPr>
          <p:nvPr/>
        </p:nvSpPr>
        <p:spPr>
          <a:xfrm>
            <a:off x="7524750" y="3267075"/>
            <a:ext cx="3333750" cy="400050"/>
          </a:xfrm>
          <a:prstGeom prst="roundRect">
            <a:avLst>
              <a:gd name="adj" fmla="val 19048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hoice">
            <a:extLst>
              <a:ext uri="{FF2B5EF4-FFF2-40B4-BE49-F238E27FC236}">
                <a16:creationId xmlns:a16="http://schemas.microsoft.com/office/drawing/2014/main" id="{B424F907-EA55-4F06-98B8-288CF110162A}"/>
              </a:ext>
            </a:extLst>
          </p:cNvPr>
          <p:cNvSpPr>
            <a:spLocks noGrp="1"/>
          </p:cNvSpPr>
          <p:nvPr/>
        </p:nvSpPr>
        <p:spPr>
          <a:xfrm>
            <a:off x="7677150" y="328612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ordered array</a:t>
            </a:r>
          </a:p>
        </p:txBody>
      </p:sp>
      <p:sp>
        <p:nvSpPr>
          <p:cNvPr id="21" name="divider">
            <a:extLst>
              <a:ext uri="{FF2B5EF4-FFF2-40B4-BE49-F238E27FC236}">
                <a16:creationId xmlns:a16="http://schemas.microsoft.com/office/drawing/2014/main" id="{70CEFBC9-D65A-491A-84D4-FE67624F5D5A}"/>
              </a:ext>
            </a:extLst>
          </p:cNvPr>
          <p:cNvSpPr>
            <a:spLocks noGrp="1"/>
          </p:cNvSpPr>
          <p:nvPr/>
        </p:nvSpPr>
        <p:spPr>
          <a:xfrm>
            <a:off x="895350" y="3838575"/>
            <a:ext cx="9963150" cy="0"/>
          </a:xfrm>
          <a:prstGeom prst="line">
            <a:avLst/>
          </a:prstGeom>
          <a:noFill/>
          <a:ln w="9525">
            <a:solidFill>
              <a:srgbClr val="E8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cenario">
            <a:extLst>
              <a:ext uri="{FF2B5EF4-FFF2-40B4-BE49-F238E27FC236}">
                <a16:creationId xmlns:a16="http://schemas.microsoft.com/office/drawing/2014/main" id="{ECA15392-A65E-4442-B7F9-2607B03C6577}"/>
              </a:ext>
            </a:extLst>
          </p:cNvPr>
          <p:cNvSpPr>
            <a:spLocks noGrp="1"/>
          </p:cNvSpPr>
          <p:nvPr/>
        </p:nvSpPr>
        <p:spPr>
          <a:xfrm>
            <a:off x="895350" y="3962400"/>
            <a:ext cx="571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75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Most matrix entries are zero</a:t>
            </a:r>
          </a:p>
        </p:txBody>
      </p:sp>
      <p:sp>
        <p:nvSpPr>
          <p:cNvPr id="23" name="choice-arrow">
            <a:extLst>
              <a:ext uri="{FF2B5EF4-FFF2-40B4-BE49-F238E27FC236}">
                <a16:creationId xmlns:a16="http://schemas.microsoft.com/office/drawing/2014/main" id="{F422AF4D-B934-435E-A0D7-E054A2C9950F}"/>
              </a:ext>
            </a:extLst>
          </p:cNvPr>
          <p:cNvSpPr>
            <a:spLocks noGrp="1"/>
          </p:cNvSpPr>
          <p:nvPr/>
        </p:nvSpPr>
        <p:spPr>
          <a:xfrm>
            <a:off x="6667500" y="396240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5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choice-bg">
            <a:extLst>
              <a:ext uri="{FF2B5EF4-FFF2-40B4-BE49-F238E27FC236}">
                <a16:creationId xmlns:a16="http://schemas.microsoft.com/office/drawing/2014/main" id="{EC350021-E60C-4839-96B7-581F5F65E2FD}"/>
              </a:ext>
            </a:extLst>
          </p:cNvPr>
          <p:cNvSpPr>
            <a:spLocks noGrp="1"/>
          </p:cNvSpPr>
          <p:nvPr/>
        </p:nvSpPr>
        <p:spPr>
          <a:xfrm>
            <a:off x="7524750" y="4010025"/>
            <a:ext cx="3333750" cy="400050"/>
          </a:xfrm>
          <a:prstGeom prst="roundRect">
            <a:avLst>
              <a:gd name="adj" fmla="val 19048"/>
            </a:avLst>
          </a:prstGeom>
          <a:solidFill>
            <a:srgbClr val="FFF6E7"/>
          </a:solidFill>
          <a:ln w="0">
            <a:solidFill>
              <a:srgbClr val="FFF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choice">
            <a:extLst>
              <a:ext uri="{FF2B5EF4-FFF2-40B4-BE49-F238E27FC236}">
                <a16:creationId xmlns:a16="http://schemas.microsoft.com/office/drawing/2014/main" id="{E670F342-820E-4AB9-BAF0-85DA776C5385}"/>
              </a:ext>
            </a:extLst>
          </p:cNvPr>
          <p:cNvSpPr>
            <a:spLocks noGrp="1"/>
          </p:cNvSpPr>
          <p:nvPr/>
        </p:nvSpPr>
        <p:spPr>
          <a:xfrm>
            <a:off x="7677150" y="402907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sparse triplet</a:t>
            </a:r>
          </a:p>
        </p:txBody>
      </p:sp>
      <p:sp>
        <p:nvSpPr>
          <p:cNvPr id="26" name="exit-ticket">
            <a:extLst>
              <a:ext uri="{FF2B5EF4-FFF2-40B4-BE49-F238E27FC236}">
                <a16:creationId xmlns:a16="http://schemas.microsoft.com/office/drawing/2014/main" id="{D9168C3C-57F1-447A-9FB4-B08426A2AA8B}"/>
              </a:ext>
            </a:extLst>
          </p:cNvPr>
          <p:cNvSpPr>
            <a:spLocks noGrp="1"/>
          </p:cNvSpPr>
          <p:nvPr/>
        </p:nvSpPr>
        <p:spPr>
          <a:xfrm>
            <a:off x="895350" y="4914900"/>
            <a:ext cx="9963150" cy="857250"/>
          </a:xfrm>
          <a:prstGeom prst="roundRect">
            <a:avLst>
              <a:gd name="adj" fmla="val 11111"/>
            </a:avLst>
          </a:prstGeom>
          <a:solidFill>
            <a:srgbClr val="EDF4FF"/>
          </a:solidFill>
          <a:ln w="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exit-label">
            <a:extLst>
              <a:ext uri="{FF2B5EF4-FFF2-40B4-BE49-F238E27FC236}">
                <a16:creationId xmlns:a16="http://schemas.microsoft.com/office/drawing/2014/main" id="{9CFDA456-CFE7-46B6-B6B4-82AAEB682E88}"/>
              </a:ext>
            </a:extLst>
          </p:cNvPr>
          <p:cNvSpPr>
            <a:spLocks noGrp="1"/>
          </p:cNvSpPr>
          <p:nvPr/>
        </p:nvSpPr>
        <p:spPr>
          <a:xfrm>
            <a:off x="1104900" y="50577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28" name="exit-question">
            <a:extLst>
              <a:ext uri="{FF2B5EF4-FFF2-40B4-BE49-F238E27FC236}">
                <a16:creationId xmlns:a16="http://schemas.microsoft.com/office/drawing/2014/main" id="{8C5D278D-8647-4342-9592-D5BCD8D46EB6}"/>
              </a:ext>
            </a:extLst>
          </p:cNvPr>
          <p:cNvSpPr>
            <a:spLocks noGrp="1"/>
          </p:cNvSpPr>
          <p:nvPr/>
        </p:nvSpPr>
        <p:spPr>
          <a:xfrm>
            <a:off x="2895600" y="5048250"/>
            <a:ext cx="773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175" b="1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int B[5][6], Base = 800, w = 4. Find LOC(B[3][4]).</a:t>
            </a:r>
          </a:p>
        </p:txBody>
      </p:sp>
      <p:sp>
        <p:nvSpPr>
          <p:cNvPr id="29" name="exit-instruction">
            <a:extLst>
              <a:ext uri="{FF2B5EF4-FFF2-40B4-BE49-F238E27FC236}">
                <a16:creationId xmlns:a16="http://schemas.microsoft.com/office/drawing/2014/main" id="{C21BF91B-CC18-48D0-A416-BF8F955B89FD}"/>
              </a:ext>
            </a:extLst>
          </p:cNvPr>
          <p:cNvSpPr>
            <a:spLocks noGrp="1"/>
          </p:cNvSpPr>
          <p:nvPr/>
        </p:nvSpPr>
        <p:spPr>
          <a:xfrm>
            <a:off x="1104900" y="54292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Show the formula, element offset, byte displacement, and final address.</a:t>
            </a:r>
          </a:p>
        </p:txBody>
      </p:sp>
    </p:spTree>
    <p:extLst>
      <p:ext uri="{BB962C8B-B14F-4D97-AF65-F5344CB8AC3E}">
        <p14:creationId xmlns:p14="http://schemas.microsoft.com/office/powerpoint/2010/main" val="5605618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1534</Words>
  <Application>Microsoft Macintosh PowerPoint</Application>
  <DocSecurity>0</DocSecurity>
  <PresentationFormat>Widescreen</PresentationFormat>
  <Paragraphs>408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SC22D012-Manoj Kaushik 2022-PHD-Earth&amp;SpaceScience</cp:lastModifiedBy>
  <cp:revision>2</cp:revision>
  <dcterms:created xsi:type="dcterms:W3CDTF">2026-07-22T05:22:25Z</dcterms:created>
  <dcterms:modified xsi:type="dcterms:W3CDTF">2026-09-03T10:21:42Z</dcterms:modified>
</cp:coreProperties>
</file>