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4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22D012-Manoj Kaushik 2022-PHD-Earth&amp;SpaceScience" userId="78d50035-fc00-4ea2-995b-b881e10649a1" providerId="ADAL" clId="{275C7A75-CDE0-511A-B56E-A781402A3859}"/>
    <pc:docChg chg="custSel modSld">
      <pc:chgData name="SC22D012-Manoj Kaushik 2022-PHD-Earth&amp;SpaceScience" userId="78d50035-fc00-4ea2-995b-b881e10649a1" providerId="ADAL" clId="{275C7A75-CDE0-511A-B56E-A781402A3859}" dt="2026-08-20T02:33:48.619" v="0" actId="478"/>
      <pc:docMkLst>
        <pc:docMk/>
      </pc:docMkLst>
      <pc:sldChg chg="delSp mod">
        <pc:chgData name="SC22D012-Manoj Kaushik 2022-PHD-Earth&amp;SpaceScience" userId="78d50035-fc00-4ea2-995b-b881e10649a1" providerId="ADAL" clId="{275C7A75-CDE0-511A-B56E-A781402A3859}" dt="2026-08-20T02:33:48.619" v="0" actId="478"/>
        <pc:sldMkLst>
          <pc:docMk/>
          <pc:sldMk cId="0" sldId="262"/>
        </pc:sldMkLst>
        <pc:spChg chg="del">
          <ac:chgData name="SC22D012-Manoj Kaushik 2022-PHD-Earth&amp;SpaceScience" userId="78d50035-fc00-4ea2-995b-b881e10649a1" providerId="ADAL" clId="{275C7A75-CDE0-511A-B56E-A781402A3859}" dt="2026-08-20T02:33:48.619" v="0" actId="478"/>
          <ac:spMkLst>
            <pc:docMk/>
            <pc:sldMk cId="0" sldId="262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0875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Combined session: insertion (Lecture 17) and deletion (Lecture 18) are exact mirror images of each other, position for position. Teaching them side by side halves the repetition and doubles the retention — every idea gets reinforced twice, once as 'add' and once as 'remove'.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answer: to delete the last node, you must set the SECOND-TO-LAST node's next to NULL — so p must stop AT the second-to-last node, not the last one. This is the lecture's central twist, explored fully on slide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Perfect mirror: insertFront LINKS then MOVES; deleteFront SAVES then MOVES then FREES. Both are O(1) because head is already in hand — no search needed either direction.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side-by-side is the lecture's centrepiece. insertEnd walks until p IS the last node (p-&gt;next == NULL). deleteEnd must walk until p is the node BEFORE the last one (p-&gt;next-&gt;next == NULL) so that p-&gt;next can be safely freed and p-&gt;next set to NULL. Also flag the single-node special case (head-&gt;next == NULL): deleteEnd must free head itself and return NULL, since there is no 'second-to-last' node to find.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visual should make it obvious: insert threads 25 IN between 20 and 30; delete threads 25 OUT from between 20 and 30. p-&gt;next = target-&gt;next must happen BEFORE free(target) — freeing first would lose the address needed to skip over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Encourage students to challenge textbook headings here. 'Overflow' for a linked list is really just 'heap exhausted', which is a system-wide condition, not a per-structure one like an array's fixed MAX.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real, compiled program's output. The deliberate underflow at the end proves the guard works rather than crashing — point this out explicitly since it is easy for students to forget to test the failure path, not just the success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table is the whole lecture compressed into one row-by-row comparison. Use it as a two-minute recap quiz: cover the Delete column and have students derive it from the Insert column before revealing.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ticket answer (verified by running the code): deleteAtPosition(head,3) - since position != 1, loop runs for i=1 while i &lt; 2, so i=1 only: p moves from head(5) to 10. Loop stops since i becomes 2 which is not &lt; 2. p is at node 10. target = p-&gt;next = node 15. p-&gt;next = target-&gt;next = 20. free(15). Result: 5 -&gt; 10 -&gt; 20 -&gt; NULL. Node 15 is freed; nodes 10 and 20 end up next to each 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DATA STRUCTURES WITH 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Growing and Shrinking a Linked List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and Deletion — Front, End, and Anywhere Between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  •  Lectures 17-18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54480" y="3017520"/>
          <a:ext cx="6035040" cy="1536192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4A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4A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O(1)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O(1)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O(n)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O(n)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O(n)+O(1)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O(n)+O(1)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17-18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big idea: delete is insert, in reverse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1005840"/>
          </a:xfrm>
          <a:prstGeom prst="roundRect">
            <a:avLst>
              <a:gd name="adj" fmla="val 6364"/>
            </a:avLst>
          </a:prstGeom>
          <a:solidFill>
            <a:srgbClr val="F0F7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1261872"/>
            <a:ext cx="790041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17 learned to ADD a node at three positions. Today we REMOVE a node from the same three positions — and the plan for finding each spot is identical.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Front: still needs zero traversal.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End: still needs a walk — but delete's walk stops ONE NODE EARLIER than insert's did. That is today's one new trap.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Position: still find-the-node-before, then rewire — except now you FREE a node instead of creating one.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17-18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FRONT: O(1) both ways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52360" y="18288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52360" y="1828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4023360" cy="1737360"/>
          </a:xfrm>
          <a:prstGeom prst="roundRect">
            <a:avLst>
              <a:gd name="adj" fmla="val 3684"/>
            </a:avLst>
          </a:prstGeom>
          <a:solidFill>
            <a:srgbClr val="F0F7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1792" y="1261872"/>
            <a:ext cx="369417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insertFront — add
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node-&gt;next = head;</a:t>
            </a:r>
            <a:endParaRPr lang="en-US" sz="1250" dirty="0"/>
          </a:p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node;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node points at old head, then BECOMES head.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023360" cy="1737360"/>
          </a:xfrm>
          <a:prstGeom prst="roundRect">
            <a:avLst>
              <a:gd name="adj" fmla="val 3684"/>
            </a:avLst>
          </a:prstGeom>
          <a:solidFill>
            <a:srgbClr val="FBF5E6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28032" y="1261872"/>
            <a:ext cx="369417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deleteFront — remove
</a:t>
            </a: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= head;</a:t>
            </a:r>
            <a:endParaRPr lang="en-US" sz="1250" dirty="0"/>
          </a:p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= head-&gt;next;</a:t>
            </a:r>
            <a:endParaRPr lang="en-US" sz="1250" dirty="0"/>
          </a:p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free(temp);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old head, MOVE head, then free the saved node.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3063240"/>
            <a:ext cx="8229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touch ONLY head — no traversal, no walking.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Delete's extra step: you must SAVE the old head before moving head, or its address is lost and it can never be freed — the same save-before-free discipline as linked-stack pop.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Underflow check: deleteFront must test head == NULL FIRST — there is nothing to delete from an empty list.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17-18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END: the walk that stops one node earlier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52360" y="18288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52360" y="1828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40080" y="1608512"/>
            <a:ext cx="82296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60851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691640" y="1608512"/>
            <a:ext cx="822960" cy="457200"/>
          </a:xfrm>
          <a:prstGeom prst="rect">
            <a:avLst/>
          </a:prstGeom>
          <a:solidFill>
            <a:srgbClr val="D4A017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691640" y="160851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0" y="1608512"/>
            <a:ext cx="82296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0" y="160851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63040" y="160851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514600" y="160851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63040" y="215715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stops HERE to delete 30</a:t>
            </a:r>
            <a:endParaRPr lang="en-US" sz="95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(second-to-last)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514600" y="115131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stopped HERE to insert after 30</a:t>
            </a:r>
            <a:endParaRPr lang="en-US" sz="95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last node)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38254" y="1188720"/>
            <a:ext cx="4023360" cy="2880360"/>
          </a:xfrm>
          <a:prstGeom prst="roundRect">
            <a:avLst>
              <a:gd name="adj" fmla="val 2222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75414" y="1280160"/>
            <a:ext cx="37490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insertEnd (L17) */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(p-&gt;next != NULL)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 = p-&gt;next;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p-&gt;next = node;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deleteEnd (today) */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(p-&gt;next-&gt;next != NULL)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 = p-&gt;next;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free(p-&gt;next);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p-&gt;next = NULL;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160520"/>
            <a:ext cx="3657600" cy="548640"/>
          </a:xfrm>
          <a:prstGeom prst="roundRect">
            <a:avLst>
              <a:gd name="adj" fmla="val 11667"/>
            </a:avLst>
          </a:prstGeom>
          <a:solidFill>
            <a:srgbClr val="F0F7F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1792" y="4233672"/>
            <a:ext cx="3328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extra -&gt;next in the while-condition is the ENTIRE difference.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17-18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POSITION: unlink instead of link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52360" y="18288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52360" y="1828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91440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54480" y="15544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965960" y="1554480"/>
            <a:ext cx="914400" cy="457200"/>
          </a:xfrm>
          <a:prstGeom prst="rect">
            <a:avLst/>
          </a:prstGeom>
          <a:solidFill>
            <a:srgbClr val="D4A017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965960" y="1554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71800" y="15544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383280" y="1554480"/>
            <a:ext cx="91440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83280" y="1554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12070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965960" y="12070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0" y="1188720"/>
            <a:ext cx="3657600" cy="2194560"/>
          </a:xfrm>
          <a:prstGeom prst="roundRect">
            <a:avLst>
              <a:gd name="adj" fmla="val 2917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09160" y="128016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insertAtPosition (L17) */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node-&gt;next = p-&gt;next;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p-&gt;next    = node;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deleteAtPosition (today) */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    = p-&gt;next;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p-&gt;next    = target-&gt;next;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free(target);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35204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Insert: p reaches around a NEW node into the list.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Delete: p reaches around an EXISTING node, cutting it out — then that node is freed.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'find the node before the target' plan both times; only the last step differs (attach vs. free).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17-18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Underflow — and why "overflow" barely applies here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604356"/>
            <a:ext cx="4023360" cy="1120556"/>
          </a:xfrm>
          <a:prstGeom prst="roundRect">
            <a:avLst>
              <a:gd name="adj" fmla="val 3333"/>
            </a:avLst>
          </a:prstGeom>
          <a:solidFill>
            <a:srgbClr val="FBF5E6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1261872"/>
            <a:ext cx="3694176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Underflow — real and important
</a:t>
            </a: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== NULL means there is nothing to delete. EVERY deletion function must check this FIRST, exactly like stack/queue underflow.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572768"/>
            <a:ext cx="4023360" cy="1152144"/>
          </a:xfrm>
          <a:prstGeom prst="roundRect">
            <a:avLst>
              <a:gd name="adj" fmla="val 3333"/>
            </a:avLst>
          </a:prstGeom>
          <a:solidFill>
            <a:srgbClr val="F0F7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28032" y="1261872"/>
            <a:ext cx="3694176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 — barely applies
</a:t>
            </a: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linked list has no MAX, so there is no array-style overflow. The only failure left is malloc returning NULL — and that can only happen during INSERT, never delete.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insert function checks malloc's result; every delete function checks head == NULL. They guard against DIFFERENT failures because they do different jobs.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good moment to notice: syllabus headings written for arrays (overflow/underflow) do not always map perfectly onto linked structures — worth questioning, not just memorising.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17-18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trace: insert five, then delete four ways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392424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afterward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insertEnd x5: 10,20,30,40,50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10 -&gt; 20 -&gt; 30 -&gt; 40 -&gt; 50 -&gt; NULL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deleteFront()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20 -&gt; 30 -&gt; 40 -&gt; 50 -&gt; NULL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deleteEnd()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20 -&gt; 30 -&gt; 40 -&gt; NULL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D4A01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deleteAtPosition(2)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D4A01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20 -&gt; 40 -&gt; NULL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deleteFront() x2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list is empty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A32D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deleteFront() again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A32D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Underflow: list is empty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17-18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 vs Delete, every position, one table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237744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Delete's extra step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 old head before moving 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 ONE node earlier (2nd-to-last)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 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 find + O(1) link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 find + O(1) unlink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free() the removed node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977640"/>
            <a:ext cx="8229600" cy="685800"/>
          </a:xfrm>
          <a:prstGeom prst="roundRect">
            <a:avLst>
              <a:gd name="adj" fmla="val 9333"/>
            </a:avLst>
          </a:prstGeom>
          <a:solidFill>
            <a:srgbClr val="FBF5E6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21792" y="4050792"/>
            <a:ext cx="790041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REACHING a position is identical for insert and delete. Only the last step differs: attach a new node, or free an old one.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LECTURES 17-18  • 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 and delete: the same map, opposite direction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Front: O(1) both ways. Insert links then moves head; delete saves then moves then frees.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End: O(n) both ways, but delete's walk stops ONE node earlier than insert's — at the second-to-last node, not the last.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k: O(n) to find the node before the target, O(1) to finish — attach (insert) or unlink-then-free (delete).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Underflow (head == NULL) guards every delete. "Overflow" barely applies to a list — only malloc failure during insert comes close.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golden rule survives from Lecture 9: save/link BEFORE you move or free, or you lose the address you needed.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3749040"/>
            <a:ext cx="7863840" cy="960120"/>
          </a:xfrm>
          <a:prstGeom prst="roundRect">
            <a:avLst>
              <a:gd name="adj" fmla="val 6667"/>
            </a:avLst>
          </a:prstGeom>
          <a:solidFill>
            <a:srgbClr val="2A3575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384048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 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from 5 -&gt; 10 -&gt; 15 -&gt; 20 -&gt; NULL, trace deleteAtPosition(head, 3) by hand. Which node is freed, and which two nodes end up next to each other?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1588</Words>
  <Application>Microsoft Macintosh PowerPoint</Application>
  <PresentationFormat>On-screen Show (16:9)</PresentationFormat>
  <Paragraphs>162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SC22D012-Manoj Kaushik 2022-PHD-Earth&amp;SpaceScience</cp:lastModifiedBy>
  <cp:revision>2</cp:revision>
  <dcterms:created xsi:type="dcterms:W3CDTF">2026-08-20T02:24:07Z</dcterms:created>
  <dcterms:modified xsi:type="dcterms:W3CDTF">2026-09-03T10:46:53Z</dcterms:modified>
</cp:coreProperties>
</file>