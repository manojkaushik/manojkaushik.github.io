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22D012-Manoj Kaushik 2022-PHD-Earth&amp;SpaceScience" userId="78d50035-fc00-4ea2-995b-b881e10649a1" providerId="ADAL" clId="{275C7A75-CDE0-511A-B56E-A781402A3859}"/>
    <pc:docChg chg="modSld">
      <pc:chgData name="SC22D012-Manoj Kaushik 2022-PHD-Earth&amp;SpaceScience" userId="78d50035-fc00-4ea2-995b-b881e10649a1" providerId="ADAL" clId="{275C7A75-CDE0-511A-B56E-A781402A3859}" dt="2026-09-17T03:16:10.189" v="33" actId="1035"/>
      <pc:docMkLst>
        <pc:docMk/>
      </pc:docMkLst>
      <pc:sldChg chg="modSp mod">
        <pc:chgData name="SC22D012-Manoj Kaushik 2022-PHD-Earth&amp;SpaceScience" userId="78d50035-fc00-4ea2-995b-b881e10649a1" providerId="ADAL" clId="{275C7A75-CDE0-511A-B56E-A781402A3859}" dt="2026-09-17T03:16:10.189" v="33" actId="1035"/>
        <pc:sldMkLst>
          <pc:docMk/>
          <pc:sldMk cId="0" sldId="258"/>
        </pc:sldMkLst>
        <pc:spChg chg="mod">
          <ac:chgData name="SC22D012-Manoj Kaushik 2022-PHD-Earth&amp;SpaceScience" userId="78d50035-fc00-4ea2-995b-b881e10649a1" providerId="ADAL" clId="{275C7A75-CDE0-511A-B56E-A781402A3859}" dt="2026-09-17T03:16:01.619" v="16" actId="1035"/>
          <ac:spMkLst>
            <pc:docMk/>
            <pc:sldMk cId="0" sldId="258"/>
            <ac:spMk id="8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9-17T03:16:05.340" v="23" actId="103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C22D012-Manoj Kaushik 2022-PHD-Earth&amp;SpaceScience" userId="78d50035-fc00-4ea2-995b-b881e10649a1" providerId="ADAL" clId="{275C7A75-CDE0-511A-B56E-A781402A3859}" dt="2026-09-17T03:16:10.189" v="33" actId="1035"/>
          <ac:spMkLst>
            <pc:docMk/>
            <pc:sldMk cId="0" sldId="258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046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earlier tree in this unit was built by inserting values in some order. Huffman trees are built differently - by repeatedly merging the two least-important pieces first. This structural difference is worth stating explicitly at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exact frequency table (a classic textbook example) is used through the whole lecture so every number that follows is traceable back to one running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this as Lecture 14's priority queue applied to a new problem keeps the mechanism familiar - only the STOPPING RULE (build a tree, not just serve one item) and the GREEDY justification are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by running the actual priority-queue code. The bracket notation [14] marks an internal (merged) node with no symbol of its own - only leaves carry real characters.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merges total for 6 symbols - always exactly n-1 merges for n symbols, since each merge reduces the queue size by one. This is a good numerical check students can apply to their own hand-built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Grey nodes are internal (no symbol, frequency only, the sum of their children). Teal nodes are leaves (real symbols). f sits directly off the root at depth 1 because it was the LAST thing merged - the most frequent symbol always ends up shallowest.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compiled program's real output, generated by a preorder-style walk that appends '0' going left and '1' going right, printing the accumulated string only at a leaf.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totals verified by compiling and running weightedLength(). This is the entire economic case for Huffman coding in one slide: the same 100 characters, two different encodings, a real and substantial bit-count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proof sketch at an intuitive level here - a full exchange-argument proof is more than this lecture needs, but the CLAIM (greedy is provably optimal here, not just a heuristic) is worth stating precisely rather than hand-waved.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answer: 0 -&gt; f, 111 -&gt; e, 100 -&gt; c, spelling 'fec'. The prefix-free property is WHY no separators or symbol-length markers are needed in the encoded stream at all - the tree shape itself makes decoding unambiguous.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answer (verified by running the code): Step 1 merge p(2)+q(3)-&gt;[5]. Step 2 merge r(5)+[5]-&gt;[10] (r extracted before [5] since the tie is broken by earliest position in the queue). Step 3 merge s(9)+[10]-&gt;[19] the root. Final codes: s=0, r=10, p=110, q=111. Note the tie at step 2 (r and the merged [5] both equal 5) is broken by scan order - a different tie-break rule would relabel which symbol gets which code, but the total weighted bit length is the same either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DATA STRUCTURES WITH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Huffman Coding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Optimal Tree from Frequencies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III - Lecture 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7863840" cy="868680"/>
          </a:xfrm>
          <a:prstGeom prst="roundRect">
            <a:avLst>
              <a:gd name="adj" fmla="val 7368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3227832"/>
            <a:ext cx="75346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built BOTTOM-UP from data, not top-down from a shape - and the reason common letters get short codes, rare ones get long codes.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fixed-length codes waste space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97280"/>
          </a:xfrm>
          <a:prstGeom prst="roundRect">
            <a:avLst>
              <a:gd name="adj" fmla="val 5833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790041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symbols need at least ceil(log2 6) = 3 bits each in a FIXED-length code, no matter how common or rare each one is.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real text is skewed - some letters (e, a, t...) appear far more often than others (q, z, x...).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frequency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alone is 45 out of 100 characters - nearly half the text.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give FREQUENT symbols SHORT codes and RARE symbols LONG codes - a VARIABLE-length code, chosen to minimize total bits.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Huffman's rule: merge the two smallest, every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316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14011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every symbol in a priority queue, ordered by frequency (smallest first).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93976"/>
            <a:ext cx="365760" cy="36576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93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99973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TWO smallest. Create a new internal node whose frequency is their SUM, with the two removed nodes as its left and right children.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35784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that new node back into the queue. Repeat until only ONE node remains - the root.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7368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3867912"/>
            <a:ext cx="79004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priority-queue idea from Lecture 14 - insert freely, always extract the smallest. The GREEDY choice (always merge the two cheapest) is what makes the final tree optimal.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Trace: the first two merges (verified)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01168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(smallest first)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a(5) b(9) c(12) d(13) e(16) f(45)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c(12) d(13) e(16) f(45) [14]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merge a(5)+b(9) -&gt; [14]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e(16) f(45) [14] [25]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merge c(12)+d(13) -&gt; [25]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3375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are the two SMALLEST (5 and 9) - they merge first, into a new internal node worth 14.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new [14] node re-enters the queue like any other item - it can be picked again later, exactly like any symbol.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smallest pair: c(12) and d(13) - merge into [25].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Trace: merges continue until one node remains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28600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(smallest first)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f(45) [14] [25]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e(16) waiting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f(45) [25] [30]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merge [14]+e(16) -&gt; [30]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f(45) [55]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merge [25]+[30] -&gt; [55]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[100]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4A01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merge f(45)+[55] -&gt; [100] : the ROOT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7000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21792" y="3639312"/>
            <a:ext cx="79004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[100] equals the total of all frequencies (5+9+12+13+16+45=100) - a useful sanity check: the root's frequency should always equal the sum of every leaf.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tree those 5 merges actually built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 flipH="1">
            <a:off x="2286000" y="1371600"/>
            <a:ext cx="1463040" cy="73152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49040" y="1371600"/>
            <a:ext cx="1444752" cy="73152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H="1">
            <a:off x="4114800" y="2103120"/>
            <a:ext cx="1078992" cy="73152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193792" y="2103120"/>
            <a:ext cx="1069848" cy="73152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H="1">
            <a:off x="3657600" y="2834640"/>
            <a:ext cx="457200" cy="73152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0" y="2834640"/>
            <a:ext cx="457200" cy="73152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H="1">
            <a:off x="5760720" y="2834640"/>
            <a:ext cx="502920" cy="73152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63640" y="2834640"/>
            <a:ext cx="502920" cy="73152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H="1">
            <a:off x="5394960" y="3566160"/>
            <a:ext cx="365760" cy="73152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760720" y="3566160"/>
            <a:ext cx="365760" cy="731520"/>
          </a:xfrm>
          <a:prstGeom prst="line">
            <a:avLst/>
          </a:prstGeom>
          <a:noFill/>
          <a:ln w="19050">
            <a:solidFill>
              <a:srgbClr val="8896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511296" y="1133856"/>
            <a:ext cx="475488" cy="475488"/>
          </a:xfrm>
          <a:prstGeom prst="ellipse">
            <a:avLst/>
          </a:prstGeom>
          <a:solidFill>
            <a:srgbClr val="D4A017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11296" y="11338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066544" y="1883664"/>
            <a:ext cx="438912" cy="438912"/>
          </a:xfrm>
          <a:prstGeom prst="ellipse">
            <a:avLst/>
          </a:prstGeom>
          <a:solidFill>
            <a:srgbClr val="028090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066544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f:45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92624" y="1901952"/>
            <a:ext cx="402336" cy="402336"/>
          </a:xfrm>
          <a:prstGeom prst="ellipse">
            <a:avLst/>
          </a:prstGeom>
          <a:solidFill>
            <a:srgbClr val="8896B0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92624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2651760"/>
            <a:ext cx="365760" cy="365760"/>
          </a:xfrm>
          <a:prstGeom prst="ellipse">
            <a:avLst/>
          </a:prstGeom>
          <a:solidFill>
            <a:srgbClr val="8896B0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319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651760"/>
            <a:ext cx="365760" cy="365760"/>
          </a:xfrm>
          <a:prstGeom prst="ellipse">
            <a:avLst/>
          </a:prstGeom>
          <a:solidFill>
            <a:srgbClr val="8896B0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076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3383280"/>
            <a:ext cx="365760" cy="365760"/>
          </a:xfrm>
          <a:prstGeom prst="ellipse">
            <a:avLst/>
          </a:prstGeom>
          <a:solidFill>
            <a:srgbClr val="028090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c:12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3383280"/>
            <a:ext cx="365760" cy="365760"/>
          </a:xfrm>
          <a:prstGeom prst="ellipse">
            <a:avLst/>
          </a:prstGeom>
          <a:solidFill>
            <a:srgbClr val="028090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d:13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96128" y="3401568"/>
            <a:ext cx="329184" cy="329184"/>
          </a:xfrm>
          <a:prstGeom prst="ellipse">
            <a:avLst/>
          </a:prstGeom>
          <a:solidFill>
            <a:srgbClr val="8896B0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96128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3383280"/>
            <a:ext cx="365760" cy="365760"/>
          </a:xfrm>
          <a:prstGeom prst="ellipse">
            <a:avLst/>
          </a:prstGeom>
          <a:solidFill>
            <a:srgbClr val="028090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836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e:16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30368" y="4133088"/>
            <a:ext cx="329184" cy="329184"/>
          </a:xfrm>
          <a:prstGeom prst="ellipse">
            <a:avLst/>
          </a:prstGeom>
          <a:solidFill>
            <a:srgbClr val="028090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30368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61888" y="4133088"/>
            <a:ext cx="329184" cy="329184"/>
          </a:xfrm>
          <a:prstGeom prst="ellipse">
            <a:avLst/>
          </a:prstGeom>
          <a:solidFill>
            <a:srgbClr val="028090"/>
          </a:solidFill>
          <a:ln w="1524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61888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b:9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go left, 1 = go right (by convention)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codes: path from root to leaf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8235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790041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symbol's Huffman code is the sequence of 0s and 1s on the path from the ROOT down to its leaf - 0 for every left turn, 1 for every right turn.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48840"/>
          <a:ext cx="8229600" cy="224028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output. Notice: shortest code (1 bit) goes to the MOST frequent symbol; longest codes (4 bits) go to the two RAREST.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payoff: how many bits does this actually save?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920240"/>
          </a:xfrm>
          <a:prstGeom prst="roundRect">
            <a:avLst>
              <a:gd name="adj" fmla="val 3333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307592"/>
            <a:ext cx="369417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Fixed-length
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symbols need 3 bits each.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characters x 3 bits</a:t>
            </a:r>
            <a:endParaRPr lang="en-US" sz="125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300 bits total.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4023360" cy="1920240"/>
          </a:xfrm>
          <a:prstGeom prst="roundRect">
            <a:avLst>
              <a:gd name="adj" fmla="val 3333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28032" y="1307592"/>
            <a:ext cx="369417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(variable-length)
</a:t>
            </a: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45x1 + 16x3 + 13x3 + 12x3 + 9x4 + 5x4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45+48+39+36+36+20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224 bits total.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8229600" cy="1051560"/>
          </a:xfrm>
          <a:prstGeom prst="roundRect">
            <a:avLst>
              <a:gd name="adj" fmla="val 6087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3410712"/>
            <a:ext cx="790041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bits instead of 300 - a real, verified saving of about 25%, purely from matching code length to how often each symbol actually appears.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'always merge the two smallest' actually works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least frequent symbols will always end up at the BOTTOM of any optimal tree - giving them the LONGEST codes wastes the fewest bits, since they occur the least.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is always safe to lock them together as siblings FIRST, then treat the merged pair as one unit and repeat the same reasoning.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greedy choice at every step never has to be undone - a proof technique called an EXCHANGE ARGUMENT (any better tree can be rearranged into this one without increasing total cost).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7368"/>
            </a:avLst>
          </a:prstGeom>
          <a:solidFill>
            <a:srgbClr val="FBF5E6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3867912"/>
            <a:ext cx="79004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greedy algorithm is optimal - Huffman's is a genuine exception worth remembering, proven correct rather than just observed to work.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Decoding: why no code is a prefix of another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TCS302 - UNIT III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6364"/>
            </a:avLst>
          </a:prstGeom>
          <a:solidFill>
            <a:srgbClr val="F0F7F7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61872"/>
            <a:ext cx="790041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f=0, e=111, d=101, c=100, b=1101, a=1100 - no code here is the FIRST FEW BITS of another. This is called a PREFIX CODE, and it falls out automatically from the tree.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symbol lives at a LEAF. A leaf can never be an ancestor of another leaf - so no code can be a prefix of a longer one.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a bitstream: start at the root, follow 0/1 bits down the tree, and the moment you land on a leaf, you have found exactly one complete symbol - no separator characters needed.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EEF3FB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  </a:t>
            </a:r>
            <a:r>
              <a:rPr lang="en-US" sz="12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the bitstream 0 111 100 using the code table above, one bit-group at a time.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26 -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tree built from frequencies, not shape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Repeatedly extract the two SMALLEST-frequency nodes from a priority queue, merge them into a new internal node (sum of frequencies), and reinsert - n-1 merges build the whole tree.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symbol's code is its root-to-leaf path (0=left, 1=right) - frequent symbols end up shallow (short codes), rare symbols end up deep (long codes).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saving on the running example: 224 bits (Huffman) vs 300 bits (fixed-length) - about 25% smaller.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symbol lives at a leaf, so the code is automatically PREFIX-FREE - decoding needs no separators.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7863840" cy="914400"/>
          </a:xfrm>
          <a:prstGeom prst="roundRect">
            <a:avLst>
              <a:gd name="adj" fmla="val 7000"/>
            </a:avLst>
          </a:prstGeom>
          <a:solidFill>
            <a:srgbClr val="2A3575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388620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 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 p(2), q(3), r(5), s(9). Build the Huffman tree by hand, showing each merge, and give every symbol's final code.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lecture: sequential and binary search, complexity comparison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1833</Words>
  <Application>Microsoft Macintosh PowerPoint</Application>
  <PresentationFormat>On-screen Show (16:9)</PresentationFormat>
  <Paragraphs>177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Mr. Manoj Kaushik</cp:lastModifiedBy>
  <cp:revision>1</cp:revision>
  <dcterms:created xsi:type="dcterms:W3CDTF">2026-09-16T16:34:10Z</dcterms:created>
  <dcterms:modified xsi:type="dcterms:W3CDTF">2026-09-17T03:16:12Z</dcterms:modified>
</cp:coreProperties>
</file>