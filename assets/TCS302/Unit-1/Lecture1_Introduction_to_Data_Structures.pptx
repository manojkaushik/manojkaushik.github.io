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undo custSel modSld">
      <pc:chgData name="SC22D012-Manoj Kaushik 2022-PHD-Earth&amp;SpaceScience" userId="78d50035-fc00-4ea2-995b-b881e10649a1" providerId="ADAL" clId="{29B47332-549A-4FC0-A3ED-D31212E60846}" dt="2026-07-16T05:51:56.658" v="33" actId="20577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7-16T05:45:52.830" v="10" actId="27636"/>
        <pc:sldMkLst>
          <pc:docMk/>
          <pc:sldMk cId="0" sldId="256"/>
        </pc:sldMkLst>
        <pc:spChg chg="mod">
          <ac:chgData name="SC22D012-Manoj Kaushik 2022-PHD-Earth&amp;SpaceScience" userId="78d50035-fc00-4ea2-995b-b881e10649a1" providerId="ADAL" clId="{29B47332-549A-4FC0-A3ED-D31212E60846}" dt="2026-07-16T05:45:52.830" v="10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16T05:45:38.608" v="5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16T05:45:35.273" v="4" actId="27636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16T05:46:47.554" v="18" actId="14100"/>
        <pc:sldMkLst>
          <pc:docMk/>
          <pc:sldMk cId="0" sldId="257"/>
        </pc:sldMkLst>
        <pc:spChg chg="mod">
          <ac:chgData name="SC22D012-Manoj Kaushik 2022-PHD-Earth&amp;SpaceScience" userId="78d50035-fc00-4ea2-995b-b881e10649a1" providerId="ADAL" clId="{29B47332-549A-4FC0-A3ED-D31212E60846}" dt="2026-07-16T05:46:47.554" v="18" actId="14100"/>
          <ac:spMkLst>
            <pc:docMk/>
            <pc:sldMk cId="0" sldId="257"/>
            <ac:spMk id="8" creationId="{00000000-0000-0000-0000-000000000000}"/>
          </ac:spMkLst>
        </pc:spChg>
      </pc:sldChg>
      <pc:sldChg chg="delSp mod">
        <pc:chgData name="SC22D012-Manoj Kaushik 2022-PHD-Earth&amp;SpaceScience" userId="78d50035-fc00-4ea2-995b-b881e10649a1" providerId="ADAL" clId="{29B47332-549A-4FC0-A3ED-D31212E60846}" dt="2026-07-16T05:48:18.571" v="20" actId="478"/>
        <pc:sldMkLst>
          <pc:docMk/>
          <pc:sldMk cId="0" sldId="258"/>
        </pc:sldMkLst>
        <pc:spChg chg="del">
          <ac:chgData name="SC22D012-Manoj Kaushik 2022-PHD-Earth&amp;SpaceScience" userId="78d50035-fc00-4ea2-995b-b881e10649a1" providerId="ADAL" clId="{29B47332-549A-4FC0-A3ED-D31212E60846}" dt="2026-07-16T05:48:10.666" v="19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SC22D012-Manoj Kaushik 2022-PHD-Earth&amp;SpaceScience" userId="78d50035-fc00-4ea2-995b-b881e10649a1" providerId="ADAL" clId="{29B47332-549A-4FC0-A3ED-D31212E60846}" dt="2026-07-16T05:48:18.571" v="20" actId="478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16T05:50:55.328" v="22" actId="14100"/>
        <pc:sldMkLst>
          <pc:docMk/>
          <pc:sldMk cId="0" sldId="262"/>
        </pc:sldMkLst>
        <pc:spChg chg="mod">
          <ac:chgData name="SC22D012-Manoj Kaushik 2022-PHD-Earth&amp;SpaceScience" userId="78d50035-fc00-4ea2-995b-b881e10649a1" providerId="ADAL" clId="{29B47332-549A-4FC0-A3ED-D31212E60846}" dt="2026-07-16T05:50:55.328" v="22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16T05:50:48.899" v="21" actId="14100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16T05:51:56.658" v="33" actId="20577"/>
        <pc:sldMkLst>
          <pc:docMk/>
          <pc:sldMk cId="0" sldId="263"/>
        </pc:sldMkLst>
        <pc:spChg chg="mod">
          <ac:chgData name="SC22D012-Manoj Kaushik 2022-PHD-Earth&amp;SpaceScience" userId="78d50035-fc00-4ea2-995b-b881e10649a1" providerId="ADAL" clId="{29B47332-549A-4FC0-A3ED-D31212E60846}" dt="2026-07-16T05:51:56.658" v="33" actId="20577"/>
          <ac:spMkLst>
            <pc:docMk/>
            <pc:sldMk cId="0" sldId="263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36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with a question: before using an app, where is the data kept and how does the app find it quickly? Tell students this lecture builds the foundation for the entire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same data can be stored in many ways, and the chosen structure decides how fast or slow the program becomes.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warm-up. Do not immediately give the definition. Help students realize that data organization comes before algorithm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an everyday example: raw attendance entries become useful information only after we organize and count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reading the definition, slow down on memory and operations. Students often memorize the definition but miss the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an ID card or attendance sheet as a concrete object. Explain that a record is a collection of related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image: individual values, arrays and records. Keep it simple because pointer and structure details will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contact list. Ask students to map each operation to their mobile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may confuse data type and data structure. Mention that data structures are built using data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line of students for linear and a family tree or road map for non-linear.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through class strength. If exactly 60 students, array is fine. If students can join and leave frequently, a linked list may be more flexible.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helps create memory hooks. Encourage students to give examples from campus life: mess queue, library shelves, bus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develops thinking habits. State that the best programmers first understand operations and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structures and arrays can be combined. Do not go into deep syntax; this is a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64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48640" y="18470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1, Lecture 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455164"/>
            <a:ext cx="5897880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Data Structures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39496" y="576986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Manoj Kaushik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700" dirty="0"/>
          </a:p>
        </p:txBody>
      </p:sp>
      <p:pic>
        <p:nvPicPr>
          <p:cNvPr id="8" name="Image 1" descr="/mnt/data/a_high_resolution_futuristic_tech_illustration_i.png"/>
          <p:cNvPicPr>
            <a:picLocks noChangeAspect="1"/>
          </p:cNvPicPr>
          <p:nvPr/>
        </p:nvPicPr>
        <p:blipFill>
          <a:blip r:embed="rId3"/>
          <a:srcRect l="19278" r="19278"/>
          <a:stretch/>
        </p:blipFill>
        <p:spPr>
          <a:xfrm>
            <a:off x="6446520" y="960120"/>
            <a:ext cx="54406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we studying Data Structures?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1155680" cy="777240"/>
          </a:xfrm>
          <a:prstGeom prst="rect">
            <a:avLst/>
          </a:prstGeom>
          <a:solidFill>
            <a:srgbClr val="EEF6FF"/>
          </a:solidFill>
          <a:ln w="12700">
            <a:solidFill>
              <a:srgbClr val="B7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program is not only a set of instructions. It also needs a smart way to store, access and   update data.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429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D7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1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Searching a contact by name in a phonebook app.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4840" y="246888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6C0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2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Undo operation in an editor or IDE.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0" y="246888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E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3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 the shortest route on Google Maps.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2011680" cy="310896"/>
          </a:xfrm>
          <a:prstGeom prst="rect">
            <a:avLst/>
          </a:prstGeom>
          <a:solidFill>
            <a:srgbClr val="1C64F2"/>
          </a:solidFill>
          <a:ln>
            <a:solidFill>
              <a:srgbClr val="1C64F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4343400"/>
            <a:ext cx="2331720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memory waste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4343400"/>
            <a:ext cx="1828800" cy="310896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logic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4343400"/>
            <a:ext cx="2423160" cy="310896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programs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Question: Think Before Coding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0972800" cy="896112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Suppose we have marks of 60 students. We need to store them, calculate average, find the highest marks and display all failed students.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Store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will marks be kept?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703320" y="2743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Access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will we read each mark?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Update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will we change a wrong entry?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72600" y="2743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Process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will we find average and highest marks?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Data, Information and Organization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2926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facts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Marks: 78, 52, 91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Names: Ravi, Asha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numbers: 101, 102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77640" y="2560320"/>
            <a:ext cx="685800" cy="502920"/>
          </a:xfrm>
          <a:prstGeom prst="rightArrow">
            <a:avLst/>
          </a:prstGeom>
          <a:solidFill>
            <a:srgbClr val="1C64F2"/>
          </a:solidFill>
          <a:ln w="12700">
            <a:solidFill>
              <a:srgbClr val="1C64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57800" y="1417320"/>
            <a:ext cx="2286000" cy="502920"/>
          </a:xfrm>
          <a:prstGeom prst="rect">
            <a:avLst/>
          </a:prstGeom>
          <a:solidFill>
            <a:srgbClr val="F3E8FF"/>
          </a:solidFill>
          <a:ln w="12700">
            <a:solidFill>
              <a:srgbClr val="C084F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83480" y="21488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84F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Organize + compute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55280" y="2560320"/>
            <a:ext cx="685800" cy="502920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281160" y="1417320"/>
            <a:ext cx="22860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15400" y="21488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Meaningful result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average = 73.6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Topper = 91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Failed students = 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800600"/>
            <a:ext cx="100584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Teaching point: Data structures help us move from raw data to useful information efficiently.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Data Structure?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744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 structure is a particular way of organizing data in memory so that operations like access, insertion, deletion, searching and traversal can be performed efficiently.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29718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idea 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stores data.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971800"/>
            <a:ext cx="297180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idea 2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defines relationships among data items.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38160" y="2971800"/>
            <a:ext cx="29718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idea 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supports useful operations.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1037844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C, we build data structures using variables, arrays, structures, pointers and dynamic memory allocation.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Elementary Data Organization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121408" y="3044952"/>
            <a:ext cx="57607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995928" y="3044952"/>
            <a:ext cx="57607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70448" y="3044952"/>
            <a:ext cx="57607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44968" y="3044952"/>
            <a:ext cx="57607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19488" y="3044952"/>
            <a:ext cx="57607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1417320" cy="123444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or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423160"/>
            <a:ext cx="141732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Byte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bits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2423160"/>
            <a:ext cx="1417320" cy="12344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No.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141732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student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92440" y="2423160"/>
            <a:ext cx="1417320" cy="123444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students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66960" y="2423160"/>
            <a:ext cx="1417320" cy="123444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files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A university result system stores bit-level values, characters, fields such as roll number, complete student records, result files and a database.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Data Looks Inside Memory</a:t>
            </a:r>
            <a:endParaRPr lang="en-US" sz="2600" dirty="0"/>
          </a:p>
        </p:txBody>
      </p:sp>
      <p:pic>
        <p:nvPicPr>
          <p:cNvPr id="7" name="Image 0" descr="/mnt/data/a_clean_slide_like_infographic_illustration_overa_batch_1.png"/>
          <p:cNvPicPr>
            <a:picLocks noChangeAspect="1"/>
          </p:cNvPicPr>
          <p:nvPr/>
        </p:nvPicPr>
        <p:blipFill>
          <a:blip r:embed="rId3"/>
          <a:srcRect l="14825" r="14825"/>
          <a:stretch/>
        </p:blipFill>
        <p:spPr>
          <a:xfrm>
            <a:off x="731520" y="1417320"/>
            <a:ext cx="548640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417320"/>
            <a:ext cx="47548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we write a C program, data is stored in memory blocks. The way we group these blocks creates a data structure.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720840" y="2834640"/>
            <a:ext cx="448056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variable stores one value.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array stores similar values together.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structure groups different fields.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Pointers help create dynamic structures.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75120" y="4983479"/>
            <a:ext cx="4572000" cy="914395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Preview: In the next lectures, we will connect C syntax with memory organization.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Operations on Data Structures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10287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data structure is useful only when we can perform operations on it.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063240" cy="86868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the structure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3063240" cy="86868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Traverse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 each item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0" y="2423160"/>
            <a:ext cx="3063240" cy="86868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an item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06324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new data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749040"/>
            <a:ext cx="3063240" cy="86868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data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0" y="3749040"/>
            <a:ext cx="306324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Modify data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5303520"/>
            <a:ext cx="100584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In a contact list, adding a new contact is insertion; finding “Satish” is searching; showing all contacts is traversal.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Data Structures: First Classification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0" cy="5029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46120" y="2377440"/>
            <a:ext cx="5669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46120" y="2377440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915400" y="2377440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51960" y="1325880"/>
            <a:ext cx="36576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Primitive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Built-in basic data types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int, char, float, double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20840" y="278892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Non-Primitive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Derived or user-defined structures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array, stack, queue, list, tree, graph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5120640"/>
            <a:ext cx="973836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this course, our main focus is non-primitive data structures implemented using C.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and Non-Linear Data Structures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489204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Data Structures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Elements are arranged sequentially. Each item has a clear previous and next item.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88720" y="3429000"/>
            <a:ext cx="406908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64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C64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Array, Linked List, Stack, Queue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89204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Non-Linear Data Structures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Elements are arranged hierarchically or as networks. One item may connect to many items.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12280" y="3429000"/>
            <a:ext cx="40690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Trees, Graphs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03120" y="5349240"/>
            <a:ext cx="80467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Quick check: Is a railway route map linear or non-linear?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and Dynamic Data Structures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2880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 is fixed before execution or at declaration time.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92608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marks[60];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58200" y="1463040"/>
            <a:ext cx="2880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21040" y="2240280"/>
            <a:ext cx="3154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 can grow or shrink during program execution.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8200" y="3611880"/>
            <a:ext cx="292608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 list using pointers</a:t>
            </a:r>
            <a:endParaRPr lang="en-US" sz="2000" dirty="0"/>
          </a:p>
        </p:txBody>
      </p:sp>
      <p:pic>
        <p:nvPicPr>
          <p:cNvPr id="13" name="Image 0" descr="/mnt/data/a_clean_educational_infographic_illustration_on_a_batch_2.png"/>
          <p:cNvPicPr>
            <a:picLocks noChangeAspect="1"/>
          </p:cNvPicPr>
          <p:nvPr/>
        </p:nvPicPr>
        <p:blipFill>
          <a:blip r:embed="rId3"/>
          <a:srcRect l="16779" r="16779"/>
          <a:stretch/>
        </p:blipFill>
        <p:spPr>
          <a:xfrm>
            <a:off x="4160520" y="1554480"/>
            <a:ext cx="3886200" cy="32918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Analogies Make It Easy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1031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64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Roll-number wise bench seats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index-based access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1417320"/>
            <a:ext cx="210312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14884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Pile of books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 book added comes out first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21031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14884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 at a ticket counter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person enters first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98280" y="1417320"/>
            <a:ext cx="210312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98280" y="2148840"/>
            <a:ext cx="2103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Cities and roads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many-to-many connections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709160"/>
            <a:ext cx="98298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Classroom activity: Ask each group to give one more example for any one data structure.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We Choose the Right Data Structure?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800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What operation is most frequent?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search, insert, delete, traverse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4800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much data will come?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small, large, growing, fixed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4800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Is order important?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sequence, priority, hierarchy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154680"/>
            <a:ext cx="4800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What memory is available?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storage or dynamic allocation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5257800"/>
            <a:ext cx="992124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rule for students: Never choose a data structure only because it is familiar. Choose it because it fits the problem.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TCS302: Data Structures with 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109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 to C Programming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10469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C, data structures are built step by step from simple language features.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1945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Variables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single values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20440" y="2331720"/>
            <a:ext cx="219456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Arrays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similar values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2331720"/>
            <a:ext cx="219456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different fields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23960" y="2331720"/>
            <a:ext cx="219456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Pointers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 memory locations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88920" y="3749039"/>
            <a:ext cx="6629400" cy="1874517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 Student {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roll;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float marks;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};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 Student s[60];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1353</Words>
  <Application>Microsoft Macintosh PowerPoint</Application>
  <PresentationFormat>Widescreen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Graphic Era Hill University, Bhimtal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Lecture 1: Introduction to Data Structures</dc:title>
  <dc:subject>TCS302 Data Structures with C</dc:subject>
  <dc:creator>Mr. Manoj Kaushik</dc:creator>
  <cp:lastModifiedBy>SC22D012-Manoj Kaushik 2022-PHD-Earth&amp;SpaceScience</cp:lastModifiedBy>
  <cp:revision>3</cp:revision>
  <dcterms:created xsi:type="dcterms:W3CDTF">2026-07-16T05:37:30Z</dcterms:created>
  <dcterms:modified xsi:type="dcterms:W3CDTF">2026-09-03T10:10:20Z</dcterms:modified>
</cp:coreProperties>
</file>