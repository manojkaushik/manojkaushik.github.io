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Lecture 15 built a 3-node list with three separate hand-written malloc blocks. Today that repetition becomes a loop — the natural next step once a pattern repeats enough times.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answer: walk the whole list from head every single time — O(n) per insertion, O(n²) total for n nodes. A tail pointer turns this into O(1) per insertion, O(n) total.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 this exact numbered form on the board — it is the standard exam-answer shape for 'algorithm to create a linked list'. Step 2c/2d is the one place students get confused: the FIRST node needs head set, every node AFTER needs tail-&gt;next 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if/else is the single most important branch in the whole lecture — almost every list-building bug traces back to forgetting this special case for the first node.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FIRST iteration slowly on the board: head is NULL, so head=node runs; then tail=node runs unconditionally. By the SECOND iteration, tail already correctly points at node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compiled program's real behaviour. Point out explicitly: head is set ONCE, on i=1, and never touched again — exactly the discipline slide 10 of Lecture 15 warned about.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Name this pattern explicitly as the unit's workhorse. Students should be able to recite: start at head, stop at NULL, step with p = p-&gt;next.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exactly the search() function from Lecture 15's Practice 7 — today it gets the formal algorithm treatment and a full complexity discussion on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answer: no — binary search needs O(1) random access to the middle element, but a linked list only offers O(n) access to reach any node beyond the first. This is a genuinely important limitation to name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nodes built entirely by the loop from Lecture 16, then both the traversal and search functions exercised on it. This slide is the payoff — everything since slide 3 has been building toward this one demonstration.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discussion closer: what stayed exactly the same between the two lectures (the struct, the linking line, the traversal loop) versus what is genuinely new (the loop wrapper, the tail pointer).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Exit ticket answer: only 'node-&gt;data = i * 10;' changes, to 'scanf("%d", &amp;node-&gt;data);' — everything else (the head/tail logic, the loop structure) stays identical. Good confidence-builder showing how little of the algorithm actually depends on WHERE the data comes from.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77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DATA STRUCTURES WITH C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Lists with a Loop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Creation, Traversal and Searching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274320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II  •  Lecture 16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097280" y="3794760"/>
            <a:ext cx="914400" cy="457200"/>
          </a:xfrm>
          <a:prstGeom prst="rect">
            <a:avLst/>
          </a:prstGeom>
          <a:solidFill>
            <a:srgbClr val="D4A017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37947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331720" y="3794760"/>
            <a:ext cx="914400" cy="457200"/>
          </a:xfrm>
          <a:prstGeom prst="rect">
            <a:avLst/>
          </a:prstGeom>
          <a:solidFill>
            <a:srgbClr val="028090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31720" y="37947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566160" y="3794760"/>
            <a:ext cx="914400" cy="457200"/>
          </a:xfrm>
          <a:prstGeom prst="rect">
            <a:avLst/>
          </a:prstGeom>
          <a:solidFill>
            <a:srgbClr val="028090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66160" y="37947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800600" y="3794760"/>
            <a:ext cx="914400" cy="457200"/>
          </a:xfrm>
          <a:prstGeom prst="rect">
            <a:avLst/>
          </a:prstGeom>
          <a:solidFill>
            <a:srgbClr val="028090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00600" y="37947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035040" y="3794760"/>
            <a:ext cx="914400" cy="457200"/>
          </a:xfrm>
          <a:prstGeom prst="rect">
            <a:avLst/>
          </a:prstGeom>
          <a:solidFill>
            <a:srgbClr val="028090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35040" y="37947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97280" y="43434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by a LOOP, not five separate blocks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Recap: what got repetitive last time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8229600" cy="1188720"/>
          </a:xfrm>
          <a:prstGeom prst="roundRect">
            <a:avLst>
              <a:gd name="adj" fmla="val 5385"/>
            </a:avLst>
          </a:prstGeom>
          <a:solidFill>
            <a:srgbClr val="FBF5E6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1307592"/>
            <a:ext cx="79004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15's pattern, three times over
</a:t>
            </a:r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malloc a node -&gt; fill data -&gt; set next = NULL -&gt; link the PREVIOUS node to it -&gt; repeat.</a:t>
            </a:r>
            <a:endParaRPr lang="en-US" sz="1250" dirty="0"/>
          </a:p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fine for 3 nodes. Utterly impractical for 300.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loop can do this exact pattern any number of times.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new idea: we need a pointer that always remembers the CURRENT LAST node, so linking never requires re-walking the list.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pointer is usually called tail (or last) — today's genuinely new character.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4160520"/>
            <a:ext cx="8229600" cy="502920"/>
          </a:xfrm>
          <a:prstGeom prst="roundRect">
            <a:avLst>
              <a:gd name="adj" fmla="val 12727"/>
            </a:avLst>
          </a:prstGeom>
          <a:solidFill>
            <a:srgbClr val="EEF3FB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41605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  </a:t>
            </a:r>
            <a:pPr indent="0" marL="0">
              <a:buNone/>
            </a:pPr>
            <a:r>
              <a:rPr lang="en-US" sz="1250" i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a tail pointer, how would you find 'the last node' to attach a new one? What would that cost?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Algorithm: CREATE a list of n nodes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A0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11887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head = NULL, tail = NULL.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57200" y="159105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A0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60120" y="1591056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n times: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57200" y="199339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60120" y="199339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Allocate a new node; check for NULL.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7200" y="239572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2b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239572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Fill its data; set its next = NULL.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57200" y="279806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2c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60120" y="279806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If head == NULL, this is the FIRST node: set head = node.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57200" y="32004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60120" y="32004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Else: attach after the last node: tail-&gt;next = node.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57200" y="360273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60120" y="3602736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Set tail = node  (this node is now the last one).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57200" y="400507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A0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60120" y="400507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head.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 FIRST node needs special treatment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4023360" cy="1828800"/>
          </a:xfrm>
          <a:prstGeom prst="roundRect">
            <a:avLst>
              <a:gd name="adj" fmla="val 3500"/>
            </a:avLst>
          </a:prstGeom>
          <a:solidFill>
            <a:srgbClr val="F0F7F7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1307592"/>
            <a:ext cx="3694176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other node
</a:t>
            </a:r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 is a real node.</a:t>
            </a:r>
            <a:endParaRPr lang="en-US" sz="1250" dirty="0"/>
          </a:p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tail-&gt;next = newNode links it in cleanly.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63440" y="1234440"/>
            <a:ext cx="4023360" cy="1828800"/>
          </a:xfrm>
          <a:prstGeom prst="roundRect">
            <a:avLst>
              <a:gd name="adj" fmla="val 3500"/>
            </a:avLst>
          </a:prstGeom>
          <a:solidFill>
            <a:srgbClr val="FBF5E6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28032" y="1307592"/>
            <a:ext cx="3694176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node
</a:t>
            </a:r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 is still NULL — there is no node to attach to yet!</a:t>
            </a:r>
            <a:endParaRPr lang="en-US" sz="1250" dirty="0"/>
          </a:p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tail-&gt;next would crash (NULL has no -&gt;next).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57200" y="324612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fix: check if (head == NULL) first — if so, this new node BECOMES head (and tail).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later node skips that branch and safely uses tail-&gt;next.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loop version of exactly what Lecture 15 did by hand: node 1 was special, nodes 2 and 3 followed the same rule.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createList( ) — the algorithm in C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5029200" cy="3703320"/>
          </a:xfrm>
          <a:prstGeom prst="roundRect">
            <a:avLst>
              <a:gd name="adj" fmla="val 1728"/>
            </a:avLst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234440"/>
            <a:ext cx="47548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Node *createList(int n)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struct Node *head = NULL;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struct Node *tail = NULL;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i = 1; i &lt;= n; i++)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struct Node *node = malloc(sizeof(struct Node));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 == NULL) exit(1);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node-&gt;data = i * 10;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node-&gt;next = NULL;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(head == NULL)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head = node;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tail-&gt;next = node;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tail = node;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head;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623560" y="1371600"/>
            <a:ext cx="3063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and tail both start NULL — an empty list.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loop pass is exactly one Lecture-15 block, automated.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 = node happens EVERY iteration — including the first, so it is ready for iteration two.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Trace: createList(3) — verified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463040"/>
                <a:gridCol w="1097280"/>
                <a:gridCol w="1097280"/>
                <a:gridCol w="393192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node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 so far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→ 10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→ 10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10 -&gt; NULL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→ 10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→ 20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10 -&gt; 20 -&gt; NULL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30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→ 10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→ 30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10 -&gt; 20 -&gt; 30 -&gt; NULL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3337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NEVER changes after i = 1. Only tail moves forward, one node at a time — exactly why attaching is O(1).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Traversal, formalized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4754880" cy="2606040"/>
          </a:xfrm>
          <a:prstGeom prst="roundRect">
            <a:avLst>
              <a:gd name="adj" fmla="val 2456"/>
            </a:avLst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280160"/>
            <a:ext cx="448056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traverse(struct Node *head)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printf("List: ");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(struct Node *p = head;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p != NULL;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p = p-&gt;next)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printf("%d -&gt; ", p-&gt;data);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printf("NULL\n");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0" y="1325880"/>
            <a:ext cx="3200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exact loop previewed in Lecture 15, now given its own name and its own function.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Cost: every node is visited exactly once — O(n).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operation for the rest of this unit (search, insert, delete) is built as "traversal, plus one extra step".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Algorithm: SEARCH for a value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A0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12801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position = 1, and p = head.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A0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60120" y="182880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p is not NULL: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2377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60120" y="23774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If p-&gt;data equals the key, return position (FOUND).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2926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2b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2926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Otherwise, advance: p = p-&gt;next, position = position + 1.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A0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60120" y="34747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loop ends without returning, the key is not in the list — return -1.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931920"/>
            <a:ext cx="8229600" cy="777240"/>
          </a:xfrm>
          <a:prstGeom prst="roundRect">
            <a:avLst>
              <a:gd name="adj" fmla="val 8235"/>
            </a:avLst>
          </a:prstGeom>
          <a:solidFill>
            <a:srgbClr val="F0F7F7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1792" y="4005072"/>
            <a:ext cx="790041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traversal PLUS ONE extra step: a comparison, and an early return on success.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search( ) — code and cost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4754880" cy="3200400"/>
          </a:xfrm>
          <a:prstGeom prst="roundRect">
            <a:avLst>
              <a:gd name="adj" fmla="val 2000"/>
            </a:avLst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280160"/>
            <a:ext cx="44805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search(struct Node *head, int key)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position = 1;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(struct Node *p = head;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p != NULL; p = p-&gt;next)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(p-&gt;data == key)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position;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position++;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-1;      /* not found */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0" y="1280160"/>
          <a:ext cx="32004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14400"/>
                <a:gridCol w="82296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Comparisons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(found at head)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O(1)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(found)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~n/2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Worst (not found)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3794760"/>
            <a:ext cx="8229600" cy="685800"/>
          </a:xfrm>
          <a:prstGeom prst="roundRect">
            <a:avLst>
              <a:gd name="adj" fmla="val 9333"/>
            </a:avLst>
          </a:prstGeom>
          <a:solidFill>
            <a:srgbClr val="EEF3FB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379476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  </a:t>
            </a:r>
            <a:pPr indent="0" marL="0">
              <a:buNone/>
            </a:pPr>
            <a:r>
              <a:rPr lang="en-US" sz="1250" i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Unlike an array's linear search, could this search ever use binary search on a linked list? Why not?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Putting it together: createList + traverse + search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8229600" cy="548640"/>
          </a:xfrm>
          <a:prstGeom prst="roundRect">
            <a:avLst>
              <a:gd name="adj" fmla="val 11667"/>
            </a:avLst>
          </a:prstGeom>
          <a:solidFill>
            <a:srgbClr val="F0F7F7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1307592"/>
            <a:ext cx="79004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Node *head = createList(5);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1280160" cy="457200"/>
          </a:xfrm>
          <a:prstGeom prst="rect">
            <a:avLst/>
          </a:prstGeom>
          <a:solidFill>
            <a:srgbClr val="028090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0116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148840" y="2011680"/>
            <a:ext cx="1280160" cy="457200"/>
          </a:xfrm>
          <a:prstGeom prst="rect">
            <a:avLst/>
          </a:prstGeom>
          <a:solidFill>
            <a:srgbClr val="028090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48840" y="20116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749040" y="2011680"/>
            <a:ext cx="1280160" cy="457200"/>
          </a:xfrm>
          <a:prstGeom prst="rect">
            <a:avLst/>
          </a:prstGeom>
          <a:solidFill>
            <a:srgbClr val="D4A017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49040" y="20116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349240" y="2011680"/>
            <a:ext cx="1280160" cy="457200"/>
          </a:xfrm>
          <a:prstGeom prst="rect">
            <a:avLst/>
          </a:prstGeom>
          <a:solidFill>
            <a:srgbClr val="028090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49240" y="20116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949440" y="2011680"/>
            <a:ext cx="1280160" cy="457200"/>
          </a:xfrm>
          <a:prstGeom prst="rect">
            <a:avLst/>
          </a:prstGeom>
          <a:solidFill>
            <a:srgbClr val="028090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49440" y="20116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828800" y="20116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429000" y="20116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029200" y="20116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629400" y="20116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3749040" y="254203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3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97180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8521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traverse(head)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10 -&gt; 20 -&gt; 30 -&gt; 40 -&gt; 50 -&gt; NULL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search(head, 30)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30 found at position 3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search(head, 99)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99 not found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4" name="Text 21"/>
          <p:cNvSpPr/>
          <p:nvPr/>
        </p:nvSpPr>
        <p:spPr>
          <a:xfrm>
            <a:off x="457200" y="455371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real, compiled output — not invented.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15 vs Lecture 16: same idea, different scale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063240"/>
                <a:gridCol w="3063240"/>
              </a:tblGrid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Aspect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Lecture 15 (by hand)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Lecture 16 (by loop)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 for n nodes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copy-pasted blocks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loop, any 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Adding a node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Write new code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Just increase 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of typos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(repetitive by hand)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(one block, reused)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idea required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malloc + linking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a tail pointer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16  • 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Loops replace repetition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78638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createList uses a tail pointer so every new node attaches in O(1) — without it, each insertion would need an O(n) walk to find the end.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node is special: head == NULL means "set head"; every later node uses tail-&gt;next.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traverse is the unit's core pattern: start at head, stop at NULL, step with p = p-&gt;next — O(n).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is traversal plus one comparison, with an early return on success — O(n) worst case, and binary search is NOT possible here (no random access).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3794760"/>
            <a:ext cx="7863840" cy="914400"/>
          </a:xfrm>
          <a:prstGeom prst="roundRect">
            <a:avLst>
              <a:gd name="adj" fmla="val 7000"/>
            </a:avLst>
          </a:prstGeom>
          <a:solidFill>
            <a:srgbClr val="2A3575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3886200"/>
            <a:ext cx="7406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TICKET 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Modify createList so it reads each value with scanf instead of using i * 10. What line changes, and what stays exactly the same?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4828032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lecture: insertion operations — at the front, at the end, and in the middle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2026-08-18T00:16:57Z</dcterms:created>
  <dcterms:modified xsi:type="dcterms:W3CDTF">2026-08-18T00:16:57Z</dcterms:modified>
</cp:coreProperties>
</file>