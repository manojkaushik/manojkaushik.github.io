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modSld">
      <pc:chgData name="SC22D012-Manoj Kaushik 2022-PHD-Earth&amp;SpaceScience" userId="78d50035-fc00-4ea2-995b-b881e10649a1" providerId="ADAL" clId="{29B47332-549A-4FC0-A3ED-D31212E60846}" dt="2026-07-29T17:07:24.136" v="13" actId="20577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7-29T17:05:47.503" v="0" actId="20577"/>
        <pc:sldMkLst>
          <pc:docMk/>
          <pc:sldMk cId="0" sldId="259"/>
        </pc:sldMkLst>
        <pc:spChg chg="mod">
          <ac:chgData name="SC22D012-Manoj Kaushik 2022-PHD-Earth&amp;SpaceScience" userId="78d50035-fc00-4ea2-995b-b881e10649a1" providerId="ADAL" clId="{29B47332-549A-4FC0-A3ED-D31212E60846}" dt="2026-07-29T17:05:47.503" v="0" actId="20577"/>
          <ac:spMkLst>
            <pc:docMk/>
            <pc:sldMk cId="0" sldId="259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5:57.246" v="2" actId="20577"/>
        <pc:sldMkLst>
          <pc:docMk/>
          <pc:sldMk cId="0" sldId="260"/>
        </pc:sldMkLst>
        <pc:spChg chg="mod">
          <ac:chgData name="SC22D012-Manoj Kaushik 2022-PHD-Earth&amp;SpaceScience" userId="78d50035-fc00-4ea2-995b-b881e10649a1" providerId="ADAL" clId="{29B47332-549A-4FC0-A3ED-D31212E60846}" dt="2026-07-29T17:05:54.055" v="1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9T17:05:57.246" v="2" actId="20577"/>
          <ac:spMkLst>
            <pc:docMk/>
            <pc:sldMk cId="0" sldId="260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6:08.696" v="3" actId="20577"/>
        <pc:sldMkLst>
          <pc:docMk/>
          <pc:sldMk cId="0" sldId="262"/>
        </pc:sldMkLst>
        <pc:spChg chg="mod">
          <ac:chgData name="SC22D012-Manoj Kaushik 2022-PHD-Earth&amp;SpaceScience" userId="78d50035-fc00-4ea2-995b-b881e10649a1" providerId="ADAL" clId="{29B47332-549A-4FC0-A3ED-D31212E60846}" dt="2026-07-29T17:06:08.696" v="3" actId="20577"/>
          <ac:spMkLst>
            <pc:docMk/>
            <pc:sldMk cId="0" sldId="262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6:20.963" v="5" actId="20577"/>
        <pc:sldMkLst>
          <pc:docMk/>
          <pc:sldMk cId="0" sldId="263"/>
        </pc:sldMkLst>
        <pc:spChg chg="mod">
          <ac:chgData name="SC22D012-Manoj Kaushik 2022-PHD-Earth&amp;SpaceScience" userId="78d50035-fc00-4ea2-995b-b881e10649a1" providerId="ADAL" clId="{29B47332-549A-4FC0-A3ED-D31212E60846}" dt="2026-07-29T17:06:18.318" v="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9T17:06:20.963" v="5" actId="20577"/>
          <ac:spMkLst>
            <pc:docMk/>
            <pc:sldMk cId="0" sldId="263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6:34.238" v="7" actId="20577"/>
        <pc:sldMkLst>
          <pc:docMk/>
          <pc:sldMk cId="0" sldId="264"/>
        </pc:sldMkLst>
        <pc:spChg chg="mod">
          <ac:chgData name="SC22D012-Manoj Kaushik 2022-PHD-Earth&amp;SpaceScience" userId="78d50035-fc00-4ea2-995b-b881e10649a1" providerId="ADAL" clId="{29B47332-549A-4FC0-A3ED-D31212E60846}" dt="2026-07-29T17:06:34.238" v="7" actId="20577"/>
          <ac:spMkLst>
            <pc:docMk/>
            <pc:sldMk cId="0" sldId="264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6:41.174" v="8" actId="20577"/>
        <pc:sldMkLst>
          <pc:docMk/>
          <pc:sldMk cId="0" sldId="265"/>
        </pc:sldMkLst>
        <pc:spChg chg="mod">
          <ac:chgData name="SC22D012-Manoj Kaushik 2022-PHD-Earth&amp;SpaceScience" userId="78d50035-fc00-4ea2-995b-b881e10649a1" providerId="ADAL" clId="{29B47332-549A-4FC0-A3ED-D31212E60846}" dt="2026-07-29T17:06:41.174" v="8" actId="20577"/>
          <ac:spMkLst>
            <pc:docMk/>
            <pc:sldMk cId="0" sldId="265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6:48.344" v="9" actId="20577"/>
        <pc:sldMkLst>
          <pc:docMk/>
          <pc:sldMk cId="0" sldId="266"/>
        </pc:sldMkLst>
        <pc:spChg chg="mod">
          <ac:chgData name="SC22D012-Manoj Kaushik 2022-PHD-Earth&amp;SpaceScience" userId="78d50035-fc00-4ea2-995b-b881e10649a1" providerId="ADAL" clId="{29B47332-549A-4FC0-A3ED-D31212E60846}" dt="2026-07-29T17:06:48.344" v="9" actId="20577"/>
          <ac:spMkLst>
            <pc:docMk/>
            <pc:sldMk cId="0" sldId="266"/>
            <ac:spMk id="6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6:55.097" v="10" actId="20577"/>
        <pc:sldMkLst>
          <pc:docMk/>
          <pc:sldMk cId="0" sldId="267"/>
        </pc:sldMkLst>
        <pc:spChg chg="mod">
          <ac:chgData name="SC22D012-Manoj Kaushik 2022-PHD-Earth&amp;SpaceScience" userId="78d50035-fc00-4ea2-995b-b881e10649a1" providerId="ADAL" clId="{29B47332-549A-4FC0-A3ED-D31212E60846}" dt="2026-07-29T17:06:55.097" v="10" actId="20577"/>
          <ac:spMkLst>
            <pc:docMk/>
            <pc:sldMk cId="0" sldId="267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7:04.015" v="11" actId="20577"/>
        <pc:sldMkLst>
          <pc:docMk/>
          <pc:sldMk cId="0" sldId="269"/>
        </pc:sldMkLst>
        <pc:spChg chg="mod">
          <ac:chgData name="SC22D012-Manoj Kaushik 2022-PHD-Earth&amp;SpaceScience" userId="78d50035-fc00-4ea2-995b-b881e10649a1" providerId="ADAL" clId="{29B47332-549A-4FC0-A3ED-D31212E60846}" dt="2026-07-29T17:07:04.015" v="11" actId="20577"/>
          <ac:spMkLst>
            <pc:docMk/>
            <pc:sldMk cId="0" sldId="269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7:16.393" v="12" actId="20577"/>
        <pc:sldMkLst>
          <pc:docMk/>
          <pc:sldMk cId="0" sldId="273"/>
        </pc:sldMkLst>
        <pc:spChg chg="mod">
          <ac:chgData name="SC22D012-Manoj Kaushik 2022-PHD-Earth&amp;SpaceScience" userId="78d50035-fc00-4ea2-995b-b881e10649a1" providerId="ADAL" clId="{29B47332-549A-4FC0-A3ED-D31212E60846}" dt="2026-07-29T17:07:16.393" v="12" actId="20577"/>
          <ac:spMkLst>
            <pc:docMk/>
            <pc:sldMk cId="0" sldId="273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17:07:24.136" v="13" actId="20577"/>
        <pc:sldMkLst>
          <pc:docMk/>
          <pc:sldMk cId="0" sldId="274"/>
        </pc:sldMkLst>
        <pc:spChg chg="mod">
          <ac:chgData name="SC22D012-Manoj Kaushik 2022-PHD-Earth&amp;SpaceScience" userId="78d50035-fc00-4ea2-995b-b881e10649a1" providerId="ADAL" clId="{29B47332-549A-4FC0-A3ED-D31212E60846}" dt="2026-07-29T17:07:24.136" v="13" actId="20577"/>
          <ac:spMkLst>
            <pc:docMk/>
            <pc:sldMk cId="0" sldId="274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930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Lectures 8 &amp; 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Fairness Trade-offs &amp;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Bias Mitigation in AI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Comparing equal opportunity, equalized odds and predictive parity; the trade-offs between them; how bias is mitigated before, during and after training; and the risks AI models carry into the real world.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0" descr="/home/claude/work/icon2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Metrics &amp; Trade-offs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work/icon2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Bias Mitigation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2" descr="/home/claude/work/icon2_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Imminent Risks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/home/claude/work/icon2_glo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Long-Term Risks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These two lectures close Unit I — link the metrics from Lecture 7 to concrete mitigation and risk awareness.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Lectures 8 &amp;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we in Unit I?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Lectures 1-3: AI ethics, morality, law and stakeholder-oriented ethical analysis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Lectures 4-5: Data-related bias, algorithmic, interactional, feedback-loop and deployment bias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Lectures 6-7: Subgroup analysis, confusion-matrix measures, group and individual fairness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Lectures 8 &amp; 9 (Today): Fairness metrics and trade-offs; bias mitigation strategies; imminent and long-term AI risks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9 completes Unit I and leads into Unit II: Transparency, Accountability, Surveillance and Privacy.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Remind students this is the final pair of lectures in Unit I before the unit wraps up.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Lectures 8 &amp;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Outcomes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predictive parity and compare it with equal opportunity and equalized odds.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fairness metrics generally cannot all be satisfied at the same time.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pre-processing, in-processing and post-processing bias-mitigation strategies.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imminent risks and long-term risks associated with deployed AI models.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Tell students today's session moves from measuring unfairness to actively reducing and managing it.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Recap: Group Fairness So Far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Demographic parity: the positive-prediction rate should be equal across groups.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Equal opportunity: the True Positive Rate (TPR) should be equal across groups.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Equalized odds: both TPR and FPR should be equal across groups - the strictest of the three.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 we add a fourth idea, predictive parity, and examine why satisfying every metric at once is rarely possible.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 60-second recap is enough — most students saw these definitions in Lecture 7.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Predictive Parity - a Third Fairness Metric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Predictive parity (precision parity): among people predicted positive, the proportion who are truly positive should be equal across groups.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Formally: PPV = TP / (TP + FP) should match across Group A and Group B.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asks a different question from equalized odds - "When the model says yes, how often is it right, equally for everyone?"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Predictive parity is closely tied to real-world decision quality, since it reflects how reliable a positive prediction actually is.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Contrast this with TPR — predictive parity looks at predicted positives, TPR looks at actual positives.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Comparing the Three Metrics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1148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Metric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Equalises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Key Question It Answers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Equal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Opportunity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TPR across groups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Do qualified people get equal positive outcomes?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Equalized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Odds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TPR and FPR across groups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Are correct and incorrect positive predictions both balanced?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Predictive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Parity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Precision (PPV) across groups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When the model predicts positive, is it equally reliable for everyone?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restate each question in their own words before moving 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The Fairness Trade-off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Except in special cases, a model cannot satisfy equalized odds and predictive parity together when groups have different base rates.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a mathematical result, not a flaw in any one metric - fairness requires a deliberate choice, not a default answer.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Improving one metric for one group can worsen another metric for the same or a different group.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why fairness is treated as a design decision made with stakeholders, not a single number to optimise.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is a conceptual result — a full proof is not required, just the intuition that trade-offs are unavoidable.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Worked Example - Testing the Trade-off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Reusing the Lecture 6 loan numbers - Group A: TP 32, FP 12, FN 8, TN 48; Group B: TP 20, FP 12, FN 20, TN 48: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31720"/>
          <a:ext cx="11155680" cy="33832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458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Metric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B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Equal Across Groups?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TPR (Equal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Opportunity)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80%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50%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 — 30-pt gap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FPR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20%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20%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PPV (Predictive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Parity)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72.7%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62.5%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 — ~10-pt gap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Even with equal FPR, neither equal opportunity nor predictive parity holds — that is the trade-off in action.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Choosing Metrics for Context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Criminal justice risk scoring: equalized odds is often </a:t>
            </a:r>
            <a:r>
              <a:rPr lang="en-US" sz="1800" dirty="0" err="1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prioritised</a:t>
            </a: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- both false positives and false negatives carry serious consequences.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Healthcare screening: equal opportunity (TPR) is often prioritised, since missing a true positive can be life-threatening.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Lending and credit scoring: predictive parity is often emphasised, since a "yes" decision should be equally reliable for every applicant.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is no universally correct metric - the choice reflects which type of error is most costly in that context.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name a fourth domain and argue for the metric that fits it best.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Lecture 8 Summary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Equal opportunity, equalized odds and predictive parity each formalise a different notion of equal treatment.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metrics generally cannot all be satisfied at once when groups have different base rates.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Metric choice should reflect the real-world cost of false positives versus false negatives in that application.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how to actually reduce the bias these metrics reveal - bias-mitigation strategies.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is a natural pause point if splitting Lecture 8 and Lecture 9 across two class periods.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Bias Mitigation - Three Intervention Points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Bias-mitigation techniques intervene at one of three stages of the ML pipeline: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11155680" cy="35661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Stage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When It Intervenes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Example Technique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Pre-processing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Before training, on the data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Reweighing, resampling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In-processing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During training, in the objective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Constrained optimisation, adversarial debiasing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Post-processing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After training, on the outputs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Threshold adjustment, calibration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The next three slides take one row of this table at a time.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Pre-processing Strategies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Reweighing: assign different sample weights so underrepresented or disadvantaged groups contribute proportionally to training.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Resampling: oversample minority groups or undersample majority groups to balance representation.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Relabeling: adjust training labels near the decision boundary to reduce historical bias encoded in the data.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model-agnostic - it works with any downstream algorithm since it only changes the data.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Pre-processing is the easiest entry point since it needs no change to the model itself.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In-processing Strategies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Constrained optimisation: add a fairness constraint, such as equalized odds, directly into the training objective.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Adversarial debiasing: train a second "adversary" model that tries to predict the sensitive attribute from the main model's output, and penalise the main model when it succeeds.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Regularisation-based methods: add a fairness penalty term to the loss function alongside the accuracy term.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often achieves a better accuracy-fairness balance than pre- or post-processing alone.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In-processing needs access to model internals, so it is used mainly by the model-building team.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Post-processing Strategies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Threshold adjustment: use a different decision threshold per subgroup so a chosen fairness metric is equalised.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Calibration: adjust predicted probabilities so they reflect true outcome likelihoods equally well across groups.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Reject-option classification: route uncertain predictions near the decision boundary to human review instead of an automated decision.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needs no retraining or access to the original training data - it works directly on model outputs.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Post-processing is the fastest fix to deploy when a biased model is already in production.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Imminent Risks from AI Models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Discriminatory outcomes: biased predictions can deny people credit, jobs or services they qualify for, right now.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violations: models trained on sensitive data can leak personal information through outputs or targeted attacks.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Misinformation and manipulation: generative AI can produce convincing false content at scale.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Overreliance and deskilling: users may trust automated decisions without adequate human oversight.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"Imminent" means these risks are already observable in deployed systems today.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Long-term Risks from AI Models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Entrenchment of inequality: biased systems deployed at scale can compound disadvantage across generations.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 of accountability: complex automated decision chains can make it unclear who is responsible for a harmful outcome.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Concentration of power: control over powerful AI systems may concentrate economic and social influence among a few actors.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of human agency: increasing delegation of decisions to AI may gradually reduce meaningful human oversight of important choices.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connect each long-term risk back to a specific imminent risk from the previous slide.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Lectures 8 &amp;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 Classroom Activity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 groups of 3-4 students.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 the Group A / Group B loan-approval numbers used in this session.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 one pre-processing, one in-processing and one post-processing fix to reduce the TPR/PPV gap.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 which imminent or long-term risk your chosen AI system is most exposed to.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group shares one proposed fix in 1 minute.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activity checks whether students can connect metrics, mitigation and risk in one worked case.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Lectures 8 &amp;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Recap and Exit Questions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Equal opportunity, equalized odds and predictive parity rarely hold together - metric choice is a context-driven decision.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Bias mitigation can act before training, during training or after training.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might equalized odds and predictive parity conflict for the same model?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Name one technique each for pre-, in- and post-processing bias mitigation.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Give one imminent and one long-term risk for a hiring AI system.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answer the exit questions in notebooks or as a quick oral discussion.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Lectures 8 &amp;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 Wrap-up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Self-Learning Activity: Review a real AI failure and identify the ethical issue, source of bias, affected stakeholders and relevant fairness concerns.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Activity: Analyse an AI application used in daily life and propose measures to make it fairer and safer.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completes Unit I. Next Unit: Unit II - Transparency, Accountability, AI in Surveillance and Privacy.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Confirm both Unit I activities are submitted before moving to Unit II next class.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2087</Words>
  <Application>Microsoft Office PowerPoint</Application>
  <PresentationFormat>Widescreen</PresentationFormat>
  <Paragraphs>279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2026-07-29T16:54:28Z</dcterms:created>
  <dcterms:modified xsi:type="dcterms:W3CDTF">2026-07-29T17:07:29Z</dcterms:modified>
</cp:coreProperties>
</file>