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undo custSel modSld">
      <pc:chgData name="SC22D012-Manoj Kaushik 2022-PHD-Earth&amp;SpaceScience" userId="78d50035-fc00-4ea2-995b-b881e10649a1" providerId="ADAL" clId="{29B47332-549A-4FC0-A3ED-D31212E60846}" dt="2026-07-16T05:51:56.658" v="33" actId="20577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7-16T05:45:52.830" v="10" actId="27636"/>
        <pc:sldMkLst>
          <pc:docMk/>
          <pc:sldMk cId="0" sldId="256"/>
        </pc:sldMkLst>
        <pc:spChg chg="mod">
          <ac:chgData name="SC22D012-Manoj Kaushik 2022-PHD-Earth&amp;SpaceScience" userId="78d50035-fc00-4ea2-995b-b881e10649a1" providerId="ADAL" clId="{29B47332-549A-4FC0-A3ED-D31212E60846}" dt="2026-07-16T05:45:52.830" v="10" actId="27636"/>
          <ac:spMkLst>
            <pc:docMk/>
            <pc:sldMk cId="0" sldId="256"/>
            <ac:spMk id="5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16T05:45:38.608" v="5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16T05:45:35.273" v="4" actId="27636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16T05:46:47.554" v="18" actId="14100"/>
        <pc:sldMkLst>
          <pc:docMk/>
          <pc:sldMk cId="0" sldId="257"/>
        </pc:sldMkLst>
        <pc:spChg chg="mod">
          <ac:chgData name="SC22D012-Manoj Kaushik 2022-PHD-Earth&amp;SpaceScience" userId="78d50035-fc00-4ea2-995b-b881e10649a1" providerId="ADAL" clId="{29B47332-549A-4FC0-A3ED-D31212E60846}" dt="2026-07-16T05:46:47.554" v="18" actId="14100"/>
          <ac:spMkLst>
            <pc:docMk/>
            <pc:sldMk cId="0" sldId="257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7-16T05:48:18.571" v="20" actId="478"/>
        <pc:sldMkLst>
          <pc:docMk/>
          <pc:sldMk cId="0" sldId="258"/>
        </pc:sldMkLst>
        <pc:spChg chg="del">
          <ac:chgData name="SC22D012-Manoj Kaushik 2022-PHD-Earth&amp;SpaceScience" userId="78d50035-fc00-4ea2-995b-b881e10649a1" providerId="ADAL" clId="{29B47332-549A-4FC0-A3ED-D31212E60846}" dt="2026-07-16T05:48:10.666" v="19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16T05:48:18.571" v="20" actId="47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16T05:50:55.328" v="22" actId="14100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9B47332-549A-4FC0-A3ED-D31212E60846}" dt="2026-07-16T05:50:55.328" v="22" actId="14100"/>
          <ac:spMkLst>
            <pc:docMk/>
            <pc:sldMk cId="0" sldId="262"/>
            <ac:spMk id="8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16T05:50:48.899" v="21" actId="14100"/>
          <ac:spMkLst>
            <pc:docMk/>
            <pc:sldMk cId="0" sldId="262"/>
            <ac:spMk id="10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16T05:51:56.658" v="33" actId="20577"/>
        <pc:sldMkLst>
          <pc:docMk/>
          <pc:sldMk cId="0" sldId="263"/>
        </pc:sldMkLst>
        <pc:spChg chg="mod">
          <ac:chgData name="SC22D012-Manoj Kaushik 2022-PHD-Earth&amp;SpaceScience" userId="78d50035-fc00-4ea2-995b-b881e10649a1" providerId="ADAL" clId="{29B47332-549A-4FC0-A3ED-D31212E60846}" dt="2026-07-16T05:51:56.658" v="33" actId="20577"/>
          <ac:spMkLst>
            <pc:docMk/>
            <pc:sldMk cId="0" sldId="263"/>
            <ac:spMk id="1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9366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Begin with a question: before using an app, where is the data kept and how does the app find it quickly? Tell students this lecture builds the foundation for the entire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 same data can be stored in many ways, and the chosen structure decides how fast or slow the program becomes.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 warm-up. Do not immediately give the definition. Help students realize that data organization comes before algorithm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 everyday example: raw attendance entries become useful information only after we organize and count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reading the definition, slow down on memory and operations. Students often memorize the definition but miss the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 ID card or attendance sheet as a concrete object. Explain that a record is a collection of related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image: individual values, arrays and records. Keep it simple because pointer and structure details will come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contact list. Ask students to map each operation to their mobile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may confuse data type and data structure. Mention that data structures are built using data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line of students for linear and a family tree or road map for non-linear.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through class strength. If exactly 60 students, array is fine. If students can join and leave frequently, a linked list may be more flexible.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helps create memory hooks. Encourage students to give examples from campus life: mess queue, library shelves, bus routes.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develops thinking habits. State that the best programmers first understand operations and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structures and arrays can be combined. Do not go into deep syntax; this is a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students discuss. Then pick two responses. This checks if students understood fields, records and choosing a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exit questions to close the session. Collect a few answers orally or in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RSE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cs302_docx_extract/word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82880"/>
            <a:ext cx="3108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64F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48640" y="184708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1, Lecture 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455164"/>
            <a:ext cx="5897880" cy="11750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 to Data Structures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85216" y="3909060"/>
            <a:ext cx="5303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F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900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 we will understand why computers need data structures before we start coding arrays, stacks, queues, trees and graphs.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39496" y="5769864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 Manoj Kaushik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700" dirty="0"/>
          </a:p>
        </p:txBody>
      </p:sp>
      <p:pic>
        <p:nvPicPr>
          <p:cNvPr id="8" name="Image 1" descr="/mnt/data/a_high_resolution_futuristic_tech_illustration_i.png"/>
          <p:cNvPicPr>
            <a:picLocks noChangeAspect="1"/>
          </p:cNvPicPr>
          <p:nvPr/>
        </p:nvPicPr>
        <p:blipFill>
          <a:blip r:embed="rId4"/>
          <a:srcRect l="19278" r="19278"/>
          <a:stretch/>
        </p:blipFill>
        <p:spPr>
          <a:xfrm>
            <a:off x="6446520" y="960120"/>
            <a:ext cx="544068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we studying Data Structures?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11018520" cy="777240"/>
          </a:xfrm>
          <a:prstGeom prst="rect">
            <a:avLst/>
          </a:prstGeom>
          <a:solidFill>
            <a:srgbClr val="EEF6FF"/>
          </a:solidFill>
          <a:ln w="12700">
            <a:solidFill>
              <a:srgbClr val="B7D8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program is not only a set of instructions. It also needs a smart way to store, access and update data.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34290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CD7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 1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Searching a contact by name in a phonebook app.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434840" y="2468880"/>
            <a:ext cx="33832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6C0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 2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Undo operation in an editor or IDE.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0" y="2468880"/>
            <a:ext cx="33832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E3C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 3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 the shortest route on Google Maps.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2011680" cy="310896"/>
          </a:xfrm>
          <a:prstGeom prst="rect">
            <a:avLst/>
          </a:prstGeom>
          <a:solidFill>
            <a:srgbClr val="1C64F2"/>
          </a:solidFill>
          <a:ln>
            <a:solidFill>
              <a:srgbClr val="1C64F2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 access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46120" y="4343400"/>
            <a:ext cx="2331720" cy="310896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memory waste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80760" y="4343400"/>
            <a:ext cx="1828800" cy="310896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 logic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03920" y="4343400"/>
            <a:ext cx="2423160" cy="310896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Scalable programs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Ask: Which app on your phone uses the largest amount of data?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Question: Think Before Coding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10972800" cy="896112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Suppose we have marks of 60 students. We need to store them, calculate average, find the highest marks and display all failed students.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Store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will marks be kept?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03320" y="2743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9F6E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Access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we read each mark?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37960" y="2743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Update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we change a wrong entry?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9372600" y="2743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Process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we find average and highest marks?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Data, Information and Organization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2926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facts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Marks: 78, 52, 91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Names: Ravi, Asha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 numbers: 101, 102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685800" cy="502920"/>
          </a:xfrm>
          <a:prstGeom prst="rightArrow">
            <a:avLst/>
          </a:prstGeom>
          <a:solidFill>
            <a:srgbClr val="1C64F2"/>
          </a:solidFill>
          <a:ln w="12700">
            <a:solidFill>
              <a:srgbClr val="1C64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257800" y="1417320"/>
            <a:ext cx="2286000" cy="502920"/>
          </a:xfrm>
          <a:prstGeom prst="rect">
            <a:avLst/>
          </a:prstGeom>
          <a:solidFill>
            <a:srgbClr val="F3E8FF"/>
          </a:solidFill>
          <a:ln w="12700">
            <a:solidFill>
              <a:srgbClr val="C084F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Processing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983480" y="214884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84F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Organize + compute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Update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955280" y="2560320"/>
            <a:ext cx="685800" cy="502920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281160" y="1417320"/>
            <a:ext cx="228600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Information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915400" y="214884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Meaningful result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average = 73.6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Topper = 91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Failed students = 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4800600"/>
            <a:ext cx="100584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point: Data structures help us move from raw data to useful information efficiently.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Give one example from attendance, library books, or exam marks.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Data Structure?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10744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 structure is a particular way of organizing data in memory so that operations like access, insertion, deletion, searching and traversal can be performed efficiently.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05840" y="2971800"/>
            <a:ext cx="2971800" cy="914400"/>
          </a:xfrm>
          <a:prstGeom prst="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idea 1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stores data.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0" y="2971800"/>
            <a:ext cx="2971800" cy="91440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idea 2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defines relationships among data items.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138160" y="2971800"/>
            <a:ext cx="2971800" cy="91440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idea 3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supports useful operations.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4663440"/>
            <a:ext cx="10378440" cy="640080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C, we build data structures using variables, arrays, structures, pointers and dynamic memory allocation.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Write the definition on board and ask students to underline “organizing data in memory”.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Elementary Data Organization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121408" y="3044952"/>
            <a:ext cx="57607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995928" y="3044952"/>
            <a:ext cx="57607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870448" y="3044952"/>
            <a:ext cx="57607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7744968" y="3044952"/>
            <a:ext cx="57607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619488" y="3044952"/>
            <a:ext cx="57607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94360" y="2423160"/>
            <a:ext cx="1417320" cy="1234440"/>
          </a:xfrm>
          <a:prstGeom prst="rect">
            <a:avLst/>
          </a:prstGeom>
          <a:solidFill>
            <a:srgbClr val="E0F2FE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 or 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2423160"/>
            <a:ext cx="14173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Byte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bits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43400" y="2423160"/>
            <a:ext cx="1417320" cy="1234440"/>
          </a:xfrm>
          <a:prstGeom prst="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 No.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2423160"/>
            <a:ext cx="1417320" cy="1234440"/>
          </a:xfrm>
          <a:prstGeom prst="rect">
            <a:avLst/>
          </a:prstGeom>
          <a:solidFill>
            <a:srgbClr val="FEF3C7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student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092440" y="2423160"/>
            <a:ext cx="1417320" cy="1234440"/>
          </a:xfrm>
          <a:prstGeom prst="rect">
            <a:avLst/>
          </a:prstGeom>
          <a:solidFill>
            <a:srgbClr val="FFEDD5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students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66960" y="2423160"/>
            <a:ext cx="1417320" cy="1234440"/>
          </a:xfrm>
          <a:prstGeom prst="rect">
            <a:avLst/>
          </a:prstGeom>
          <a:solidFill>
            <a:srgbClr val="DCFCE7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Database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files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10789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 A university result system stores bit-level values, characters, fields such as roll number, complete student records, result files and a database.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identify field and record from their ID card.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Data Looks Inside Memory</a:t>
            </a:r>
            <a:endParaRPr lang="en-US" sz="2600" dirty="0"/>
          </a:p>
        </p:txBody>
      </p:sp>
      <p:pic>
        <p:nvPicPr>
          <p:cNvPr id="7" name="Image 0" descr="/mnt/data/a_clean_slide_like_infographic_illustration_overa_batch_1.png"/>
          <p:cNvPicPr>
            <a:picLocks noChangeAspect="1"/>
          </p:cNvPicPr>
          <p:nvPr/>
        </p:nvPicPr>
        <p:blipFill>
          <a:blip r:embed="rId3"/>
          <a:srcRect l="14825" r="14825"/>
          <a:stretch/>
        </p:blipFill>
        <p:spPr>
          <a:xfrm>
            <a:off x="731520" y="1417320"/>
            <a:ext cx="5486400" cy="4389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29400" y="1417320"/>
            <a:ext cx="4754880" cy="10515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we write a C program, data is stored in memory blocks. The way we group these blocks creates a data structure.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720840" y="2834640"/>
            <a:ext cx="4480560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variable stores one value.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array stores similar values together.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structure groups different fields.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Pointers help create dynamic structures.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675120" y="4983479"/>
            <a:ext cx="4572000" cy="914395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Preview: In the next lectures, we will connect C syntax with memory organization.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Explain memory using boxes, not abstract theory.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Operations on Data Structures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1325880"/>
            <a:ext cx="10287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 structure is useful only when we can perform operations on it.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306324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the structure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63440" y="2423160"/>
            <a:ext cx="3063240" cy="868680"/>
          </a:xfrm>
          <a:prstGeom prst="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Traverse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Visit each item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412480" y="2423160"/>
            <a:ext cx="3063240" cy="868680"/>
          </a:xfrm>
          <a:prstGeom prst="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an item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749040"/>
            <a:ext cx="306324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new data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3749040"/>
            <a:ext cx="3063240" cy="868680"/>
          </a:xfrm>
          <a:prstGeom prst="rect">
            <a:avLst/>
          </a:prstGeom>
          <a:solidFill>
            <a:srgbClr val="FFEDD5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Remove data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12480" y="3749040"/>
            <a:ext cx="3063240" cy="868680"/>
          </a:xfrm>
          <a:prstGeom prst="rect">
            <a:avLst/>
          </a:prstGeom>
          <a:solidFill>
            <a:srgbClr val="FEE2E2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Update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Modify data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1560" y="5303520"/>
            <a:ext cx="100584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 In a contact list, adding a new contact is insertion; finding “Satish” is searching; showing all contacts is traversal.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Ask: Which operation happens when we delete a WhatsApp chat?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Data Structures: First Classification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080760" y="1874520"/>
            <a:ext cx="0" cy="5029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46120" y="2377440"/>
            <a:ext cx="56692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246120" y="2377440"/>
            <a:ext cx="0" cy="41148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8915400" y="2377440"/>
            <a:ext cx="0" cy="41148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251960" y="1325880"/>
            <a:ext cx="365760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Structures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51560" y="2788920"/>
            <a:ext cx="4389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Primitive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Built-in basic data types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int, char, float, double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20840" y="2788920"/>
            <a:ext cx="4389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Non-Primitive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Derived or user-defined structures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array, stack, queue, list, tree, graph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5120640"/>
            <a:ext cx="9738360" cy="54864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this course, our main focus is non-primitive data structures implemented using C.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Clarify that int is data type, but array/list/tree are data structures.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 and Non-Linear Data Structures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489204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 Data Structures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Elements are arranged sequentially. Each item has a clear previous and next item.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88720" y="3429000"/>
            <a:ext cx="4069080" cy="10058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C64F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Examples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C64F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Array, Linked List, Stack, Queue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46520" y="1463040"/>
            <a:ext cx="4892040" cy="59436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Non-Linear Data Structures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537960" y="2331720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F7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Elements are arranged hierarchically or as networks. One item may connect to many items.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812280" y="3429000"/>
            <a:ext cx="406908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Examples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Trees, Graphs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103120" y="5349240"/>
            <a:ext cx="80467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 check: Is a railway route map linear or non-linear?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Pause for answers; students usually say graph after thinking of stations and connections.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Static and Dynamic Data Structures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288036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3017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Size is fixed before execution or at declaration time.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611880"/>
            <a:ext cx="2926080" cy="822960"/>
          </a:xfrm>
          <a:prstGeom prst="rect">
            <a:avLst/>
          </a:prstGeom>
          <a:solidFill>
            <a:srgbClr val="FFFBEB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 marks[60];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458200" y="1463040"/>
            <a:ext cx="288036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154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Size can grow or shrink during program execution.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458200" y="3611880"/>
            <a:ext cx="29260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 list using pointers</a:t>
            </a:r>
            <a:endParaRPr lang="en-US" sz="2000" dirty="0"/>
          </a:p>
        </p:txBody>
      </p:sp>
      <p:pic>
        <p:nvPicPr>
          <p:cNvPr id="13" name="Image 0" descr="/mnt/data/a_clean_educational_infographic_illustration_on_a_batch_2.png"/>
          <p:cNvPicPr>
            <a:picLocks noChangeAspect="1"/>
          </p:cNvPicPr>
          <p:nvPr/>
        </p:nvPicPr>
        <p:blipFill>
          <a:blip r:embed="rId3"/>
          <a:srcRect l="16779" r="16779"/>
          <a:stretch/>
        </p:blipFill>
        <p:spPr>
          <a:xfrm>
            <a:off x="4160520" y="1554480"/>
            <a:ext cx="3886200" cy="3291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3000" y="5394960"/>
            <a:ext cx="996696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point: static is simple and fast, dynamic is flexible but requires careful pointer handling.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Do not go deep into malloc yet; this is a preview for coming lectures.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Analogies Make It Easy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21031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64F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Roll-number wise bench seats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index-based access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1417320"/>
            <a:ext cx="2103120" cy="502920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29000" y="214884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Pile of books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last book added comes out first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63640" y="1417320"/>
            <a:ext cx="210312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Queue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263640" y="214884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 at a ticket counter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person enters first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98280" y="1417320"/>
            <a:ext cx="2103120" cy="50292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D28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098280" y="214884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Cities and roads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many-to-many connections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4709160"/>
            <a:ext cx="9829800" cy="68580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Classroom activity: Ask each group to give one more example for any one data structure.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Let examples come from students; correct gently if analogy is incomplete.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We Choose the Right Data Structure?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4800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What operation is most frequent?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search, insert, delete, traverse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4800600" cy="10972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much data will come?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small, large, growing, fixed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1417320"/>
            <a:ext cx="4800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Is order important?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sequence, priority, hierarchy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154680"/>
            <a:ext cx="4800600" cy="1097280"/>
          </a:xfrm>
          <a:prstGeom prst="rect">
            <a:avLst/>
          </a:prstGeom>
          <a:solidFill>
            <a:srgbClr val="EFF6FF"/>
          </a:solidFill>
          <a:ln w="12700">
            <a:solidFill>
              <a:srgbClr val="BBF7D0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memory is available?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fixed storage or dynamic allocation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43000" y="5257800"/>
            <a:ext cx="9921240" cy="68580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91C1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Important rule for students: Never choose a data structure only because it is familiar. Choose it because it fits the problem.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Connect this to engineering problem-solving, not memorization.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Bridge to C Programming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1325880"/>
            <a:ext cx="10469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C, data structures are built step by step from simple language features.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2194560" cy="82296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Variables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 single values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20440" y="2331720"/>
            <a:ext cx="219456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 similar values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172200" y="2331720"/>
            <a:ext cx="2194560" cy="82296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different fields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23960" y="2331720"/>
            <a:ext cx="2194560" cy="82296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Pointers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 memory locations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88920" y="3749040"/>
            <a:ext cx="662940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 Student {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int roll;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float marks;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};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 Student s[60];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Read the code aloud and ask what s[60] represents.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 Classroom Activity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1325880"/>
            <a:ext cx="210312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46120" y="1325880"/>
            <a:ext cx="8046720" cy="713232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library wants to store book records. Each book has book ID, title, author and availability status.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4114800" cy="502920"/>
          </a:xfrm>
          <a:prstGeom prst="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64F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 in pairs for 3 minutes: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3429000"/>
            <a:ext cx="45720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should be one record?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fields should it contain?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Would you store all books in an array or linked list?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operations will be frequent?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263640" y="2880360"/>
            <a:ext cx="4754880" cy="1600200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direction: A book record can be represented using a structure; multiple book records can be stored in an array if total size is fixed.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Use this as formative assessment before the recap.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097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TCS302: Data Structures with 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0" y="1097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972800" y="1097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Recap and Exit Questions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1325880"/>
            <a:ext cx="39319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60A5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329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learned today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48920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structures organize data in memory.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 organization improves program efficiency.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can be arranged as fields, records, files and databases.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operations include traversal, searching, insertion and deletion.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structures may be primitive/non-primitive, linear/non-linear and static/dynamic.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1325880"/>
            <a:ext cx="393192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Exit Questions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0" y="2057400"/>
            <a:ext cx="4754880" cy="2057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data structure in your own words.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a linear data structure.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graph useful for road networks?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field and record?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80160" y="5577840"/>
            <a:ext cx="9646920" cy="548640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Lecture: Basic terminology continued, pointers, structures and dynamic memory allocation in C.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2700">
            <a:solidFill>
              <a:srgbClr val="D6DE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6483096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write answers to exit questions in 5 minutes.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1886</Words>
  <Application>Microsoft Office PowerPoint</Application>
  <PresentationFormat>Widescreen</PresentationFormat>
  <Paragraphs>274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Graphic Era Hill University, Bhimtal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Lecture 1: Introduction to Data Structures</dc:title>
  <dc:subject>TCS302 Data Structures with C</dc:subject>
  <dc:creator>Mr. Manoj Kaushik</dc:creator>
  <cp:lastModifiedBy>SC22D012-Manoj Kaushik 2022-PHD-Earth&amp;SpaceScience</cp:lastModifiedBy>
  <cp:revision>1</cp:revision>
  <dcterms:created xsi:type="dcterms:W3CDTF">2026-07-16T05:37:30Z</dcterms:created>
  <dcterms:modified xsi:type="dcterms:W3CDTF">2026-07-16T05:52:00Z</dcterms:modified>
</cp:coreProperties>
</file>