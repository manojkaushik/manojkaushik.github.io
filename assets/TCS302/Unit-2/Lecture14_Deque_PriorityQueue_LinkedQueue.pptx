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D12145-57B2-0D4A-952A-9F883F386E8A}" v="3" dt="2026-08-11T05:19:19.5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75C7A75-CDE0-511A-B56E-A781402A3859}"/>
    <pc:docChg chg="modSld">
      <pc:chgData name="SC22D012-Manoj Kaushik 2022-PHD-Earth&amp;SpaceScience" userId="78d50035-fc00-4ea2-995b-b881e10649a1" providerId="ADAL" clId="{275C7A75-CDE0-511A-B56E-A781402A3859}" dt="2026-08-11T05:48:28.978" v="23" actId="20577"/>
      <pc:docMkLst>
        <pc:docMk/>
      </pc:docMkLst>
      <pc:sldChg chg="modSp mod">
        <pc:chgData name="SC22D012-Manoj Kaushik 2022-PHD-Earth&amp;SpaceScience" userId="78d50035-fc00-4ea2-995b-b881e10649a1" providerId="ADAL" clId="{275C7A75-CDE0-511A-B56E-A781402A3859}" dt="2026-08-11T05:19:35.698" v="14" actId="20577"/>
        <pc:sldMkLst>
          <pc:docMk/>
          <pc:sldMk cId="0" sldId="256"/>
        </pc:sldMkLst>
        <pc:spChg chg="mod">
          <ac:chgData name="SC22D012-Manoj Kaushik 2022-PHD-Earth&amp;SpaceScience" userId="78d50035-fc00-4ea2-995b-b881e10649a1" providerId="ADAL" clId="{275C7A75-CDE0-511A-B56E-A781402A3859}" dt="2026-08-11T05:19:35.698" v="14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75C7A75-CDE0-511A-B56E-A781402A3859}" dt="2026-08-11T03:11:10.167" v="1" actId="20577"/>
          <ac:spMkLst>
            <pc:docMk/>
            <pc:sldMk cId="0" sldId="256"/>
            <ac:spMk id="7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75C7A75-CDE0-511A-B56E-A781402A3859}" dt="2026-08-11T03:11:13.326" v="3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75C7A75-CDE0-511A-B56E-A781402A3859}" dt="2026-08-11T03:11:15.988" v="5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75C7A75-CDE0-511A-B56E-A781402A3859}" dt="2026-08-11T05:48:28.978" v="23" actId="20577"/>
        <pc:sldMkLst>
          <pc:docMk/>
          <pc:sldMk cId="0" sldId="264"/>
        </pc:sldMkLst>
        <pc:spChg chg="mod">
          <ac:chgData name="SC22D012-Manoj Kaushik 2022-PHD-Earth&amp;SpaceScience" userId="78d50035-fc00-4ea2-995b-b881e10649a1" providerId="ADAL" clId="{275C7A75-CDE0-511A-B56E-A781402A3859}" dt="2026-08-11T05:48:28.978" v="23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75C7A75-CDE0-511A-B56E-A781402A3859}" dt="2026-08-11T05:48:07.537" v="22" actId="20577"/>
        <pc:sldMkLst>
          <pc:docMk/>
          <pc:sldMk cId="0" sldId="266"/>
        </pc:sldMkLst>
        <pc:spChg chg="mod">
          <ac:chgData name="SC22D012-Manoj Kaushik 2022-PHD-Earth&amp;SpaceScience" userId="78d50035-fc00-4ea2-995b-b881e10649a1" providerId="ADAL" clId="{275C7A75-CDE0-511A-B56E-A781402A3859}" dt="2026-08-11T05:48:07.537" v="22" actId="20577"/>
          <ac:spMkLst>
            <pc:docMk/>
            <pc:sldMk cId="0" sldId="266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3602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variations on the queue idea, each relaxing or extending one rule of the plain queue from Lecture 11. Comparative style throughout: always show the plain queue's rule first, then what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priority queue — the most critical patient is seen next, regardless of who walked in first. This is the anchor example for Part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insertRear+deleteFront = a plain queue. insertFront+deleteFront = a stack. The deque is a superset that can BEHAVE like either — a nice unifying insight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Middle-start is the one genuinely new implementation trick here. Mention in passing that a production-quality deque combines this idea WITH Lecture 13's circular wrap — optional extra credit thought, not required for the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compiled program's real output. Walk the class through why insertFront(5) makes front go from 2 to 1, not 0 — same 'decrement before write' logic as pop in a stack, mirrored.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yes, ties are common, and the usual convention is FIFO among equal priorities — the plain queue's rule survives as a tie-breaker inside the priority queue. Nice callback.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deliberate trade-off: fast insert, slow remove. The opposite design (keep the array sorted at insert time) makes remove O(1) but insert O(n). Either way, one side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output. The shift-left loop after removal costs O(n) too — so this design is O(n) on BOTH insert-adjacent work and removal in the worst framing; only insert itself is O(1). Good exam question: total cost of n inserts + n removals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n-1 comparisons, one pass. This slide is deliberately honest about the trade-off rather than presenting the naive version as final — sets up Unit III's heap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enqueue — without rear, adding to the end means walking the whole chain from front every time: O(n). The rear pointer is what makes enqueue O(1), the entire reason for keeping two pointers instead of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word-for-word parallel with Lecture 9 — students who understood the linked stack should feel this slide is almost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directly with linked stack push: push always changes top; enqueue changes rear always, but changes front only sometimes (first element). That asymmetry is new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after emptying the queue, rear still points at the freed node. The NEXT enqueue reads q-&gt;rear-&gt;next on freed memory — undefined behaviour, may crash or may silently corrupt. This is the single most important line in the whole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table as a five-minute recap quiz: cover the answers, ask the class to fill in the deque and priority-queue columns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is a direct extension of slides 12-13: add q-&gt;size++ in qEnqueue right after q-&gt;rear = node, and q-&gt;size-- in qDequeue right after the front==NULL check. Straightforward once students see the pattern, good confidence-builder to end the unit's queue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Simple Queue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Deque(</a:t>
            </a:r>
            <a:r>
              <a:rPr lang="en-US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Double-Ended</a:t>
            </a: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Priority Queue, and the Linked Queue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II  •  Lecture 14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3319272"/>
            <a:ext cx="7534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 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 - both ends open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813048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3886200"/>
            <a:ext cx="7534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 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Queue - importance, not order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379976"/>
            <a:ext cx="7863840" cy="457200"/>
          </a:xfrm>
          <a:prstGeom prst="roundRect">
            <a:avLst>
              <a:gd name="adj" fmla="val 14000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4672" y="4453128"/>
            <a:ext cx="7534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 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Queue - no array limit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Recap: what a plain queue insists 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1188720"/>
          </a:xfrm>
          <a:prstGeom prst="roundRect">
            <a:avLst>
              <a:gd name="adj" fmla="val 538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353312"/>
            <a:ext cx="79004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plain queue's two rules
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1: insertion ONLY at rear.</a:t>
            </a:r>
            <a:endParaRPr lang="en-US" sz="1250" dirty="0"/>
          </a:p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2: deletion ONLY at front. And every element leaves in the order it arrived.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relax Rule 1+2 (deque: both ends do both jobs).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drop the FIFO promise entirely (priority queue: importance decides, not arrival time).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rebuild the plain queue on linked nodes, exactly as Lecture 9 did for the stack.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three ideas above sounds most like how a hospital emergency room actually works?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A: the Deque (Double-Ended Queue)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34640" y="1554480"/>
            <a:ext cx="86868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834640" y="1554480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94760" y="1554480"/>
            <a:ext cx="8686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94760" y="1554480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554480"/>
            <a:ext cx="8686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0" y="1554480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1627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↔ delete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60720" y="1627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↔ delete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21031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21031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6517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"Deque" = Double-Ended QUEue. Say it as "deck".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allow BOTH insertion and deletion — the queue's one-way rule is gone.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operations: insertFront, insertRear, deleteFront, deleteRear.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only ever use insertRear and deleteFront on a deque, what have you built? What about insertFront and deleteFront only?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Deque: array version, both ends move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754880" cy="2743200"/>
          </a:xfrm>
          <a:prstGeom prst="roundRect">
            <a:avLst>
              <a:gd name="adj" fmla="val 2333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insertFront(int x)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(isFull()) { ...; return; }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 == -1)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MAX / 2;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(front == 0)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...; return; }   /* no room left */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 - 1;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dq[front] = x;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0" y="13258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insertRear is the mirror image: rear = rear + 1.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deleteFront and deleteRear mirror push/pop from either end.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trick: the FIRST element is placed in the MIDDLE of the array, not at index 0 — that leaves room to grow both left and right.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1667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4187952"/>
            <a:ext cx="7900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simple version still has a limit: it is not circular, so it can still run out of room on one side while the other has space.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Deque trace (verified)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27432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Deque (front..rear)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insertRear(10)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insertRear(20)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10  20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insertFront(5)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5  10  20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deleteFront → 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10  20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deleteRear → 20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= 5, first insert lands at index 2 (the middle) — exactly as the code intends.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B: the Priority Queue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1051560"/>
          </a:xfrm>
          <a:prstGeom prst="roundRect">
            <a:avLst>
              <a:gd name="adj" fmla="val 6087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1307592"/>
            <a:ext cx="79004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changes completely
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 arrival order. Every element carries a PRIORITY. The element removed next is always the one with the HIGHEST priority currently waiting.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room: critical patients are seen before those who arrived earlier but are stable.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spooler: an admin's urgent print job can jump ahead of a large queued report.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scheduling: high-priority system tasks run before ordinary background ones.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two elements ever have the same priority? If so, which should leave first — does FIFO make a comeback?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 Queue: the simplest working version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754880" cy="2743200"/>
          </a:xfrm>
          <a:prstGeom prst="roundRect">
            <a:avLst>
              <a:gd name="adj" fmla="val 2333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pq[MAX];      /* values     */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prio[MAX];    /* priorities */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count = 0;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insert(int value, int priority)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(isFull()) { ...; return; }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pq[count]   = value;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prio[count] = priority;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count++;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0" y="13258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is O(1) — just append, no ordering work yet.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removeHighest does the work instead: scan all elements, remember the index of the largest priority.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simplest correct design, not the fastest — more on that below.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0" y="3749040"/>
            <a:ext cx="3200400" cy="914400"/>
          </a:xfrm>
          <a:prstGeom prst="roundRect">
            <a:avLst>
              <a:gd name="adj" fmla="val 7000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50992" y="3822192"/>
            <a:ext cx="28712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number = higher priority, in this version.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removeHighest( ): find, take, close the gap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297680" cy="3611880"/>
          </a:xfrm>
          <a:prstGeom prst="roundRect">
            <a:avLst>
              <a:gd name="adj" fmla="val 1772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removeHighest(void)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(isEmpty()) { ...; return -1; }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hi = 0;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1; i &lt; count; i++)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(prio[i] &gt; prio[hi])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hi = i;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value = pq[hi];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hi; i &lt; count-1; i++)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pq[i]   = pq[i+1];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prio[i] = prio[i+1];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count--;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937760" y="1234440"/>
            <a:ext cx="3749040" cy="2148840"/>
          </a:xfrm>
          <a:prstGeom prst="roundRect">
            <a:avLst>
              <a:gd name="adj" fmla="val 2979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02352" y="1307592"/>
            <a:ext cx="341985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order (value:priority)
</a:t>
            </a: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10:2   20:5   30:1   40:4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937760" y="3520440"/>
            <a:ext cx="3749040" cy="1280160"/>
          </a:xfrm>
          <a:prstGeom prst="roundRect">
            <a:avLst>
              <a:gd name="adj" fmla="val 5000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02352" y="3593592"/>
            <a:ext cx="34198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removeHighest called 4 times
</a:t>
            </a:r>
            <a:r>
              <a:rPr lang="en-US" sz="14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→  40  →  10  →  30</a:t>
            </a:r>
            <a:endParaRPr lang="en-US" sz="1250" dirty="0"/>
          </a:p>
          <a:p>
            <a:pPr marL="0" indent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(priorities 5, 4, 2, 1 — highest first)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on efficiency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4667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1353312"/>
            <a:ext cx="790041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version
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 O(1)      removeHighest:  O(n)  (must scan everything to find the max)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small, teaching-scale queues.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" y="2862072"/>
            <a:ext cx="79004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answer, later in this course
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HEAP (Unit III) gives both insert and removeHighest in O(log n) — the standard, efficient priority queue used in real systems.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 elements already in the queue, roughly how many comparisons does one removeHighest cost here?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C: the Linked Queue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1051560"/>
          </a:xfrm>
          <a:prstGeom prst="roundRect">
            <a:avLst>
              <a:gd name="adj" fmla="val 6087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1307592"/>
            <a:ext cx="79004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move as Lecture 9, applied to the queue
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fixed array with malloc'd nodes — no MAX, no overflow (until the heap itself is full), grows exactly as needed.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needed ONE pointer (top). The queue needs TWO: front and rear.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lets us dequeue quickly; rear lets us enqueue quickly — without either, one operation would need a slow O(n) walk.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circular trick needed at all — nodes are created and freed, never reused by index.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linked queue kept ONLY a front pointer (no rear), which operation would become slow, and why?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structs: same idea as Lecture 9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297680" cy="2468880"/>
          </a:xfrm>
          <a:prstGeom prst="roundRect">
            <a:avLst>
              <a:gd name="adj" fmla="val 2593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4023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typedef struct Node {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         value;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*next;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Node;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typedef struct {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*front;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*rear;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Queue;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128016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 identical to the linked stack's node — value plus next.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Queue: the only real change from Lecture 9's Stack — TWO pointers instead of one.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means both are NULL together — they must always agree.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3867912"/>
            <a:ext cx="79004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qInit sets both to NULL, exactly like stackInit set top to NULL.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qEnqueue( ) — always attach at rear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846320" cy="3566160"/>
          </a:xfrm>
          <a:prstGeom prst="roundRect">
            <a:avLst>
              <a:gd name="adj" fmla="val 1795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4572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qEnqueue(Queue *q, int x)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*node = malloc(sizeof *node);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NULL) { ...; return; }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node-&gt;value = x;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node-&gt;next  = NULL;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(q-&gt;rear == NULL)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q-&gt;front = node;   /* queue was empty */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q-&gt;rear-&gt;next = node;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q-&gt;rear = node;        /* always true */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532120" y="132588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node exactly as the stack did.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queue was empty, the new node is also the front.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Otherwise, the OLD rear must point at it — that link is what makes the chain continuous.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node becomes the rear either way — the one line outside the if.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qDequeue( ) — always serve from front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40" y="182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846320" cy="3337560"/>
          </a:xfrm>
          <a:prstGeom prst="roundRect">
            <a:avLst>
              <a:gd name="adj" fmla="val 19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45720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qDequeue(Queue *q, int *out)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(qIsEmpty(q)) { ...; return 0; }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*node = q-&gt;front;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*out = node-&gt;value;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q-&gt;front = node-&gt;next;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(q-&gt;front == NULL)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q-&gt;rear = NULL;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/* just removed the LAST node */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free(node);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1;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532120" y="132588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read, unlink, free — the exact rhythm from linked-stack pop.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special case: if front becomes NULL, rear must ALSO become NULL — otherwise rear would point at a freed node.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two-pointer version of the stack's single top = NULL reset.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532120" y="4297680"/>
            <a:ext cx="3154680" cy="731520"/>
          </a:xfrm>
          <a:prstGeom prst="roundRect">
            <a:avLst>
              <a:gd name="adj" fmla="val 8750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15000" y="42976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 the "if (q-&gt;front == NULL) q-&gt;rear = NULL" line. What breaks, and when would you notice?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three, side by side with the plain queue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Queue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Queue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 Queue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rear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 or rear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anywhere (unordered)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rear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 or rear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(array)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(array)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(array)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heap 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course pattern each time: define the ADT's rule, then pick a representation (array or linked) to store it.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relatives of the queue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Deque: both ends allow both insertion and deletion; it can behave like a stack or a queue depending on which two operations you use.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queue: FIFO is replaced by importance — simplest version is O(1) insert, O(n) removeHighest; heaps (Unit III) do better.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queue: front and rear pointers replace the array — enqueue always moves rear, dequeue always moves front, and both must reset together when the queue empties.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keep the same course habit: define the rule (ADT) first, choose the representation second.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7863840" cy="960120"/>
          </a:xfrm>
          <a:prstGeom prst="roundRect">
            <a:avLst>
              <a:gd name="adj" fmla="val 6667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384048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qEnqueue and qDequeue for a linked queue that also keeps a size counter, updated correctly in both functions.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00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linked lists — nodes, traversal, and insertion from first principles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2481</Words>
  <Application>Microsoft Macintosh PowerPoint</Application>
  <PresentationFormat>On-screen Show (16:9)</PresentationFormat>
  <Paragraphs>292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2026-08-10T17:16:57Z</dcterms:created>
  <dcterms:modified xsi:type="dcterms:W3CDTF">2026-08-11T05:48:35Z</dcterms:modified>
</cp:coreProperties>
</file>