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Example-focused companion to the main threaded-trees lecture. No code here — five different tree shapes, seen threaded one way, then two ways, so the pattern generalizes beyond a single memorized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visual language once here. The retrace note matters: several examples ahead have threads that point to a node's own parent, geometrically identical to the solid edge already there — flagged via callout text rather than drawn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worked examples follow, chosen for variety: a 3-node tree, a 5-node asymmetric tree, a left-skewed tree, and a 7-node BST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the simplest possible case: only one thread exists in the whole tree, and it coincides with a parent edge. Good first example precisely because there is nothing visually new to draw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inorder D,B,E,A,C. E's parent is B, but E's successor is A — the first genuinely new dashed line in this deck, worth pausing on. This is what happens once a leaf sits deeper than the node it must point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clean, surprising fact worth stating explicitly: a fully skewed tree needs no visually distinct threads at all, because every non-root node's successor IS its own parent. This is the opposite extreme from Example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inorder is 20,30,40,50,60,70,80 — exactly sorted, since this is a BST. Only one skip thread for the right-threaded version: 40's successor is 50, not its own parent 30. Note 60's skip thread (to 50) only appears once LEFT threading is added in Part B — a nice forward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double threading as strictly additive to single threading (not a different algorithm) is the key idea for Part B — every example that follows should feel like 'the same tree, plus a bit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callback to slide 4. Doubling the threading added two more thread relationships (1's left stays NULL by the new rule, 3's left is added pointing to 2) but, like the single-threaded version, none of them need a separate visible line in this small a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mirror of the left-skewed example from Part A: a right-skewed chain's LEFT threads all retrace parent edges, for the same structural reason the left-skewed chain's RIGHT threads did. Pattern, not coincidence.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revisiting the same tree: exactly the forward reference planted on slide 7 (Example 4) is now fulfilled — 60's left thread is the second skip thread, symmetric with 40's right thread. Both converge on the root, which is structurally typical for a balanced-ish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 visual comparison is the point of this slide: single already had 3 right-threads (one retracing, one skip, one true NULL) plus symmetric left NULLs untouched. Double adds 4 left-thread relationships, of which only one (60-&gt;50) is a new VISIBLE line — the rest retrace edges or stay NULL. Correct the common misconception that double threading roughly doubles the number of interesting new lines to 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two-minute recap: cover the right two columns and have students derive Double from Single before revealing, since Double is additive, not a different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tree: root 15, left 10, right 20, 10's left 8, 10's right 12. Inorder: 8,10,12,15,20 (verified by simulation). Right threads (single): 8-&gt;10 (retraces edge), 12-&gt;15 (SKIP - the one new dashed line, since 12's parent is 10 not 15), 20-&gt;NULL (last). Left threads (added for double): 8-&gt;NULL (first), 12-&gt;10 (retraces edge), 20-&gt;15 (retraces edge). Only ONE genuinely new dashed line in the whole tree, in either single or double form: 12's right thread to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640080"/>
            <a:ext cx="7863840" cy="320040"/>
          </a:xfrm>
          <a:prstGeom prst="rect">
            <a:avLst/>
          </a:prstGeom>
          <a:noFill/>
          <a:ln/>
        </p:spPr>
        <p:txBody>
          <a:bodyPr wrap="square" lIns="0" tIns="0" rIns="0" bIns="0" rtlCol="0" anchor="ctr"/>
          <a:lstStyle/>
          <a:p>
            <a:pPr indent="0" marL="0">
              <a:buNone/>
            </a:pPr>
            <a:r>
              <a:rPr lang="en-US" sz="1300" b="1" spc="200" kern="0" dirty="0">
                <a:solidFill>
                  <a:srgbClr val="D4A017"/>
                </a:solidFill>
                <a:latin typeface="Calibri" pitchFamily="34" charset="0"/>
                <a:ea typeface="Calibri" pitchFamily="34" charset="-122"/>
                <a:cs typeface="Calibri" pitchFamily="34" charset="-120"/>
              </a:rPr>
              <a:t>TCS302  •  DATA STRUCTURES WITH C</a:t>
            </a:r>
            <a:endParaRPr lang="en-US" sz="1300" dirty="0"/>
          </a:p>
        </p:txBody>
      </p:sp>
      <p:sp>
        <p:nvSpPr>
          <p:cNvPr id="3" name="Text 1"/>
          <p:cNvSpPr/>
          <p:nvPr/>
        </p:nvSpPr>
        <p:spPr>
          <a:xfrm>
            <a:off x="640080" y="1051560"/>
            <a:ext cx="78638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Threaded Binary Trees</a:t>
            </a:r>
            <a:endParaRPr lang="en-US" sz="3400" dirty="0"/>
          </a:p>
        </p:txBody>
      </p:sp>
      <p:sp>
        <p:nvSpPr>
          <p:cNvPr id="4" name="Text 2"/>
          <p:cNvSpPr/>
          <p:nvPr/>
        </p:nvSpPr>
        <p:spPr>
          <a:xfrm>
            <a:off x="640080" y="1828800"/>
            <a:ext cx="7863840" cy="457200"/>
          </a:xfrm>
          <a:prstGeom prst="rect">
            <a:avLst/>
          </a:prstGeom>
          <a:noFill/>
          <a:ln/>
        </p:spPr>
        <p:txBody>
          <a:bodyPr wrap="square" lIns="0" tIns="0" rIns="0" bIns="0" rtlCol="0" anchor="ctr"/>
          <a:lstStyle/>
          <a:p>
            <a:pPr indent="0" marL="0">
              <a:buNone/>
            </a:pPr>
            <a:r>
              <a:rPr lang="en-US" sz="1550" dirty="0">
                <a:solidFill>
                  <a:srgbClr val="CADCFC"/>
                </a:solidFill>
                <a:latin typeface="Calibri" pitchFamily="34" charset="0"/>
                <a:ea typeface="Calibri" pitchFamily="34" charset="-122"/>
                <a:cs typeface="Calibri" pitchFamily="34" charset="-120"/>
              </a:rPr>
              <a:t>Single (One-Way) and Double (Two-Way) — Worked Examples</a:t>
            </a:r>
            <a:endParaRPr lang="en-US" sz="1550" dirty="0"/>
          </a:p>
        </p:txBody>
      </p:sp>
      <p:sp>
        <p:nvSpPr>
          <p:cNvPr id="5" name="Text 3"/>
          <p:cNvSpPr/>
          <p:nvPr/>
        </p:nvSpPr>
        <p:spPr>
          <a:xfrm>
            <a:off x="640080" y="2606040"/>
            <a:ext cx="7863840" cy="320040"/>
          </a:xfrm>
          <a:prstGeom prst="rect">
            <a:avLst/>
          </a:prstGeom>
          <a:noFill/>
          <a:ln/>
        </p:spPr>
        <p:txBody>
          <a:bodyPr wrap="square" lIns="0" tIns="0" rIns="0" bIns="0" rtlCol="0" anchor="ctr"/>
          <a:lstStyle/>
          <a:p>
            <a:pPr indent="0" marL="0">
              <a:buNone/>
            </a:pPr>
            <a:r>
              <a:rPr lang="en-US" sz="1400" b="1" dirty="0">
                <a:solidFill>
                  <a:srgbClr val="D4A017"/>
                </a:solidFill>
                <a:latin typeface="Calibri" pitchFamily="34" charset="0"/>
                <a:ea typeface="Calibri" pitchFamily="34" charset="-122"/>
                <a:cs typeface="Calibri" pitchFamily="34" charset="-120"/>
              </a:rPr>
              <a:t>Unit III  •  Supplementary Examples</a:t>
            </a:r>
            <a:endParaRPr lang="en-US" sz="1400" dirty="0"/>
          </a:p>
        </p:txBody>
      </p:sp>
      <p:sp>
        <p:nvSpPr>
          <p:cNvPr id="6" name="Shape 4"/>
          <p:cNvSpPr/>
          <p:nvPr/>
        </p:nvSpPr>
        <p:spPr>
          <a:xfrm>
            <a:off x="640080" y="3291840"/>
            <a:ext cx="3840480" cy="868680"/>
          </a:xfrm>
          <a:prstGeom prst="roundRect">
            <a:avLst>
              <a:gd name="adj" fmla="val 7368"/>
            </a:avLst>
          </a:prstGeom>
          <a:solidFill>
            <a:srgbClr val="2A3575"/>
          </a:solidFill>
          <a:ln w="12700">
            <a:solidFill>
              <a:srgbClr val="D4A017"/>
            </a:solidFill>
            <a:prstDash val="solid"/>
          </a:ln>
        </p:spPr>
      </p:sp>
      <p:sp>
        <p:nvSpPr>
          <p:cNvPr id="7" name="Text 5"/>
          <p:cNvSpPr/>
          <p:nvPr/>
        </p:nvSpPr>
        <p:spPr>
          <a:xfrm>
            <a:off x="786384" y="3355848"/>
            <a:ext cx="3547872" cy="740664"/>
          </a:xfrm>
          <a:prstGeom prst="rect">
            <a:avLst/>
          </a:prstGeom>
          <a:noFill/>
          <a:ln/>
        </p:spPr>
        <p:txBody>
          <a:bodyPr wrap="square" lIns="0" tIns="0" rIns="0" bIns="0" rtlCol="0" anchor="ctr"/>
          <a:lstStyle/>
          <a:p>
            <a:pPr indent="0" marL="0">
              <a:buNone/>
            </a:pPr>
            <a:r>
              <a:rPr lang="en-US" sz="1200" b="1" dirty="0">
                <a:solidFill>
                  <a:srgbClr val="D4A017"/>
                </a:solidFill>
                <a:latin typeface="Calibri" pitchFamily="34" charset="0"/>
                <a:ea typeface="Calibri" pitchFamily="34" charset="-122"/>
                <a:cs typeface="Calibri" pitchFamily="34" charset="-120"/>
              </a:rPr>
              <a:t>Part A
</a:t>
            </a:r>
            <a:pPr indent="0" marL="0">
              <a:buNone/>
            </a:pPr>
            <a:r>
              <a:rPr lang="en-US" sz="1200" dirty="0">
                <a:solidFill>
                  <a:srgbClr val="CADCFC"/>
                </a:solidFill>
                <a:latin typeface="Calibri" pitchFamily="34" charset="0"/>
                <a:ea typeface="Calibri" pitchFamily="34" charset="-122"/>
                <a:cs typeface="Calibri" pitchFamily="34" charset="-120"/>
              </a:rPr>
              <a:t>Single (right) threaded — 4 examples</a:t>
            </a:r>
            <a:endParaRPr lang="en-US" sz="1200" dirty="0"/>
          </a:p>
        </p:txBody>
      </p:sp>
      <p:sp>
        <p:nvSpPr>
          <p:cNvPr id="8" name="Shape 6"/>
          <p:cNvSpPr/>
          <p:nvPr/>
        </p:nvSpPr>
        <p:spPr>
          <a:xfrm>
            <a:off x="4709160" y="3291840"/>
            <a:ext cx="3840480" cy="868680"/>
          </a:xfrm>
          <a:prstGeom prst="roundRect">
            <a:avLst>
              <a:gd name="adj" fmla="val 7368"/>
            </a:avLst>
          </a:prstGeom>
          <a:solidFill>
            <a:srgbClr val="2A3575"/>
          </a:solidFill>
          <a:ln w="12700">
            <a:solidFill>
              <a:srgbClr val="D4A017"/>
            </a:solidFill>
            <a:prstDash val="solid"/>
          </a:ln>
        </p:spPr>
      </p:sp>
      <p:sp>
        <p:nvSpPr>
          <p:cNvPr id="9" name="Text 7"/>
          <p:cNvSpPr/>
          <p:nvPr/>
        </p:nvSpPr>
        <p:spPr>
          <a:xfrm>
            <a:off x="4855464" y="3355848"/>
            <a:ext cx="3547872" cy="740664"/>
          </a:xfrm>
          <a:prstGeom prst="rect">
            <a:avLst/>
          </a:prstGeom>
          <a:noFill/>
          <a:ln/>
        </p:spPr>
        <p:txBody>
          <a:bodyPr wrap="square" lIns="0" tIns="0" rIns="0" bIns="0" rtlCol="0" anchor="ctr"/>
          <a:lstStyle/>
          <a:p>
            <a:pPr indent="0" marL="0">
              <a:buNone/>
            </a:pPr>
            <a:r>
              <a:rPr lang="en-US" sz="1200" b="1" dirty="0">
                <a:solidFill>
                  <a:srgbClr val="D4A017"/>
                </a:solidFill>
                <a:latin typeface="Calibri" pitchFamily="34" charset="0"/>
                <a:ea typeface="Calibri" pitchFamily="34" charset="-122"/>
                <a:cs typeface="Calibri" pitchFamily="34" charset="-120"/>
              </a:rPr>
              <a:t>Part B
</a:t>
            </a:r>
            <a:pPr indent="0" marL="0">
              <a:buNone/>
            </a:pPr>
            <a:r>
              <a:rPr lang="en-US" sz="1200" dirty="0">
                <a:solidFill>
                  <a:srgbClr val="CADCFC"/>
                </a:solidFill>
                <a:latin typeface="Calibri" pitchFamily="34" charset="0"/>
                <a:ea typeface="Calibri" pitchFamily="34" charset="-122"/>
                <a:cs typeface="Calibri" pitchFamily="34" charset="-120"/>
              </a:rPr>
              <a:t>Double (two-way) threaded — 4 examples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01168"/>
            <a:ext cx="6400800"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THREADED BINARY TREES</a:t>
            </a:r>
            <a:endParaRPr lang="en-US" sz="1100" dirty="0"/>
          </a:p>
        </p:txBody>
      </p:sp>
      <p:sp>
        <p:nvSpPr>
          <p:cNvPr id="3" name="Text 1"/>
          <p:cNvSpPr/>
          <p:nvPr/>
        </p:nvSpPr>
        <p:spPr>
          <a:xfrm>
            <a:off x="457200" y="438912"/>
            <a:ext cx="822960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Single vs Double: what gets threaded</a:t>
            </a:r>
            <a:endParaRPr lang="en-US" sz="22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02</a:t>
            </a:r>
            <a:endParaRPr lang="en-US" sz="900" dirty="0"/>
          </a:p>
        </p:txBody>
      </p:sp>
      <p:sp>
        <p:nvSpPr>
          <p:cNvPr id="6" name="Shape 4"/>
          <p:cNvSpPr/>
          <p:nvPr/>
        </p:nvSpPr>
        <p:spPr>
          <a:xfrm>
            <a:off x="457200" y="1188720"/>
            <a:ext cx="4023360" cy="1920240"/>
          </a:xfrm>
          <a:prstGeom prst="roundRect">
            <a:avLst>
              <a:gd name="adj" fmla="val 3333"/>
            </a:avLst>
          </a:prstGeom>
          <a:solidFill>
            <a:srgbClr val="F0F7F7"/>
          </a:solidFill>
          <a:ln w="12700">
            <a:solidFill>
              <a:srgbClr val="028090"/>
            </a:solidFill>
            <a:prstDash val="solid"/>
          </a:ln>
        </p:spPr>
      </p:sp>
      <p:sp>
        <p:nvSpPr>
          <p:cNvPr id="7" name="Text 5"/>
          <p:cNvSpPr/>
          <p:nvPr/>
        </p:nvSpPr>
        <p:spPr>
          <a:xfrm>
            <a:off x="603504" y="1252728"/>
            <a:ext cx="3730752" cy="1792224"/>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Single (right) threaded
</a:t>
            </a:r>
            <a:pPr indent="0" marL="0">
              <a:buNone/>
            </a:pPr>
            <a:r>
              <a:rPr lang="en-US" sz="1200" dirty="0">
                <a:solidFill>
                  <a:srgbClr val="2B2B2B"/>
                </a:solidFill>
                <a:latin typeface="Calibri" pitchFamily="34" charset="0"/>
                <a:ea typeface="Calibri" pitchFamily="34" charset="-122"/>
                <a:cs typeface="Calibri" pitchFamily="34" charset="-120"/>
              </a:rPr>
              <a:t>Only RIGHT NULLs become threads.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Each points to the node's INORDER SUCCESSOR.</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Left NULLs stay plain NULL.</a:t>
            </a:r>
            <a:endParaRPr lang="en-US" sz="1200" dirty="0"/>
          </a:p>
          <a:p>
            <a:pPr indent="0" marL="0">
              <a:buNone/>
            </a:pP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Enables forward-only iterative inorder traversal.</a:t>
            </a:r>
            <a:endParaRPr lang="en-US" sz="1200" dirty="0"/>
          </a:p>
        </p:txBody>
      </p:sp>
      <p:sp>
        <p:nvSpPr>
          <p:cNvPr id="8" name="Shape 6"/>
          <p:cNvSpPr/>
          <p:nvPr/>
        </p:nvSpPr>
        <p:spPr>
          <a:xfrm>
            <a:off x="4663440" y="1188720"/>
            <a:ext cx="4023360" cy="1920240"/>
          </a:xfrm>
          <a:prstGeom prst="roundRect">
            <a:avLst>
              <a:gd name="adj" fmla="val 3333"/>
            </a:avLst>
          </a:prstGeom>
          <a:solidFill>
            <a:srgbClr val="FBF5E6"/>
          </a:solidFill>
          <a:ln w="12700">
            <a:solidFill>
              <a:srgbClr val="D4A017"/>
            </a:solidFill>
            <a:prstDash val="solid"/>
          </a:ln>
        </p:spPr>
      </p:sp>
      <p:sp>
        <p:nvSpPr>
          <p:cNvPr id="9" name="Text 7"/>
          <p:cNvSpPr/>
          <p:nvPr/>
        </p:nvSpPr>
        <p:spPr>
          <a:xfrm>
            <a:off x="4809744" y="1252728"/>
            <a:ext cx="3730752" cy="1792224"/>
          </a:xfrm>
          <a:prstGeom prst="rect">
            <a:avLst/>
          </a:prstGeom>
          <a:noFill/>
          <a:ln/>
        </p:spPr>
        <p:txBody>
          <a:bodyPr wrap="square" lIns="0" tIns="0" rIns="0" bIns="0" rtlCol="0" anchor="ctr"/>
          <a:lstStyle/>
          <a:p>
            <a:pPr indent="0" marL="0">
              <a:buNone/>
            </a:pPr>
            <a:r>
              <a:rPr lang="en-US" sz="1200" b="1" dirty="0">
                <a:solidFill>
                  <a:srgbClr val="D4A017"/>
                </a:solidFill>
                <a:latin typeface="Calibri" pitchFamily="34" charset="0"/>
                <a:ea typeface="Calibri" pitchFamily="34" charset="-122"/>
                <a:cs typeface="Calibri" pitchFamily="34" charset="-120"/>
              </a:rPr>
              <a:t>Double (two-way) threaded
</a:t>
            </a:r>
            <a:pPr indent="0" marL="0">
              <a:buNone/>
            </a:pPr>
            <a:r>
              <a:rPr lang="en-US" sz="1200" dirty="0">
                <a:solidFill>
                  <a:srgbClr val="2B2B2B"/>
                </a:solidFill>
                <a:latin typeface="Calibri" pitchFamily="34" charset="0"/>
                <a:ea typeface="Calibri" pitchFamily="34" charset="-122"/>
                <a:cs typeface="Calibri" pitchFamily="34" charset="-120"/>
              </a:rPr>
              <a:t>BOTH left and right NULLs become threads.</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Right -&gt; successor, Left -&gt; PREDECESSOR too.</a:t>
            </a:r>
            <a:endParaRPr lang="en-US" sz="1200" dirty="0"/>
          </a:p>
          <a:p>
            <a:pPr indent="0" marL="0">
              <a:buNone/>
            </a:pP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Enables traversal in EITHER direction from any node.</a:t>
            </a:r>
            <a:endParaRPr lang="en-US" sz="1200" dirty="0"/>
          </a:p>
        </p:txBody>
      </p:sp>
      <p:sp>
        <p:nvSpPr>
          <p:cNvPr id="10" name="Shape 8"/>
          <p:cNvSpPr/>
          <p:nvPr/>
        </p:nvSpPr>
        <p:spPr>
          <a:xfrm>
            <a:off x="457200" y="3429000"/>
            <a:ext cx="411480" cy="0"/>
          </a:xfrm>
          <a:prstGeom prst="line">
            <a:avLst/>
          </a:prstGeom>
          <a:noFill/>
          <a:ln w="19050">
            <a:solidFill>
              <a:srgbClr val="8896B0"/>
            </a:solidFill>
            <a:prstDash val="solid"/>
          </a:ln>
        </p:spPr>
      </p:sp>
      <p:sp>
        <p:nvSpPr>
          <p:cNvPr id="11" name="Text 9"/>
          <p:cNvSpPr/>
          <p:nvPr/>
        </p:nvSpPr>
        <p:spPr>
          <a:xfrm>
            <a:off x="960120" y="3319272"/>
            <a:ext cx="1005840" cy="219456"/>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real child</a:t>
            </a:r>
            <a:endParaRPr lang="en-US" sz="900" dirty="0"/>
          </a:p>
        </p:txBody>
      </p:sp>
      <p:sp>
        <p:nvSpPr>
          <p:cNvPr id="12" name="Shape 10"/>
          <p:cNvSpPr/>
          <p:nvPr/>
        </p:nvSpPr>
        <p:spPr>
          <a:xfrm>
            <a:off x="2057400" y="3429000"/>
            <a:ext cx="411480" cy="0"/>
          </a:xfrm>
          <a:prstGeom prst="line">
            <a:avLst/>
          </a:prstGeom>
          <a:noFill/>
          <a:ln w="15875">
            <a:solidFill>
              <a:srgbClr val="D4A017"/>
            </a:solidFill>
            <a:prstDash val="dash"/>
          </a:ln>
        </p:spPr>
      </p:sp>
      <p:sp>
        <p:nvSpPr>
          <p:cNvPr id="13" name="Text 11"/>
          <p:cNvSpPr/>
          <p:nvPr/>
        </p:nvSpPr>
        <p:spPr>
          <a:xfrm>
            <a:off x="2560320" y="3319272"/>
            <a:ext cx="914400" cy="219456"/>
          </a:xfrm>
          <a:prstGeom prst="rect">
            <a:avLst/>
          </a:prstGeom>
          <a:noFill/>
          <a:ln/>
        </p:spPr>
        <p:txBody>
          <a:bodyPr wrap="square" lIns="0" tIns="0" rIns="0" bIns="0" rtlCol="0" anchor="ctr"/>
          <a:lstStyle/>
          <a:p>
            <a:pPr indent="0" marL="0">
              <a:buNone/>
            </a:pPr>
            <a:r>
              <a:rPr lang="en-US" sz="900" dirty="0">
                <a:solidFill>
                  <a:srgbClr val="D4A017"/>
                </a:solidFill>
                <a:latin typeface="Calibri" pitchFamily="34" charset="0"/>
                <a:ea typeface="Calibri" pitchFamily="34" charset="-122"/>
                <a:cs typeface="Calibri" pitchFamily="34" charset="-120"/>
              </a:rPr>
              <a:t>thread</a:t>
            </a:r>
            <a:endParaRPr lang="en-US" sz="900" dirty="0"/>
          </a:p>
        </p:txBody>
      </p:sp>
      <p:sp>
        <p:nvSpPr>
          <p:cNvPr id="14" name="Shape 12"/>
          <p:cNvSpPr/>
          <p:nvPr/>
        </p:nvSpPr>
        <p:spPr>
          <a:xfrm>
            <a:off x="457200" y="3703320"/>
            <a:ext cx="8229600" cy="777240"/>
          </a:xfrm>
          <a:prstGeom prst="roundRect">
            <a:avLst>
              <a:gd name="adj" fmla="val 8235"/>
            </a:avLst>
          </a:prstGeom>
          <a:solidFill>
            <a:srgbClr val="F0F7F7"/>
          </a:solidFill>
          <a:ln w="12700">
            <a:solidFill>
              <a:srgbClr val="028090"/>
            </a:solidFill>
            <a:prstDash val="solid"/>
          </a:ln>
        </p:spPr>
      </p:sp>
      <p:sp>
        <p:nvSpPr>
          <p:cNvPr id="15" name="Text 13"/>
          <p:cNvSpPr/>
          <p:nvPr/>
        </p:nvSpPr>
        <p:spPr>
          <a:xfrm>
            <a:off x="603504" y="3767328"/>
            <a:ext cx="7936992" cy="649224"/>
          </a:xfrm>
          <a:prstGeom prst="rect">
            <a:avLst/>
          </a:prstGeom>
          <a:noFill/>
          <a:ln/>
        </p:spPr>
        <p:txBody>
          <a:bodyPr wrap="square" lIns="0" tIns="0" rIns="0" bIns="0" rtlCol="0" anchor="ctr"/>
          <a:lstStyle/>
          <a:p>
            <a:pPr indent="0" marL="0">
              <a:buNone/>
            </a:pPr>
            <a:r>
              <a:rPr lang="en-US" sz="1100" dirty="0">
                <a:solidFill>
                  <a:srgbClr val="2B2B2B"/>
                </a:solidFill>
                <a:latin typeface="Calibri" pitchFamily="34" charset="0"/>
                <a:ea typeface="Calibri" pitchFamily="34" charset="-122"/>
                <a:cs typeface="Calibri" pitchFamily="34" charset="-120"/>
              </a:rPr>
              <a:t>Every diagram ahead uses this convention: solid grey = real child pointer, dashed gold = thread. Watch for threads that RETRACE an existing solid edge — they still count, they are just not drawn as a second separate line.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01168"/>
            <a:ext cx="6400800"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THREADED BINARY TREES</a:t>
            </a:r>
            <a:endParaRPr lang="en-US" sz="1100" dirty="0"/>
          </a:p>
        </p:txBody>
      </p:sp>
      <p:sp>
        <p:nvSpPr>
          <p:cNvPr id="3" name="Text 1"/>
          <p:cNvSpPr/>
          <p:nvPr/>
        </p:nvSpPr>
        <p:spPr>
          <a:xfrm>
            <a:off x="457200" y="438912"/>
            <a:ext cx="822960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Part A: Single (right) threading — the rule</a:t>
            </a:r>
            <a:endParaRPr lang="en-US" sz="22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03</a:t>
            </a:r>
            <a:endParaRPr lang="en-US" sz="900" dirty="0"/>
          </a:p>
        </p:txBody>
      </p:sp>
      <p:sp>
        <p:nvSpPr>
          <p:cNvPr id="6" name="Shape 4"/>
          <p:cNvSpPr/>
          <p:nvPr/>
        </p:nvSpPr>
        <p:spPr>
          <a:xfrm>
            <a:off x="7406640" y="182880"/>
            <a:ext cx="1280160" cy="274320"/>
          </a:xfrm>
          <a:prstGeom prst="roundRect">
            <a:avLst>
              <a:gd name="adj" fmla="val 50000"/>
            </a:avLst>
          </a:prstGeom>
          <a:solidFill>
            <a:srgbClr val="028090"/>
          </a:solidFill>
          <a:ln w="12700">
            <a:solidFill>
              <a:srgbClr val="028090"/>
            </a:solidFill>
            <a:prstDash val="solid"/>
          </a:ln>
        </p:spPr>
      </p:sp>
      <p:sp>
        <p:nvSpPr>
          <p:cNvPr id="7" name="Text 5"/>
          <p:cNvSpPr/>
          <p:nvPr/>
        </p:nvSpPr>
        <p:spPr>
          <a:xfrm>
            <a:off x="7406640" y="182880"/>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PART A</a:t>
            </a:r>
            <a:endParaRPr lang="en-US" sz="950" dirty="0"/>
          </a:p>
        </p:txBody>
      </p:sp>
      <p:sp>
        <p:nvSpPr>
          <p:cNvPr id="8" name="Shape 6"/>
          <p:cNvSpPr/>
          <p:nvPr/>
        </p:nvSpPr>
        <p:spPr>
          <a:xfrm>
            <a:off x="457200" y="1417320"/>
            <a:ext cx="365760" cy="365760"/>
          </a:xfrm>
          <a:prstGeom prst="ellipse">
            <a:avLst/>
          </a:prstGeom>
          <a:solidFill>
            <a:srgbClr val="028090"/>
          </a:solidFill>
          <a:ln w="12700">
            <a:solidFill>
              <a:srgbClr val="1E2761"/>
            </a:solidFill>
            <a:prstDash val="solid"/>
          </a:ln>
        </p:spPr>
      </p:sp>
      <p:sp>
        <p:nvSpPr>
          <p:cNvPr id="9" name="Text 7"/>
          <p:cNvSpPr/>
          <p:nvPr/>
        </p:nvSpPr>
        <p:spPr>
          <a:xfrm>
            <a:off x="457200"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005840" y="1371600"/>
            <a:ext cx="7680960" cy="621792"/>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Find every node whose RIGHT child is empty.</a:t>
            </a:r>
            <a:endParaRPr lang="en-US" sz="1350" dirty="0"/>
          </a:p>
        </p:txBody>
      </p:sp>
      <p:sp>
        <p:nvSpPr>
          <p:cNvPr id="11" name="Shape 9"/>
          <p:cNvSpPr/>
          <p:nvPr/>
        </p:nvSpPr>
        <p:spPr>
          <a:xfrm>
            <a:off x="457200" y="2194560"/>
            <a:ext cx="365760" cy="365760"/>
          </a:xfrm>
          <a:prstGeom prst="ellipse">
            <a:avLst/>
          </a:prstGeom>
          <a:solidFill>
            <a:srgbClr val="D4A017"/>
          </a:solidFill>
          <a:ln w="12700">
            <a:solidFill>
              <a:srgbClr val="1E2761"/>
            </a:solidFill>
            <a:prstDash val="solid"/>
          </a:ln>
        </p:spPr>
      </p:sp>
      <p:sp>
        <p:nvSpPr>
          <p:cNvPr id="12" name="Text 10"/>
          <p:cNvSpPr/>
          <p:nvPr/>
        </p:nvSpPr>
        <p:spPr>
          <a:xfrm>
            <a:off x="457200" y="2194560"/>
            <a:ext cx="36576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005840" y="2148840"/>
            <a:ext cx="7680960" cy="621792"/>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Point its right pointer at that node's INORDER SUCCESSOR instead of NULL.</a:t>
            </a:r>
            <a:endParaRPr lang="en-US" sz="1350" dirty="0"/>
          </a:p>
        </p:txBody>
      </p:sp>
      <p:sp>
        <p:nvSpPr>
          <p:cNvPr id="14" name="Shape 12"/>
          <p:cNvSpPr/>
          <p:nvPr/>
        </p:nvSpPr>
        <p:spPr>
          <a:xfrm>
            <a:off x="457200" y="2971800"/>
            <a:ext cx="365760" cy="365760"/>
          </a:xfrm>
          <a:prstGeom prst="ellipse">
            <a:avLst/>
          </a:prstGeom>
          <a:solidFill>
            <a:srgbClr val="028090"/>
          </a:solidFill>
          <a:ln w="12700">
            <a:solidFill>
              <a:srgbClr val="1E2761"/>
            </a:solidFill>
            <a:prstDash val="solid"/>
          </a:ln>
        </p:spPr>
      </p:sp>
      <p:sp>
        <p:nvSpPr>
          <p:cNvPr id="15" name="Text 13"/>
          <p:cNvSpPr/>
          <p:nvPr/>
        </p:nvSpPr>
        <p:spPr>
          <a:xfrm>
            <a:off x="457200" y="29718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005840" y="2926080"/>
            <a:ext cx="7680960" cy="621792"/>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The very LAST node in inorder has no successor — its right stays genuinely NULL.</a:t>
            </a:r>
            <a:endParaRPr lang="en-US" sz="1350" dirty="0"/>
          </a:p>
        </p:txBody>
      </p:sp>
      <p:sp>
        <p:nvSpPr>
          <p:cNvPr id="17" name="Shape 15"/>
          <p:cNvSpPr/>
          <p:nvPr/>
        </p:nvSpPr>
        <p:spPr>
          <a:xfrm>
            <a:off x="457200" y="3886200"/>
            <a:ext cx="8229600" cy="822960"/>
          </a:xfrm>
          <a:prstGeom prst="roundRect">
            <a:avLst>
              <a:gd name="adj" fmla="val 7778"/>
            </a:avLst>
          </a:prstGeom>
          <a:solidFill>
            <a:srgbClr val="FBF5E6"/>
          </a:solidFill>
          <a:ln w="12700">
            <a:solidFill>
              <a:srgbClr val="D4A017"/>
            </a:solidFill>
            <a:prstDash val="solid"/>
          </a:ln>
        </p:spPr>
      </p:sp>
      <p:sp>
        <p:nvSpPr>
          <p:cNvPr id="18" name="Text 16"/>
          <p:cNvSpPr/>
          <p:nvPr/>
        </p:nvSpPr>
        <p:spPr>
          <a:xfrm>
            <a:off x="603504" y="3950208"/>
            <a:ext cx="7936992" cy="694944"/>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Left pointers are UNTOUCHED — a NULL left stays NULL. That is the whole difference from double threading, coming in Part B.</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01168"/>
            <a:ext cx="6400800"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THREADED BINARY TREES</a:t>
            </a:r>
            <a:endParaRPr lang="en-US" sz="1100" dirty="0"/>
          </a:p>
        </p:txBody>
      </p:sp>
      <p:sp>
        <p:nvSpPr>
          <p:cNvPr id="3" name="Text 1"/>
          <p:cNvSpPr/>
          <p:nvPr/>
        </p:nvSpPr>
        <p:spPr>
          <a:xfrm>
            <a:off x="457200" y="438912"/>
            <a:ext cx="822960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Example 1: the simplest case — 3 nodes</a:t>
            </a:r>
            <a:endParaRPr lang="en-US" sz="22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04</a:t>
            </a:r>
            <a:endParaRPr lang="en-US" sz="900" dirty="0"/>
          </a:p>
        </p:txBody>
      </p:sp>
      <p:sp>
        <p:nvSpPr>
          <p:cNvPr id="6" name="Shape 4"/>
          <p:cNvSpPr/>
          <p:nvPr/>
        </p:nvSpPr>
        <p:spPr>
          <a:xfrm>
            <a:off x="7406640" y="182880"/>
            <a:ext cx="1280160" cy="274320"/>
          </a:xfrm>
          <a:prstGeom prst="roundRect">
            <a:avLst>
              <a:gd name="adj" fmla="val 50000"/>
            </a:avLst>
          </a:prstGeom>
          <a:solidFill>
            <a:srgbClr val="028090"/>
          </a:solidFill>
          <a:ln w="12700">
            <a:solidFill>
              <a:srgbClr val="028090"/>
            </a:solidFill>
            <a:prstDash val="solid"/>
          </a:ln>
        </p:spPr>
      </p:sp>
      <p:sp>
        <p:nvSpPr>
          <p:cNvPr id="7" name="Text 5"/>
          <p:cNvSpPr/>
          <p:nvPr/>
        </p:nvSpPr>
        <p:spPr>
          <a:xfrm>
            <a:off x="7406640" y="182880"/>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PART A</a:t>
            </a:r>
            <a:endParaRPr lang="en-US" sz="950" dirty="0"/>
          </a:p>
        </p:txBody>
      </p:sp>
      <p:sp>
        <p:nvSpPr>
          <p:cNvPr id="8" name="Shape 6"/>
          <p:cNvSpPr/>
          <p:nvPr/>
        </p:nvSpPr>
        <p:spPr>
          <a:xfrm flipH="1">
            <a:off x="1463040" y="1554480"/>
            <a:ext cx="640080" cy="731520"/>
          </a:xfrm>
          <a:prstGeom prst="line">
            <a:avLst/>
          </a:prstGeom>
          <a:noFill/>
          <a:ln w="19050">
            <a:solidFill>
              <a:srgbClr val="8896B0"/>
            </a:solidFill>
            <a:prstDash val="solid"/>
          </a:ln>
        </p:spPr>
      </p:sp>
      <p:sp>
        <p:nvSpPr>
          <p:cNvPr id="9" name="Shape 7"/>
          <p:cNvSpPr/>
          <p:nvPr/>
        </p:nvSpPr>
        <p:spPr>
          <a:xfrm>
            <a:off x="2103120" y="1554480"/>
            <a:ext cx="640080" cy="731520"/>
          </a:xfrm>
          <a:prstGeom prst="line">
            <a:avLst/>
          </a:prstGeom>
          <a:noFill/>
          <a:ln w="19050">
            <a:solidFill>
              <a:srgbClr val="8896B0"/>
            </a:solidFill>
            <a:prstDash val="solid"/>
          </a:ln>
        </p:spPr>
      </p:sp>
      <p:sp>
        <p:nvSpPr>
          <p:cNvPr id="10" name="Shape 8"/>
          <p:cNvSpPr/>
          <p:nvPr/>
        </p:nvSpPr>
        <p:spPr>
          <a:xfrm>
            <a:off x="1865376" y="1316736"/>
            <a:ext cx="475488" cy="475488"/>
          </a:xfrm>
          <a:prstGeom prst="ellipse">
            <a:avLst/>
          </a:prstGeom>
          <a:solidFill>
            <a:srgbClr val="D4A017"/>
          </a:solidFill>
          <a:ln w="15240">
            <a:solidFill>
              <a:srgbClr val="1E2761"/>
            </a:solidFill>
            <a:prstDash val="solid"/>
          </a:ln>
        </p:spPr>
      </p:sp>
      <p:sp>
        <p:nvSpPr>
          <p:cNvPr id="11" name="Text 9"/>
          <p:cNvSpPr/>
          <p:nvPr/>
        </p:nvSpPr>
        <p:spPr>
          <a:xfrm>
            <a:off x="1865376" y="131673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2</a:t>
            </a:r>
            <a:endParaRPr lang="en-US" sz="1250" dirty="0"/>
          </a:p>
        </p:txBody>
      </p:sp>
      <p:sp>
        <p:nvSpPr>
          <p:cNvPr id="12" name="Shape 10"/>
          <p:cNvSpPr/>
          <p:nvPr/>
        </p:nvSpPr>
        <p:spPr>
          <a:xfrm>
            <a:off x="1225296" y="2048256"/>
            <a:ext cx="475488" cy="475488"/>
          </a:xfrm>
          <a:prstGeom prst="ellipse">
            <a:avLst/>
          </a:prstGeom>
          <a:solidFill>
            <a:srgbClr val="028090"/>
          </a:solidFill>
          <a:ln w="15240">
            <a:solidFill>
              <a:srgbClr val="1E2761"/>
            </a:solidFill>
            <a:prstDash val="solid"/>
          </a:ln>
        </p:spPr>
      </p:sp>
      <p:sp>
        <p:nvSpPr>
          <p:cNvPr id="13" name="Text 11"/>
          <p:cNvSpPr/>
          <p:nvPr/>
        </p:nvSpPr>
        <p:spPr>
          <a:xfrm>
            <a:off x="1225296" y="204825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1</a:t>
            </a:r>
            <a:endParaRPr lang="en-US" sz="1250" dirty="0"/>
          </a:p>
        </p:txBody>
      </p:sp>
      <p:sp>
        <p:nvSpPr>
          <p:cNvPr id="14" name="Shape 12"/>
          <p:cNvSpPr/>
          <p:nvPr/>
        </p:nvSpPr>
        <p:spPr>
          <a:xfrm>
            <a:off x="2505456" y="2048256"/>
            <a:ext cx="475488" cy="475488"/>
          </a:xfrm>
          <a:prstGeom prst="ellipse">
            <a:avLst/>
          </a:prstGeom>
          <a:solidFill>
            <a:srgbClr val="028090"/>
          </a:solidFill>
          <a:ln w="15240">
            <a:solidFill>
              <a:srgbClr val="1E2761"/>
            </a:solidFill>
            <a:prstDash val="solid"/>
          </a:ln>
        </p:spPr>
      </p:sp>
      <p:sp>
        <p:nvSpPr>
          <p:cNvPr id="15" name="Text 13"/>
          <p:cNvSpPr/>
          <p:nvPr/>
        </p:nvSpPr>
        <p:spPr>
          <a:xfrm>
            <a:off x="2505456" y="204825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3</a:t>
            </a:r>
            <a:endParaRPr lang="en-US" sz="1250" dirty="0"/>
          </a:p>
        </p:txBody>
      </p:sp>
      <p:sp>
        <p:nvSpPr>
          <p:cNvPr id="16" name="Text 14"/>
          <p:cNvSpPr/>
          <p:nvPr/>
        </p:nvSpPr>
        <p:spPr>
          <a:xfrm>
            <a:off x="457200" y="2788920"/>
            <a:ext cx="3200400" cy="274320"/>
          </a:xfrm>
          <a:prstGeom prst="rect">
            <a:avLst/>
          </a:prstGeom>
          <a:noFill/>
          <a:ln/>
        </p:spPr>
        <p:txBody>
          <a:bodyPr wrap="square" lIns="0" tIns="0" rIns="0" bIns="0" rtlCol="0" anchor="ctr"/>
          <a:lstStyle/>
          <a:p>
            <a:pPr indent="0" marL="0">
              <a:buNone/>
            </a:pPr>
            <a:r>
              <a:rPr lang="en-US" sz="1100" i="1" dirty="0">
                <a:solidFill>
                  <a:srgbClr val="6B7280"/>
                </a:solidFill>
                <a:latin typeface="Courier New" pitchFamily="34" charset="0"/>
                <a:ea typeface="Courier New" pitchFamily="34" charset="-122"/>
                <a:cs typeface="Courier New" pitchFamily="34" charset="-120"/>
              </a:rPr>
              <a:t>inorder: 1 2 3</a:t>
            </a:r>
            <a:endParaRPr lang="en-US" sz="1100" dirty="0"/>
          </a:p>
        </p:txBody>
      </p:sp>
      <p:sp>
        <p:nvSpPr>
          <p:cNvPr id="17" name="Shape 15"/>
          <p:cNvSpPr/>
          <p:nvPr/>
        </p:nvSpPr>
        <p:spPr>
          <a:xfrm>
            <a:off x="4023360" y="1280160"/>
            <a:ext cx="4663440" cy="2103120"/>
          </a:xfrm>
          <a:prstGeom prst="roundRect">
            <a:avLst>
              <a:gd name="adj" fmla="val 3043"/>
            </a:avLst>
          </a:prstGeom>
          <a:solidFill>
            <a:srgbClr val="F0F7F7"/>
          </a:solidFill>
          <a:ln w="12700">
            <a:solidFill>
              <a:srgbClr val="028090"/>
            </a:solidFill>
            <a:prstDash val="solid"/>
          </a:ln>
        </p:spPr>
      </p:sp>
      <p:sp>
        <p:nvSpPr>
          <p:cNvPr id="18" name="Text 16"/>
          <p:cNvSpPr/>
          <p:nvPr/>
        </p:nvSpPr>
        <p:spPr>
          <a:xfrm>
            <a:off x="4169664" y="1344168"/>
            <a:ext cx="4370832" cy="1975104"/>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Right threads needed
</a:t>
            </a:r>
            <a:pPr indent="0" marL="0">
              <a:buNone/>
            </a:pPr>
            <a:r>
              <a:rPr lang="en-US" sz="1150" dirty="0">
                <a:solidFill>
                  <a:srgbClr val="2B2B2B"/>
                </a:solidFill>
                <a:latin typeface="Calibri" pitchFamily="34" charset="0"/>
                <a:ea typeface="Calibri" pitchFamily="34" charset="-122"/>
                <a:cs typeface="Calibri" pitchFamily="34" charset="-120"/>
              </a:rPr>
              <a:t>Node 1 has no right child → successor is 2. Node 3 has no right child, but 3 is LAST in inorder → stays NULL.</a:t>
            </a:r>
            <a:endParaRPr lang="en-US" sz="1200" dirty="0"/>
          </a:p>
          <a:p>
            <a:pPr indent="0" marL="0">
              <a:buNone/>
            </a:pPr>
            <a:endParaRPr lang="en-US" sz="1200" dirty="0"/>
          </a:p>
          <a:p>
            <a:pPr indent="0" marL="0">
              <a:buNone/>
            </a:pPr>
            <a:r>
              <a:rPr lang="en-US" sz="1150" dirty="0">
                <a:solidFill>
                  <a:srgbClr val="2B2B2B"/>
                </a:solidFill>
                <a:latin typeface="Calibri" pitchFamily="34" charset="0"/>
                <a:ea typeface="Calibri" pitchFamily="34" charset="-122"/>
                <a:cs typeface="Calibri" pitchFamily="34" charset="-120"/>
              </a:rPr>
              <a:t>Node 1's thread to 2 RETRACES the solid edge already drawn above (2 is 1's own parent) — no separate dashed line needed.</a:t>
            </a:r>
            <a:endParaRPr lang="en-US" sz="1200" dirty="0"/>
          </a:p>
        </p:txBody>
      </p:sp>
      <p:sp>
        <p:nvSpPr>
          <p:cNvPr id="19" name="Shape 17"/>
          <p:cNvSpPr/>
          <p:nvPr/>
        </p:nvSpPr>
        <p:spPr>
          <a:xfrm>
            <a:off x="4023360" y="3520440"/>
            <a:ext cx="4663440" cy="914400"/>
          </a:xfrm>
          <a:prstGeom prst="roundRect">
            <a:avLst>
              <a:gd name="adj" fmla="val 7000"/>
            </a:avLst>
          </a:prstGeom>
          <a:solidFill>
            <a:srgbClr val="FBF5E6"/>
          </a:solidFill>
          <a:ln w="12700">
            <a:solidFill>
              <a:srgbClr val="D4A017"/>
            </a:solidFill>
            <a:prstDash val="solid"/>
          </a:ln>
        </p:spPr>
      </p:sp>
      <p:sp>
        <p:nvSpPr>
          <p:cNvPr id="20" name="Text 18"/>
          <p:cNvSpPr/>
          <p:nvPr/>
        </p:nvSpPr>
        <p:spPr>
          <a:xfrm>
            <a:off x="4169664" y="3584448"/>
            <a:ext cx="4370832" cy="786384"/>
          </a:xfrm>
          <a:prstGeom prst="rect">
            <a:avLst/>
          </a:prstGeom>
          <a:noFill/>
          <a:ln/>
        </p:spPr>
        <p:txBody>
          <a:bodyPr wrap="square" lIns="0" tIns="0" rIns="0" bIns="0" rtlCol="0" anchor="ctr"/>
          <a:lstStyle/>
          <a:p>
            <a:pPr indent="0" marL="0">
              <a:buNone/>
            </a:pPr>
            <a:r>
              <a:rPr lang="en-US" sz="1100" dirty="0">
                <a:solidFill>
                  <a:srgbClr val="2B2B2B"/>
                </a:solidFill>
                <a:latin typeface="Calibri" pitchFamily="34" charset="0"/>
                <a:ea typeface="Calibri" pitchFamily="34" charset="-122"/>
                <a:cs typeface="Calibri" pitchFamily="34" charset="-120"/>
              </a:rPr>
              <a:t>Total right threads in this tree: exactly ONE, and it is invisible in the diagram — already implied by the solid edge.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01168"/>
            <a:ext cx="6400800"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THREADED BINARY TREES</a:t>
            </a:r>
            <a:endParaRPr lang="en-US" sz="1100" dirty="0"/>
          </a:p>
        </p:txBody>
      </p:sp>
      <p:sp>
        <p:nvSpPr>
          <p:cNvPr id="3" name="Text 1"/>
          <p:cNvSpPr/>
          <p:nvPr/>
        </p:nvSpPr>
        <p:spPr>
          <a:xfrm>
            <a:off x="457200" y="438912"/>
            <a:ext cx="822960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Example 2: a 5-node tree with one real thread line</a:t>
            </a:r>
            <a:endParaRPr lang="en-US" sz="22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05</a:t>
            </a:r>
            <a:endParaRPr lang="en-US" sz="900" dirty="0"/>
          </a:p>
        </p:txBody>
      </p:sp>
      <p:sp>
        <p:nvSpPr>
          <p:cNvPr id="6" name="Shape 4"/>
          <p:cNvSpPr/>
          <p:nvPr/>
        </p:nvSpPr>
        <p:spPr>
          <a:xfrm>
            <a:off x="7406640" y="182880"/>
            <a:ext cx="1280160" cy="274320"/>
          </a:xfrm>
          <a:prstGeom prst="roundRect">
            <a:avLst>
              <a:gd name="adj" fmla="val 50000"/>
            </a:avLst>
          </a:prstGeom>
          <a:solidFill>
            <a:srgbClr val="028090"/>
          </a:solidFill>
          <a:ln w="12700">
            <a:solidFill>
              <a:srgbClr val="028090"/>
            </a:solidFill>
            <a:prstDash val="solid"/>
          </a:ln>
        </p:spPr>
      </p:sp>
      <p:sp>
        <p:nvSpPr>
          <p:cNvPr id="7" name="Text 5"/>
          <p:cNvSpPr/>
          <p:nvPr/>
        </p:nvSpPr>
        <p:spPr>
          <a:xfrm>
            <a:off x="7406640" y="182880"/>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PART A</a:t>
            </a:r>
            <a:endParaRPr lang="en-US" sz="950" dirty="0"/>
          </a:p>
        </p:txBody>
      </p:sp>
      <p:sp>
        <p:nvSpPr>
          <p:cNvPr id="8" name="Shape 6"/>
          <p:cNvSpPr/>
          <p:nvPr/>
        </p:nvSpPr>
        <p:spPr>
          <a:xfrm flipH="1">
            <a:off x="1554480" y="1463040"/>
            <a:ext cx="822960" cy="731520"/>
          </a:xfrm>
          <a:prstGeom prst="line">
            <a:avLst/>
          </a:prstGeom>
          <a:noFill/>
          <a:ln w="19050">
            <a:solidFill>
              <a:srgbClr val="8896B0"/>
            </a:solidFill>
            <a:prstDash val="solid"/>
          </a:ln>
        </p:spPr>
      </p:sp>
      <p:sp>
        <p:nvSpPr>
          <p:cNvPr id="9" name="Shape 7"/>
          <p:cNvSpPr/>
          <p:nvPr/>
        </p:nvSpPr>
        <p:spPr>
          <a:xfrm>
            <a:off x="2377440" y="1463040"/>
            <a:ext cx="822960" cy="731520"/>
          </a:xfrm>
          <a:prstGeom prst="line">
            <a:avLst/>
          </a:prstGeom>
          <a:noFill/>
          <a:ln w="19050">
            <a:solidFill>
              <a:srgbClr val="8896B0"/>
            </a:solidFill>
            <a:prstDash val="solid"/>
          </a:ln>
        </p:spPr>
      </p:sp>
      <p:sp>
        <p:nvSpPr>
          <p:cNvPr id="10" name="Shape 8"/>
          <p:cNvSpPr/>
          <p:nvPr/>
        </p:nvSpPr>
        <p:spPr>
          <a:xfrm flipH="1">
            <a:off x="1097280" y="2194560"/>
            <a:ext cx="457200" cy="731520"/>
          </a:xfrm>
          <a:prstGeom prst="line">
            <a:avLst/>
          </a:prstGeom>
          <a:noFill/>
          <a:ln w="19050">
            <a:solidFill>
              <a:srgbClr val="8896B0"/>
            </a:solidFill>
            <a:prstDash val="solid"/>
          </a:ln>
        </p:spPr>
      </p:sp>
      <p:sp>
        <p:nvSpPr>
          <p:cNvPr id="11" name="Shape 9"/>
          <p:cNvSpPr/>
          <p:nvPr/>
        </p:nvSpPr>
        <p:spPr>
          <a:xfrm>
            <a:off x="1554480" y="2194560"/>
            <a:ext cx="457200" cy="731520"/>
          </a:xfrm>
          <a:prstGeom prst="line">
            <a:avLst/>
          </a:prstGeom>
          <a:noFill/>
          <a:ln w="19050">
            <a:solidFill>
              <a:srgbClr val="8896B0"/>
            </a:solidFill>
            <a:prstDash val="solid"/>
          </a:ln>
        </p:spPr>
      </p:sp>
      <p:sp>
        <p:nvSpPr>
          <p:cNvPr id="12" name="Shape 10"/>
          <p:cNvSpPr/>
          <p:nvPr/>
        </p:nvSpPr>
        <p:spPr>
          <a:xfrm flipV="1">
            <a:off x="2011680" y="1463040"/>
            <a:ext cx="365760" cy="1463040"/>
          </a:xfrm>
          <a:prstGeom prst="line">
            <a:avLst/>
          </a:prstGeom>
          <a:noFill/>
          <a:ln w="15875">
            <a:solidFill>
              <a:srgbClr val="D4A017"/>
            </a:solidFill>
            <a:prstDash val="dash"/>
          </a:ln>
        </p:spPr>
      </p:sp>
      <p:sp>
        <p:nvSpPr>
          <p:cNvPr id="13" name="Shape 11"/>
          <p:cNvSpPr/>
          <p:nvPr/>
        </p:nvSpPr>
        <p:spPr>
          <a:xfrm>
            <a:off x="2139696" y="1225296"/>
            <a:ext cx="475488" cy="475488"/>
          </a:xfrm>
          <a:prstGeom prst="ellipse">
            <a:avLst/>
          </a:prstGeom>
          <a:solidFill>
            <a:srgbClr val="D4A017"/>
          </a:solidFill>
          <a:ln w="15240">
            <a:solidFill>
              <a:srgbClr val="1E2761"/>
            </a:solidFill>
            <a:prstDash val="solid"/>
          </a:ln>
        </p:spPr>
      </p:sp>
      <p:sp>
        <p:nvSpPr>
          <p:cNvPr id="14" name="Text 12"/>
          <p:cNvSpPr/>
          <p:nvPr/>
        </p:nvSpPr>
        <p:spPr>
          <a:xfrm>
            <a:off x="2139696" y="122529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A</a:t>
            </a:r>
            <a:endParaRPr lang="en-US" sz="1250" dirty="0"/>
          </a:p>
        </p:txBody>
      </p:sp>
      <p:sp>
        <p:nvSpPr>
          <p:cNvPr id="15" name="Shape 13"/>
          <p:cNvSpPr/>
          <p:nvPr/>
        </p:nvSpPr>
        <p:spPr>
          <a:xfrm>
            <a:off x="1316736" y="1956816"/>
            <a:ext cx="475488" cy="475488"/>
          </a:xfrm>
          <a:prstGeom prst="ellipse">
            <a:avLst/>
          </a:prstGeom>
          <a:solidFill>
            <a:srgbClr val="028090"/>
          </a:solidFill>
          <a:ln w="15240">
            <a:solidFill>
              <a:srgbClr val="1E2761"/>
            </a:solidFill>
            <a:prstDash val="solid"/>
          </a:ln>
        </p:spPr>
      </p:sp>
      <p:sp>
        <p:nvSpPr>
          <p:cNvPr id="16" name="Text 14"/>
          <p:cNvSpPr/>
          <p:nvPr/>
        </p:nvSpPr>
        <p:spPr>
          <a:xfrm>
            <a:off x="1316736" y="195681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B</a:t>
            </a:r>
            <a:endParaRPr lang="en-US" sz="1250" dirty="0"/>
          </a:p>
        </p:txBody>
      </p:sp>
      <p:sp>
        <p:nvSpPr>
          <p:cNvPr id="17" name="Shape 15"/>
          <p:cNvSpPr/>
          <p:nvPr/>
        </p:nvSpPr>
        <p:spPr>
          <a:xfrm>
            <a:off x="2962656" y="1956816"/>
            <a:ext cx="475488" cy="475488"/>
          </a:xfrm>
          <a:prstGeom prst="ellipse">
            <a:avLst/>
          </a:prstGeom>
          <a:solidFill>
            <a:srgbClr val="028090"/>
          </a:solidFill>
          <a:ln w="15240">
            <a:solidFill>
              <a:srgbClr val="1E2761"/>
            </a:solidFill>
            <a:prstDash val="solid"/>
          </a:ln>
        </p:spPr>
      </p:sp>
      <p:sp>
        <p:nvSpPr>
          <p:cNvPr id="18" name="Text 16"/>
          <p:cNvSpPr/>
          <p:nvPr/>
        </p:nvSpPr>
        <p:spPr>
          <a:xfrm>
            <a:off x="2962656" y="195681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C</a:t>
            </a:r>
            <a:endParaRPr lang="en-US" sz="1250" dirty="0"/>
          </a:p>
        </p:txBody>
      </p:sp>
      <p:sp>
        <p:nvSpPr>
          <p:cNvPr id="19" name="Shape 17"/>
          <p:cNvSpPr/>
          <p:nvPr/>
        </p:nvSpPr>
        <p:spPr>
          <a:xfrm>
            <a:off x="859536" y="2688336"/>
            <a:ext cx="475488" cy="475488"/>
          </a:xfrm>
          <a:prstGeom prst="ellipse">
            <a:avLst/>
          </a:prstGeom>
          <a:solidFill>
            <a:srgbClr val="028090"/>
          </a:solidFill>
          <a:ln w="15240">
            <a:solidFill>
              <a:srgbClr val="1E2761"/>
            </a:solidFill>
            <a:prstDash val="solid"/>
          </a:ln>
        </p:spPr>
      </p:sp>
      <p:sp>
        <p:nvSpPr>
          <p:cNvPr id="20" name="Text 18"/>
          <p:cNvSpPr/>
          <p:nvPr/>
        </p:nvSpPr>
        <p:spPr>
          <a:xfrm>
            <a:off x="859536" y="268833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D</a:t>
            </a:r>
            <a:endParaRPr lang="en-US" sz="1250" dirty="0"/>
          </a:p>
        </p:txBody>
      </p:sp>
      <p:sp>
        <p:nvSpPr>
          <p:cNvPr id="21" name="Shape 19"/>
          <p:cNvSpPr/>
          <p:nvPr/>
        </p:nvSpPr>
        <p:spPr>
          <a:xfrm>
            <a:off x="1773936" y="2688336"/>
            <a:ext cx="475488" cy="475488"/>
          </a:xfrm>
          <a:prstGeom prst="ellipse">
            <a:avLst/>
          </a:prstGeom>
          <a:solidFill>
            <a:srgbClr val="028090"/>
          </a:solidFill>
          <a:ln w="15240">
            <a:solidFill>
              <a:srgbClr val="1E2761"/>
            </a:solidFill>
            <a:prstDash val="solid"/>
          </a:ln>
        </p:spPr>
      </p:sp>
      <p:sp>
        <p:nvSpPr>
          <p:cNvPr id="22" name="Text 20"/>
          <p:cNvSpPr/>
          <p:nvPr/>
        </p:nvSpPr>
        <p:spPr>
          <a:xfrm>
            <a:off x="1773936" y="268833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E</a:t>
            </a:r>
            <a:endParaRPr lang="en-US" sz="1250" dirty="0"/>
          </a:p>
        </p:txBody>
      </p:sp>
      <p:sp>
        <p:nvSpPr>
          <p:cNvPr id="23" name="Text 21"/>
          <p:cNvSpPr/>
          <p:nvPr/>
        </p:nvSpPr>
        <p:spPr>
          <a:xfrm>
            <a:off x="457200" y="3291840"/>
            <a:ext cx="3474720" cy="274320"/>
          </a:xfrm>
          <a:prstGeom prst="rect">
            <a:avLst/>
          </a:prstGeom>
          <a:noFill/>
          <a:ln/>
        </p:spPr>
        <p:txBody>
          <a:bodyPr wrap="square" lIns="0" tIns="0" rIns="0" bIns="0" rtlCol="0" anchor="ctr"/>
          <a:lstStyle/>
          <a:p>
            <a:pPr indent="0" marL="0">
              <a:buNone/>
            </a:pPr>
            <a:r>
              <a:rPr lang="en-US" sz="1100" i="1" dirty="0">
                <a:solidFill>
                  <a:srgbClr val="6B7280"/>
                </a:solidFill>
                <a:latin typeface="Courier New" pitchFamily="34" charset="0"/>
                <a:ea typeface="Courier New" pitchFamily="34" charset="-122"/>
                <a:cs typeface="Courier New" pitchFamily="34" charset="-120"/>
              </a:rPr>
              <a:t>inorder: D B E A C</a:t>
            </a:r>
            <a:endParaRPr lang="en-US" sz="1100" dirty="0"/>
          </a:p>
        </p:txBody>
      </p:sp>
      <p:sp>
        <p:nvSpPr>
          <p:cNvPr id="24" name="Shape 22"/>
          <p:cNvSpPr/>
          <p:nvPr/>
        </p:nvSpPr>
        <p:spPr>
          <a:xfrm>
            <a:off x="4023360" y="1280160"/>
            <a:ext cx="4663440" cy="3063240"/>
          </a:xfrm>
          <a:prstGeom prst="roundRect">
            <a:avLst>
              <a:gd name="adj" fmla="val 2090"/>
            </a:avLst>
          </a:prstGeom>
          <a:solidFill>
            <a:srgbClr val="F0F7F7"/>
          </a:solidFill>
          <a:ln w="12700">
            <a:solidFill>
              <a:srgbClr val="028090"/>
            </a:solidFill>
            <a:prstDash val="solid"/>
          </a:ln>
        </p:spPr>
      </p:sp>
      <p:sp>
        <p:nvSpPr>
          <p:cNvPr id="25" name="Text 23"/>
          <p:cNvSpPr/>
          <p:nvPr/>
        </p:nvSpPr>
        <p:spPr>
          <a:xfrm>
            <a:off x="4169664" y="1344168"/>
            <a:ext cx="4370832" cy="2935224"/>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All three right threads
</a:t>
            </a:r>
            <a:pPr indent="0" marL="0">
              <a:buNone/>
            </a:pPr>
            <a:r>
              <a:rPr lang="en-US" sz="1200" dirty="0">
                <a:solidFill>
                  <a:srgbClr val="2B2B2B"/>
                </a:solidFill>
                <a:latin typeface="Calibri" pitchFamily="34" charset="0"/>
                <a:ea typeface="Calibri" pitchFamily="34" charset="-122"/>
                <a:cs typeface="Calibri" pitchFamily="34" charset="-120"/>
              </a:rPr>
              <a:t>D → B   (retraces the solid edge; D's own parent is B)</a:t>
            </a:r>
            <a:endParaRPr lang="en-US" sz="1200" dirty="0"/>
          </a:p>
          <a:p>
            <a:pPr indent="0" marL="0">
              <a:buNone/>
            </a:pP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E → A   (the ONE genuinely new dashed line — E's successor is not its parent B, it SKIPS past B up to A)</a:t>
            </a:r>
            <a:endParaRPr lang="en-US" sz="1200" dirty="0"/>
          </a:p>
          <a:p>
            <a:pPr indent="0" marL="0">
              <a:buNone/>
            </a:pP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C → stays NULL   (C is last in inorder)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01168"/>
            <a:ext cx="6400800"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THREADED BINARY TREES</a:t>
            </a:r>
            <a:endParaRPr lang="en-US" sz="1100" dirty="0"/>
          </a:p>
        </p:txBody>
      </p:sp>
      <p:sp>
        <p:nvSpPr>
          <p:cNvPr id="3" name="Text 1"/>
          <p:cNvSpPr/>
          <p:nvPr/>
        </p:nvSpPr>
        <p:spPr>
          <a:xfrm>
            <a:off x="457200" y="438912"/>
            <a:ext cx="822960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Example 3: a skewed tree — every thread retraces the chain</a:t>
            </a:r>
            <a:endParaRPr lang="en-US" sz="22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06</a:t>
            </a:r>
            <a:endParaRPr lang="en-US" sz="900" dirty="0"/>
          </a:p>
        </p:txBody>
      </p:sp>
      <p:sp>
        <p:nvSpPr>
          <p:cNvPr id="6" name="Shape 4"/>
          <p:cNvSpPr/>
          <p:nvPr/>
        </p:nvSpPr>
        <p:spPr>
          <a:xfrm>
            <a:off x="7406640" y="182880"/>
            <a:ext cx="1280160" cy="274320"/>
          </a:xfrm>
          <a:prstGeom prst="roundRect">
            <a:avLst>
              <a:gd name="adj" fmla="val 50000"/>
            </a:avLst>
          </a:prstGeom>
          <a:solidFill>
            <a:srgbClr val="028090"/>
          </a:solidFill>
          <a:ln w="12700">
            <a:solidFill>
              <a:srgbClr val="028090"/>
            </a:solidFill>
            <a:prstDash val="solid"/>
          </a:ln>
        </p:spPr>
      </p:sp>
      <p:sp>
        <p:nvSpPr>
          <p:cNvPr id="7" name="Text 5"/>
          <p:cNvSpPr/>
          <p:nvPr/>
        </p:nvSpPr>
        <p:spPr>
          <a:xfrm>
            <a:off x="7406640" y="182880"/>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PART A</a:t>
            </a:r>
            <a:endParaRPr lang="en-US" sz="950" dirty="0"/>
          </a:p>
        </p:txBody>
      </p:sp>
      <p:sp>
        <p:nvSpPr>
          <p:cNvPr id="8" name="Shape 6"/>
          <p:cNvSpPr/>
          <p:nvPr/>
        </p:nvSpPr>
        <p:spPr>
          <a:xfrm flipH="1">
            <a:off x="2286000" y="1417320"/>
            <a:ext cx="640080" cy="640080"/>
          </a:xfrm>
          <a:prstGeom prst="line">
            <a:avLst/>
          </a:prstGeom>
          <a:noFill/>
          <a:ln w="19050">
            <a:solidFill>
              <a:srgbClr val="8896B0"/>
            </a:solidFill>
            <a:prstDash val="solid"/>
          </a:ln>
        </p:spPr>
      </p:sp>
      <p:sp>
        <p:nvSpPr>
          <p:cNvPr id="9" name="Shape 7"/>
          <p:cNvSpPr/>
          <p:nvPr/>
        </p:nvSpPr>
        <p:spPr>
          <a:xfrm flipH="1">
            <a:off x="1645920" y="2057400"/>
            <a:ext cx="640080" cy="640080"/>
          </a:xfrm>
          <a:prstGeom prst="line">
            <a:avLst/>
          </a:prstGeom>
          <a:noFill/>
          <a:ln w="19050">
            <a:solidFill>
              <a:srgbClr val="8896B0"/>
            </a:solidFill>
            <a:prstDash val="solid"/>
          </a:ln>
        </p:spPr>
      </p:sp>
      <p:sp>
        <p:nvSpPr>
          <p:cNvPr id="10" name="Shape 8"/>
          <p:cNvSpPr/>
          <p:nvPr/>
        </p:nvSpPr>
        <p:spPr>
          <a:xfrm flipH="1">
            <a:off x="1005840" y="2697480"/>
            <a:ext cx="640080" cy="640080"/>
          </a:xfrm>
          <a:prstGeom prst="line">
            <a:avLst/>
          </a:prstGeom>
          <a:noFill/>
          <a:ln w="19050">
            <a:solidFill>
              <a:srgbClr val="8896B0"/>
            </a:solidFill>
            <a:prstDash val="solid"/>
          </a:ln>
        </p:spPr>
      </p:sp>
      <p:sp>
        <p:nvSpPr>
          <p:cNvPr id="11" name="Shape 9"/>
          <p:cNvSpPr/>
          <p:nvPr/>
        </p:nvSpPr>
        <p:spPr>
          <a:xfrm>
            <a:off x="2688336" y="1179576"/>
            <a:ext cx="475488" cy="475488"/>
          </a:xfrm>
          <a:prstGeom prst="ellipse">
            <a:avLst/>
          </a:prstGeom>
          <a:solidFill>
            <a:srgbClr val="D4A017"/>
          </a:solidFill>
          <a:ln w="15240">
            <a:solidFill>
              <a:srgbClr val="1E2761"/>
            </a:solidFill>
            <a:prstDash val="solid"/>
          </a:ln>
        </p:spPr>
      </p:sp>
      <p:sp>
        <p:nvSpPr>
          <p:cNvPr id="12" name="Text 10"/>
          <p:cNvSpPr/>
          <p:nvPr/>
        </p:nvSpPr>
        <p:spPr>
          <a:xfrm>
            <a:off x="2688336" y="117957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4</a:t>
            </a:r>
            <a:endParaRPr lang="en-US" sz="1250" dirty="0"/>
          </a:p>
        </p:txBody>
      </p:sp>
      <p:sp>
        <p:nvSpPr>
          <p:cNvPr id="13" name="Shape 11"/>
          <p:cNvSpPr/>
          <p:nvPr/>
        </p:nvSpPr>
        <p:spPr>
          <a:xfrm>
            <a:off x="2048256" y="1819656"/>
            <a:ext cx="475488" cy="475488"/>
          </a:xfrm>
          <a:prstGeom prst="ellipse">
            <a:avLst/>
          </a:prstGeom>
          <a:solidFill>
            <a:srgbClr val="028090"/>
          </a:solidFill>
          <a:ln w="15240">
            <a:solidFill>
              <a:srgbClr val="1E2761"/>
            </a:solidFill>
            <a:prstDash val="solid"/>
          </a:ln>
        </p:spPr>
      </p:sp>
      <p:sp>
        <p:nvSpPr>
          <p:cNvPr id="14" name="Text 12"/>
          <p:cNvSpPr/>
          <p:nvPr/>
        </p:nvSpPr>
        <p:spPr>
          <a:xfrm>
            <a:off x="2048256" y="181965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3</a:t>
            </a:r>
            <a:endParaRPr lang="en-US" sz="1250" dirty="0"/>
          </a:p>
        </p:txBody>
      </p:sp>
      <p:sp>
        <p:nvSpPr>
          <p:cNvPr id="15" name="Shape 13"/>
          <p:cNvSpPr/>
          <p:nvPr/>
        </p:nvSpPr>
        <p:spPr>
          <a:xfrm>
            <a:off x="1408176" y="2459736"/>
            <a:ext cx="475488" cy="475488"/>
          </a:xfrm>
          <a:prstGeom prst="ellipse">
            <a:avLst/>
          </a:prstGeom>
          <a:solidFill>
            <a:srgbClr val="028090"/>
          </a:solidFill>
          <a:ln w="15240">
            <a:solidFill>
              <a:srgbClr val="1E2761"/>
            </a:solidFill>
            <a:prstDash val="solid"/>
          </a:ln>
        </p:spPr>
      </p:sp>
      <p:sp>
        <p:nvSpPr>
          <p:cNvPr id="16" name="Text 14"/>
          <p:cNvSpPr/>
          <p:nvPr/>
        </p:nvSpPr>
        <p:spPr>
          <a:xfrm>
            <a:off x="1408176" y="245973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2</a:t>
            </a:r>
            <a:endParaRPr lang="en-US" sz="1250" dirty="0"/>
          </a:p>
        </p:txBody>
      </p:sp>
      <p:sp>
        <p:nvSpPr>
          <p:cNvPr id="17" name="Shape 15"/>
          <p:cNvSpPr/>
          <p:nvPr/>
        </p:nvSpPr>
        <p:spPr>
          <a:xfrm>
            <a:off x="768096" y="3099816"/>
            <a:ext cx="475488" cy="475488"/>
          </a:xfrm>
          <a:prstGeom prst="ellipse">
            <a:avLst/>
          </a:prstGeom>
          <a:solidFill>
            <a:srgbClr val="028090"/>
          </a:solidFill>
          <a:ln w="15240">
            <a:solidFill>
              <a:srgbClr val="1E2761"/>
            </a:solidFill>
            <a:prstDash val="solid"/>
          </a:ln>
        </p:spPr>
      </p:sp>
      <p:sp>
        <p:nvSpPr>
          <p:cNvPr id="18" name="Text 16"/>
          <p:cNvSpPr/>
          <p:nvPr/>
        </p:nvSpPr>
        <p:spPr>
          <a:xfrm>
            <a:off x="768096" y="309981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1</a:t>
            </a:r>
            <a:endParaRPr lang="en-US" sz="1250" dirty="0"/>
          </a:p>
        </p:txBody>
      </p:sp>
      <p:sp>
        <p:nvSpPr>
          <p:cNvPr id="19" name="Text 17"/>
          <p:cNvSpPr/>
          <p:nvPr/>
        </p:nvSpPr>
        <p:spPr>
          <a:xfrm>
            <a:off x="457200" y="3703320"/>
            <a:ext cx="3200400" cy="274320"/>
          </a:xfrm>
          <a:prstGeom prst="rect">
            <a:avLst/>
          </a:prstGeom>
          <a:noFill/>
          <a:ln/>
        </p:spPr>
        <p:txBody>
          <a:bodyPr wrap="square" lIns="0" tIns="0" rIns="0" bIns="0" rtlCol="0" anchor="ctr"/>
          <a:lstStyle/>
          <a:p>
            <a:pPr indent="0" marL="0">
              <a:buNone/>
            </a:pPr>
            <a:r>
              <a:rPr lang="en-US" sz="1100" i="1" dirty="0">
                <a:solidFill>
                  <a:srgbClr val="6B7280"/>
                </a:solidFill>
                <a:latin typeface="Courier New" pitchFamily="34" charset="0"/>
                <a:ea typeface="Courier New" pitchFamily="34" charset="-122"/>
                <a:cs typeface="Courier New" pitchFamily="34" charset="-120"/>
              </a:rPr>
              <a:t>inorder: 1 2 3 4</a:t>
            </a:r>
            <a:endParaRPr lang="en-US" sz="1100" dirty="0"/>
          </a:p>
        </p:txBody>
      </p:sp>
      <p:sp>
        <p:nvSpPr>
          <p:cNvPr id="20" name="Shape 18"/>
          <p:cNvSpPr/>
          <p:nvPr/>
        </p:nvSpPr>
        <p:spPr>
          <a:xfrm>
            <a:off x="4023360" y="1280160"/>
            <a:ext cx="4663440" cy="2743200"/>
          </a:xfrm>
          <a:prstGeom prst="roundRect">
            <a:avLst>
              <a:gd name="adj" fmla="val 2333"/>
            </a:avLst>
          </a:prstGeom>
          <a:solidFill>
            <a:srgbClr val="FBF5E6"/>
          </a:solidFill>
          <a:ln w="12700">
            <a:solidFill>
              <a:srgbClr val="D4A017"/>
            </a:solidFill>
            <a:prstDash val="solid"/>
          </a:ln>
        </p:spPr>
      </p:sp>
      <p:sp>
        <p:nvSpPr>
          <p:cNvPr id="21" name="Text 19"/>
          <p:cNvSpPr/>
          <p:nvPr/>
        </p:nvSpPr>
        <p:spPr>
          <a:xfrm>
            <a:off x="4169664" y="1344168"/>
            <a:ext cx="4370832" cy="2615184"/>
          </a:xfrm>
          <a:prstGeom prst="rect">
            <a:avLst/>
          </a:prstGeom>
          <a:noFill/>
          <a:ln/>
        </p:spPr>
        <p:txBody>
          <a:bodyPr wrap="square" lIns="0" tIns="0" rIns="0" bIns="0" rtlCol="0" anchor="ctr"/>
          <a:lstStyle/>
          <a:p>
            <a:pPr indent="0" marL="0">
              <a:buNone/>
            </a:pPr>
            <a:r>
              <a:rPr lang="en-US" sz="1200" b="1" dirty="0">
                <a:solidFill>
                  <a:srgbClr val="D4A017"/>
                </a:solidFill>
                <a:latin typeface="Calibri" pitchFamily="34" charset="0"/>
                <a:ea typeface="Calibri" pitchFamily="34" charset="-122"/>
                <a:cs typeface="Calibri" pitchFamily="34" charset="-120"/>
              </a:rPr>
              <a:t>Every single thread retraces a parent edge
</a:t>
            </a:r>
            <a:pPr indent="0" marL="0">
              <a:buNone/>
            </a:pPr>
            <a:r>
              <a:rPr lang="en-US" sz="1200" dirty="0">
                <a:solidFill>
                  <a:srgbClr val="2B2B2B"/>
                </a:solidFill>
                <a:latin typeface="Calibri" pitchFamily="34" charset="0"/>
                <a:ea typeface="Calibri" pitchFamily="34" charset="-122"/>
                <a:cs typeface="Calibri" pitchFamily="34" charset="-120"/>
              </a:rPr>
              <a:t>1 → 2   (1's own parent)</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2 → 3   (2's own parent)</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3 → 4   (3's own parent)</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4 → stays NULL   (last in inorder)</a:t>
            </a:r>
            <a:endParaRPr lang="en-US" sz="1200" dirty="0"/>
          </a:p>
          <a:p>
            <a:pPr indent="0" marL="0">
              <a:buNone/>
            </a:pP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Zero new dashed lines anywhere in this tree — every left-skewed chain threads "for free".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01168"/>
            <a:ext cx="6400800"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THREADED BINARY TREES</a:t>
            </a:r>
            <a:endParaRPr lang="en-US" sz="1100" dirty="0"/>
          </a:p>
        </p:txBody>
      </p:sp>
      <p:sp>
        <p:nvSpPr>
          <p:cNvPr id="3" name="Text 1"/>
          <p:cNvSpPr/>
          <p:nvPr/>
        </p:nvSpPr>
        <p:spPr>
          <a:xfrm>
            <a:off x="457200" y="438912"/>
            <a:ext cx="822960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Example 4: a 7-node BST shape (values already sorted)</a:t>
            </a:r>
            <a:endParaRPr lang="en-US" sz="22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07</a:t>
            </a:r>
            <a:endParaRPr lang="en-US" sz="900" dirty="0"/>
          </a:p>
        </p:txBody>
      </p:sp>
      <p:sp>
        <p:nvSpPr>
          <p:cNvPr id="6" name="Shape 4"/>
          <p:cNvSpPr/>
          <p:nvPr/>
        </p:nvSpPr>
        <p:spPr>
          <a:xfrm>
            <a:off x="7406640" y="182880"/>
            <a:ext cx="1280160" cy="274320"/>
          </a:xfrm>
          <a:prstGeom prst="roundRect">
            <a:avLst>
              <a:gd name="adj" fmla="val 50000"/>
            </a:avLst>
          </a:prstGeom>
          <a:solidFill>
            <a:srgbClr val="028090"/>
          </a:solidFill>
          <a:ln w="12700">
            <a:solidFill>
              <a:srgbClr val="028090"/>
            </a:solidFill>
            <a:prstDash val="solid"/>
          </a:ln>
        </p:spPr>
      </p:sp>
      <p:sp>
        <p:nvSpPr>
          <p:cNvPr id="7" name="Text 5"/>
          <p:cNvSpPr/>
          <p:nvPr/>
        </p:nvSpPr>
        <p:spPr>
          <a:xfrm>
            <a:off x="7406640" y="182880"/>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PART A</a:t>
            </a:r>
            <a:endParaRPr lang="en-US" sz="950" dirty="0"/>
          </a:p>
        </p:txBody>
      </p:sp>
      <p:sp>
        <p:nvSpPr>
          <p:cNvPr id="8" name="Shape 6"/>
          <p:cNvSpPr/>
          <p:nvPr/>
        </p:nvSpPr>
        <p:spPr>
          <a:xfrm flipH="1">
            <a:off x="2286000" y="1371600"/>
            <a:ext cx="822960" cy="685800"/>
          </a:xfrm>
          <a:prstGeom prst="line">
            <a:avLst/>
          </a:prstGeom>
          <a:noFill/>
          <a:ln w="19050">
            <a:solidFill>
              <a:srgbClr val="8896B0"/>
            </a:solidFill>
            <a:prstDash val="solid"/>
          </a:ln>
        </p:spPr>
      </p:sp>
      <p:sp>
        <p:nvSpPr>
          <p:cNvPr id="9" name="Shape 7"/>
          <p:cNvSpPr/>
          <p:nvPr/>
        </p:nvSpPr>
        <p:spPr>
          <a:xfrm>
            <a:off x="3108960" y="1371600"/>
            <a:ext cx="822960" cy="685800"/>
          </a:xfrm>
          <a:prstGeom prst="line">
            <a:avLst/>
          </a:prstGeom>
          <a:noFill/>
          <a:ln w="19050">
            <a:solidFill>
              <a:srgbClr val="8896B0"/>
            </a:solidFill>
            <a:prstDash val="solid"/>
          </a:ln>
        </p:spPr>
      </p:sp>
      <p:sp>
        <p:nvSpPr>
          <p:cNvPr id="10" name="Shape 8"/>
          <p:cNvSpPr/>
          <p:nvPr/>
        </p:nvSpPr>
        <p:spPr>
          <a:xfrm flipH="1">
            <a:off x="1737360" y="2057400"/>
            <a:ext cx="548640" cy="685800"/>
          </a:xfrm>
          <a:prstGeom prst="line">
            <a:avLst/>
          </a:prstGeom>
          <a:noFill/>
          <a:ln w="19050">
            <a:solidFill>
              <a:srgbClr val="8896B0"/>
            </a:solidFill>
            <a:prstDash val="solid"/>
          </a:ln>
        </p:spPr>
      </p:sp>
      <p:sp>
        <p:nvSpPr>
          <p:cNvPr id="11" name="Shape 9"/>
          <p:cNvSpPr/>
          <p:nvPr/>
        </p:nvSpPr>
        <p:spPr>
          <a:xfrm>
            <a:off x="2286000" y="2057400"/>
            <a:ext cx="365760" cy="685800"/>
          </a:xfrm>
          <a:prstGeom prst="line">
            <a:avLst/>
          </a:prstGeom>
          <a:noFill/>
          <a:ln w="19050">
            <a:solidFill>
              <a:srgbClr val="8896B0"/>
            </a:solidFill>
            <a:prstDash val="solid"/>
          </a:ln>
        </p:spPr>
      </p:sp>
      <p:sp>
        <p:nvSpPr>
          <p:cNvPr id="12" name="Shape 10"/>
          <p:cNvSpPr/>
          <p:nvPr/>
        </p:nvSpPr>
        <p:spPr>
          <a:xfrm flipH="1">
            <a:off x="3566160" y="2057400"/>
            <a:ext cx="365760" cy="685800"/>
          </a:xfrm>
          <a:prstGeom prst="line">
            <a:avLst/>
          </a:prstGeom>
          <a:noFill/>
          <a:ln w="19050">
            <a:solidFill>
              <a:srgbClr val="8896B0"/>
            </a:solidFill>
            <a:prstDash val="solid"/>
          </a:ln>
        </p:spPr>
      </p:sp>
      <p:sp>
        <p:nvSpPr>
          <p:cNvPr id="13" name="Shape 11"/>
          <p:cNvSpPr/>
          <p:nvPr/>
        </p:nvSpPr>
        <p:spPr>
          <a:xfrm>
            <a:off x="3931920" y="2057400"/>
            <a:ext cx="548640" cy="685800"/>
          </a:xfrm>
          <a:prstGeom prst="line">
            <a:avLst/>
          </a:prstGeom>
          <a:noFill/>
          <a:ln w="19050">
            <a:solidFill>
              <a:srgbClr val="8896B0"/>
            </a:solidFill>
            <a:prstDash val="solid"/>
          </a:ln>
        </p:spPr>
      </p:sp>
      <p:sp>
        <p:nvSpPr>
          <p:cNvPr id="14" name="Shape 12"/>
          <p:cNvSpPr/>
          <p:nvPr/>
        </p:nvSpPr>
        <p:spPr>
          <a:xfrm flipV="1">
            <a:off x="2651760" y="1371600"/>
            <a:ext cx="457200" cy="1371600"/>
          </a:xfrm>
          <a:prstGeom prst="line">
            <a:avLst/>
          </a:prstGeom>
          <a:noFill/>
          <a:ln w="15875">
            <a:solidFill>
              <a:srgbClr val="D4A017"/>
            </a:solidFill>
            <a:prstDash val="dash"/>
          </a:ln>
        </p:spPr>
      </p:sp>
      <p:sp>
        <p:nvSpPr>
          <p:cNvPr id="15" name="Shape 13"/>
          <p:cNvSpPr/>
          <p:nvPr/>
        </p:nvSpPr>
        <p:spPr>
          <a:xfrm>
            <a:off x="1517904" y="2523744"/>
            <a:ext cx="438912" cy="438912"/>
          </a:xfrm>
          <a:prstGeom prst="ellipse">
            <a:avLst/>
          </a:prstGeom>
          <a:solidFill>
            <a:srgbClr val="028090"/>
          </a:solidFill>
          <a:ln w="15240">
            <a:solidFill>
              <a:srgbClr val="1E2761"/>
            </a:solidFill>
            <a:prstDash val="solid"/>
          </a:ln>
        </p:spPr>
      </p:sp>
      <p:sp>
        <p:nvSpPr>
          <p:cNvPr id="16" name="Text 14"/>
          <p:cNvSpPr/>
          <p:nvPr/>
        </p:nvSpPr>
        <p:spPr>
          <a:xfrm>
            <a:off x="1517904" y="25237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20</a:t>
            </a:r>
            <a:endParaRPr lang="en-US" sz="1250" dirty="0"/>
          </a:p>
        </p:txBody>
      </p:sp>
      <p:sp>
        <p:nvSpPr>
          <p:cNvPr id="17" name="Shape 15"/>
          <p:cNvSpPr/>
          <p:nvPr/>
        </p:nvSpPr>
        <p:spPr>
          <a:xfrm>
            <a:off x="2066544" y="1837944"/>
            <a:ext cx="438912" cy="438912"/>
          </a:xfrm>
          <a:prstGeom prst="ellipse">
            <a:avLst/>
          </a:prstGeom>
          <a:solidFill>
            <a:srgbClr val="028090"/>
          </a:solidFill>
          <a:ln w="15240">
            <a:solidFill>
              <a:srgbClr val="1E2761"/>
            </a:solidFill>
            <a:prstDash val="solid"/>
          </a:ln>
        </p:spPr>
      </p:sp>
      <p:sp>
        <p:nvSpPr>
          <p:cNvPr id="18" name="Text 16"/>
          <p:cNvSpPr/>
          <p:nvPr/>
        </p:nvSpPr>
        <p:spPr>
          <a:xfrm>
            <a:off x="2066544" y="18379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30</a:t>
            </a:r>
            <a:endParaRPr lang="en-US" sz="1250" dirty="0"/>
          </a:p>
        </p:txBody>
      </p:sp>
      <p:sp>
        <p:nvSpPr>
          <p:cNvPr id="19" name="Shape 17"/>
          <p:cNvSpPr/>
          <p:nvPr/>
        </p:nvSpPr>
        <p:spPr>
          <a:xfrm>
            <a:off x="2432304" y="2523744"/>
            <a:ext cx="438912" cy="438912"/>
          </a:xfrm>
          <a:prstGeom prst="ellipse">
            <a:avLst/>
          </a:prstGeom>
          <a:solidFill>
            <a:srgbClr val="028090"/>
          </a:solidFill>
          <a:ln w="15240">
            <a:solidFill>
              <a:srgbClr val="1E2761"/>
            </a:solidFill>
            <a:prstDash val="solid"/>
          </a:ln>
        </p:spPr>
      </p:sp>
      <p:sp>
        <p:nvSpPr>
          <p:cNvPr id="20" name="Text 18"/>
          <p:cNvSpPr/>
          <p:nvPr/>
        </p:nvSpPr>
        <p:spPr>
          <a:xfrm>
            <a:off x="2432304" y="25237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40</a:t>
            </a:r>
            <a:endParaRPr lang="en-US" sz="1250" dirty="0"/>
          </a:p>
        </p:txBody>
      </p:sp>
      <p:sp>
        <p:nvSpPr>
          <p:cNvPr id="21" name="Shape 19"/>
          <p:cNvSpPr/>
          <p:nvPr/>
        </p:nvSpPr>
        <p:spPr>
          <a:xfrm>
            <a:off x="2889504" y="1152144"/>
            <a:ext cx="438912" cy="438912"/>
          </a:xfrm>
          <a:prstGeom prst="ellipse">
            <a:avLst/>
          </a:prstGeom>
          <a:solidFill>
            <a:srgbClr val="D4A017"/>
          </a:solidFill>
          <a:ln w="15240">
            <a:solidFill>
              <a:srgbClr val="1E2761"/>
            </a:solidFill>
            <a:prstDash val="solid"/>
          </a:ln>
        </p:spPr>
      </p:sp>
      <p:sp>
        <p:nvSpPr>
          <p:cNvPr id="22" name="Text 20"/>
          <p:cNvSpPr/>
          <p:nvPr/>
        </p:nvSpPr>
        <p:spPr>
          <a:xfrm>
            <a:off x="2889504" y="11521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50</a:t>
            </a:r>
            <a:endParaRPr lang="en-US" sz="1250" dirty="0"/>
          </a:p>
        </p:txBody>
      </p:sp>
      <p:sp>
        <p:nvSpPr>
          <p:cNvPr id="23" name="Shape 21"/>
          <p:cNvSpPr/>
          <p:nvPr/>
        </p:nvSpPr>
        <p:spPr>
          <a:xfrm>
            <a:off x="3346704" y="2523744"/>
            <a:ext cx="438912" cy="438912"/>
          </a:xfrm>
          <a:prstGeom prst="ellipse">
            <a:avLst/>
          </a:prstGeom>
          <a:solidFill>
            <a:srgbClr val="028090"/>
          </a:solidFill>
          <a:ln w="15240">
            <a:solidFill>
              <a:srgbClr val="1E2761"/>
            </a:solidFill>
            <a:prstDash val="solid"/>
          </a:ln>
        </p:spPr>
      </p:sp>
      <p:sp>
        <p:nvSpPr>
          <p:cNvPr id="24" name="Text 22"/>
          <p:cNvSpPr/>
          <p:nvPr/>
        </p:nvSpPr>
        <p:spPr>
          <a:xfrm>
            <a:off x="3346704" y="25237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60</a:t>
            </a:r>
            <a:endParaRPr lang="en-US" sz="1250" dirty="0"/>
          </a:p>
        </p:txBody>
      </p:sp>
      <p:sp>
        <p:nvSpPr>
          <p:cNvPr id="25" name="Shape 23"/>
          <p:cNvSpPr/>
          <p:nvPr/>
        </p:nvSpPr>
        <p:spPr>
          <a:xfrm>
            <a:off x="3712464" y="1837944"/>
            <a:ext cx="438912" cy="438912"/>
          </a:xfrm>
          <a:prstGeom prst="ellipse">
            <a:avLst/>
          </a:prstGeom>
          <a:solidFill>
            <a:srgbClr val="028090"/>
          </a:solidFill>
          <a:ln w="15240">
            <a:solidFill>
              <a:srgbClr val="1E2761"/>
            </a:solidFill>
            <a:prstDash val="solid"/>
          </a:ln>
        </p:spPr>
      </p:sp>
      <p:sp>
        <p:nvSpPr>
          <p:cNvPr id="26" name="Text 24"/>
          <p:cNvSpPr/>
          <p:nvPr/>
        </p:nvSpPr>
        <p:spPr>
          <a:xfrm>
            <a:off x="3712464" y="18379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70</a:t>
            </a:r>
            <a:endParaRPr lang="en-US" sz="1250" dirty="0"/>
          </a:p>
        </p:txBody>
      </p:sp>
      <p:sp>
        <p:nvSpPr>
          <p:cNvPr id="27" name="Shape 25"/>
          <p:cNvSpPr/>
          <p:nvPr/>
        </p:nvSpPr>
        <p:spPr>
          <a:xfrm>
            <a:off x="4261104" y="2523744"/>
            <a:ext cx="438912" cy="438912"/>
          </a:xfrm>
          <a:prstGeom prst="ellipse">
            <a:avLst/>
          </a:prstGeom>
          <a:solidFill>
            <a:srgbClr val="028090"/>
          </a:solidFill>
          <a:ln w="15240">
            <a:solidFill>
              <a:srgbClr val="1E2761"/>
            </a:solidFill>
            <a:prstDash val="solid"/>
          </a:ln>
        </p:spPr>
      </p:sp>
      <p:sp>
        <p:nvSpPr>
          <p:cNvPr id="28" name="Text 26"/>
          <p:cNvSpPr/>
          <p:nvPr/>
        </p:nvSpPr>
        <p:spPr>
          <a:xfrm>
            <a:off x="4261104" y="25237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80</a:t>
            </a:r>
            <a:endParaRPr lang="en-US" sz="1250" dirty="0"/>
          </a:p>
        </p:txBody>
      </p:sp>
      <p:sp>
        <p:nvSpPr>
          <p:cNvPr id="29" name="Text 27"/>
          <p:cNvSpPr/>
          <p:nvPr/>
        </p:nvSpPr>
        <p:spPr>
          <a:xfrm>
            <a:off x="457200" y="3108960"/>
            <a:ext cx="7772400" cy="274320"/>
          </a:xfrm>
          <a:prstGeom prst="rect">
            <a:avLst/>
          </a:prstGeom>
          <a:noFill/>
          <a:ln/>
        </p:spPr>
        <p:txBody>
          <a:bodyPr wrap="square" lIns="0" tIns="0" rIns="0" bIns="0" rtlCol="0" anchor="ctr"/>
          <a:lstStyle/>
          <a:p>
            <a:pPr indent="0" marL="0">
              <a:buNone/>
            </a:pPr>
            <a:r>
              <a:rPr lang="en-US" sz="1050" i="1" dirty="0">
                <a:solidFill>
                  <a:srgbClr val="6B7280"/>
                </a:solidFill>
                <a:latin typeface="Courier New" pitchFamily="34" charset="0"/>
                <a:ea typeface="Courier New" pitchFamily="34" charset="-122"/>
                <a:cs typeface="Courier New" pitchFamily="34" charset="-120"/>
              </a:rPr>
              <a:t>inorder: 20 30 40 50 60 70 80   (a BST's inorder is always sorted)</a:t>
            </a:r>
            <a:endParaRPr lang="en-US" sz="1050" dirty="0"/>
          </a:p>
        </p:txBody>
      </p:sp>
      <p:sp>
        <p:nvSpPr>
          <p:cNvPr id="30" name="Shape 28"/>
          <p:cNvSpPr/>
          <p:nvPr/>
        </p:nvSpPr>
        <p:spPr>
          <a:xfrm>
            <a:off x="457200" y="3520440"/>
            <a:ext cx="8229600" cy="1051560"/>
          </a:xfrm>
          <a:prstGeom prst="roundRect">
            <a:avLst>
              <a:gd name="adj" fmla="val 6087"/>
            </a:avLst>
          </a:prstGeom>
          <a:solidFill>
            <a:srgbClr val="F0F7F7"/>
          </a:solidFill>
          <a:ln w="12700">
            <a:solidFill>
              <a:srgbClr val="028090"/>
            </a:solidFill>
            <a:prstDash val="solid"/>
          </a:ln>
        </p:spPr>
      </p:sp>
      <p:sp>
        <p:nvSpPr>
          <p:cNvPr id="31" name="Text 29"/>
          <p:cNvSpPr/>
          <p:nvPr/>
        </p:nvSpPr>
        <p:spPr>
          <a:xfrm>
            <a:off x="603504" y="3584448"/>
            <a:ext cx="7936992" cy="92354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20→30 and 60→70 retrace parent edges. 40→50 is the ONE new dashed line — node 40's successor skips past its parent 30 to reach 50. 80 stays NULL (last in inorder).</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01168"/>
            <a:ext cx="6400800"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THREADED BINARY TREES</a:t>
            </a:r>
            <a:endParaRPr lang="en-US" sz="1100" dirty="0"/>
          </a:p>
        </p:txBody>
      </p:sp>
      <p:sp>
        <p:nvSpPr>
          <p:cNvPr id="3" name="Text 1"/>
          <p:cNvSpPr/>
          <p:nvPr/>
        </p:nvSpPr>
        <p:spPr>
          <a:xfrm>
            <a:off x="457200" y="438912"/>
            <a:ext cx="822960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Part B: Double threading — what gets ADDED</a:t>
            </a:r>
            <a:endParaRPr lang="en-US" sz="22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08</a:t>
            </a:r>
            <a:endParaRPr lang="en-US" sz="900" dirty="0"/>
          </a:p>
        </p:txBody>
      </p:sp>
      <p:sp>
        <p:nvSpPr>
          <p:cNvPr id="6" name="Shape 4"/>
          <p:cNvSpPr/>
          <p:nvPr/>
        </p:nvSpPr>
        <p:spPr>
          <a:xfrm>
            <a:off x="7406640" y="182880"/>
            <a:ext cx="1280160" cy="274320"/>
          </a:xfrm>
          <a:prstGeom prst="roundRect">
            <a:avLst>
              <a:gd name="adj" fmla="val 50000"/>
            </a:avLst>
          </a:prstGeom>
          <a:solidFill>
            <a:srgbClr val="D4A017"/>
          </a:solidFill>
          <a:ln w="12700">
            <a:solidFill>
              <a:srgbClr val="D4A017"/>
            </a:solidFill>
            <a:prstDash val="solid"/>
          </a:ln>
        </p:spPr>
      </p:sp>
      <p:sp>
        <p:nvSpPr>
          <p:cNvPr id="7" name="Text 5"/>
          <p:cNvSpPr/>
          <p:nvPr/>
        </p:nvSpPr>
        <p:spPr>
          <a:xfrm>
            <a:off x="7406640" y="182880"/>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PART B</a:t>
            </a:r>
            <a:endParaRPr lang="en-US" sz="950" dirty="0"/>
          </a:p>
        </p:txBody>
      </p:sp>
      <p:sp>
        <p:nvSpPr>
          <p:cNvPr id="8" name="Shape 6"/>
          <p:cNvSpPr/>
          <p:nvPr/>
        </p:nvSpPr>
        <p:spPr>
          <a:xfrm>
            <a:off x="457200" y="1234440"/>
            <a:ext cx="8229600" cy="1097280"/>
          </a:xfrm>
          <a:prstGeom prst="roundRect">
            <a:avLst>
              <a:gd name="adj" fmla="val 5833"/>
            </a:avLst>
          </a:prstGeom>
          <a:solidFill>
            <a:srgbClr val="FBF5E6"/>
          </a:solidFill>
          <a:ln w="12700">
            <a:solidFill>
              <a:srgbClr val="D4A017"/>
            </a:solidFill>
            <a:prstDash val="solid"/>
          </a:ln>
        </p:spPr>
      </p:sp>
      <p:sp>
        <p:nvSpPr>
          <p:cNvPr id="9" name="Text 7"/>
          <p:cNvSpPr/>
          <p:nvPr/>
        </p:nvSpPr>
        <p:spPr>
          <a:xfrm>
            <a:off x="603504" y="1298448"/>
            <a:ext cx="7936992" cy="969264"/>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Everything from Part A stays exactly the same — every right thread is still there. Double threading ADDS one more rule: every empty LEFT pointer becomes a thread to the node's INORDER PREDECESSOR.</a:t>
            </a:r>
            <a:endParaRPr lang="en-US" sz="1300" dirty="0"/>
          </a:p>
        </p:txBody>
      </p:sp>
      <p:sp>
        <p:nvSpPr>
          <p:cNvPr id="10" name="Text 8"/>
          <p:cNvSpPr/>
          <p:nvPr/>
        </p:nvSpPr>
        <p:spPr>
          <a:xfrm>
            <a:off x="457200" y="2514600"/>
            <a:ext cx="8229600" cy="16459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2B2B2B"/>
                </a:solidFill>
                <a:latin typeface="Calibri" pitchFamily="34" charset="0"/>
                <a:ea typeface="Calibri" pitchFamily="34" charset="-122"/>
                <a:cs typeface="Calibri" pitchFamily="34" charset="-120"/>
              </a:rPr>
              <a:t>The very FIRST node in inorder has no predecessor — its left stays genuinely NULL, mirroring how the last node's right stays NULL.</a:t>
            </a:r>
            <a:endParaRPr lang="en-US" sz="1300" dirty="0"/>
          </a:p>
          <a:p>
            <a:pPr marL="342900" indent="-342900">
              <a:spcAft>
                <a:spcPts val="1000"/>
              </a:spcAft>
              <a:buSzPct val="100000"/>
              <a:buChar char="•"/>
            </a:pPr>
            <a:r>
              <a:rPr lang="en-US" sz="1300" dirty="0">
                <a:solidFill>
                  <a:srgbClr val="2B2B2B"/>
                </a:solidFill>
                <a:latin typeface="Calibri" pitchFamily="34" charset="0"/>
                <a:ea typeface="Calibri" pitchFamily="34" charset="-122"/>
                <a:cs typeface="Calibri" pitchFamily="34" charset="-120"/>
              </a:rPr>
              <a:t>A node with a real left child needs no left thread at all — exactly like Part A's rule for right children.</a:t>
            </a:r>
            <a:endParaRPr lang="en-US" sz="1300" dirty="0"/>
          </a:p>
          <a:p>
            <a:pPr marL="342900" indent="-342900">
              <a:spcAft>
                <a:spcPts val="1000"/>
              </a:spcAft>
              <a:buSzPct val="100000"/>
              <a:buChar char="•"/>
            </a:pPr>
            <a:r>
              <a:rPr lang="en-US" sz="1300" dirty="0">
                <a:solidFill>
                  <a:srgbClr val="2B2B2B"/>
                </a:solidFill>
                <a:latin typeface="Calibri" pitchFamily="34" charset="0"/>
                <a:ea typeface="Calibri" pitchFamily="34" charset="-122"/>
                <a:cs typeface="Calibri" pitchFamily="34" charset="-120"/>
              </a:rPr>
              <a:t>Same four tree shapes, revisited — now watch what NEW dashed lines appear.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01168"/>
            <a:ext cx="6400800"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THREADED BINARY TREES</a:t>
            </a:r>
            <a:endParaRPr lang="en-US" sz="1100" dirty="0"/>
          </a:p>
        </p:txBody>
      </p:sp>
      <p:sp>
        <p:nvSpPr>
          <p:cNvPr id="3" name="Text 1"/>
          <p:cNvSpPr/>
          <p:nvPr/>
        </p:nvSpPr>
        <p:spPr>
          <a:xfrm>
            <a:off x="457200" y="438912"/>
            <a:ext cx="822960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Example 1 revisited: the 3-node tree, now both ways</a:t>
            </a:r>
            <a:endParaRPr lang="en-US" sz="22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09</a:t>
            </a:r>
            <a:endParaRPr lang="en-US" sz="900" dirty="0"/>
          </a:p>
        </p:txBody>
      </p:sp>
      <p:sp>
        <p:nvSpPr>
          <p:cNvPr id="6" name="Shape 4"/>
          <p:cNvSpPr/>
          <p:nvPr/>
        </p:nvSpPr>
        <p:spPr>
          <a:xfrm>
            <a:off x="7406640" y="182880"/>
            <a:ext cx="1280160" cy="274320"/>
          </a:xfrm>
          <a:prstGeom prst="roundRect">
            <a:avLst>
              <a:gd name="adj" fmla="val 50000"/>
            </a:avLst>
          </a:prstGeom>
          <a:solidFill>
            <a:srgbClr val="D4A017"/>
          </a:solidFill>
          <a:ln w="12700">
            <a:solidFill>
              <a:srgbClr val="D4A017"/>
            </a:solidFill>
            <a:prstDash val="solid"/>
          </a:ln>
        </p:spPr>
      </p:sp>
      <p:sp>
        <p:nvSpPr>
          <p:cNvPr id="7" name="Text 5"/>
          <p:cNvSpPr/>
          <p:nvPr/>
        </p:nvSpPr>
        <p:spPr>
          <a:xfrm>
            <a:off x="7406640" y="182880"/>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PART B</a:t>
            </a:r>
            <a:endParaRPr lang="en-US" sz="950" dirty="0"/>
          </a:p>
        </p:txBody>
      </p:sp>
      <p:sp>
        <p:nvSpPr>
          <p:cNvPr id="8" name="Shape 6"/>
          <p:cNvSpPr/>
          <p:nvPr/>
        </p:nvSpPr>
        <p:spPr>
          <a:xfrm flipH="1">
            <a:off x="1463040" y="1554480"/>
            <a:ext cx="640080" cy="731520"/>
          </a:xfrm>
          <a:prstGeom prst="line">
            <a:avLst/>
          </a:prstGeom>
          <a:noFill/>
          <a:ln w="19050">
            <a:solidFill>
              <a:srgbClr val="8896B0"/>
            </a:solidFill>
            <a:prstDash val="solid"/>
          </a:ln>
        </p:spPr>
      </p:sp>
      <p:sp>
        <p:nvSpPr>
          <p:cNvPr id="9" name="Shape 7"/>
          <p:cNvSpPr/>
          <p:nvPr/>
        </p:nvSpPr>
        <p:spPr>
          <a:xfrm>
            <a:off x="2103120" y="1554480"/>
            <a:ext cx="640080" cy="731520"/>
          </a:xfrm>
          <a:prstGeom prst="line">
            <a:avLst/>
          </a:prstGeom>
          <a:noFill/>
          <a:ln w="19050">
            <a:solidFill>
              <a:srgbClr val="8896B0"/>
            </a:solidFill>
            <a:prstDash val="solid"/>
          </a:ln>
        </p:spPr>
      </p:sp>
      <p:sp>
        <p:nvSpPr>
          <p:cNvPr id="10" name="Shape 8"/>
          <p:cNvSpPr/>
          <p:nvPr/>
        </p:nvSpPr>
        <p:spPr>
          <a:xfrm>
            <a:off x="1865376" y="1316736"/>
            <a:ext cx="475488" cy="475488"/>
          </a:xfrm>
          <a:prstGeom prst="ellipse">
            <a:avLst/>
          </a:prstGeom>
          <a:solidFill>
            <a:srgbClr val="D4A017"/>
          </a:solidFill>
          <a:ln w="15240">
            <a:solidFill>
              <a:srgbClr val="1E2761"/>
            </a:solidFill>
            <a:prstDash val="solid"/>
          </a:ln>
        </p:spPr>
      </p:sp>
      <p:sp>
        <p:nvSpPr>
          <p:cNvPr id="11" name="Text 9"/>
          <p:cNvSpPr/>
          <p:nvPr/>
        </p:nvSpPr>
        <p:spPr>
          <a:xfrm>
            <a:off x="1865376" y="131673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2</a:t>
            </a:r>
            <a:endParaRPr lang="en-US" sz="1250" dirty="0"/>
          </a:p>
        </p:txBody>
      </p:sp>
      <p:sp>
        <p:nvSpPr>
          <p:cNvPr id="12" name="Shape 10"/>
          <p:cNvSpPr/>
          <p:nvPr/>
        </p:nvSpPr>
        <p:spPr>
          <a:xfrm>
            <a:off x="1225296" y="2048256"/>
            <a:ext cx="475488" cy="475488"/>
          </a:xfrm>
          <a:prstGeom prst="ellipse">
            <a:avLst/>
          </a:prstGeom>
          <a:solidFill>
            <a:srgbClr val="028090"/>
          </a:solidFill>
          <a:ln w="15240">
            <a:solidFill>
              <a:srgbClr val="1E2761"/>
            </a:solidFill>
            <a:prstDash val="solid"/>
          </a:ln>
        </p:spPr>
      </p:sp>
      <p:sp>
        <p:nvSpPr>
          <p:cNvPr id="13" name="Text 11"/>
          <p:cNvSpPr/>
          <p:nvPr/>
        </p:nvSpPr>
        <p:spPr>
          <a:xfrm>
            <a:off x="1225296" y="204825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1</a:t>
            </a:r>
            <a:endParaRPr lang="en-US" sz="1250" dirty="0"/>
          </a:p>
        </p:txBody>
      </p:sp>
      <p:sp>
        <p:nvSpPr>
          <p:cNvPr id="14" name="Shape 12"/>
          <p:cNvSpPr/>
          <p:nvPr/>
        </p:nvSpPr>
        <p:spPr>
          <a:xfrm>
            <a:off x="2505456" y="2048256"/>
            <a:ext cx="475488" cy="475488"/>
          </a:xfrm>
          <a:prstGeom prst="ellipse">
            <a:avLst/>
          </a:prstGeom>
          <a:solidFill>
            <a:srgbClr val="028090"/>
          </a:solidFill>
          <a:ln w="15240">
            <a:solidFill>
              <a:srgbClr val="1E2761"/>
            </a:solidFill>
            <a:prstDash val="solid"/>
          </a:ln>
        </p:spPr>
      </p:sp>
      <p:sp>
        <p:nvSpPr>
          <p:cNvPr id="15" name="Text 13"/>
          <p:cNvSpPr/>
          <p:nvPr/>
        </p:nvSpPr>
        <p:spPr>
          <a:xfrm>
            <a:off x="2505456" y="204825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3</a:t>
            </a:r>
            <a:endParaRPr lang="en-US" sz="1250" dirty="0"/>
          </a:p>
        </p:txBody>
      </p:sp>
      <p:sp>
        <p:nvSpPr>
          <p:cNvPr id="16" name="Text 14"/>
          <p:cNvSpPr/>
          <p:nvPr/>
        </p:nvSpPr>
        <p:spPr>
          <a:xfrm>
            <a:off x="457200" y="2788920"/>
            <a:ext cx="3200400" cy="274320"/>
          </a:xfrm>
          <a:prstGeom prst="rect">
            <a:avLst/>
          </a:prstGeom>
          <a:noFill/>
          <a:ln/>
        </p:spPr>
        <p:txBody>
          <a:bodyPr wrap="square" lIns="0" tIns="0" rIns="0" bIns="0" rtlCol="0" anchor="ctr"/>
          <a:lstStyle/>
          <a:p>
            <a:pPr indent="0" marL="0">
              <a:buNone/>
            </a:pPr>
            <a:r>
              <a:rPr lang="en-US" sz="1100" i="1" dirty="0">
                <a:solidFill>
                  <a:srgbClr val="6B7280"/>
                </a:solidFill>
                <a:latin typeface="Courier New" pitchFamily="34" charset="0"/>
                <a:ea typeface="Courier New" pitchFamily="34" charset="-122"/>
                <a:cs typeface="Courier New" pitchFamily="34" charset="-120"/>
              </a:rPr>
              <a:t>inorder: 1 2 3</a:t>
            </a:r>
            <a:endParaRPr lang="en-US" sz="1100" dirty="0"/>
          </a:p>
        </p:txBody>
      </p:sp>
      <p:sp>
        <p:nvSpPr>
          <p:cNvPr id="17" name="Shape 15"/>
          <p:cNvSpPr/>
          <p:nvPr/>
        </p:nvSpPr>
        <p:spPr>
          <a:xfrm>
            <a:off x="4023360" y="1280160"/>
            <a:ext cx="4663440" cy="3063240"/>
          </a:xfrm>
          <a:prstGeom prst="roundRect">
            <a:avLst>
              <a:gd name="adj" fmla="val 2090"/>
            </a:avLst>
          </a:prstGeom>
          <a:solidFill>
            <a:srgbClr val="F0F7F7"/>
          </a:solidFill>
          <a:ln w="12700">
            <a:solidFill>
              <a:srgbClr val="028090"/>
            </a:solidFill>
            <a:prstDash val="solid"/>
          </a:ln>
        </p:spPr>
      </p:sp>
      <p:sp>
        <p:nvSpPr>
          <p:cNvPr id="18" name="Text 16"/>
          <p:cNvSpPr/>
          <p:nvPr/>
        </p:nvSpPr>
        <p:spPr>
          <a:xfrm>
            <a:off x="4169664" y="1344168"/>
            <a:ext cx="4370832" cy="2935224"/>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All FOUR threads now (2 new)
</a:t>
            </a:r>
            <a:pPr indent="0" marL="0">
              <a:buNone/>
            </a:pPr>
            <a:r>
              <a:rPr lang="en-US" sz="1100" dirty="0">
                <a:solidFill>
                  <a:srgbClr val="2B2B2B"/>
                </a:solidFill>
                <a:latin typeface="Calibri" pitchFamily="34" charset="0"/>
                <a:ea typeface="Calibri" pitchFamily="34" charset="-122"/>
                <a:cs typeface="Calibri" pitchFamily="34" charset="-120"/>
              </a:rPr>
              <a:t>Right threads (Part A, unchanged):</a:t>
            </a:r>
            <a:endParaRPr lang="en-US" sz="1200" dirty="0"/>
          </a:p>
          <a:p>
            <a:pPr indent="0" marL="0">
              <a:buNone/>
            </a:pPr>
            <a:r>
              <a:rPr lang="en-US" sz="1100" dirty="0">
                <a:solidFill>
                  <a:srgbClr val="2B2B2B"/>
                </a:solidFill>
                <a:latin typeface="Calibri" pitchFamily="34" charset="0"/>
                <a:ea typeface="Calibri" pitchFamily="34" charset="-122"/>
                <a:cs typeface="Calibri" pitchFamily="34" charset="-120"/>
              </a:rPr>
              <a:t>  1 → 2 (retraces edge)</a:t>
            </a:r>
            <a:endParaRPr lang="en-US" sz="1200" dirty="0"/>
          </a:p>
          <a:p>
            <a:pPr indent="0" marL="0">
              <a:buNone/>
            </a:pPr>
            <a:r>
              <a:rPr lang="en-US" sz="1100" dirty="0">
                <a:solidFill>
                  <a:srgbClr val="2B2B2B"/>
                </a:solidFill>
                <a:latin typeface="Calibri" pitchFamily="34" charset="0"/>
                <a:ea typeface="Calibri" pitchFamily="34" charset="-122"/>
                <a:cs typeface="Calibri" pitchFamily="34" charset="-120"/>
              </a:rPr>
              <a:t>  3 → stays NULL (last)</a:t>
            </a:r>
            <a:endParaRPr lang="en-US" sz="1200" dirty="0"/>
          </a:p>
          <a:p>
            <a:pPr indent="0" marL="0">
              <a:buNone/>
            </a:pPr>
            <a:endParaRPr lang="en-US" sz="1200" dirty="0"/>
          </a:p>
          <a:p>
            <a:pPr indent="0" marL="0">
              <a:buNone/>
            </a:pPr>
            <a:r>
              <a:rPr lang="en-US" sz="1100" dirty="0">
                <a:solidFill>
                  <a:srgbClr val="2B2B2B"/>
                </a:solidFill>
                <a:latin typeface="Calibri" pitchFamily="34" charset="0"/>
                <a:ea typeface="Calibri" pitchFamily="34" charset="-122"/>
                <a:cs typeface="Calibri" pitchFamily="34" charset="-120"/>
              </a:rPr>
              <a:t>Left threads (NEW today):</a:t>
            </a:r>
            <a:endParaRPr lang="en-US" sz="1200" dirty="0"/>
          </a:p>
          <a:p>
            <a:pPr indent="0" marL="0">
              <a:buNone/>
            </a:pPr>
            <a:r>
              <a:rPr lang="en-US" sz="1100" dirty="0">
                <a:solidFill>
                  <a:srgbClr val="2B2B2B"/>
                </a:solidFill>
                <a:latin typeface="Calibri" pitchFamily="34" charset="0"/>
                <a:ea typeface="Calibri" pitchFamily="34" charset="-122"/>
                <a:cs typeface="Calibri" pitchFamily="34" charset="-120"/>
              </a:rPr>
              <a:t>  1 → stays NULL (1 is FIRST in inorder)</a:t>
            </a:r>
            <a:endParaRPr lang="en-US" sz="1200" dirty="0"/>
          </a:p>
          <a:p>
            <a:pPr indent="0" marL="0">
              <a:buNone/>
            </a:pPr>
            <a:r>
              <a:rPr lang="en-US" sz="1100" dirty="0">
                <a:solidFill>
                  <a:srgbClr val="2B2B2B"/>
                </a:solidFill>
                <a:latin typeface="Calibri" pitchFamily="34" charset="0"/>
                <a:ea typeface="Calibri" pitchFamily="34" charset="-122"/>
                <a:cs typeface="Calibri" pitchFamily="34" charset="-120"/>
              </a:rPr>
              <a:t>  3 → 2 (retraces edge — 3's own parent is 2)</a:t>
            </a:r>
            <a:endParaRPr lang="en-US" sz="1200" dirty="0"/>
          </a:p>
          <a:p>
            <a:pPr indent="0" marL="0">
              <a:buNone/>
            </a:pPr>
            <a:endParaRPr lang="en-US" sz="1200" dirty="0"/>
          </a:p>
          <a:p>
            <a:pPr indent="0" marL="0">
              <a:buNone/>
            </a:pPr>
            <a:r>
              <a:rPr lang="en-US" sz="1100" dirty="0">
                <a:solidFill>
                  <a:srgbClr val="2B2B2B"/>
                </a:solidFill>
                <a:latin typeface="Calibri" pitchFamily="34" charset="0"/>
                <a:ea typeface="Calibri" pitchFamily="34" charset="-122"/>
                <a:cs typeface="Calibri" pitchFamily="34" charset="-120"/>
              </a:rPr>
              <a:t>Every thread in this tiny tree happens to retrace an edge or stay NULL — no separate dashed lines needed even now.</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01168"/>
            <a:ext cx="6400800"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THREADED BINARY TREES</a:t>
            </a:r>
            <a:endParaRPr lang="en-US" sz="1100" dirty="0"/>
          </a:p>
        </p:txBody>
      </p:sp>
      <p:sp>
        <p:nvSpPr>
          <p:cNvPr id="3" name="Text 1"/>
          <p:cNvSpPr/>
          <p:nvPr/>
        </p:nvSpPr>
        <p:spPr>
          <a:xfrm>
            <a:off x="457200" y="438912"/>
            <a:ext cx="822960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Example 2: right-skewed — the mirror image of Part A's chain</a:t>
            </a:r>
            <a:endParaRPr lang="en-US" sz="22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7406640" y="182880"/>
            <a:ext cx="1280160" cy="274320"/>
          </a:xfrm>
          <a:prstGeom prst="roundRect">
            <a:avLst>
              <a:gd name="adj" fmla="val 50000"/>
            </a:avLst>
          </a:prstGeom>
          <a:solidFill>
            <a:srgbClr val="D4A017"/>
          </a:solidFill>
          <a:ln w="12700">
            <a:solidFill>
              <a:srgbClr val="D4A017"/>
            </a:solidFill>
            <a:prstDash val="solid"/>
          </a:ln>
        </p:spPr>
      </p:sp>
      <p:sp>
        <p:nvSpPr>
          <p:cNvPr id="7" name="Text 5"/>
          <p:cNvSpPr/>
          <p:nvPr/>
        </p:nvSpPr>
        <p:spPr>
          <a:xfrm>
            <a:off x="7406640" y="182880"/>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PART B</a:t>
            </a:r>
            <a:endParaRPr lang="en-US" sz="950" dirty="0"/>
          </a:p>
        </p:txBody>
      </p:sp>
      <p:sp>
        <p:nvSpPr>
          <p:cNvPr id="8" name="Shape 6"/>
          <p:cNvSpPr/>
          <p:nvPr/>
        </p:nvSpPr>
        <p:spPr>
          <a:xfrm>
            <a:off x="1188720" y="1417320"/>
            <a:ext cx="640080" cy="640080"/>
          </a:xfrm>
          <a:prstGeom prst="line">
            <a:avLst/>
          </a:prstGeom>
          <a:noFill/>
          <a:ln w="19050">
            <a:solidFill>
              <a:srgbClr val="8896B0"/>
            </a:solidFill>
            <a:prstDash val="solid"/>
          </a:ln>
        </p:spPr>
      </p:sp>
      <p:sp>
        <p:nvSpPr>
          <p:cNvPr id="9" name="Shape 7"/>
          <p:cNvSpPr/>
          <p:nvPr/>
        </p:nvSpPr>
        <p:spPr>
          <a:xfrm>
            <a:off x="1828800" y="2057400"/>
            <a:ext cx="640080" cy="640080"/>
          </a:xfrm>
          <a:prstGeom prst="line">
            <a:avLst/>
          </a:prstGeom>
          <a:noFill/>
          <a:ln w="19050">
            <a:solidFill>
              <a:srgbClr val="8896B0"/>
            </a:solidFill>
            <a:prstDash val="solid"/>
          </a:ln>
        </p:spPr>
      </p:sp>
      <p:sp>
        <p:nvSpPr>
          <p:cNvPr id="10" name="Shape 8"/>
          <p:cNvSpPr/>
          <p:nvPr/>
        </p:nvSpPr>
        <p:spPr>
          <a:xfrm>
            <a:off x="2468880" y="2697480"/>
            <a:ext cx="640080" cy="640080"/>
          </a:xfrm>
          <a:prstGeom prst="line">
            <a:avLst/>
          </a:prstGeom>
          <a:noFill/>
          <a:ln w="19050">
            <a:solidFill>
              <a:srgbClr val="8896B0"/>
            </a:solidFill>
            <a:prstDash val="solid"/>
          </a:ln>
        </p:spPr>
      </p:sp>
      <p:sp>
        <p:nvSpPr>
          <p:cNvPr id="11" name="Shape 9"/>
          <p:cNvSpPr/>
          <p:nvPr/>
        </p:nvSpPr>
        <p:spPr>
          <a:xfrm>
            <a:off x="950976" y="1179576"/>
            <a:ext cx="475488" cy="475488"/>
          </a:xfrm>
          <a:prstGeom prst="ellipse">
            <a:avLst/>
          </a:prstGeom>
          <a:solidFill>
            <a:srgbClr val="D4A017"/>
          </a:solidFill>
          <a:ln w="15240">
            <a:solidFill>
              <a:srgbClr val="1E2761"/>
            </a:solidFill>
            <a:prstDash val="solid"/>
          </a:ln>
        </p:spPr>
      </p:sp>
      <p:sp>
        <p:nvSpPr>
          <p:cNvPr id="12" name="Text 10"/>
          <p:cNvSpPr/>
          <p:nvPr/>
        </p:nvSpPr>
        <p:spPr>
          <a:xfrm>
            <a:off x="950976" y="117957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1</a:t>
            </a:r>
            <a:endParaRPr lang="en-US" sz="1250" dirty="0"/>
          </a:p>
        </p:txBody>
      </p:sp>
      <p:sp>
        <p:nvSpPr>
          <p:cNvPr id="13" name="Shape 11"/>
          <p:cNvSpPr/>
          <p:nvPr/>
        </p:nvSpPr>
        <p:spPr>
          <a:xfrm>
            <a:off x="1591056" y="1819656"/>
            <a:ext cx="475488" cy="475488"/>
          </a:xfrm>
          <a:prstGeom prst="ellipse">
            <a:avLst/>
          </a:prstGeom>
          <a:solidFill>
            <a:srgbClr val="028090"/>
          </a:solidFill>
          <a:ln w="15240">
            <a:solidFill>
              <a:srgbClr val="1E2761"/>
            </a:solidFill>
            <a:prstDash val="solid"/>
          </a:ln>
        </p:spPr>
      </p:sp>
      <p:sp>
        <p:nvSpPr>
          <p:cNvPr id="14" name="Text 12"/>
          <p:cNvSpPr/>
          <p:nvPr/>
        </p:nvSpPr>
        <p:spPr>
          <a:xfrm>
            <a:off x="1591056" y="181965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2</a:t>
            </a:r>
            <a:endParaRPr lang="en-US" sz="1250" dirty="0"/>
          </a:p>
        </p:txBody>
      </p:sp>
      <p:sp>
        <p:nvSpPr>
          <p:cNvPr id="15" name="Shape 13"/>
          <p:cNvSpPr/>
          <p:nvPr/>
        </p:nvSpPr>
        <p:spPr>
          <a:xfrm>
            <a:off x="2231136" y="2459736"/>
            <a:ext cx="475488" cy="475488"/>
          </a:xfrm>
          <a:prstGeom prst="ellipse">
            <a:avLst/>
          </a:prstGeom>
          <a:solidFill>
            <a:srgbClr val="028090"/>
          </a:solidFill>
          <a:ln w="15240">
            <a:solidFill>
              <a:srgbClr val="1E2761"/>
            </a:solidFill>
            <a:prstDash val="solid"/>
          </a:ln>
        </p:spPr>
      </p:sp>
      <p:sp>
        <p:nvSpPr>
          <p:cNvPr id="16" name="Text 14"/>
          <p:cNvSpPr/>
          <p:nvPr/>
        </p:nvSpPr>
        <p:spPr>
          <a:xfrm>
            <a:off x="2231136" y="245973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3</a:t>
            </a:r>
            <a:endParaRPr lang="en-US" sz="1250" dirty="0"/>
          </a:p>
        </p:txBody>
      </p:sp>
      <p:sp>
        <p:nvSpPr>
          <p:cNvPr id="17" name="Shape 15"/>
          <p:cNvSpPr/>
          <p:nvPr/>
        </p:nvSpPr>
        <p:spPr>
          <a:xfrm>
            <a:off x="2871216" y="3099816"/>
            <a:ext cx="475488" cy="475488"/>
          </a:xfrm>
          <a:prstGeom prst="ellipse">
            <a:avLst/>
          </a:prstGeom>
          <a:solidFill>
            <a:srgbClr val="028090"/>
          </a:solidFill>
          <a:ln w="15240">
            <a:solidFill>
              <a:srgbClr val="1E2761"/>
            </a:solidFill>
            <a:prstDash val="solid"/>
          </a:ln>
        </p:spPr>
      </p:sp>
      <p:sp>
        <p:nvSpPr>
          <p:cNvPr id="18" name="Text 16"/>
          <p:cNvSpPr/>
          <p:nvPr/>
        </p:nvSpPr>
        <p:spPr>
          <a:xfrm>
            <a:off x="2871216" y="3099816"/>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4</a:t>
            </a:r>
            <a:endParaRPr lang="en-US" sz="1250" dirty="0"/>
          </a:p>
        </p:txBody>
      </p:sp>
      <p:sp>
        <p:nvSpPr>
          <p:cNvPr id="19" name="Text 17"/>
          <p:cNvSpPr/>
          <p:nvPr/>
        </p:nvSpPr>
        <p:spPr>
          <a:xfrm>
            <a:off x="457200" y="3703320"/>
            <a:ext cx="3200400" cy="274320"/>
          </a:xfrm>
          <a:prstGeom prst="rect">
            <a:avLst/>
          </a:prstGeom>
          <a:noFill/>
          <a:ln/>
        </p:spPr>
        <p:txBody>
          <a:bodyPr wrap="square" lIns="0" tIns="0" rIns="0" bIns="0" rtlCol="0" anchor="ctr"/>
          <a:lstStyle/>
          <a:p>
            <a:pPr indent="0" marL="0">
              <a:buNone/>
            </a:pPr>
            <a:r>
              <a:rPr lang="en-US" sz="1100" i="1" dirty="0">
                <a:solidFill>
                  <a:srgbClr val="6B7280"/>
                </a:solidFill>
                <a:latin typeface="Courier New" pitchFamily="34" charset="0"/>
                <a:ea typeface="Courier New" pitchFamily="34" charset="-122"/>
                <a:cs typeface="Courier New" pitchFamily="34" charset="-120"/>
              </a:rPr>
              <a:t>inorder: 1 2 3 4</a:t>
            </a:r>
            <a:endParaRPr lang="en-US" sz="1100" dirty="0"/>
          </a:p>
        </p:txBody>
      </p:sp>
      <p:sp>
        <p:nvSpPr>
          <p:cNvPr id="20" name="Shape 18"/>
          <p:cNvSpPr/>
          <p:nvPr/>
        </p:nvSpPr>
        <p:spPr>
          <a:xfrm>
            <a:off x="4023360" y="1280160"/>
            <a:ext cx="4663440" cy="2743200"/>
          </a:xfrm>
          <a:prstGeom prst="roundRect">
            <a:avLst>
              <a:gd name="adj" fmla="val 2333"/>
            </a:avLst>
          </a:prstGeom>
          <a:solidFill>
            <a:srgbClr val="FBF5E6"/>
          </a:solidFill>
          <a:ln w="12700">
            <a:solidFill>
              <a:srgbClr val="D4A017"/>
            </a:solidFill>
            <a:prstDash val="solid"/>
          </a:ln>
        </p:spPr>
      </p:sp>
      <p:sp>
        <p:nvSpPr>
          <p:cNvPr id="21" name="Text 19"/>
          <p:cNvSpPr/>
          <p:nvPr/>
        </p:nvSpPr>
        <p:spPr>
          <a:xfrm>
            <a:off x="4169664" y="1344168"/>
            <a:ext cx="4370832" cy="2615184"/>
          </a:xfrm>
          <a:prstGeom prst="rect">
            <a:avLst/>
          </a:prstGeom>
          <a:noFill/>
          <a:ln/>
        </p:spPr>
        <p:txBody>
          <a:bodyPr wrap="square" lIns="0" tIns="0" rIns="0" bIns="0" rtlCol="0" anchor="ctr"/>
          <a:lstStyle/>
          <a:p>
            <a:pPr indent="0" marL="0">
              <a:buNone/>
            </a:pPr>
            <a:r>
              <a:rPr lang="en-US" sz="1200" b="1" dirty="0">
                <a:solidFill>
                  <a:srgbClr val="D4A017"/>
                </a:solidFill>
                <a:latin typeface="Calibri" pitchFamily="34" charset="0"/>
                <a:ea typeface="Calibri" pitchFamily="34" charset="-122"/>
                <a:cs typeface="Calibri" pitchFamily="34" charset="-120"/>
              </a:rPr>
              <a:t>Left threads, mirroring Example 3's right threads
</a:t>
            </a:r>
            <a:pPr indent="0" marL="0">
              <a:buNone/>
            </a:pPr>
            <a:r>
              <a:rPr lang="en-US" sz="1200" dirty="0">
                <a:solidFill>
                  <a:srgbClr val="2B2B2B"/>
                </a:solidFill>
                <a:latin typeface="Calibri" pitchFamily="34" charset="0"/>
                <a:ea typeface="Calibri" pitchFamily="34" charset="-122"/>
                <a:cs typeface="Calibri" pitchFamily="34" charset="-120"/>
              </a:rPr>
              <a:t>2 → 1   3 → 2   4 → 3   (each retraces its own parent edge)</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1 → stays NULL   (1 is first in inorder)</a:t>
            </a:r>
            <a:endParaRPr lang="en-US" sz="1200" dirty="0"/>
          </a:p>
          <a:p>
            <a:pPr indent="0" marL="0">
              <a:buNone/>
            </a:pP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Right threads: only node 4 needs one, and it stays NULL (last in inorder) — every other node already has a real right child.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01168"/>
            <a:ext cx="6400800"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THREADED BINARY TREES</a:t>
            </a:r>
            <a:endParaRPr lang="en-US" sz="1100" dirty="0"/>
          </a:p>
        </p:txBody>
      </p:sp>
      <p:sp>
        <p:nvSpPr>
          <p:cNvPr id="3" name="Text 1"/>
          <p:cNvSpPr/>
          <p:nvPr/>
        </p:nvSpPr>
        <p:spPr>
          <a:xfrm>
            <a:off x="457200" y="438912"/>
            <a:ext cx="822960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Example 3 revisited: the BST, now with a second skip thread</a:t>
            </a:r>
            <a:endParaRPr lang="en-US" sz="22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7406640" y="182880"/>
            <a:ext cx="1280160" cy="274320"/>
          </a:xfrm>
          <a:prstGeom prst="roundRect">
            <a:avLst>
              <a:gd name="adj" fmla="val 50000"/>
            </a:avLst>
          </a:prstGeom>
          <a:solidFill>
            <a:srgbClr val="D4A017"/>
          </a:solidFill>
          <a:ln w="12700">
            <a:solidFill>
              <a:srgbClr val="D4A017"/>
            </a:solidFill>
            <a:prstDash val="solid"/>
          </a:ln>
        </p:spPr>
      </p:sp>
      <p:sp>
        <p:nvSpPr>
          <p:cNvPr id="7" name="Text 5"/>
          <p:cNvSpPr/>
          <p:nvPr/>
        </p:nvSpPr>
        <p:spPr>
          <a:xfrm>
            <a:off x="7406640" y="182880"/>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PART B</a:t>
            </a:r>
            <a:endParaRPr lang="en-US" sz="950" dirty="0"/>
          </a:p>
        </p:txBody>
      </p:sp>
      <p:sp>
        <p:nvSpPr>
          <p:cNvPr id="8" name="Shape 6"/>
          <p:cNvSpPr/>
          <p:nvPr/>
        </p:nvSpPr>
        <p:spPr>
          <a:xfrm flipH="1">
            <a:off x="2286000" y="1371600"/>
            <a:ext cx="822960" cy="685800"/>
          </a:xfrm>
          <a:prstGeom prst="line">
            <a:avLst/>
          </a:prstGeom>
          <a:noFill/>
          <a:ln w="19050">
            <a:solidFill>
              <a:srgbClr val="8896B0"/>
            </a:solidFill>
            <a:prstDash val="solid"/>
          </a:ln>
        </p:spPr>
      </p:sp>
      <p:sp>
        <p:nvSpPr>
          <p:cNvPr id="9" name="Shape 7"/>
          <p:cNvSpPr/>
          <p:nvPr/>
        </p:nvSpPr>
        <p:spPr>
          <a:xfrm>
            <a:off x="3108960" y="1371600"/>
            <a:ext cx="822960" cy="685800"/>
          </a:xfrm>
          <a:prstGeom prst="line">
            <a:avLst/>
          </a:prstGeom>
          <a:noFill/>
          <a:ln w="19050">
            <a:solidFill>
              <a:srgbClr val="8896B0"/>
            </a:solidFill>
            <a:prstDash val="solid"/>
          </a:ln>
        </p:spPr>
      </p:sp>
      <p:sp>
        <p:nvSpPr>
          <p:cNvPr id="10" name="Shape 8"/>
          <p:cNvSpPr/>
          <p:nvPr/>
        </p:nvSpPr>
        <p:spPr>
          <a:xfrm flipH="1">
            <a:off x="1737360" y="2057400"/>
            <a:ext cx="548640" cy="685800"/>
          </a:xfrm>
          <a:prstGeom prst="line">
            <a:avLst/>
          </a:prstGeom>
          <a:noFill/>
          <a:ln w="19050">
            <a:solidFill>
              <a:srgbClr val="8896B0"/>
            </a:solidFill>
            <a:prstDash val="solid"/>
          </a:ln>
        </p:spPr>
      </p:sp>
      <p:sp>
        <p:nvSpPr>
          <p:cNvPr id="11" name="Shape 9"/>
          <p:cNvSpPr/>
          <p:nvPr/>
        </p:nvSpPr>
        <p:spPr>
          <a:xfrm>
            <a:off x="2286000" y="2057400"/>
            <a:ext cx="365760" cy="685800"/>
          </a:xfrm>
          <a:prstGeom prst="line">
            <a:avLst/>
          </a:prstGeom>
          <a:noFill/>
          <a:ln w="19050">
            <a:solidFill>
              <a:srgbClr val="8896B0"/>
            </a:solidFill>
            <a:prstDash val="solid"/>
          </a:ln>
        </p:spPr>
      </p:sp>
      <p:sp>
        <p:nvSpPr>
          <p:cNvPr id="12" name="Shape 10"/>
          <p:cNvSpPr/>
          <p:nvPr/>
        </p:nvSpPr>
        <p:spPr>
          <a:xfrm flipH="1">
            <a:off x="3566160" y="2057400"/>
            <a:ext cx="365760" cy="685800"/>
          </a:xfrm>
          <a:prstGeom prst="line">
            <a:avLst/>
          </a:prstGeom>
          <a:noFill/>
          <a:ln w="19050">
            <a:solidFill>
              <a:srgbClr val="8896B0"/>
            </a:solidFill>
            <a:prstDash val="solid"/>
          </a:ln>
        </p:spPr>
      </p:sp>
      <p:sp>
        <p:nvSpPr>
          <p:cNvPr id="13" name="Shape 11"/>
          <p:cNvSpPr/>
          <p:nvPr/>
        </p:nvSpPr>
        <p:spPr>
          <a:xfrm>
            <a:off x="3931920" y="2057400"/>
            <a:ext cx="548640" cy="685800"/>
          </a:xfrm>
          <a:prstGeom prst="line">
            <a:avLst/>
          </a:prstGeom>
          <a:noFill/>
          <a:ln w="19050">
            <a:solidFill>
              <a:srgbClr val="8896B0"/>
            </a:solidFill>
            <a:prstDash val="solid"/>
          </a:ln>
        </p:spPr>
      </p:sp>
      <p:sp>
        <p:nvSpPr>
          <p:cNvPr id="14" name="Shape 12"/>
          <p:cNvSpPr/>
          <p:nvPr/>
        </p:nvSpPr>
        <p:spPr>
          <a:xfrm flipV="1">
            <a:off x="2651760" y="1371600"/>
            <a:ext cx="457200" cy="1371600"/>
          </a:xfrm>
          <a:prstGeom prst="line">
            <a:avLst/>
          </a:prstGeom>
          <a:noFill/>
          <a:ln w="15875">
            <a:solidFill>
              <a:srgbClr val="D4A017"/>
            </a:solidFill>
            <a:prstDash val="dash"/>
          </a:ln>
        </p:spPr>
      </p:sp>
      <p:sp>
        <p:nvSpPr>
          <p:cNvPr id="15" name="Shape 13"/>
          <p:cNvSpPr/>
          <p:nvPr/>
        </p:nvSpPr>
        <p:spPr>
          <a:xfrm flipH="1" flipV="1">
            <a:off x="3108960" y="1371600"/>
            <a:ext cx="457200" cy="1371600"/>
          </a:xfrm>
          <a:prstGeom prst="line">
            <a:avLst/>
          </a:prstGeom>
          <a:noFill/>
          <a:ln w="15875">
            <a:solidFill>
              <a:srgbClr val="D4A017"/>
            </a:solidFill>
            <a:prstDash val="dash"/>
          </a:ln>
        </p:spPr>
      </p:sp>
      <p:sp>
        <p:nvSpPr>
          <p:cNvPr id="16" name="Shape 14"/>
          <p:cNvSpPr/>
          <p:nvPr/>
        </p:nvSpPr>
        <p:spPr>
          <a:xfrm>
            <a:off x="1517904" y="2523744"/>
            <a:ext cx="438912" cy="438912"/>
          </a:xfrm>
          <a:prstGeom prst="ellipse">
            <a:avLst/>
          </a:prstGeom>
          <a:solidFill>
            <a:srgbClr val="028090"/>
          </a:solidFill>
          <a:ln w="15240">
            <a:solidFill>
              <a:srgbClr val="1E2761"/>
            </a:solidFill>
            <a:prstDash val="solid"/>
          </a:ln>
        </p:spPr>
      </p:sp>
      <p:sp>
        <p:nvSpPr>
          <p:cNvPr id="17" name="Text 15"/>
          <p:cNvSpPr/>
          <p:nvPr/>
        </p:nvSpPr>
        <p:spPr>
          <a:xfrm>
            <a:off x="1517904" y="25237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20</a:t>
            </a:r>
            <a:endParaRPr lang="en-US" sz="1250" dirty="0"/>
          </a:p>
        </p:txBody>
      </p:sp>
      <p:sp>
        <p:nvSpPr>
          <p:cNvPr id="18" name="Shape 16"/>
          <p:cNvSpPr/>
          <p:nvPr/>
        </p:nvSpPr>
        <p:spPr>
          <a:xfrm>
            <a:off x="2066544" y="1837944"/>
            <a:ext cx="438912" cy="438912"/>
          </a:xfrm>
          <a:prstGeom prst="ellipse">
            <a:avLst/>
          </a:prstGeom>
          <a:solidFill>
            <a:srgbClr val="028090"/>
          </a:solidFill>
          <a:ln w="15240">
            <a:solidFill>
              <a:srgbClr val="1E2761"/>
            </a:solidFill>
            <a:prstDash val="solid"/>
          </a:ln>
        </p:spPr>
      </p:sp>
      <p:sp>
        <p:nvSpPr>
          <p:cNvPr id="19" name="Text 17"/>
          <p:cNvSpPr/>
          <p:nvPr/>
        </p:nvSpPr>
        <p:spPr>
          <a:xfrm>
            <a:off x="2066544" y="18379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30</a:t>
            </a:r>
            <a:endParaRPr lang="en-US" sz="1250" dirty="0"/>
          </a:p>
        </p:txBody>
      </p:sp>
      <p:sp>
        <p:nvSpPr>
          <p:cNvPr id="20" name="Shape 18"/>
          <p:cNvSpPr/>
          <p:nvPr/>
        </p:nvSpPr>
        <p:spPr>
          <a:xfrm>
            <a:off x="2432304" y="2523744"/>
            <a:ext cx="438912" cy="438912"/>
          </a:xfrm>
          <a:prstGeom prst="ellipse">
            <a:avLst/>
          </a:prstGeom>
          <a:solidFill>
            <a:srgbClr val="028090"/>
          </a:solidFill>
          <a:ln w="15240">
            <a:solidFill>
              <a:srgbClr val="1E2761"/>
            </a:solidFill>
            <a:prstDash val="solid"/>
          </a:ln>
        </p:spPr>
      </p:sp>
      <p:sp>
        <p:nvSpPr>
          <p:cNvPr id="21" name="Text 19"/>
          <p:cNvSpPr/>
          <p:nvPr/>
        </p:nvSpPr>
        <p:spPr>
          <a:xfrm>
            <a:off x="2432304" y="25237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40</a:t>
            </a:r>
            <a:endParaRPr lang="en-US" sz="1250" dirty="0"/>
          </a:p>
        </p:txBody>
      </p:sp>
      <p:sp>
        <p:nvSpPr>
          <p:cNvPr id="22" name="Shape 20"/>
          <p:cNvSpPr/>
          <p:nvPr/>
        </p:nvSpPr>
        <p:spPr>
          <a:xfrm>
            <a:off x="2889504" y="1152144"/>
            <a:ext cx="438912" cy="438912"/>
          </a:xfrm>
          <a:prstGeom prst="ellipse">
            <a:avLst/>
          </a:prstGeom>
          <a:solidFill>
            <a:srgbClr val="D4A017"/>
          </a:solidFill>
          <a:ln w="15240">
            <a:solidFill>
              <a:srgbClr val="1E2761"/>
            </a:solidFill>
            <a:prstDash val="solid"/>
          </a:ln>
        </p:spPr>
      </p:sp>
      <p:sp>
        <p:nvSpPr>
          <p:cNvPr id="23" name="Text 21"/>
          <p:cNvSpPr/>
          <p:nvPr/>
        </p:nvSpPr>
        <p:spPr>
          <a:xfrm>
            <a:off x="2889504" y="11521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50</a:t>
            </a:r>
            <a:endParaRPr lang="en-US" sz="1250" dirty="0"/>
          </a:p>
        </p:txBody>
      </p:sp>
      <p:sp>
        <p:nvSpPr>
          <p:cNvPr id="24" name="Shape 22"/>
          <p:cNvSpPr/>
          <p:nvPr/>
        </p:nvSpPr>
        <p:spPr>
          <a:xfrm>
            <a:off x="3346704" y="2523744"/>
            <a:ext cx="438912" cy="438912"/>
          </a:xfrm>
          <a:prstGeom prst="ellipse">
            <a:avLst/>
          </a:prstGeom>
          <a:solidFill>
            <a:srgbClr val="028090"/>
          </a:solidFill>
          <a:ln w="15240">
            <a:solidFill>
              <a:srgbClr val="1E2761"/>
            </a:solidFill>
            <a:prstDash val="solid"/>
          </a:ln>
        </p:spPr>
      </p:sp>
      <p:sp>
        <p:nvSpPr>
          <p:cNvPr id="25" name="Text 23"/>
          <p:cNvSpPr/>
          <p:nvPr/>
        </p:nvSpPr>
        <p:spPr>
          <a:xfrm>
            <a:off x="3346704" y="25237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60</a:t>
            </a:r>
            <a:endParaRPr lang="en-US" sz="1250" dirty="0"/>
          </a:p>
        </p:txBody>
      </p:sp>
      <p:sp>
        <p:nvSpPr>
          <p:cNvPr id="26" name="Shape 24"/>
          <p:cNvSpPr/>
          <p:nvPr/>
        </p:nvSpPr>
        <p:spPr>
          <a:xfrm>
            <a:off x="3712464" y="1837944"/>
            <a:ext cx="438912" cy="438912"/>
          </a:xfrm>
          <a:prstGeom prst="ellipse">
            <a:avLst/>
          </a:prstGeom>
          <a:solidFill>
            <a:srgbClr val="028090"/>
          </a:solidFill>
          <a:ln w="15240">
            <a:solidFill>
              <a:srgbClr val="1E2761"/>
            </a:solidFill>
            <a:prstDash val="solid"/>
          </a:ln>
        </p:spPr>
      </p:sp>
      <p:sp>
        <p:nvSpPr>
          <p:cNvPr id="27" name="Text 25"/>
          <p:cNvSpPr/>
          <p:nvPr/>
        </p:nvSpPr>
        <p:spPr>
          <a:xfrm>
            <a:off x="3712464" y="18379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70</a:t>
            </a:r>
            <a:endParaRPr lang="en-US" sz="1250" dirty="0"/>
          </a:p>
        </p:txBody>
      </p:sp>
      <p:sp>
        <p:nvSpPr>
          <p:cNvPr id="28" name="Shape 26"/>
          <p:cNvSpPr/>
          <p:nvPr/>
        </p:nvSpPr>
        <p:spPr>
          <a:xfrm>
            <a:off x="4261104" y="2523744"/>
            <a:ext cx="438912" cy="438912"/>
          </a:xfrm>
          <a:prstGeom prst="ellipse">
            <a:avLst/>
          </a:prstGeom>
          <a:solidFill>
            <a:srgbClr val="028090"/>
          </a:solidFill>
          <a:ln w="15240">
            <a:solidFill>
              <a:srgbClr val="1E2761"/>
            </a:solidFill>
            <a:prstDash val="solid"/>
          </a:ln>
        </p:spPr>
      </p:sp>
      <p:sp>
        <p:nvSpPr>
          <p:cNvPr id="29" name="Text 27"/>
          <p:cNvSpPr/>
          <p:nvPr/>
        </p:nvSpPr>
        <p:spPr>
          <a:xfrm>
            <a:off x="4261104" y="2523744"/>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80</a:t>
            </a:r>
            <a:endParaRPr lang="en-US" sz="1250" dirty="0"/>
          </a:p>
        </p:txBody>
      </p:sp>
      <p:sp>
        <p:nvSpPr>
          <p:cNvPr id="30" name="Text 28"/>
          <p:cNvSpPr/>
          <p:nvPr/>
        </p:nvSpPr>
        <p:spPr>
          <a:xfrm>
            <a:off x="457200" y="3108960"/>
            <a:ext cx="7772400" cy="274320"/>
          </a:xfrm>
          <a:prstGeom prst="rect">
            <a:avLst/>
          </a:prstGeom>
          <a:noFill/>
          <a:ln/>
        </p:spPr>
        <p:txBody>
          <a:bodyPr wrap="square" lIns="0" tIns="0" rIns="0" bIns="0" rtlCol="0" anchor="ctr"/>
          <a:lstStyle/>
          <a:p>
            <a:pPr indent="0" marL="0">
              <a:buNone/>
            </a:pPr>
            <a:r>
              <a:rPr lang="en-US" sz="1050" i="1" dirty="0">
                <a:solidFill>
                  <a:srgbClr val="6B7280"/>
                </a:solidFill>
                <a:latin typeface="Courier New" pitchFamily="34" charset="0"/>
                <a:ea typeface="Courier New" pitchFamily="34" charset="-122"/>
                <a:cs typeface="Courier New" pitchFamily="34" charset="-120"/>
              </a:rPr>
              <a:t>inorder: 20 30 40 50 60 70 80</a:t>
            </a:r>
            <a:endParaRPr lang="en-US" sz="1050" dirty="0"/>
          </a:p>
        </p:txBody>
      </p:sp>
      <p:sp>
        <p:nvSpPr>
          <p:cNvPr id="31" name="Shape 29"/>
          <p:cNvSpPr/>
          <p:nvPr/>
        </p:nvSpPr>
        <p:spPr>
          <a:xfrm>
            <a:off x="457200" y="3520440"/>
            <a:ext cx="8229600" cy="1051560"/>
          </a:xfrm>
          <a:prstGeom prst="roundRect">
            <a:avLst>
              <a:gd name="adj" fmla="val 6087"/>
            </a:avLst>
          </a:prstGeom>
          <a:solidFill>
            <a:srgbClr val="FBF5E6"/>
          </a:solidFill>
          <a:ln w="12700">
            <a:solidFill>
              <a:srgbClr val="D4A017"/>
            </a:solidFill>
            <a:prstDash val="solid"/>
          </a:ln>
        </p:spPr>
      </p:sp>
      <p:sp>
        <p:nvSpPr>
          <p:cNvPr id="32" name="Text 30"/>
          <p:cNvSpPr/>
          <p:nvPr/>
        </p:nvSpPr>
        <p:spPr>
          <a:xfrm>
            <a:off x="603504" y="3584448"/>
            <a:ext cx="7936992" cy="92354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The new dashed line: 60's LEFT thread skips past its parent 70 to reach 50 — the mirror partner of 40's right-thread skip from Example 4. Root 50 now has BOTH neighbours pointing directly at it.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01168"/>
            <a:ext cx="6400800"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THREADED BINARY TREES</a:t>
            </a:r>
            <a:endParaRPr lang="en-US" sz="1100" dirty="0"/>
          </a:p>
        </p:txBody>
      </p:sp>
      <p:sp>
        <p:nvSpPr>
          <p:cNvPr id="3" name="Text 1"/>
          <p:cNvSpPr/>
          <p:nvPr/>
        </p:nvSpPr>
        <p:spPr>
          <a:xfrm>
            <a:off x="457200" y="438912"/>
            <a:ext cx="822960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Same tree, side by side — what doubling really adds</a:t>
            </a:r>
            <a:endParaRPr lang="en-US" sz="22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flipH="1">
            <a:off x="1051560" y="1325880"/>
            <a:ext cx="640080" cy="594360"/>
          </a:xfrm>
          <a:prstGeom prst="line">
            <a:avLst/>
          </a:prstGeom>
          <a:noFill/>
          <a:ln w="19050">
            <a:solidFill>
              <a:srgbClr val="8896B0"/>
            </a:solidFill>
            <a:prstDash val="solid"/>
          </a:ln>
        </p:spPr>
      </p:sp>
      <p:sp>
        <p:nvSpPr>
          <p:cNvPr id="7" name="Shape 5"/>
          <p:cNvSpPr/>
          <p:nvPr/>
        </p:nvSpPr>
        <p:spPr>
          <a:xfrm flipH="1">
            <a:off x="5440680" y="1325880"/>
            <a:ext cx="640080" cy="594360"/>
          </a:xfrm>
          <a:prstGeom prst="line">
            <a:avLst/>
          </a:prstGeom>
          <a:noFill/>
          <a:ln w="19050">
            <a:solidFill>
              <a:srgbClr val="8896B0"/>
            </a:solidFill>
            <a:prstDash val="solid"/>
          </a:ln>
        </p:spPr>
      </p:sp>
      <p:sp>
        <p:nvSpPr>
          <p:cNvPr id="8" name="Shape 6"/>
          <p:cNvSpPr/>
          <p:nvPr/>
        </p:nvSpPr>
        <p:spPr>
          <a:xfrm>
            <a:off x="1691640" y="1325880"/>
            <a:ext cx="640080" cy="594360"/>
          </a:xfrm>
          <a:prstGeom prst="line">
            <a:avLst/>
          </a:prstGeom>
          <a:noFill/>
          <a:ln w="19050">
            <a:solidFill>
              <a:srgbClr val="8896B0"/>
            </a:solidFill>
            <a:prstDash val="solid"/>
          </a:ln>
        </p:spPr>
      </p:sp>
      <p:sp>
        <p:nvSpPr>
          <p:cNvPr id="9" name="Shape 7"/>
          <p:cNvSpPr/>
          <p:nvPr/>
        </p:nvSpPr>
        <p:spPr>
          <a:xfrm>
            <a:off x="6080760" y="1325880"/>
            <a:ext cx="640080" cy="594360"/>
          </a:xfrm>
          <a:prstGeom prst="line">
            <a:avLst/>
          </a:prstGeom>
          <a:noFill/>
          <a:ln w="19050">
            <a:solidFill>
              <a:srgbClr val="8896B0"/>
            </a:solidFill>
            <a:prstDash val="solid"/>
          </a:ln>
        </p:spPr>
      </p:sp>
      <p:sp>
        <p:nvSpPr>
          <p:cNvPr id="10" name="Shape 8"/>
          <p:cNvSpPr/>
          <p:nvPr/>
        </p:nvSpPr>
        <p:spPr>
          <a:xfrm flipH="1">
            <a:off x="594360" y="1920240"/>
            <a:ext cx="457200" cy="594360"/>
          </a:xfrm>
          <a:prstGeom prst="line">
            <a:avLst/>
          </a:prstGeom>
          <a:noFill/>
          <a:ln w="19050">
            <a:solidFill>
              <a:srgbClr val="8896B0"/>
            </a:solidFill>
            <a:prstDash val="solid"/>
          </a:ln>
        </p:spPr>
      </p:sp>
      <p:sp>
        <p:nvSpPr>
          <p:cNvPr id="11" name="Shape 9"/>
          <p:cNvSpPr/>
          <p:nvPr/>
        </p:nvSpPr>
        <p:spPr>
          <a:xfrm flipH="1">
            <a:off x="4983480" y="1920240"/>
            <a:ext cx="457200" cy="594360"/>
          </a:xfrm>
          <a:prstGeom prst="line">
            <a:avLst/>
          </a:prstGeom>
          <a:noFill/>
          <a:ln w="19050">
            <a:solidFill>
              <a:srgbClr val="8896B0"/>
            </a:solidFill>
            <a:prstDash val="solid"/>
          </a:ln>
        </p:spPr>
      </p:sp>
      <p:sp>
        <p:nvSpPr>
          <p:cNvPr id="12" name="Shape 10"/>
          <p:cNvSpPr/>
          <p:nvPr/>
        </p:nvSpPr>
        <p:spPr>
          <a:xfrm>
            <a:off x="1051560" y="1920240"/>
            <a:ext cx="320040" cy="594360"/>
          </a:xfrm>
          <a:prstGeom prst="line">
            <a:avLst/>
          </a:prstGeom>
          <a:noFill/>
          <a:ln w="19050">
            <a:solidFill>
              <a:srgbClr val="8896B0"/>
            </a:solidFill>
            <a:prstDash val="solid"/>
          </a:ln>
        </p:spPr>
      </p:sp>
      <p:sp>
        <p:nvSpPr>
          <p:cNvPr id="13" name="Shape 11"/>
          <p:cNvSpPr/>
          <p:nvPr/>
        </p:nvSpPr>
        <p:spPr>
          <a:xfrm>
            <a:off x="5440680" y="1920240"/>
            <a:ext cx="320040" cy="594360"/>
          </a:xfrm>
          <a:prstGeom prst="line">
            <a:avLst/>
          </a:prstGeom>
          <a:noFill/>
          <a:ln w="19050">
            <a:solidFill>
              <a:srgbClr val="8896B0"/>
            </a:solidFill>
            <a:prstDash val="solid"/>
          </a:ln>
        </p:spPr>
      </p:sp>
      <p:sp>
        <p:nvSpPr>
          <p:cNvPr id="14" name="Shape 12"/>
          <p:cNvSpPr/>
          <p:nvPr/>
        </p:nvSpPr>
        <p:spPr>
          <a:xfrm flipH="1">
            <a:off x="2011680" y="1920240"/>
            <a:ext cx="320040" cy="594360"/>
          </a:xfrm>
          <a:prstGeom prst="line">
            <a:avLst/>
          </a:prstGeom>
          <a:noFill/>
          <a:ln w="19050">
            <a:solidFill>
              <a:srgbClr val="8896B0"/>
            </a:solidFill>
            <a:prstDash val="solid"/>
          </a:ln>
        </p:spPr>
      </p:sp>
      <p:sp>
        <p:nvSpPr>
          <p:cNvPr id="15" name="Shape 13"/>
          <p:cNvSpPr/>
          <p:nvPr/>
        </p:nvSpPr>
        <p:spPr>
          <a:xfrm flipH="1">
            <a:off x="6400800" y="1920240"/>
            <a:ext cx="320040" cy="594360"/>
          </a:xfrm>
          <a:prstGeom prst="line">
            <a:avLst/>
          </a:prstGeom>
          <a:noFill/>
          <a:ln w="19050">
            <a:solidFill>
              <a:srgbClr val="8896B0"/>
            </a:solidFill>
            <a:prstDash val="solid"/>
          </a:ln>
        </p:spPr>
      </p:sp>
      <p:sp>
        <p:nvSpPr>
          <p:cNvPr id="16" name="Shape 14"/>
          <p:cNvSpPr/>
          <p:nvPr/>
        </p:nvSpPr>
        <p:spPr>
          <a:xfrm>
            <a:off x="2331720" y="1920240"/>
            <a:ext cx="365760" cy="594360"/>
          </a:xfrm>
          <a:prstGeom prst="line">
            <a:avLst/>
          </a:prstGeom>
          <a:noFill/>
          <a:ln w="19050">
            <a:solidFill>
              <a:srgbClr val="8896B0"/>
            </a:solidFill>
            <a:prstDash val="solid"/>
          </a:ln>
        </p:spPr>
      </p:sp>
      <p:sp>
        <p:nvSpPr>
          <p:cNvPr id="17" name="Shape 15"/>
          <p:cNvSpPr/>
          <p:nvPr/>
        </p:nvSpPr>
        <p:spPr>
          <a:xfrm>
            <a:off x="6720840" y="1920240"/>
            <a:ext cx="365760" cy="594360"/>
          </a:xfrm>
          <a:prstGeom prst="line">
            <a:avLst/>
          </a:prstGeom>
          <a:noFill/>
          <a:ln w="19050">
            <a:solidFill>
              <a:srgbClr val="8896B0"/>
            </a:solidFill>
            <a:prstDash val="solid"/>
          </a:ln>
        </p:spPr>
      </p:sp>
      <p:sp>
        <p:nvSpPr>
          <p:cNvPr id="18" name="Shape 16"/>
          <p:cNvSpPr/>
          <p:nvPr/>
        </p:nvSpPr>
        <p:spPr>
          <a:xfrm flipV="1">
            <a:off x="1371600" y="1325880"/>
            <a:ext cx="320040" cy="1188720"/>
          </a:xfrm>
          <a:prstGeom prst="line">
            <a:avLst/>
          </a:prstGeom>
          <a:noFill/>
          <a:ln w="15875">
            <a:solidFill>
              <a:srgbClr val="D4A017"/>
            </a:solidFill>
            <a:prstDash val="dash"/>
          </a:ln>
        </p:spPr>
      </p:sp>
      <p:sp>
        <p:nvSpPr>
          <p:cNvPr id="19" name="Shape 17"/>
          <p:cNvSpPr/>
          <p:nvPr/>
        </p:nvSpPr>
        <p:spPr>
          <a:xfrm flipV="1">
            <a:off x="5760720" y="1325880"/>
            <a:ext cx="320040" cy="1188720"/>
          </a:xfrm>
          <a:prstGeom prst="line">
            <a:avLst/>
          </a:prstGeom>
          <a:noFill/>
          <a:ln w="15875">
            <a:solidFill>
              <a:srgbClr val="D4A017"/>
            </a:solidFill>
            <a:prstDash val="dash"/>
          </a:ln>
        </p:spPr>
      </p:sp>
      <p:sp>
        <p:nvSpPr>
          <p:cNvPr id="20" name="Shape 18"/>
          <p:cNvSpPr/>
          <p:nvPr/>
        </p:nvSpPr>
        <p:spPr>
          <a:xfrm flipH="1" flipV="1">
            <a:off x="6080760" y="1325880"/>
            <a:ext cx="320040" cy="1188720"/>
          </a:xfrm>
          <a:prstGeom prst="line">
            <a:avLst/>
          </a:prstGeom>
          <a:noFill/>
          <a:ln w="15875">
            <a:solidFill>
              <a:srgbClr val="D4A017"/>
            </a:solidFill>
            <a:prstDash val="dash"/>
          </a:ln>
        </p:spPr>
      </p:sp>
      <p:sp>
        <p:nvSpPr>
          <p:cNvPr id="21" name="Shape 19"/>
          <p:cNvSpPr/>
          <p:nvPr/>
        </p:nvSpPr>
        <p:spPr>
          <a:xfrm>
            <a:off x="420624" y="2340864"/>
            <a:ext cx="347472" cy="347472"/>
          </a:xfrm>
          <a:prstGeom prst="ellipse">
            <a:avLst/>
          </a:prstGeom>
          <a:solidFill>
            <a:srgbClr val="028090"/>
          </a:solidFill>
          <a:ln w="15240">
            <a:solidFill>
              <a:srgbClr val="1E2761"/>
            </a:solidFill>
            <a:prstDash val="solid"/>
          </a:ln>
        </p:spPr>
      </p:sp>
      <p:sp>
        <p:nvSpPr>
          <p:cNvPr id="22" name="Text 20"/>
          <p:cNvSpPr/>
          <p:nvPr/>
        </p:nvSpPr>
        <p:spPr>
          <a:xfrm>
            <a:off x="420624" y="234086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20</a:t>
            </a:r>
            <a:endParaRPr lang="en-US" sz="1250" dirty="0"/>
          </a:p>
        </p:txBody>
      </p:sp>
      <p:sp>
        <p:nvSpPr>
          <p:cNvPr id="23" name="Shape 21"/>
          <p:cNvSpPr/>
          <p:nvPr/>
        </p:nvSpPr>
        <p:spPr>
          <a:xfrm>
            <a:off x="877824" y="1746504"/>
            <a:ext cx="347472" cy="347472"/>
          </a:xfrm>
          <a:prstGeom prst="ellipse">
            <a:avLst/>
          </a:prstGeom>
          <a:solidFill>
            <a:srgbClr val="028090"/>
          </a:solidFill>
          <a:ln w="15240">
            <a:solidFill>
              <a:srgbClr val="1E2761"/>
            </a:solidFill>
            <a:prstDash val="solid"/>
          </a:ln>
        </p:spPr>
      </p:sp>
      <p:sp>
        <p:nvSpPr>
          <p:cNvPr id="24" name="Text 22"/>
          <p:cNvSpPr/>
          <p:nvPr/>
        </p:nvSpPr>
        <p:spPr>
          <a:xfrm>
            <a:off x="877824" y="174650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30</a:t>
            </a:r>
            <a:endParaRPr lang="en-US" sz="1250" dirty="0"/>
          </a:p>
        </p:txBody>
      </p:sp>
      <p:sp>
        <p:nvSpPr>
          <p:cNvPr id="25" name="Shape 23"/>
          <p:cNvSpPr/>
          <p:nvPr/>
        </p:nvSpPr>
        <p:spPr>
          <a:xfrm>
            <a:off x="1197864" y="2340864"/>
            <a:ext cx="347472" cy="347472"/>
          </a:xfrm>
          <a:prstGeom prst="ellipse">
            <a:avLst/>
          </a:prstGeom>
          <a:solidFill>
            <a:srgbClr val="028090"/>
          </a:solidFill>
          <a:ln w="15240">
            <a:solidFill>
              <a:srgbClr val="1E2761"/>
            </a:solidFill>
            <a:prstDash val="solid"/>
          </a:ln>
        </p:spPr>
      </p:sp>
      <p:sp>
        <p:nvSpPr>
          <p:cNvPr id="26" name="Text 24"/>
          <p:cNvSpPr/>
          <p:nvPr/>
        </p:nvSpPr>
        <p:spPr>
          <a:xfrm>
            <a:off x="1197864" y="234086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40</a:t>
            </a:r>
            <a:endParaRPr lang="en-US" sz="1250" dirty="0"/>
          </a:p>
        </p:txBody>
      </p:sp>
      <p:sp>
        <p:nvSpPr>
          <p:cNvPr id="27" name="Shape 25"/>
          <p:cNvSpPr/>
          <p:nvPr/>
        </p:nvSpPr>
        <p:spPr>
          <a:xfrm>
            <a:off x="1517904" y="1152144"/>
            <a:ext cx="347472" cy="347472"/>
          </a:xfrm>
          <a:prstGeom prst="ellipse">
            <a:avLst/>
          </a:prstGeom>
          <a:solidFill>
            <a:srgbClr val="D4A017"/>
          </a:solidFill>
          <a:ln w="15240">
            <a:solidFill>
              <a:srgbClr val="1E2761"/>
            </a:solidFill>
            <a:prstDash val="solid"/>
          </a:ln>
        </p:spPr>
      </p:sp>
      <p:sp>
        <p:nvSpPr>
          <p:cNvPr id="28" name="Text 26"/>
          <p:cNvSpPr/>
          <p:nvPr/>
        </p:nvSpPr>
        <p:spPr>
          <a:xfrm>
            <a:off x="1517904" y="115214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50</a:t>
            </a:r>
            <a:endParaRPr lang="en-US" sz="1250" dirty="0"/>
          </a:p>
        </p:txBody>
      </p:sp>
      <p:sp>
        <p:nvSpPr>
          <p:cNvPr id="29" name="Shape 27"/>
          <p:cNvSpPr/>
          <p:nvPr/>
        </p:nvSpPr>
        <p:spPr>
          <a:xfrm>
            <a:off x="1837944" y="2340864"/>
            <a:ext cx="347472" cy="347472"/>
          </a:xfrm>
          <a:prstGeom prst="ellipse">
            <a:avLst/>
          </a:prstGeom>
          <a:solidFill>
            <a:srgbClr val="028090"/>
          </a:solidFill>
          <a:ln w="15240">
            <a:solidFill>
              <a:srgbClr val="1E2761"/>
            </a:solidFill>
            <a:prstDash val="solid"/>
          </a:ln>
        </p:spPr>
      </p:sp>
      <p:sp>
        <p:nvSpPr>
          <p:cNvPr id="30" name="Text 28"/>
          <p:cNvSpPr/>
          <p:nvPr/>
        </p:nvSpPr>
        <p:spPr>
          <a:xfrm>
            <a:off x="1837944" y="234086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60</a:t>
            </a:r>
            <a:endParaRPr lang="en-US" sz="1250" dirty="0"/>
          </a:p>
        </p:txBody>
      </p:sp>
      <p:sp>
        <p:nvSpPr>
          <p:cNvPr id="31" name="Shape 29"/>
          <p:cNvSpPr/>
          <p:nvPr/>
        </p:nvSpPr>
        <p:spPr>
          <a:xfrm>
            <a:off x="2157984" y="1746504"/>
            <a:ext cx="347472" cy="347472"/>
          </a:xfrm>
          <a:prstGeom prst="ellipse">
            <a:avLst/>
          </a:prstGeom>
          <a:solidFill>
            <a:srgbClr val="028090"/>
          </a:solidFill>
          <a:ln w="15240">
            <a:solidFill>
              <a:srgbClr val="1E2761"/>
            </a:solidFill>
            <a:prstDash val="solid"/>
          </a:ln>
        </p:spPr>
      </p:sp>
      <p:sp>
        <p:nvSpPr>
          <p:cNvPr id="32" name="Text 30"/>
          <p:cNvSpPr/>
          <p:nvPr/>
        </p:nvSpPr>
        <p:spPr>
          <a:xfrm>
            <a:off x="2157984" y="174650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70</a:t>
            </a:r>
            <a:endParaRPr lang="en-US" sz="1250" dirty="0"/>
          </a:p>
        </p:txBody>
      </p:sp>
      <p:sp>
        <p:nvSpPr>
          <p:cNvPr id="33" name="Shape 31"/>
          <p:cNvSpPr/>
          <p:nvPr/>
        </p:nvSpPr>
        <p:spPr>
          <a:xfrm>
            <a:off x="2523744" y="2340864"/>
            <a:ext cx="347472" cy="347472"/>
          </a:xfrm>
          <a:prstGeom prst="ellipse">
            <a:avLst/>
          </a:prstGeom>
          <a:solidFill>
            <a:srgbClr val="028090"/>
          </a:solidFill>
          <a:ln w="15240">
            <a:solidFill>
              <a:srgbClr val="1E2761"/>
            </a:solidFill>
            <a:prstDash val="solid"/>
          </a:ln>
        </p:spPr>
      </p:sp>
      <p:sp>
        <p:nvSpPr>
          <p:cNvPr id="34" name="Text 32"/>
          <p:cNvSpPr/>
          <p:nvPr/>
        </p:nvSpPr>
        <p:spPr>
          <a:xfrm>
            <a:off x="2523744" y="234086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80</a:t>
            </a:r>
            <a:endParaRPr lang="en-US" sz="1250" dirty="0"/>
          </a:p>
        </p:txBody>
      </p:sp>
      <p:sp>
        <p:nvSpPr>
          <p:cNvPr id="35" name="Shape 33"/>
          <p:cNvSpPr/>
          <p:nvPr/>
        </p:nvSpPr>
        <p:spPr>
          <a:xfrm>
            <a:off x="4809744" y="2340864"/>
            <a:ext cx="347472" cy="347472"/>
          </a:xfrm>
          <a:prstGeom prst="ellipse">
            <a:avLst/>
          </a:prstGeom>
          <a:solidFill>
            <a:srgbClr val="028090"/>
          </a:solidFill>
          <a:ln w="15240">
            <a:solidFill>
              <a:srgbClr val="1E2761"/>
            </a:solidFill>
            <a:prstDash val="solid"/>
          </a:ln>
        </p:spPr>
      </p:sp>
      <p:sp>
        <p:nvSpPr>
          <p:cNvPr id="36" name="Text 34"/>
          <p:cNvSpPr/>
          <p:nvPr/>
        </p:nvSpPr>
        <p:spPr>
          <a:xfrm>
            <a:off x="4809744" y="234086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20</a:t>
            </a:r>
            <a:endParaRPr lang="en-US" sz="1250" dirty="0"/>
          </a:p>
        </p:txBody>
      </p:sp>
      <p:sp>
        <p:nvSpPr>
          <p:cNvPr id="37" name="Shape 35"/>
          <p:cNvSpPr/>
          <p:nvPr/>
        </p:nvSpPr>
        <p:spPr>
          <a:xfrm>
            <a:off x="5266944" y="1746504"/>
            <a:ext cx="347472" cy="347472"/>
          </a:xfrm>
          <a:prstGeom prst="ellipse">
            <a:avLst/>
          </a:prstGeom>
          <a:solidFill>
            <a:srgbClr val="028090"/>
          </a:solidFill>
          <a:ln w="15240">
            <a:solidFill>
              <a:srgbClr val="1E2761"/>
            </a:solidFill>
            <a:prstDash val="solid"/>
          </a:ln>
        </p:spPr>
      </p:sp>
      <p:sp>
        <p:nvSpPr>
          <p:cNvPr id="38" name="Text 36"/>
          <p:cNvSpPr/>
          <p:nvPr/>
        </p:nvSpPr>
        <p:spPr>
          <a:xfrm>
            <a:off x="5266944" y="174650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30</a:t>
            </a:r>
            <a:endParaRPr lang="en-US" sz="1250" dirty="0"/>
          </a:p>
        </p:txBody>
      </p:sp>
      <p:sp>
        <p:nvSpPr>
          <p:cNvPr id="39" name="Shape 37"/>
          <p:cNvSpPr/>
          <p:nvPr/>
        </p:nvSpPr>
        <p:spPr>
          <a:xfrm>
            <a:off x="5586984" y="2340864"/>
            <a:ext cx="347472" cy="347472"/>
          </a:xfrm>
          <a:prstGeom prst="ellipse">
            <a:avLst/>
          </a:prstGeom>
          <a:solidFill>
            <a:srgbClr val="028090"/>
          </a:solidFill>
          <a:ln w="15240">
            <a:solidFill>
              <a:srgbClr val="1E2761"/>
            </a:solidFill>
            <a:prstDash val="solid"/>
          </a:ln>
        </p:spPr>
      </p:sp>
      <p:sp>
        <p:nvSpPr>
          <p:cNvPr id="40" name="Text 38"/>
          <p:cNvSpPr/>
          <p:nvPr/>
        </p:nvSpPr>
        <p:spPr>
          <a:xfrm>
            <a:off x="5586984" y="234086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40</a:t>
            </a:r>
            <a:endParaRPr lang="en-US" sz="1250" dirty="0"/>
          </a:p>
        </p:txBody>
      </p:sp>
      <p:sp>
        <p:nvSpPr>
          <p:cNvPr id="41" name="Shape 39"/>
          <p:cNvSpPr/>
          <p:nvPr/>
        </p:nvSpPr>
        <p:spPr>
          <a:xfrm>
            <a:off x="5907024" y="1152144"/>
            <a:ext cx="347472" cy="347472"/>
          </a:xfrm>
          <a:prstGeom prst="ellipse">
            <a:avLst/>
          </a:prstGeom>
          <a:solidFill>
            <a:srgbClr val="D4A017"/>
          </a:solidFill>
          <a:ln w="15240">
            <a:solidFill>
              <a:srgbClr val="1E2761"/>
            </a:solidFill>
            <a:prstDash val="solid"/>
          </a:ln>
        </p:spPr>
      </p:sp>
      <p:sp>
        <p:nvSpPr>
          <p:cNvPr id="42" name="Text 40"/>
          <p:cNvSpPr/>
          <p:nvPr/>
        </p:nvSpPr>
        <p:spPr>
          <a:xfrm>
            <a:off x="5907024" y="115214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50</a:t>
            </a:r>
            <a:endParaRPr lang="en-US" sz="1250" dirty="0"/>
          </a:p>
        </p:txBody>
      </p:sp>
      <p:sp>
        <p:nvSpPr>
          <p:cNvPr id="43" name="Shape 41"/>
          <p:cNvSpPr/>
          <p:nvPr/>
        </p:nvSpPr>
        <p:spPr>
          <a:xfrm>
            <a:off x="6227064" y="2340864"/>
            <a:ext cx="347472" cy="347472"/>
          </a:xfrm>
          <a:prstGeom prst="ellipse">
            <a:avLst/>
          </a:prstGeom>
          <a:solidFill>
            <a:srgbClr val="028090"/>
          </a:solidFill>
          <a:ln w="15240">
            <a:solidFill>
              <a:srgbClr val="1E2761"/>
            </a:solidFill>
            <a:prstDash val="solid"/>
          </a:ln>
        </p:spPr>
      </p:sp>
      <p:sp>
        <p:nvSpPr>
          <p:cNvPr id="44" name="Text 42"/>
          <p:cNvSpPr/>
          <p:nvPr/>
        </p:nvSpPr>
        <p:spPr>
          <a:xfrm>
            <a:off x="6227064" y="234086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60</a:t>
            </a:r>
            <a:endParaRPr lang="en-US" sz="1250" dirty="0"/>
          </a:p>
        </p:txBody>
      </p:sp>
      <p:sp>
        <p:nvSpPr>
          <p:cNvPr id="45" name="Shape 43"/>
          <p:cNvSpPr/>
          <p:nvPr/>
        </p:nvSpPr>
        <p:spPr>
          <a:xfrm>
            <a:off x="6547104" y="1746504"/>
            <a:ext cx="347472" cy="347472"/>
          </a:xfrm>
          <a:prstGeom prst="ellipse">
            <a:avLst/>
          </a:prstGeom>
          <a:solidFill>
            <a:srgbClr val="028090"/>
          </a:solidFill>
          <a:ln w="15240">
            <a:solidFill>
              <a:srgbClr val="1E2761"/>
            </a:solidFill>
            <a:prstDash val="solid"/>
          </a:ln>
        </p:spPr>
      </p:sp>
      <p:sp>
        <p:nvSpPr>
          <p:cNvPr id="46" name="Text 44"/>
          <p:cNvSpPr/>
          <p:nvPr/>
        </p:nvSpPr>
        <p:spPr>
          <a:xfrm>
            <a:off x="6547104" y="174650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70</a:t>
            </a:r>
            <a:endParaRPr lang="en-US" sz="1250" dirty="0"/>
          </a:p>
        </p:txBody>
      </p:sp>
      <p:sp>
        <p:nvSpPr>
          <p:cNvPr id="47" name="Shape 45"/>
          <p:cNvSpPr/>
          <p:nvPr/>
        </p:nvSpPr>
        <p:spPr>
          <a:xfrm>
            <a:off x="6912864" y="2340864"/>
            <a:ext cx="347472" cy="347472"/>
          </a:xfrm>
          <a:prstGeom prst="ellipse">
            <a:avLst/>
          </a:prstGeom>
          <a:solidFill>
            <a:srgbClr val="028090"/>
          </a:solidFill>
          <a:ln w="15240">
            <a:solidFill>
              <a:srgbClr val="1E2761"/>
            </a:solidFill>
            <a:prstDash val="solid"/>
          </a:ln>
        </p:spPr>
      </p:sp>
      <p:sp>
        <p:nvSpPr>
          <p:cNvPr id="48" name="Text 46"/>
          <p:cNvSpPr/>
          <p:nvPr/>
        </p:nvSpPr>
        <p:spPr>
          <a:xfrm>
            <a:off x="6912864" y="2340864"/>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80</a:t>
            </a:r>
            <a:endParaRPr lang="en-US" sz="1250" dirty="0"/>
          </a:p>
        </p:txBody>
      </p:sp>
      <p:sp>
        <p:nvSpPr>
          <p:cNvPr id="49" name="Text 47"/>
          <p:cNvSpPr/>
          <p:nvPr/>
        </p:nvSpPr>
        <p:spPr>
          <a:xfrm>
            <a:off x="274320" y="2880360"/>
            <a:ext cx="3017520" cy="274320"/>
          </a:xfrm>
          <a:prstGeom prst="rect">
            <a:avLst/>
          </a:prstGeom>
          <a:noFill/>
          <a:ln/>
        </p:spPr>
        <p:txBody>
          <a:bodyPr wrap="square" lIns="0" tIns="0" rIns="0" bIns="0" rtlCol="0" anchor="ctr"/>
          <a:lstStyle/>
          <a:p>
            <a:pPr algn="ctr" indent="0" marL="0">
              <a:buNone/>
            </a:pPr>
            <a:r>
              <a:rPr lang="en-US" sz="1050" b="1" dirty="0">
                <a:solidFill>
                  <a:srgbClr val="028090"/>
                </a:solidFill>
                <a:latin typeface="Calibri" pitchFamily="34" charset="0"/>
                <a:ea typeface="Calibri" pitchFamily="34" charset="-122"/>
                <a:cs typeface="Calibri" pitchFamily="34" charset="-120"/>
              </a:rPr>
              <a:t>SINGLE (right) threaded — 1 visible thread</a:t>
            </a:r>
            <a:endParaRPr lang="en-US" sz="1050" dirty="0"/>
          </a:p>
        </p:txBody>
      </p:sp>
      <p:sp>
        <p:nvSpPr>
          <p:cNvPr id="50" name="Text 48"/>
          <p:cNvSpPr/>
          <p:nvPr/>
        </p:nvSpPr>
        <p:spPr>
          <a:xfrm>
            <a:off x="4663440" y="2880360"/>
            <a:ext cx="3017520" cy="274320"/>
          </a:xfrm>
          <a:prstGeom prst="rect">
            <a:avLst/>
          </a:prstGeom>
          <a:noFill/>
          <a:ln/>
        </p:spPr>
        <p:txBody>
          <a:bodyPr wrap="square" lIns="0" tIns="0" rIns="0" bIns="0" rtlCol="0" anchor="ctr"/>
          <a:lstStyle/>
          <a:p>
            <a:pPr algn="ctr" indent="0" marL="0">
              <a:buNone/>
            </a:pPr>
            <a:r>
              <a:rPr lang="en-US" sz="1050" b="1" dirty="0">
                <a:solidFill>
                  <a:srgbClr val="D4A017"/>
                </a:solidFill>
                <a:latin typeface="Calibri" pitchFamily="34" charset="0"/>
                <a:ea typeface="Calibri" pitchFamily="34" charset="-122"/>
                <a:cs typeface="Calibri" pitchFamily="34" charset="-120"/>
              </a:rPr>
              <a:t>DOUBLE threaded — 2 visible threads</a:t>
            </a:r>
            <a:endParaRPr lang="en-US" sz="1050" dirty="0"/>
          </a:p>
        </p:txBody>
      </p:sp>
      <p:sp>
        <p:nvSpPr>
          <p:cNvPr id="51" name="Shape 49"/>
          <p:cNvSpPr/>
          <p:nvPr/>
        </p:nvSpPr>
        <p:spPr>
          <a:xfrm>
            <a:off x="457200" y="3337560"/>
            <a:ext cx="8229600" cy="1234440"/>
          </a:xfrm>
          <a:prstGeom prst="roundRect">
            <a:avLst>
              <a:gd name="adj" fmla="val 5185"/>
            </a:avLst>
          </a:prstGeom>
          <a:solidFill>
            <a:srgbClr val="F0F7F7"/>
          </a:solidFill>
          <a:ln w="12700">
            <a:solidFill>
              <a:srgbClr val="028090"/>
            </a:solidFill>
            <a:prstDash val="solid"/>
          </a:ln>
        </p:spPr>
      </p:sp>
      <p:sp>
        <p:nvSpPr>
          <p:cNvPr id="52" name="Text 50"/>
          <p:cNvSpPr/>
          <p:nvPr/>
        </p:nvSpPr>
        <p:spPr>
          <a:xfrm>
            <a:off x="603504" y="3401568"/>
            <a:ext cx="7936992" cy="1106424"/>
          </a:xfrm>
          <a:prstGeom prst="rect">
            <a:avLst/>
          </a:prstGeom>
          <a:noFill/>
          <a:ln/>
        </p:spPr>
        <p:txBody>
          <a:bodyPr wrap="square" lIns="0" tIns="0" rIns="0" bIns="0" rtlCol="0" anchor="ctr"/>
          <a:lstStyle/>
          <a:p>
            <a:pPr indent="0" marL="0">
              <a:buNone/>
            </a:pPr>
            <a:r>
              <a:rPr lang="en-US" sz="1150" dirty="0">
                <a:solidFill>
                  <a:srgbClr val="2B2B2B"/>
                </a:solidFill>
                <a:latin typeface="Calibri" pitchFamily="34" charset="0"/>
                <a:ea typeface="Calibri" pitchFamily="34" charset="-122"/>
                <a:cs typeface="Calibri" pitchFamily="34" charset="-120"/>
              </a:rPr>
              <a:t>The right half of the tree gained NOTHING new in this view — 60→70 and 80→NULL already existed. The only change is the ONE new left thread, 60→50, appearing on the right diagram. Doubling a tree's threading does not double its thread COUNT; it only adds whatever left-side relationships were still missing.</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01168"/>
            <a:ext cx="6400800"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THREADED BINARY TREES</a:t>
            </a:r>
            <a:endParaRPr lang="en-US" sz="1100" dirty="0"/>
          </a:p>
        </p:txBody>
      </p:sp>
      <p:sp>
        <p:nvSpPr>
          <p:cNvPr id="3" name="Text 1"/>
          <p:cNvSpPr/>
          <p:nvPr/>
        </p:nvSpPr>
        <p:spPr>
          <a:xfrm>
            <a:off x="457200" y="438912"/>
            <a:ext cx="822960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Single vs Double — the trade-off</a:t>
            </a:r>
            <a:endParaRPr lang="en-US" sz="22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011680"/>
                <a:gridCol w="3108960"/>
                <a:gridCol w="3108960"/>
              </a:tblGrid>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Aspect</a:t>
                      </a:r>
                      <a:endParaRPr lang="en-US" sz="11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Single (right) threaded</a:t>
                      </a:r>
                      <a:endParaRPr lang="en-US" sz="11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Double threaded</a:t>
                      </a:r>
                      <a:endParaRPr lang="en-US" sz="11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r>
              <a:tr h="566928">
                <a:tc>
                  <a:txBody>
                    <a:bodyPr/>
                    <a:lstStyle/>
                    <a:p>
                      <a:pPr algn="l" indent="0" marL="0">
                        <a:buNone/>
                      </a:pPr>
                      <a:r>
                        <a:rPr lang="en-US" sz="1050" b="1" dirty="0">
                          <a:solidFill>
                            <a:srgbClr val="028090"/>
                          </a:solidFill>
                          <a:latin typeface="Calibri" pitchFamily="34" charset="0"/>
                          <a:ea typeface="Calibri" pitchFamily="34" charset="-122"/>
                          <a:cs typeface="Calibri" pitchFamily="34" charset="-120"/>
                        </a:rPr>
                        <a:t>Threads added</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Right NULLs only</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Right AND left NULLs</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algn="l" indent="0" marL="0">
                        <a:buNone/>
                      </a:pPr>
                      <a:r>
                        <a:rPr lang="en-US" sz="1050" b="1" dirty="0">
                          <a:solidFill>
                            <a:srgbClr val="028090"/>
                          </a:solidFill>
                          <a:latin typeface="Calibri" pitchFamily="34" charset="0"/>
                          <a:ea typeface="Calibri" pitchFamily="34" charset="-122"/>
                          <a:cs typeface="Calibri" pitchFamily="34" charset="-120"/>
                        </a:rPr>
                        <a:t>Traversal directions</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Forward (inorder) only</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Forward AND backward</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algn="l" indent="0" marL="0">
                        <a:buNone/>
                      </a:pPr>
                      <a:r>
                        <a:rPr lang="en-US" sz="1050" b="1" dirty="0">
                          <a:solidFill>
                            <a:srgbClr val="028090"/>
                          </a:solidFill>
                          <a:latin typeface="Calibri" pitchFamily="34" charset="0"/>
                          <a:ea typeface="Calibri" pitchFamily="34" charset="-122"/>
                          <a:cs typeface="Calibri" pitchFamily="34" charset="-120"/>
                        </a:rPr>
                        <a:t>Finding a predecessor</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Not directly possible</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Direct — follow left thread/pointer</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algn="l" indent="0" marL="0">
                        <a:buNone/>
                      </a:pPr>
                      <a:r>
                        <a:rPr lang="en-US" sz="1050" b="1" dirty="0">
                          <a:solidFill>
                            <a:srgbClr val="028090"/>
                          </a:solidFill>
                          <a:latin typeface="Calibri" pitchFamily="34" charset="0"/>
                          <a:ea typeface="Calibri" pitchFamily="34" charset="-122"/>
                          <a:cs typeface="Calibri" pitchFamily="34" charset="-120"/>
                        </a:rPr>
                        <a:t>Extra flag bits per node</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1 (rightThread)</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2 (leftThread, rightThread)</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algn="l" indent="0" marL="0">
                        <a:buNone/>
                      </a:pPr>
                      <a:r>
                        <a:rPr lang="en-US" sz="1050" b="1" dirty="0">
                          <a:solidFill>
                            <a:srgbClr val="028090"/>
                          </a:solidFill>
                          <a:latin typeface="Calibri" pitchFamily="34" charset="0"/>
                          <a:ea typeface="Calibri" pitchFamily="34" charset="-122"/>
                          <a:cs typeface="Calibri" pitchFamily="34" charset="-120"/>
                        </a:rPr>
                        <a:t>Typical use</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Simple forward iteration</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B2B2B"/>
                          </a:solidFill>
                          <a:latin typeface="Calibri" pitchFamily="34" charset="0"/>
                          <a:ea typeface="Calibri" pitchFamily="34" charset="-122"/>
                          <a:cs typeface="Calibri" pitchFamily="34" charset="-120"/>
                        </a:rPr>
                        <a:t>Editors, undo/redo-style backward steps</a:t>
                      </a:r>
                      <a:endParaRPr lang="en-US" sz="105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457200"/>
            <a:ext cx="7863840" cy="274320"/>
          </a:xfrm>
          <a:prstGeom prst="rect">
            <a:avLst/>
          </a:prstGeom>
          <a:noFill/>
          <a:ln/>
        </p:spPr>
        <p:txBody>
          <a:bodyPr wrap="square" lIns="0" tIns="0" rIns="0" bIns="0" rtlCol="0" anchor="ctr"/>
          <a:lstStyle/>
          <a:p>
            <a:pPr indent="0" marL="0">
              <a:buNone/>
            </a:pPr>
            <a:r>
              <a:rPr lang="en-US" sz="1100" b="1" spc="200" kern="0" dirty="0">
                <a:solidFill>
                  <a:srgbClr val="D4A017"/>
                </a:solidFill>
                <a:latin typeface="Calibri" pitchFamily="34" charset="0"/>
                <a:ea typeface="Calibri" pitchFamily="34" charset="-122"/>
                <a:cs typeface="Calibri" pitchFamily="34" charset="-120"/>
              </a:rPr>
              <a:t>SUMMARY</a:t>
            </a:r>
            <a:endParaRPr lang="en-US" sz="1100" dirty="0"/>
          </a:p>
        </p:txBody>
      </p:sp>
      <p:sp>
        <p:nvSpPr>
          <p:cNvPr id="3" name="Text 1"/>
          <p:cNvSpPr/>
          <p:nvPr/>
        </p:nvSpPr>
        <p:spPr>
          <a:xfrm>
            <a:off x="640080" y="758952"/>
            <a:ext cx="7863840" cy="54864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Five shapes, one consistent rule</a:t>
            </a:r>
            <a:endParaRPr lang="en-US" sz="2500" dirty="0"/>
          </a:p>
        </p:txBody>
      </p:sp>
      <p:sp>
        <p:nvSpPr>
          <p:cNvPr id="4" name="Text 2"/>
          <p:cNvSpPr/>
          <p:nvPr/>
        </p:nvSpPr>
        <p:spPr>
          <a:xfrm>
            <a:off x="640080" y="1371600"/>
            <a:ext cx="7863840" cy="228600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CADCFC"/>
                </a:solidFill>
                <a:latin typeface="Calibri" pitchFamily="34" charset="0"/>
                <a:ea typeface="Calibri" pitchFamily="34" charset="-122"/>
                <a:cs typeface="Calibri" pitchFamily="34" charset="-120"/>
              </a:rPr>
              <a:t>Single (right) threaded: only right NULLs become successor-threads. Left NULLs stay untouched.</a:t>
            </a:r>
            <a:endParaRPr lang="en-US" sz="1300" dirty="0"/>
          </a:p>
          <a:p>
            <a:pPr marL="342900" indent="-342900">
              <a:spcAft>
                <a:spcPts val="900"/>
              </a:spcAft>
              <a:buSzPct val="100000"/>
              <a:buChar char="•"/>
            </a:pPr>
            <a:r>
              <a:rPr lang="en-US" sz="1300" dirty="0">
                <a:solidFill>
                  <a:srgbClr val="CADCFC"/>
                </a:solidFill>
                <a:latin typeface="Calibri" pitchFamily="34" charset="0"/>
                <a:ea typeface="Calibri" pitchFamily="34" charset="-122"/>
                <a:cs typeface="Calibri" pitchFamily="34" charset="-120"/>
              </a:rPr>
              <a:t>Double threaded: ADDS left-NULL-to-predecessor threads on top — not a different algorithm, an extra pass over the same rule.</a:t>
            </a:r>
            <a:endParaRPr lang="en-US" sz="1300" dirty="0"/>
          </a:p>
          <a:p>
            <a:pPr marL="342900" indent="-342900">
              <a:spcAft>
                <a:spcPts val="900"/>
              </a:spcAft>
              <a:buSzPct val="100000"/>
              <a:buChar char="•"/>
            </a:pPr>
            <a:r>
              <a:rPr lang="en-US" sz="1300" dirty="0">
                <a:solidFill>
                  <a:srgbClr val="CADCFC"/>
                </a:solidFill>
                <a:latin typeface="Calibri" pitchFamily="34" charset="0"/>
                <a:ea typeface="Calibri" pitchFamily="34" charset="-122"/>
                <a:cs typeface="Calibri" pitchFamily="34" charset="-120"/>
              </a:rPr>
              <a:t>Many threads RETRACE an existing parent edge (skewed trees: every thread does). Only some SKIP past an intermediate node — those are the genuinely new dashed lines.</a:t>
            </a:r>
            <a:endParaRPr lang="en-US" sz="1300" dirty="0"/>
          </a:p>
          <a:p>
            <a:pPr marL="342900" indent="-342900">
              <a:spcAft>
                <a:spcPts val="900"/>
              </a:spcAft>
              <a:buSzPct val="100000"/>
              <a:buChar char="•"/>
            </a:pPr>
            <a:r>
              <a:rPr lang="en-US" sz="1300" dirty="0">
                <a:solidFill>
                  <a:srgbClr val="CADCFC"/>
                </a:solidFill>
                <a:latin typeface="Calibri" pitchFamily="34" charset="0"/>
                <a:ea typeface="Calibri" pitchFamily="34" charset="-122"/>
                <a:cs typeface="Calibri" pitchFamily="34" charset="-120"/>
              </a:rPr>
              <a:t>The first node in inorder always keeps a real NULL on the left; the last node always keeps a real NULL on the right — in both single and double threading.</a:t>
            </a:r>
            <a:endParaRPr lang="en-US" sz="1300" dirty="0"/>
          </a:p>
        </p:txBody>
      </p:sp>
      <p:sp>
        <p:nvSpPr>
          <p:cNvPr id="5" name="Shape 3"/>
          <p:cNvSpPr/>
          <p:nvPr/>
        </p:nvSpPr>
        <p:spPr>
          <a:xfrm>
            <a:off x="640080" y="3794760"/>
            <a:ext cx="7863840" cy="960120"/>
          </a:xfrm>
          <a:prstGeom prst="roundRect">
            <a:avLst>
              <a:gd name="adj" fmla="val 6667"/>
            </a:avLst>
          </a:prstGeom>
          <a:solidFill>
            <a:srgbClr val="2A3575"/>
          </a:solidFill>
          <a:ln w="12700">
            <a:solidFill>
              <a:srgbClr val="D4A017"/>
            </a:solidFill>
            <a:prstDash val="solid"/>
          </a:ln>
        </p:spPr>
      </p:sp>
      <p:sp>
        <p:nvSpPr>
          <p:cNvPr id="6" name="Text 4"/>
          <p:cNvSpPr/>
          <p:nvPr/>
        </p:nvSpPr>
        <p:spPr>
          <a:xfrm>
            <a:off x="868680" y="3886200"/>
            <a:ext cx="7406640" cy="731520"/>
          </a:xfrm>
          <a:prstGeom prst="rect">
            <a:avLst/>
          </a:prstGeom>
          <a:noFill/>
          <a:ln/>
        </p:spPr>
        <p:txBody>
          <a:bodyPr wrap="square" lIns="0" tIns="0" rIns="0" bIns="0" rtlCol="0" anchor="ctr"/>
          <a:lstStyle/>
          <a:p>
            <a:pPr indent="0" marL="0">
              <a:buNone/>
            </a:pPr>
            <a:r>
              <a:rPr lang="en-US" sz="1300" b="1" dirty="0">
                <a:solidFill>
                  <a:srgbClr val="D4A017"/>
                </a:solidFill>
                <a:latin typeface="Calibri" pitchFamily="34" charset="0"/>
                <a:ea typeface="Calibri" pitchFamily="34" charset="-122"/>
                <a:cs typeface="Calibri" pitchFamily="34" charset="-120"/>
              </a:rPr>
              <a:t>PRACTICE   </a:t>
            </a:r>
            <a:pPr indent="0" marL="0">
              <a:buNone/>
            </a:pPr>
            <a:r>
              <a:rPr lang="en-US" sz="1250" dirty="0">
                <a:solidFill>
                  <a:srgbClr val="FFFFFF"/>
                </a:solidFill>
                <a:latin typeface="Calibri" pitchFamily="34" charset="0"/>
                <a:ea typeface="Calibri" pitchFamily="34" charset="-122"/>
                <a:cs typeface="Calibri" pitchFamily="34" charset="-120"/>
              </a:rPr>
              <a:t>Draw a BST from values 15, 10, 20, 8, 12. Thread it (a) single, right only, then (b) double. Which threads retrace a parent edge, and which skip past one?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2026-09-15T07:35:22Z</dcterms:created>
  <dcterms:modified xsi:type="dcterms:W3CDTF">2026-09-15T07:35:22Z</dcterms:modified>
</cp:coreProperties>
</file>