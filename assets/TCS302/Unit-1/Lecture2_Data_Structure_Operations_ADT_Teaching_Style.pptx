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undo custSel modSld">
      <pc:chgData name="SC22D012-Manoj Kaushik 2022-PHD-Earth&amp;SpaceScience" userId="78d50035-fc00-4ea2-995b-b881e10649a1" providerId="ADAL" clId="{29B47332-549A-4FC0-A3ED-D31212E60846}" dt="2026-07-20T08:47:08.604" v="206" actId="1036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7-20T02:31:47.791" v="2" actId="14100"/>
        <pc:sldMkLst>
          <pc:docMk/>
          <pc:sldMk cId="0" sldId="256"/>
        </pc:sldMkLst>
        <pc:spChg chg="mod">
          <ac:chgData name="SC22D012-Manoj Kaushik 2022-PHD-Earth&amp;SpaceScience" userId="78d50035-fc00-4ea2-995b-b881e10649a1" providerId="ADAL" clId="{29B47332-549A-4FC0-A3ED-D31212E60846}" dt="2026-07-20T02:31:47.791" v="2" actId="14100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0T02:32:55.431" v="17" actId="27636"/>
        <pc:sldMkLst>
          <pc:docMk/>
          <pc:sldMk cId="0" sldId="258"/>
        </pc:sldMkLst>
        <pc:spChg chg="mod">
          <ac:chgData name="SC22D012-Manoj Kaushik 2022-PHD-Earth&amp;SpaceScience" userId="78d50035-fc00-4ea2-995b-b881e10649a1" providerId="ADAL" clId="{29B47332-549A-4FC0-A3ED-D31212E60846}" dt="2026-07-20T02:32:55.431" v="17" actId="276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2:32:51.351" v="15" actId="27636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0T08:44:15.093" v="68" actId="1036"/>
        <pc:sldMkLst>
          <pc:docMk/>
          <pc:sldMk cId="0" sldId="268"/>
        </pc:sldMkLst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15.093" v="68" actId="10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4:08.105" v="40" actId="1036"/>
          <ac:spMkLst>
            <pc:docMk/>
            <pc:sldMk cId="0" sldId="268"/>
            <ac:spMk id="34" creationId="{00000000-0000-0000-0000-000000000000}"/>
          </ac:spMkLst>
        </pc:spChg>
      </pc:sldChg>
      <pc:sldChg chg="addSp delSp modSp mod">
        <pc:chgData name="SC22D012-Manoj Kaushik 2022-PHD-Earth&amp;SpaceScience" userId="78d50035-fc00-4ea2-995b-b881e10649a1" providerId="ADAL" clId="{29B47332-549A-4FC0-A3ED-D31212E60846}" dt="2026-07-20T08:46:28.654" v="182" actId="1035"/>
        <pc:sldMkLst>
          <pc:docMk/>
          <pc:sldMk cId="0" sldId="270"/>
        </pc:sldMkLst>
        <pc:spChg chg="mod">
          <ac:chgData name="SC22D012-Manoj Kaushik 2022-PHD-Earth&amp;SpaceScience" userId="78d50035-fc00-4ea2-995b-b881e10649a1" providerId="ADAL" clId="{29B47332-549A-4FC0-A3ED-D31212E60846}" dt="2026-07-20T08:45:37.797" v="69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5:53.662" v="77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6:19.696" v="173" actId="10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6:19.696" v="173" actId="10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6:19.696" v="173" actId="1036"/>
          <ac:spMkLst>
            <pc:docMk/>
            <pc:sldMk cId="0" sldId="270"/>
            <ac:spMk id="11" creationId="{00000000-0000-0000-0000-000000000000}"/>
          </ac:spMkLst>
        </pc:spChg>
        <pc:spChg chg="add del mod">
          <ac:chgData name="SC22D012-Manoj Kaushik 2022-PHD-Earth&amp;SpaceScience" userId="78d50035-fc00-4ea2-995b-b881e10649a1" providerId="ADAL" clId="{29B47332-549A-4FC0-A3ED-D31212E60846}" dt="2026-07-20T08:46:28.654" v="182" actId="103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6:05.829" v="120" actId="1035"/>
          <ac:spMkLst>
            <pc:docMk/>
            <pc:sldMk cId="0" sldId="270"/>
            <ac:spMk id="13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0T08:47:08.604" v="206" actId="1036"/>
        <pc:sldMkLst>
          <pc:docMk/>
          <pc:sldMk cId="0" sldId="271"/>
        </pc:sldMkLst>
        <pc:spChg chg="mod">
          <ac:chgData name="SC22D012-Manoj Kaushik 2022-PHD-Earth&amp;SpaceScience" userId="78d50035-fc00-4ea2-995b-b881e10649a1" providerId="ADAL" clId="{29B47332-549A-4FC0-A3ED-D31212E60846}" dt="2026-07-20T08:47:08.604" v="206" actId="1036"/>
          <ac:spMkLst>
            <pc:docMk/>
            <pc:sldMk cId="0" sldId="271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7:04.539" v="200" actId="1036"/>
          <ac:spMkLst>
            <pc:docMk/>
            <pc:sldMk cId="0" sldId="271"/>
            <ac:spMk id="7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7:04.539" v="200" actId="103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7:04.539" v="200" actId="1036"/>
          <ac:spMkLst>
            <pc:docMk/>
            <pc:sldMk cId="0" sldId="271"/>
            <ac:spMk id="9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7:04.539" v="200" actId="103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7:04.539" v="200" actId="10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0T08:47:04.539" v="200" actId="1036"/>
          <ac:spMkLst>
            <pc:docMk/>
            <pc:sldMk cId="0" sldId="27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4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students. Tell them that Lecture 1 introduced basic data organization. Lecture 2 focuses on the operations and the idea of ADT.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create continuity. Mention that the next lecture will use C features to implement these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short. The goal is to make students clear about the purpose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operation names. Avoid deep complexity details here; focus on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creating a data structure is the first operation. In C, uninitialized variables are a common source of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highlighted cell to show that a loop moves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searching is a common operation in databases, contact lists and student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mutation operations. Explain that they may be costlier than traversal depending on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comparison qualitative here. Detailed complexity will follow in later lectures.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ADT is a major conceptual point. Make sure students understand the separation between interface and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formula for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physical analogy to reinforce LIFO.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interface versus implementation distinction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too deep into pointers yet. Just preview why pointers and structures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futuristic_tech_illustration_i.png"/>
          <p:cNvPicPr>
            <a:picLocks noChangeAspect="1"/>
          </p:cNvPicPr>
          <p:nvPr/>
        </p:nvPicPr>
        <p:blipFill>
          <a:blip r:embed="rId3"/>
          <a:srcRect l="23811" r="23811"/>
          <a:stretch/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/mnt/data/tcs302_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1508760" cy="457200"/>
          </a:xfrm>
          <a:prstGeom prst="rect">
            <a:avLst/>
          </a:prstGeom>
        </p:spPr>
      </p:pic>
      <p:pic>
        <p:nvPicPr>
          <p:cNvPr id="12" name="Image 1" descr="/mnt/data/tcs302_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150876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5C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1, Lecture 2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85800" y="2331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 Operations and ADT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54864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data structures become useful through operations and abstraction.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31520" y="5623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We in Unit 1?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are moving from storing data to working with data.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1975104"/>
            <a:ext cx="26974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terminology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18745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975104"/>
            <a:ext cx="26974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Operations + ADT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66760" y="18745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4EEFF"/>
          </a:solidFill>
          <a:ln w="12700">
            <a:solidFill>
              <a:srgbClr val="D6BB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03920" y="1975104"/>
            <a:ext cx="26974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Pointers + structures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657600"/>
            <a:ext cx="103327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 data structure is not only a storage format.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We must also define what operations are allowed.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ADT helps us separate usage from implementation.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565099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5779008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Question: Is a stack only a pile of data, or also a set of rules?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today’s lecture, students should be able to: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0665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common operations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97280" y="35204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56616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why operation cost matters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20665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6948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Abstract Data Type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0" y="36667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69480" y="35661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 interface from implementation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an Operation?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operation is an action performed on stored data.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3252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4EEFF"/>
          </a:solidFill>
          <a:ln w="12700">
            <a:solidFill>
              <a:srgbClr val="D6BB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86968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19456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EDEE"/>
          </a:solidFill>
          <a:ln w="12700">
            <a:solidFill>
              <a:srgbClr val="FDA2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331720" y="325526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23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3776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325526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8096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818120" y="3255264"/>
            <a:ext cx="20116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475488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Different structures support these operations differently.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Choosing the wrong structure makes the program slower or harder.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and Initialize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using a structure, we must prepare it correctly.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5"/>
          <p:cNvSpPr/>
          <p:nvPr/>
        </p:nvSpPr>
        <p:spPr>
          <a:xfrm>
            <a:off x="914400" y="1783080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marks[5] = {72, 85, 91, 68, 77};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1560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29384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929384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07208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807208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85032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85032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62856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62856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1828800"/>
            <a:ext cx="42976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Creation allocates or reserves space.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Initialization gives meaningful starting values.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Uninitialized data may produce wrong results.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8"/>
          <p:cNvSpPr/>
          <p:nvPr/>
        </p:nvSpPr>
        <p:spPr>
          <a:xfrm>
            <a:off x="1051560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72</a:t>
            </a:r>
            <a:endParaRPr lang="en-US" sz="2000" dirty="0"/>
          </a:p>
        </p:txBody>
      </p:sp>
      <p:sp>
        <p:nvSpPr>
          <p:cNvPr id="41" name="Shape 9"/>
          <p:cNvSpPr/>
          <p:nvPr/>
        </p:nvSpPr>
        <p:spPr>
          <a:xfrm>
            <a:off x="1929384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10"/>
          <p:cNvSpPr/>
          <p:nvPr/>
        </p:nvSpPr>
        <p:spPr>
          <a:xfrm>
            <a:off x="1929384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</a:t>
            </a:r>
            <a:endParaRPr lang="en-US" sz="2000" dirty="0"/>
          </a:p>
        </p:txBody>
      </p:sp>
      <p:sp>
        <p:nvSpPr>
          <p:cNvPr id="43" name="Shape 11"/>
          <p:cNvSpPr/>
          <p:nvPr/>
        </p:nvSpPr>
        <p:spPr>
          <a:xfrm>
            <a:off x="2807208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12"/>
          <p:cNvSpPr/>
          <p:nvPr/>
        </p:nvSpPr>
        <p:spPr>
          <a:xfrm>
            <a:off x="2807208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</a:t>
            </a:r>
            <a:endParaRPr lang="en-US" sz="2000" dirty="0"/>
          </a:p>
        </p:txBody>
      </p:sp>
      <p:sp>
        <p:nvSpPr>
          <p:cNvPr id="45" name="Shape 13"/>
          <p:cNvSpPr/>
          <p:nvPr/>
        </p:nvSpPr>
        <p:spPr>
          <a:xfrm>
            <a:off x="3685032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14"/>
          <p:cNvSpPr/>
          <p:nvPr/>
        </p:nvSpPr>
        <p:spPr>
          <a:xfrm>
            <a:off x="3685032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</a:t>
            </a:r>
            <a:endParaRPr lang="en-US" sz="2000" dirty="0"/>
          </a:p>
        </p:txBody>
      </p:sp>
      <p:sp>
        <p:nvSpPr>
          <p:cNvPr id="47" name="Shape 15"/>
          <p:cNvSpPr/>
          <p:nvPr/>
        </p:nvSpPr>
        <p:spPr>
          <a:xfrm>
            <a:off x="4562856" y="288036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16"/>
          <p:cNvSpPr/>
          <p:nvPr/>
        </p:nvSpPr>
        <p:spPr>
          <a:xfrm>
            <a:off x="4562856" y="30449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</a:t>
            </a:r>
            <a:endParaRPr lang="en-US" sz="2000" dirty="0"/>
          </a:p>
        </p:txBody>
      </p:sp>
      <p:sp>
        <p:nvSpPr>
          <p:cNvPr id="49" name="Text 17"/>
          <p:cNvSpPr/>
          <p:nvPr/>
        </p:nvSpPr>
        <p:spPr>
          <a:xfrm>
            <a:off x="6949440" y="1828800"/>
            <a:ext cx="42976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Creation allocates or reserves space.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Initialization gives meaningful starting values.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Uninitialized data may produce wrong results.</a:t>
            </a:r>
            <a:endParaRPr lang="en-US" sz="2000" dirty="0"/>
          </a:p>
        </p:txBody>
      </p:sp>
      <p:sp>
        <p:nvSpPr>
          <p:cNvPr id="52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Traversal means visiting every element exactly once.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92224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92224" y="217627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0048" y="2011680"/>
            <a:ext cx="841248" cy="566928"/>
          </a:xfrm>
          <a:prstGeom prst="rect">
            <a:avLst/>
          </a:prstGeom>
          <a:solidFill>
            <a:srgbClr val="FFF3E8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70048" y="217627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47872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47872" y="217627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25696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425696" y="217627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92240" y="1645920"/>
            <a:ext cx="4572000" cy="132588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1783080"/>
            <a:ext cx="42976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 ", marks[i]);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1024128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Used for printing, summing and scanning data.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For n elements, each element is visited once.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Time complexity is usually O(n).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56235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5751576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check: Can traversal be O(1) if all n elements must be visited?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Searching means finding an element with a given value or key.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92224" y="192024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92224" y="2084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0048" y="192024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70048" y="2084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47872" y="1920240"/>
            <a:ext cx="841248" cy="566928"/>
          </a:xfrm>
          <a:prstGeom prst="rect">
            <a:avLst/>
          </a:prstGeom>
          <a:solidFill>
            <a:srgbClr val="FFF3E8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47872" y="2084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25696" y="192024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425696" y="20848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= 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512064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Linear search checks elements one by one.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Binary search needs sorted data.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best method depends on data organization.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43600" y="3840480"/>
            <a:ext cx="4297680" cy="9144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8076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(arr[i] == key)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Insert, Delete and Update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operations change the contents of a data structure.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EAFBF2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9264" y="17830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FEDEE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64024" y="17830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23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17373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FF8D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58784" y="17830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28346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Add a new element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May require shifting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May require free space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28346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Remove an element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May require searching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May cause underflow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2743200"/>
            <a:ext cx="28346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Modify an existing 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Needs correct position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Useful in records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57784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51560" y="5705856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example: changing a student’s wrong marks is an update operation.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Operation Cost Matters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operation may be easy in one structure and costly in another.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"/>
          <p:cNvSpPr/>
          <p:nvPr/>
        </p:nvSpPr>
        <p:spPr>
          <a:xfrm>
            <a:off x="1005840" y="1645920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60704" y="169164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43984" y="169164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27264" y="169164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24231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by index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4231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26280" y="252374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0" y="24231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09560" y="252374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5840" y="32004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143000" y="330098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at beginning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89120" y="32004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26280" y="330098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Costly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772400" y="32004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09560" y="330098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0584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43000" y="407822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Traversal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38912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26280" y="407822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7240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909560" y="407822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EDEE"/>
          </a:solidFill>
          <a:ln w="12700">
            <a:solidFill>
              <a:srgbClr val="FDA2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decision: choose the structure according to the most frequent operation.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8"/>
          <p:cNvSpPr/>
          <p:nvPr/>
        </p:nvSpPr>
        <p:spPr>
          <a:xfrm>
            <a:off x="4443984" y="169164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</a:t>
            </a:r>
            <a:endParaRPr lang="en-US" sz="1800" dirty="0"/>
          </a:p>
        </p:txBody>
      </p:sp>
      <p:sp>
        <p:nvSpPr>
          <p:cNvPr id="63" name="Shape 9"/>
          <p:cNvSpPr/>
          <p:nvPr/>
        </p:nvSpPr>
        <p:spPr>
          <a:xfrm>
            <a:off x="7772400" y="1645920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10"/>
          <p:cNvSpPr/>
          <p:nvPr/>
        </p:nvSpPr>
        <p:spPr>
          <a:xfrm>
            <a:off x="7827264" y="169164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65" name="Shape 11"/>
          <p:cNvSpPr/>
          <p:nvPr/>
        </p:nvSpPr>
        <p:spPr>
          <a:xfrm>
            <a:off x="1005840" y="24231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12"/>
          <p:cNvSpPr/>
          <p:nvPr/>
        </p:nvSpPr>
        <p:spPr>
          <a:xfrm>
            <a:off x="1143000" y="252374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by index</a:t>
            </a:r>
            <a:endParaRPr lang="en-US" sz="2000" dirty="0"/>
          </a:p>
        </p:txBody>
      </p:sp>
      <p:sp>
        <p:nvSpPr>
          <p:cNvPr id="67" name="Shape 13"/>
          <p:cNvSpPr/>
          <p:nvPr/>
        </p:nvSpPr>
        <p:spPr>
          <a:xfrm>
            <a:off x="4389120" y="24231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14"/>
          <p:cNvSpPr/>
          <p:nvPr/>
        </p:nvSpPr>
        <p:spPr>
          <a:xfrm>
            <a:off x="4526280" y="252374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2000" dirty="0"/>
          </a:p>
        </p:txBody>
      </p:sp>
      <p:sp>
        <p:nvSpPr>
          <p:cNvPr id="69" name="Shape 15"/>
          <p:cNvSpPr/>
          <p:nvPr/>
        </p:nvSpPr>
        <p:spPr>
          <a:xfrm>
            <a:off x="7772400" y="24231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16"/>
          <p:cNvSpPr/>
          <p:nvPr/>
        </p:nvSpPr>
        <p:spPr>
          <a:xfrm>
            <a:off x="7909560" y="252374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</a:t>
            </a:r>
            <a:endParaRPr lang="en-US" sz="2000" dirty="0"/>
          </a:p>
        </p:txBody>
      </p:sp>
      <p:sp>
        <p:nvSpPr>
          <p:cNvPr id="71" name="Shape 17"/>
          <p:cNvSpPr/>
          <p:nvPr/>
        </p:nvSpPr>
        <p:spPr>
          <a:xfrm>
            <a:off x="1005840" y="32004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18"/>
          <p:cNvSpPr/>
          <p:nvPr/>
        </p:nvSpPr>
        <p:spPr>
          <a:xfrm>
            <a:off x="1143000" y="330098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at beginning</a:t>
            </a:r>
            <a:endParaRPr lang="en-US" sz="2000" dirty="0"/>
          </a:p>
        </p:txBody>
      </p:sp>
      <p:sp>
        <p:nvSpPr>
          <p:cNvPr id="73" name="Shape 19"/>
          <p:cNvSpPr/>
          <p:nvPr/>
        </p:nvSpPr>
        <p:spPr>
          <a:xfrm>
            <a:off x="4389120" y="32004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20"/>
          <p:cNvSpPr/>
          <p:nvPr/>
        </p:nvSpPr>
        <p:spPr>
          <a:xfrm>
            <a:off x="4526280" y="330098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Costly</a:t>
            </a:r>
            <a:endParaRPr lang="en-US" sz="2000" dirty="0"/>
          </a:p>
        </p:txBody>
      </p:sp>
      <p:sp>
        <p:nvSpPr>
          <p:cNvPr id="75" name="Shape 21"/>
          <p:cNvSpPr/>
          <p:nvPr/>
        </p:nvSpPr>
        <p:spPr>
          <a:xfrm>
            <a:off x="7772400" y="32004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22"/>
          <p:cNvSpPr/>
          <p:nvPr/>
        </p:nvSpPr>
        <p:spPr>
          <a:xfrm>
            <a:off x="7909560" y="330098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2000" dirty="0"/>
          </a:p>
        </p:txBody>
      </p:sp>
      <p:sp>
        <p:nvSpPr>
          <p:cNvPr id="77" name="Shape 23"/>
          <p:cNvSpPr/>
          <p:nvPr/>
        </p:nvSpPr>
        <p:spPr>
          <a:xfrm>
            <a:off x="100584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24"/>
          <p:cNvSpPr/>
          <p:nvPr/>
        </p:nvSpPr>
        <p:spPr>
          <a:xfrm>
            <a:off x="1143000" y="407822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Traversal</a:t>
            </a:r>
            <a:endParaRPr lang="en-US" sz="2000" dirty="0"/>
          </a:p>
        </p:txBody>
      </p:sp>
      <p:sp>
        <p:nvSpPr>
          <p:cNvPr id="79" name="Shape 25"/>
          <p:cNvSpPr/>
          <p:nvPr/>
        </p:nvSpPr>
        <p:spPr>
          <a:xfrm>
            <a:off x="438912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26"/>
          <p:cNvSpPr/>
          <p:nvPr/>
        </p:nvSpPr>
        <p:spPr>
          <a:xfrm>
            <a:off x="4526280" y="407822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</a:t>
            </a:r>
            <a:endParaRPr lang="en-US" sz="2000" dirty="0"/>
          </a:p>
        </p:txBody>
      </p:sp>
      <p:sp>
        <p:nvSpPr>
          <p:cNvPr id="81" name="Shape 27"/>
          <p:cNvSpPr/>
          <p:nvPr/>
        </p:nvSpPr>
        <p:spPr>
          <a:xfrm>
            <a:off x="777240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28"/>
          <p:cNvSpPr/>
          <p:nvPr/>
        </p:nvSpPr>
        <p:spPr>
          <a:xfrm>
            <a:off x="7909560" y="4078224"/>
            <a:ext cx="26060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</a:t>
            </a:r>
            <a:endParaRPr lang="en-US" sz="2000" dirty="0"/>
          </a:p>
        </p:txBody>
      </p:sp>
      <p:sp>
        <p:nvSpPr>
          <p:cNvPr id="83" name="Shape 29"/>
          <p:cNvSpPr/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EDEE"/>
          </a:solidFill>
          <a:ln w="12700">
            <a:solidFill>
              <a:srgbClr val="FDA2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30"/>
          <p:cNvSpPr/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decision: choose the structure according to the most frequent operation.</a:t>
            </a:r>
            <a:endParaRPr lang="en-US" sz="2000" dirty="0"/>
          </a:p>
        </p:txBody>
      </p:sp>
      <p:sp>
        <p:nvSpPr>
          <p:cNvPr id="85" name="Shape 31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 Data Type: Main Idea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ADT focuses on what can be done, not how it is implemented.</a:t>
            </a:r>
            <a:endParaRPr lang="en-US" sz="2000" dirty="0"/>
          </a:p>
        </p:txBody>
      </p:sp>
      <p:pic>
        <p:nvPicPr>
          <p:cNvPr id="7" name="Image 0" descr="/mnt/data/a_clean_educational_infographic_slide_style_illu.png"/>
          <p:cNvPicPr>
            <a:picLocks noChangeAspect="1"/>
          </p:cNvPicPr>
          <p:nvPr/>
        </p:nvPicPr>
        <p:blipFill>
          <a:blip r:embed="rId3"/>
          <a:srcRect l="7978" r="7978"/>
          <a:stretch/>
        </p:blipFill>
        <p:spPr>
          <a:xfrm>
            <a:off x="685800" y="1600200"/>
            <a:ext cx="5120640" cy="3429000"/>
          </a:xfrm>
          <a:prstGeom prst="rect">
            <a:avLst/>
          </a:prstGeom>
        </p:spPr>
      </p:pic>
      <p:pic>
        <p:nvPicPr>
          <p:cNvPr id="14" name="Image 0" descr="/mnt/data/a_clean_educational_infographic_slide_style_illu.png"/>
          <p:cNvPicPr>
            <a:picLocks noChangeAspect="1"/>
          </p:cNvPicPr>
          <p:nvPr/>
        </p:nvPicPr>
        <p:blipFill>
          <a:blip r:embed="rId3"/>
          <a:srcRect l="7978" r="7978"/>
          <a:stretch/>
        </p:blipFill>
        <p:spPr>
          <a:xfrm>
            <a:off x="685800" y="1600200"/>
            <a:ext cx="512064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0" y="1828800"/>
            <a:ext cx="484632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user sees operations.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internal representation is hidden.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This makes programs easier to change and reuse.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Analogy: We use an ATM by pressing buttons; we do not see the internal banking code.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ADT = Data + Operations + Rules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clear ADT description has three parts.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1975104"/>
            <a:ext cx="27432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stored?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18745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975104"/>
            <a:ext cx="27432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be done?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66760" y="18745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4EEFF"/>
          </a:solidFill>
          <a:ln w="12700">
            <a:solidFill>
              <a:srgbClr val="D6BB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03920" y="1975104"/>
            <a:ext cx="27432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is it valid?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931920"/>
            <a:ext cx="10058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Stack ADT stores elements, supports push/pop/peek, and does not allow pop on an empty stack.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as an ADT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stack follows Last-In, First-Out behaviour.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5"/>
          <p:cNvSpPr/>
          <p:nvPr/>
        </p:nvSpPr>
        <p:spPr>
          <a:xfrm>
            <a:off x="1280160" y="182880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17320" y="1929384"/>
            <a:ext cx="2468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 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0160" y="239572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17320" y="2496312"/>
            <a:ext cx="2468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 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80160" y="296265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1732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80160" y="352958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17320" y="3630168"/>
            <a:ext cx="2468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 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51960" y="1691640"/>
            <a:ext cx="457200" cy="731520"/>
          </a:xfrm>
          <a:prstGeom prst="up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51960" y="2834640"/>
            <a:ext cx="457200" cy="731520"/>
          </a:xfrm>
          <a:prstGeom prst="downArrow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231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466344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push(x): insert at top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pop(): remove from top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peek(): read top element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Rule: pop is invalid when empty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Question: Why is the last book kept the first book removed?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ADT vs Implementation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behaviour may remain same while storage changes.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596896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5"/>
          <p:cNvSpPr/>
          <p:nvPr/>
        </p:nvSpPr>
        <p:spPr>
          <a:xfrm>
            <a:off x="914400" y="2596896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24688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ADT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push, pop, peek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23360" y="2889504"/>
            <a:ext cx="640080" cy="320040"/>
          </a:xfrm>
          <a:prstGeom prst="rightArrow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83480" y="2267712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 implementation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83480" y="3374136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Linked-list implementation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92440" y="2889504"/>
            <a:ext cx="640080" cy="320040"/>
          </a:xfrm>
          <a:prstGeom prst="rightArrow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0" y="2596896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81160" y="2697480"/>
            <a:ext cx="20116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user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51663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51560" y="5294376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idea: ADT is the promise; implementation is the method.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11"/>
          <p:cNvSpPr/>
          <p:nvPr/>
        </p:nvSpPr>
        <p:spPr>
          <a:xfrm>
            <a:off x="5120640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Linked-list implementation</a:t>
            </a:r>
            <a:endParaRPr lang="en-US" sz="2000" dirty="0"/>
          </a:p>
        </p:txBody>
      </p:sp>
      <p:sp>
        <p:nvSpPr>
          <p:cNvPr id="32" name="Shape 12"/>
          <p:cNvSpPr/>
          <p:nvPr/>
        </p:nvSpPr>
        <p:spPr>
          <a:xfrm>
            <a:off x="8092440" y="2889504"/>
            <a:ext cx="640080" cy="320040"/>
          </a:xfrm>
          <a:prstGeom prst="rightArrow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13"/>
          <p:cNvSpPr/>
          <p:nvPr/>
        </p:nvSpPr>
        <p:spPr>
          <a:xfrm>
            <a:off x="9144000" y="2596896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4"/>
          <p:cNvSpPr/>
          <p:nvPr/>
        </p:nvSpPr>
        <p:spPr>
          <a:xfrm>
            <a:off x="9281160" y="2697480"/>
            <a:ext cx="20116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user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35" name="Shape 15"/>
          <p:cNvSpPr/>
          <p:nvPr/>
        </p:nvSpPr>
        <p:spPr>
          <a:xfrm>
            <a:off x="822960" y="51663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16"/>
          <p:cNvSpPr/>
          <p:nvPr/>
        </p:nvSpPr>
        <p:spPr>
          <a:xfrm>
            <a:off x="1051560" y="5294376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idea: ADT is the promise; implementation is the method.</a:t>
            </a:r>
            <a:endParaRPr lang="en-US" sz="2000" dirty="0"/>
          </a:p>
        </p:txBody>
      </p:sp>
      <p:sp>
        <p:nvSpPr>
          <p:cNvPr id="37" name="Shape 17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00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1005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ADT Thinking in 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4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can express ADT ideas using structs and functions.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5166360" cy="2834640"/>
          </a:xfrm>
          <a:prstGeom prst="roundRect">
            <a:avLst>
              <a:gd name="adj" fmla="val 129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48920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data[100];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top;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Stack;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push(Stack *s, int x);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pop(Stack *s);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466344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struct stores internal data.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functions define legal operations.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users should call functions, not directly modify top.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5568696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pointers and structures are important in the next lecture.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1271</Words>
  <Application>Microsoft Macintosh PowerPoint</Application>
  <PresentationFormat>Widescreen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Graphic Era Hill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Lecture 2: Data Structure Operations and ADT</dc:title>
  <dc:subject>TCS302 Data Structures with C - Unit 1 Lecture 2</dc:subject>
  <dc:creator>Manoj Kaushik</dc:creator>
  <cp:lastModifiedBy>SC22D012-Manoj Kaushik 2022-PHD-Earth&amp;SpaceScience</cp:lastModifiedBy>
  <cp:revision>2</cp:revision>
  <dcterms:created xsi:type="dcterms:W3CDTF">2026-07-20T02:16:06Z</dcterms:created>
  <dcterms:modified xsi:type="dcterms:W3CDTF">2026-09-03T10:13:45Z</dcterms:modified>
</cp:coreProperties>
</file>