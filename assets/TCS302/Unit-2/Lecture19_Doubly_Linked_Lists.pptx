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4" d="100"/>
          <a:sy n="154" d="100"/>
        </p:scale>
        <p:origin x="46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22D012-Manoj Kaushik 2022-PHD-Earth&amp;SpaceScience" userId="78d50035-fc00-4ea2-995b-b881e10649a1" providerId="ADAL" clId="{275C7A75-CDE0-511A-B56E-A781402A3859}"/>
    <pc:docChg chg="delSld">
      <pc:chgData name="SC22D012-Manoj Kaushik 2022-PHD-Earth&amp;SpaceScience" userId="78d50035-fc00-4ea2-995b-b881e10649a1" providerId="ADAL" clId="{275C7A75-CDE0-511A-B56E-A781402A3859}" dt="2026-08-24T08:40:32.522" v="0" actId="2696"/>
      <pc:docMkLst>
        <pc:docMk/>
      </pc:docMkLst>
      <pc:sldChg chg="del">
        <pc:chgData name="SC22D012-Manoj Kaushik 2022-PHD-Earth&amp;SpaceScience" userId="78d50035-fc00-4ea2-995b-b881e10649a1" providerId="ADAL" clId="{275C7A75-CDE0-511A-B56E-A781402A3859}" dt="2026-08-24T08:40:32.522" v="0" actId="2696"/>
        <pc:sldMkLst>
          <pc:docMk/>
          <pc:sldMk cId="0" sldId="25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7469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lecture of Unit II's linked-list block. One structural change — a second pointer, prev — and its consequences ripple through everything built in Lectures 15-18: traversal, insertion, deletion, all get revisited.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dot in the box represents a pointer field. Node 20 (gold) has both prev and next filled; the end nodes have exactly one NULL each — the same sentinel idea as before, just doubled.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answer: if the list was empty, there IS no old head to update — head-&gt;prev would dereference NULL and crash. This guard did not exist in the singly linked version because there was only one link to worry about.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lecture's payoff slide. Point out explicitly: no for-loop, no while-loop — the O(n) search that dominated Lecture 18's middle-deletion is GONE, entirely because prev makes the predecessor free to read.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Compiled and run: matches exactly. Note that keeping a tail pointer (as createList did in Lecture 16) would make backward traversal start in O(1) too — a nice callback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diagram-first idea (matches the syllabus's 'diagram-based explanation' tag). The big payoff: every one of Lecture 17-18's front/end special cases (head==NULL, position==0, single-node deleteEnd) disappears, because the header guarantees there is always a 'node before' to point 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last row shows deleteNode correctly handling the head case (target-&gt;prev == NULL branch) — same function, no special-casing needed by the caller.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closing discussion: neither wins outright. Doubly linked trades memory and bookkeeping for backward traversal and O(1) known-node deletion — a real engineering trade-off, not a strict upgrade.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ticket answer (verified by running the code): only TWO fields actually change value — node 2's next becomes 4, and node 4's prev becomes 2. Node 3's own prev/next are READ during the operation but never reassigned, since node 3 is freed immediately after. A common student overestimate is to assume all four surrounding pointers change; only the two on the SURVIVING neighbours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315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DATA STRUCTURES WITH 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Doubly Linked Lists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Pointer, and the Two-Way Header List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6974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II  •  Lecture 19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7033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 ←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28800" y="3657600"/>
            <a:ext cx="1371600" cy="502920"/>
          </a:xfrm>
          <a:prstGeom prst="rect">
            <a:avLst/>
          </a:prstGeom>
          <a:solidFill>
            <a:srgbClr val="D4A017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212848" y="3657600"/>
            <a:ext cx="0" cy="502920"/>
          </a:xfrm>
          <a:prstGeom prst="line">
            <a:avLst/>
          </a:prstGeom>
          <a:noFill/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816352" y="3657600"/>
            <a:ext cx="0" cy="502920"/>
          </a:xfrm>
          <a:prstGeom prst="line">
            <a:avLst/>
          </a:prstGeom>
          <a:noFill/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828800" y="3657600"/>
            <a:ext cx="384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212848" y="3657600"/>
            <a:ext cx="603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816352" y="3657600"/>
            <a:ext cx="384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520440" y="3657600"/>
            <a:ext cx="13716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904488" y="3657600"/>
            <a:ext cx="0" cy="502920"/>
          </a:xfrm>
          <a:prstGeom prst="line">
            <a:avLst/>
          </a:prstGeom>
          <a:noFill/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07992" y="3657600"/>
            <a:ext cx="0" cy="502920"/>
          </a:xfrm>
          <a:prstGeom prst="line">
            <a:avLst/>
          </a:prstGeom>
          <a:noFill/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520440" y="3657600"/>
            <a:ext cx="384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904488" y="3657600"/>
            <a:ext cx="603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07992" y="3657600"/>
            <a:ext cx="384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212080" y="3657600"/>
            <a:ext cx="13716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596128" y="3657600"/>
            <a:ext cx="0" cy="502920"/>
          </a:xfrm>
          <a:prstGeom prst="line">
            <a:avLst/>
          </a:prstGeom>
          <a:noFill/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199632" y="3657600"/>
            <a:ext cx="0" cy="502920"/>
          </a:xfrm>
          <a:prstGeom prst="line">
            <a:avLst/>
          </a:prstGeom>
          <a:noFill/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212080" y="3657600"/>
            <a:ext cx="384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96128" y="3657600"/>
            <a:ext cx="603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199632" y="3657600"/>
            <a:ext cx="384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200400" y="36576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892040" y="36576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583680" y="37033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NULL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node: one more pointer, twice the links to manage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023360" cy="1645920"/>
          </a:xfrm>
          <a:prstGeom prst="roundRect">
            <a:avLst>
              <a:gd name="adj" fmla="val 3889"/>
            </a:avLst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32588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Node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data;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struct Node *prev;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struct Node *next;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663440" y="1280160"/>
            <a:ext cx="4023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prev: address of the node BEFORE this one, or NULL if this is the first.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address of the node AFTER this one, or NULL if this is the last — unchanged from before.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node except the two ends has BOTH neighbours addressable directly.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38328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 ←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280160" y="3383280"/>
            <a:ext cx="128016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638605" y="3383280"/>
            <a:ext cx="0" cy="502920"/>
          </a:xfrm>
          <a:prstGeom prst="line">
            <a:avLst/>
          </a:prstGeom>
          <a:noFill/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201875" y="3383280"/>
            <a:ext cx="0" cy="502920"/>
          </a:xfrm>
          <a:prstGeom prst="line">
            <a:avLst/>
          </a:prstGeom>
          <a:noFill/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280160" y="3383280"/>
            <a:ext cx="3584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638605" y="3383280"/>
            <a:ext cx="5632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201875" y="3383280"/>
            <a:ext cx="3584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834640" y="3383280"/>
            <a:ext cx="1280160" cy="502920"/>
          </a:xfrm>
          <a:prstGeom prst="rect">
            <a:avLst/>
          </a:prstGeom>
          <a:solidFill>
            <a:srgbClr val="D4A017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193085" y="3383280"/>
            <a:ext cx="0" cy="502920"/>
          </a:xfrm>
          <a:prstGeom prst="line">
            <a:avLst/>
          </a:prstGeom>
          <a:noFill/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756355" y="3383280"/>
            <a:ext cx="0" cy="502920"/>
          </a:xfrm>
          <a:prstGeom prst="line">
            <a:avLst/>
          </a:prstGeom>
          <a:noFill/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834640" y="3383280"/>
            <a:ext cx="3584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193085" y="3383280"/>
            <a:ext cx="5632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756355" y="3383280"/>
            <a:ext cx="3584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389120" y="3383280"/>
            <a:ext cx="128016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747565" y="3383280"/>
            <a:ext cx="0" cy="502920"/>
          </a:xfrm>
          <a:prstGeom prst="line">
            <a:avLst/>
          </a:prstGeom>
          <a:noFill/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310835" y="3383280"/>
            <a:ext cx="0" cy="502920"/>
          </a:xfrm>
          <a:prstGeom prst="line">
            <a:avLst/>
          </a:prstGeom>
          <a:noFill/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389120" y="3383280"/>
            <a:ext cx="3584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47565" y="3383280"/>
            <a:ext cx="5632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10835" y="3383280"/>
            <a:ext cx="3584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514600" y="33832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069080" y="33832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760720" y="338328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NULL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280160" y="39776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 | data | next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insertFront( ): three links, not one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4572000" cy="2766060"/>
          </a:xfrm>
          <a:prstGeom prst="roundRect">
            <a:avLst>
              <a:gd name="adj" fmla="val 1772"/>
            </a:avLst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234440"/>
            <a:ext cx="4572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Node *insertFront(struct Node *head,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int value)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struct Node *node = malloc(sizeof(*node));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(node == NULL) exit(1);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node-&gt;data = value;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node-&gt;prev = NULL;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node-&gt;next = head;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(head != NULL)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head-&gt;prev = node;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node;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0" y="132588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node-&gt;next = head: same as the singly linked version.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node-&gt;prev = NULL: the new node is now the first, so nothing comes before it.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head-&gt;prev = node: the NEW link — the OLD head must now look back at the new node. Easy to forget.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deleteNode( ): the genuine advantage of prev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822960"/>
          </a:xfrm>
          <a:prstGeom prst="roundRect">
            <a:avLst>
              <a:gd name="adj" fmla="val 7778"/>
            </a:avLst>
          </a:prstGeom>
          <a:solidFill>
            <a:srgbClr val="F0F7F7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21792" y="1261872"/>
            <a:ext cx="79004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18's deleteAtPosition had to WALK from head to find the node before the target — O(n). Today: if you already hold a pointer to the target, prev gets you there directly — O(1).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4937760" cy="2514600"/>
          </a:xfrm>
          <a:prstGeom prst="roundRect">
            <a:avLst>
              <a:gd name="adj" fmla="val 2545"/>
            </a:avLst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2240280"/>
            <a:ext cx="46634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Node *deleteNode(struct Node *head,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struct Node *target)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(target-&gt;prev != NULL)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target-&gt;prev-&gt;next = target-&gt;next;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head = target-&gt;next;  /* target was head */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(target-&gt;next != NULL)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target-&gt;next-&gt;prev = target-&gt;prev;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free(target);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head;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577840" y="2286000"/>
            <a:ext cx="3108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"stitch around" steps, one for each side — no search loop anywhere.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side has its own guard: target might be the first node (no prev) or the last (no next).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Traversal now works in both directions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937760" cy="2834640"/>
          </a:xfrm>
          <a:prstGeom prst="roundRect">
            <a:avLst>
              <a:gd name="adj" fmla="val 2258"/>
            </a:avLst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280160"/>
            <a:ext cx="4663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forward: exactly as before */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(p = head; p != NULL; p = p-&gt;next)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printf("%d ", p-&gt;data);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backward: walk to the end, then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follow prev back to the start   */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(p-&gt;next != NULL) p = p-&gt;next;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(p != NULL) {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printf("%d ", p-&gt;data);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 = p-&gt;prev;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0" y="132588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traversal is UNCHANGED from Lecture 16.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traversal needs a starting point at the LAST node first — without a tail pointer, that itself costs O(n).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at the last node, walking back is free: each prev is a direct hop.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4160520"/>
            <a:ext cx="8229600" cy="502920"/>
          </a:xfrm>
          <a:prstGeom prst="roundRect">
            <a:avLst>
              <a:gd name="adj" fmla="val 12727"/>
            </a:avLst>
          </a:prstGeom>
          <a:solidFill>
            <a:srgbClr val="FBF5E6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21792" y="4233672"/>
            <a:ext cx="79004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Verified output for 10,20,30: Forward: 10-&gt;20-&gt;30-&gt;NULL   Backward: 30-&gt;20-&gt;10-&gt;NULL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Two-Way Header List: one extra node, fewer special cases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1005840"/>
          </a:xfrm>
          <a:prstGeom prst="roundRect">
            <a:avLst>
              <a:gd name="adj" fmla="val 6364"/>
            </a:avLst>
          </a:prstGeom>
          <a:solidFill>
            <a:srgbClr val="F0F7F7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21792" y="1261872"/>
            <a:ext cx="790041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
</a:t>
            </a: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ONE permanent HEADER node that is never deleted and never holds real data. It always exists — so "is the list empty?" and "is this the first node?" stop being special cases.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25146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788920"/>
            <a:ext cx="1005840" cy="502920"/>
          </a:xfrm>
          <a:prstGeom prst="rect">
            <a:avLst/>
          </a:prstGeom>
          <a:solidFill>
            <a:srgbClr val="D4A017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13155" y="2788920"/>
            <a:ext cx="0" cy="502920"/>
          </a:xfrm>
          <a:prstGeom prst="line">
            <a:avLst/>
          </a:prstGeom>
          <a:noFill/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455725" y="2788920"/>
            <a:ext cx="0" cy="502920"/>
          </a:xfrm>
          <a:prstGeom prst="line">
            <a:avLst/>
          </a:prstGeom>
          <a:noFill/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2788920"/>
            <a:ext cx="2816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13155" y="2788920"/>
            <a:ext cx="4425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55725" y="2788920"/>
            <a:ext cx="2816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828800" y="278892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286000" y="2788920"/>
            <a:ext cx="118872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618842" y="2788920"/>
            <a:ext cx="0" cy="502920"/>
          </a:xfrm>
          <a:prstGeom prst="line">
            <a:avLst/>
          </a:prstGeom>
          <a:noFill/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141878" y="2788920"/>
            <a:ext cx="0" cy="502920"/>
          </a:xfrm>
          <a:prstGeom prst="line">
            <a:avLst/>
          </a:prstGeom>
          <a:noFill/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286000" y="2788920"/>
            <a:ext cx="3328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618842" y="2788920"/>
            <a:ext cx="52303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141878" y="2788920"/>
            <a:ext cx="3328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703320" y="2788920"/>
            <a:ext cx="118872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036162" y="2788920"/>
            <a:ext cx="0" cy="502920"/>
          </a:xfrm>
          <a:prstGeom prst="line">
            <a:avLst/>
          </a:prstGeom>
          <a:noFill/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559198" y="2788920"/>
            <a:ext cx="0" cy="502920"/>
          </a:xfrm>
          <a:prstGeom prst="line">
            <a:avLst/>
          </a:prstGeom>
          <a:noFill/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703320" y="2788920"/>
            <a:ext cx="3328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036162" y="2788920"/>
            <a:ext cx="52303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59198" y="2788920"/>
            <a:ext cx="3328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120640" y="2788920"/>
            <a:ext cx="118872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453482" y="2788920"/>
            <a:ext cx="0" cy="502920"/>
          </a:xfrm>
          <a:prstGeom prst="line">
            <a:avLst/>
          </a:prstGeom>
          <a:noFill/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976518" y="2788920"/>
            <a:ext cx="0" cy="502920"/>
          </a:xfrm>
          <a:prstGeom prst="line">
            <a:avLst/>
          </a:prstGeom>
          <a:noFill/>
          <a:ln w="95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120640" y="2788920"/>
            <a:ext cx="3328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53482" y="2788920"/>
            <a:ext cx="52303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976518" y="2788920"/>
            <a:ext cx="3328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429000" y="278892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4846320" y="278892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457200" y="34290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header-&gt;next wraps to 10;</a:t>
            </a: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node's next wraps to header (circular), or NULL (non-circular)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57200" y="4160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"List empty?" becomes header-&gt;next == header (or NULL) — no head == NULL check anywhere else.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Insert/delete at the front is now IDENTICAL in shape to insert/delete anywhere else — the header always plays the role of "the node before."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trace: build, traverse, delete — verified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3182112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insertEnd x3: 10, 20, 30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Forward: 10 -&gt; 20 -&gt; 30 -&gt; NULL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traverseBackward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Backward: 30 -&gt; 20 -&gt; 10 -&gt; NULL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insertFront(5)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Forward: 5 -&gt; 10 -&gt; 20 -&gt; 30 -&gt; NULL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deleteNode(target = node holding 20)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Forward: 5 -&gt; 10 -&gt; 30 -&gt; NULL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D4A01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deleteNode(target = head, i.e. 5)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D4A01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Forward: 10 -&gt; 30 -&gt; NULL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and run with AddressSanitizer — zero leaks. Full source in the .txt file.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Singly vs Doubly Linked — what you paid for what you got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3072384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Singly Linked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Doubly Linked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Pointers per node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(next)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(prev, next)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Traversal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Forward 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Forward AND backward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a KNOWN node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 — must find predecessor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 — prev gives it directly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per node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(extra pointer)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Insert/delete bookkeeping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2 links to fix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4 links to fix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19  • 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second pointer changes everything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863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node gets a prev pointer alongside next — enabling backward traversal, which a singly linked list cannot do at all.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needs up to 4 links fixed instead of 2; every new link needs its own NULL guard for the list's two ends.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win: deleting a node you already hold a pointer to is O(1) — no predecessor search, unlike Lecture 18.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two-way HEADER node removes most front/empty special cases — there is always a "node before" to point at.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3703320"/>
            <a:ext cx="7863840" cy="960120"/>
          </a:xfrm>
          <a:prstGeom prst="roundRect">
            <a:avLst>
              <a:gd name="adj" fmla="val 6667"/>
            </a:avLst>
          </a:prstGeom>
          <a:solidFill>
            <a:srgbClr val="2A3575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379476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 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 4-node doubly linked list (1,2,3,4). Trace deleteNode on the node holding 3 by hand — exactly which TWO pointer fields change value, and in which two nodes?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1560</Words>
  <Application>Microsoft Macintosh PowerPoint</Application>
  <PresentationFormat>On-screen Show (16:9)</PresentationFormat>
  <Paragraphs>194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SC22D012-Manoj Kaushik 2022-PHD-Earth&amp;SpaceScience</cp:lastModifiedBy>
  <cp:revision>2</cp:revision>
  <dcterms:created xsi:type="dcterms:W3CDTF">2026-08-20T11:12:25Z</dcterms:created>
  <dcterms:modified xsi:type="dcterms:W3CDTF">2026-09-03T10:47:47Z</dcterms:modified>
</cp:coreProperties>
</file>