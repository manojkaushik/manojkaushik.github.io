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0" d="100"/>
          <a:sy n="70" d="100"/>
        </p:scale>
        <p:origin x="512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22D012-Manoj Kaushik 2022-PHD-Earth&amp;SpaceScience" userId="78d50035-fc00-4ea2-995b-b881e10649a1" providerId="ADAL" clId="{29B47332-549A-4FC0-A3ED-D31212E60846}"/>
    <pc:docChg chg="modSld">
      <pc:chgData name="SC22D012-Manoj Kaushik 2022-PHD-Earth&amp;SpaceScience" userId="78d50035-fc00-4ea2-995b-b881e10649a1" providerId="ADAL" clId="{29B47332-549A-4FC0-A3ED-D31212E60846}" dt="2026-08-05T03:12:36.282" v="1" actId="14100"/>
      <pc:docMkLst>
        <pc:docMk/>
      </pc:docMkLst>
      <pc:sldChg chg="modSp mod">
        <pc:chgData name="SC22D012-Manoj Kaushik 2022-PHD-Earth&amp;SpaceScience" userId="78d50035-fc00-4ea2-995b-b881e10649a1" providerId="ADAL" clId="{29B47332-549A-4FC0-A3ED-D31212E60846}" dt="2026-08-05T03:12:36.282" v="1" actId="14100"/>
        <pc:sldMkLst>
          <pc:docMk/>
          <pc:sldMk cId="0" sldId="260"/>
        </pc:sldMkLst>
        <pc:spChg chg="mod">
          <ac:chgData name="SC22D012-Manoj Kaushik 2022-PHD-Earth&amp;SpaceScience" userId="78d50035-fc00-4ea2-995b-b881e10649a1" providerId="ADAL" clId="{29B47332-549A-4FC0-A3ED-D31212E60846}" dt="2026-08-05T03:12:36.282" v="1" actId="14100"/>
          <ac:spMkLst>
            <pc:docMk/>
            <pc:sldMk cId="0" sldId="260"/>
            <ac:spMk id="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15153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502920" y="594360"/>
            <a:ext cx="73152" cy="51206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713232" y="621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13232" y="106070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2, Lecture 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3232" y="155448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Principles of Responsible AI &amp;</a:t>
            </a:r>
            <a:endParaRPr lang="en-US" sz="2700" dirty="0"/>
          </a:p>
          <a:p>
            <a:pPr marL="0" indent="0">
              <a:buNone/>
            </a:pPr>
            <a:r>
              <a:rPr lang="en-US" sz="2700" b="1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Trustworthy AI Lifecycle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731520" y="2788920"/>
            <a:ext cx="6217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Moving from Unit I's focus on ethics and fairness to Unit II's framework for building AI systems people can trust - from design through deployment and beyond.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13232" y="470916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Dr. Manoj Kaushik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Assistant Professor, Department of CSE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Graphic Era Hill University, Bhimtal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60920" y="86868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EEF5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0" name="Image 0" descr="/home/claude/work3/icon3_fairn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80" y="1143000"/>
            <a:ext cx="777240" cy="7772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470648" y="210312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Fairness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9692640" y="86868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F3F8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3" name="Image 1" descr="/home/claude/work3/icon3_transparen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0" y="1143000"/>
            <a:ext cx="777240" cy="7772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9802368" y="210312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Transparency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7360920" y="333756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EEF5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6" name="Image 2" descr="/home/claude/work3/icon3_accountabilit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9580" y="3611880"/>
            <a:ext cx="777240" cy="7772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470648" y="457200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Accountability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9692640" y="333756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F3F8FF"/>
          </a:solidFill>
          <a:ln w="12700">
            <a:solidFill>
              <a:srgbClr val="EEF5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pic>
        <p:nvPicPr>
          <p:cNvPr id="19" name="Image 3" descr="/home/claude/work3/icon3_lifecycl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1300" y="3611880"/>
            <a:ext cx="777240" cy="7772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802368" y="457200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 Lifecycle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This lecture opens Unit II - it is the framework the rest of the unit builds on.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are we?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I (Lectures 1-9): Ethics, bias and fairness - detecting and reasoning about unfair AI outcomes.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II (Lectures 10-18): Transparency, Accountability, Surveillance and Privacy - building AI that is trustworthy by design.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Lecture 10 (Today): Principles of Responsible AI and the trustworthy AI lifecycle - the framework for everything ahead in this unit.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Lecture 11 (Next): Transparency in AI - meaning, importance and communicating limitations.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Later lectures cover transparency tools, accountability frameworks, surveillance, privacy and data protection.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Frame this as a bridge lecture - it connects Unit I's fairness focus to Unit II's broader principles.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Lecture Outcomes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Define Responsible AI and list its core guiding principles.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Explain why fairness alone is not sufficient for a trustworthy AI system.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Describe the concept of a trustworthy AI lifecycle and its major stages.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Identify where responsible-AI practices apply at each stage of a system's life.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Tell students this lecture is largely conceptual - it sets up vocabulary used for the rest of Unit II.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From Unit I to Unit II: Why Principles Now?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I focused on one dimension of Responsible AI in depth: detecting, measuring and mitigating bias.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Real-world AI systems need more than fairness alone - they must also be understandable, governed and privacy-respecting.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II introduces the broader principle-based framework that fairness fits inside.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Today's lecture sets up the structure and vocabulary used throughout the rest of Unit II.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Ask students to name one Unit I topic and place it within today's broader framework.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What Is Responsible AI?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296265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Responsible AI (RAI) is the practice of designing, building and deploying AI systems in ways that are ethical, lawful and aligned with human values.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shifts AI development from "can we build this?" to "should we build this, and how do we build it responsibly?"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RAI is not a single technique - it is an umbrella of principles, processes and governance structures applied throughout a system's life.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Organisations increasingly formalise RAI through internal policies, review boards and regulatory compliance.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Contrast a purely performance-driven mindset with a responsibility-driven mindset using a quick example.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Core Principles of Responsible AI - Overview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55680" cy="429768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63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16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Principle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One-Line Meaning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Fairness &amp;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Non-Discrimination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Equitable treatment across individuals and groups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Transparency &amp;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Explainability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Understandable reasoning and honest communication of limits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Accountability &amp;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Human Oversight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Clear responsibility and the ability to intervene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Privacy &amp;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Data Governance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Lawful, respectful use of personal data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62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Safety, Robustness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&amp; Reliability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Consistent, safe performance under real conditions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The next five slides take one row of this table at a time.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Principle: Fairness &amp; Non-Discrimination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Ensures an AI system treats individuals and groups equitably, without unjustified discrimination.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Builds directly on the bias-detection and fairness-metric techniques studied in Unit I.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Requires ongoing subgroup monitoring, not just a one-time check before deployment.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Example: a hiring AI audited regularly for equal opportunity across gender and demographic groups.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This is a direct callback to Lectures 6-8 - keep this recap brief.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Principle: Transparency &amp; Explainability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Ensures stakeholders can understand how and why an AI system produced a particular output.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Covers both the system's internal logic (explainability) and clear communication about its capabilities and limitations.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Builds trust with users, regulators and affected individuals who may need to contest a decision.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full depth of this principle is the subject of the next lecture.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Preview Lecture 11 briefly here so students see the connection.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Principle: Accountability &amp; Human Oversight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Ensures a clear chain of responsibility exists for an AI system's decisions and outcomes.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Requires defined roles, escalation paths and mechanisms for humans to review, override or halt automated decisions.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Prevents a "many hands, no owner" situation where no one is responsible when something goes wrong.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Explored in depth in Lectures 13-14 through accountability frameworks and governance.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Ask students who should be accountable if a self-driving car misclassifies an obstacle.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Principle: Privacy &amp; Data Governance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Ensures personal and sensitive data used by an AI system is collected, stored and processed lawfully and respectfully.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Covers informed consent, data minimisation, purpose limitation and protection against misuse.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Especially critical for AI used in surveillance, healthcare and finance.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Covered in depth in Lectures 16-17 on privacy concerns and data-protection principles.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A short preview is enough here - the full treatment comes in Week 6.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Principle: Safety, Robustness &amp; Reliability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Ensures an AI system performs consistently and safely, including under unexpected or adversarial conditions.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Covers testing for edge cases, resistance to manipulation, and graceful failure when the system is uncertain.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Poor robustness can silently reintroduce bias or unfairness that earlier testing failed to catch.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Works together with the other four principles rather than standing alone.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This closes the five-principle overview - pause here for questions before the lifecycle section.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What Is a Trustworthy AI Lifecycle?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trustworthy AI lifecycle applies responsible-AI principles at every stage of a system's life, not only at launch.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treats trust as something built continuously, from initial design through retirement of the system.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Each stage has its own responsible-AI checks and expected artefacts, such as documentation and audit logs.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lifecycle view is what connects the five individual principles into one repeatable process.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Draw a simple left-to-right timeline on the board before the next three slides.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10. Lifecycle Stage 1-2: Design &amp; Data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Design: define the system's purpose, intended users and acceptable-use boundaries before writing any code.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collection: assess the representativeness, consent basis and known limitations of the training data.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Early identification of risk here prevents costly bias or privacy issues later in the lifecycle.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Responsible AI treats this stage as the most cost-effective point to intervene.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Link this back to Unit I's discussion of data bias as a source of downstream harm.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11. Lifecycle Stage 3-4: Development &amp; Testing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Development: build the model while documenting design choices, assumptions and known trade-offs.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Testing and validation: evaluate accuracy, fairness, robustness and explainability before release, not only after.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Subgroup analysis and confusion-matrix measures from Unit I are applied here as standard checks.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Any failed check should be resolved or explicitly justified before moving to deployment.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This is where Lectures 6-8's techniques become a formal part of the development process.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12. Lifecycle Stage 5-6: Deployment &amp; Monitoring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Deployment: release the system with clear documentation of its intended use and limitations.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Monitoring: continuously track performance, fairness and drift after the system is live.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Feedback loops (Unit I) make ongoing monitoring essential, since bias can emerge only after real-world use begins.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retirement or update plan should exist for when the system no longer meets its responsible-AI standards.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Remind students that responsibility does not end at deployment - it continues for the system's whole life.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13. Governance Across the Lifecycle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Governance structures - review boards, policies and audit trails - connect the principles to the lifecycle in practice.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Clear ownership at every stage ensures responsible-AI checks are actually performed, not just documented.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Regulatory compliance is treated as a minimum baseline, with organisational governance often going further.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sets up Lectures 13-14, which examine accountability frameworks and governance in detail.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This is a natural closing point for the conceptual portion of the lecture.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Mini Classroom Activity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 groups of 3-4 students.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Choose a familiar AI system - a recommendation app, a resume-screening tool, or a navigation app.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Map it against the five Responsible AI principles: identify one strength and one gap for each.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Identify which lifecycle stage its biggest weakness most likely originates from.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Each group shares one finding in 1 minute.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Teaching cue: This activity checks whether students can apply the five-principle framework to a real system.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Recap and Exit Questions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4348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Responsible AI is an umbrella of principles: fairness, transparency, accountability, privacy, and safety/robustness.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trustworthy AI lifecycle applies these principles continuously, from design through monitoring and retirement.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Name the five core principles of Responsible AI.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Why is fairness alone not sufficient for a trustworthy AI system?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At which lifecycle stage would you most likely catch a data-representativeness problem?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" y="6382512"/>
            <a:ext cx="10744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Next Lecture: Transparency in AI - meaning, importance, traceability and communication of limitations.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1888</Words>
  <Application>Microsoft Office PowerPoint</Application>
  <PresentationFormat>Widescreen</PresentationFormat>
  <Paragraphs>252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SC22D012-Manoj Kaushik 2022-PHD-Earth&amp;SpaceScience</cp:lastModifiedBy>
  <cp:revision>1</cp:revision>
  <dcterms:created xsi:type="dcterms:W3CDTF">2026-08-02T17:51:56Z</dcterms:created>
  <dcterms:modified xsi:type="dcterms:W3CDTF">2026-08-05T03:12:38Z</dcterms:modified>
</cp:coreProperties>
</file>