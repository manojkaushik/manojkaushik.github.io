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51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22D012-Manoj Kaushik 2022-PHD-Earth&amp;SpaceScience" userId="78d50035-fc00-4ea2-995b-b881e10649a1" providerId="ADAL" clId="{29B47332-549A-4FC0-A3ED-D31212E60846}"/>
    <pc:docChg chg="undo custSel modSld">
      <pc:chgData name="SC22D012-Manoj Kaushik 2022-PHD-Earth&amp;SpaceScience" userId="78d50035-fc00-4ea2-995b-b881e10649a1" providerId="ADAL" clId="{29B47332-549A-4FC0-A3ED-D31212E60846}" dt="2026-07-20T08:47:08.604" v="206" actId="1036"/>
      <pc:docMkLst>
        <pc:docMk/>
      </pc:docMkLst>
      <pc:sldChg chg="modSp mod">
        <pc:chgData name="SC22D012-Manoj Kaushik 2022-PHD-Earth&amp;SpaceScience" userId="78d50035-fc00-4ea2-995b-b881e10649a1" providerId="ADAL" clId="{29B47332-549A-4FC0-A3ED-D31212E60846}" dt="2026-07-20T02:31:47.791" v="2" actId="14100"/>
        <pc:sldMkLst>
          <pc:docMk/>
          <pc:sldMk cId="0" sldId="256"/>
        </pc:sldMkLst>
        <pc:spChg chg="mod">
          <ac:chgData name="SC22D012-Manoj Kaushik 2022-PHD-Earth&amp;SpaceScience" userId="78d50035-fc00-4ea2-995b-b881e10649a1" providerId="ADAL" clId="{29B47332-549A-4FC0-A3ED-D31212E60846}" dt="2026-07-20T02:31:47.791" v="2" actId="14100"/>
          <ac:spMkLst>
            <pc:docMk/>
            <pc:sldMk cId="0" sldId="256"/>
            <ac:spMk id="8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0T02:32:55.431" v="17" actId="27636"/>
        <pc:sldMkLst>
          <pc:docMk/>
          <pc:sldMk cId="0" sldId="258"/>
        </pc:sldMkLst>
        <pc:spChg chg="mod">
          <ac:chgData name="SC22D012-Manoj Kaushik 2022-PHD-Earth&amp;SpaceScience" userId="78d50035-fc00-4ea2-995b-b881e10649a1" providerId="ADAL" clId="{29B47332-549A-4FC0-A3ED-D31212E60846}" dt="2026-07-20T02:32:55.431" v="17" actId="2763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0T02:32:51.351" v="15" actId="27636"/>
          <ac:spMkLst>
            <pc:docMk/>
            <pc:sldMk cId="0" sldId="258"/>
            <ac:spMk id="18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0T08:44:15.093" v="68" actId="1036"/>
        <pc:sldMkLst>
          <pc:docMk/>
          <pc:sldMk cId="0" sldId="268"/>
        </pc:sldMkLst>
        <pc:spChg chg="mod">
          <ac:chgData name="SC22D012-Manoj Kaushik 2022-PHD-Earth&amp;SpaceScience" userId="78d50035-fc00-4ea2-995b-b881e10649a1" providerId="ADAL" clId="{29B47332-549A-4FC0-A3ED-D31212E60846}" dt="2026-07-20T08:44:08.105" v="40" actId="1036"/>
          <ac:spMkLst>
            <pc:docMk/>
            <pc:sldMk cId="0" sldId="268"/>
            <ac:spMk id="7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0T08:44:08.105" v="40" actId="1036"/>
          <ac:spMkLst>
            <pc:docMk/>
            <pc:sldMk cId="0" sldId="268"/>
            <ac:spMk id="8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0T08:44:08.105" v="40" actId="1036"/>
          <ac:spMkLst>
            <pc:docMk/>
            <pc:sldMk cId="0" sldId="268"/>
            <ac:spMk id="9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0T08:44:15.093" v="68" actId="1036"/>
          <ac:spMkLst>
            <pc:docMk/>
            <pc:sldMk cId="0" sldId="268"/>
            <ac:spMk id="10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0T08:44:08.105" v="40" actId="1036"/>
          <ac:spMkLst>
            <pc:docMk/>
            <pc:sldMk cId="0" sldId="268"/>
            <ac:spMk id="11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0T08:44:08.105" v="40" actId="103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0T08:44:08.105" v="40" actId="1036"/>
          <ac:spMkLst>
            <pc:docMk/>
            <pc:sldMk cId="0" sldId="268"/>
            <ac:spMk id="13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0T08:44:08.105" v="40" actId="1036"/>
          <ac:spMkLst>
            <pc:docMk/>
            <pc:sldMk cId="0" sldId="268"/>
            <ac:spMk id="15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0T08:44:08.105" v="40" actId="1036"/>
          <ac:spMkLst>
            <pc:docMk/>
            <pc:sldMk cId="0" sldId="268"/>
            <ac:spMk id="16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0T08:44:08.105" v="40" actId="1036"/>
          <ac:spMkLst>
            <pc:docMk/>
            <pc:sldMk cId="0" sldId="268"/>
            <ac:spMk id="31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0T08:44:08.105" v="40" actId="1036"/>
          <ac:spMkLst>
            <pc:docMk/>
            <pc:sldMk cId="0" sldId="268"/>
            <ac:spMk id="34" creationId="{00000000-0000-0000-0000-000000000000}"/>
          </ac:spMkLst>
        </pc:spChg>
      </pc:sldChg>
      <pc:sldChg chg="addSp delSp modSp mod">
        <pc:chgData name="SC22D012-Manoj Kaushik 2022-PHD-Earth&amp;SpaceScience" userId="78d50035-fc00-4ea2-995b-b881e10649a1" providerId="ADAL" clId="{29B47332-549A-4FC0-A3ED-D31212E60846}" dt="2026-07-20T08:46:28.654" v="182" actId="1035"/>
        <pc:sldMkLst>
          <pc:docMk/>
          <pc:sldMk cId="0" sldId="270"/>
        </pc:sldMkLst>
        <pc:spChg chg="mod">
          <ac:chgData name="SC22D012-Manoj Kaushik 2022-PHD-Earth&amp;SpaceScience" userId="78d50035-fc00-4ea2-995b-b881e10649a1" providerId="ADAL" clId="{29B47332-549A-4FC0-A3ED-D31212E60846}" dt="2026-07-20T08:45:37.797" v="69" actId="1076"/>
          <ac:spMkLst>
            <pc:docMk/>
            <pc:sldMk cId="0" sldId="270"/>
            <ac:spMk id="7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0T08:45:53.662" v="77" actId="14100"/>
          <ac:spMkLst>
            <pc:docMk/>
            <pc:sldMk cId="0" sldId="270"/>
            <ac:spMk id="8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0T08:46:19.696" v="173" actId="1036"/>
          <ac:spMkLst>
            <pc:docMk/>
            <pc:sldMk cId="0" sldId="270"/>
            <ac:spMk id="9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0T08:46:19.696" v="173" actId="1036"/>
          <ac:spMkLst>
            <pc:docMk/>
            <pc:sldMk cId="0" sldId="270"/>
            <ac:spMk id="10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0T08:46:19.696" v="173" actId="1036"/>
          <ac:spMkLst>
            <pc:docMk/>
            <pc:sldMk cId="0" sldId="270"/>
            <ac:spMk id="11" creationId="{00000000-0000-0000-0000-000000000000}"/>
          </ac:spMkLst>
        </pc:spChg>
        <pc:spChg chg="add del mod">
          <ac:chgData name="SC22D012-Manoj Kaushik 2022-PHD-Earth&amp;SpaceScience" userId="78d50035-fc00-4ea2-995b-b881e10649a1" providerId="ADAL" clId="{29B47332-549A-4FC0-A3ED-D31212E60846}" dt="2026-07-20T08:46:28.654" v="182" actId="1035"/>
          <ac:spMkLst>
            <pc:docMk/>
            <pc:sldMk cId="0" sldId="270"/>
            <ac:spMk id="12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0T08:46:05.829" v="120" actId="1035"/>
          <ac:spMkLst>
            <pc:docMk/>
            <pc:sldMk cId="0" sldId="270"/>
            <ac:spMk id="13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0T08:47:08.604" v="206" actId="1036"/>
        <pc:sldMkLst>
          <pc:docMk/>
          <pc:sldMk cId="0" sldId="271"/>
        </pc:sldMkLst>
        <pc:spChg chg="mod">
          <ac:chgData name="SC22D012-Manoj Kaushik 2022-PHD-Earth&amp;SpaceScience" userId="78d50035-fc00-4ea2-995b-b881e10649a1" providerId="ADAL" clId="{29B47332-549A-4FC0-A3ED-D31212E60846}" dt="2026-07-20T08:47:08.604" v="206" actId="1036"/>
          <ac:spMkLst>
            <pc:docMk/>
            <pc:sldMk cId="0" sldId="271"/>
            <ac:spMk id="6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0T08:47:04.539" v="200" actId="1036"/>
          <ac:spMkLst>
            <pc:docMk/>
            <pc:sldMk cId="0" sldId="271"/>
            <ac:spMk id="7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0T08:47:04.539" v="200" actId="1036"/>
          <ac:spMkLst>
            <pc:docMk/>
            <pc:sldMk cId="0" sldId="271"/>
            <ac:spMk id="8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0T08:47:04.539" v="200" actId="1036"/>
          <ac:spMkLst>
            <pc:docMk/>
            <pc:sldMk cId="0" sldId="271"/>
            <ac:spMk id="9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0T08:47:04.539" v="200" actId="1036"/>
          <ac:spMkLst>
            <pc:docMk/>
            <pc:sldMk cId="0" sldId="271"/>
            <ac:spMk id="10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0T08:47:04.539" v="200" actId="103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0T08:47:04.539" v="200" actId="1036"/>
          <ac:spMkLst>
            <pc:docMk/>
            <pc:sldMk cId="0" sldId="271"/>
            <ac:spMk id="1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15427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 students. Tell them that Lecture 1 introduced basic data organization. Lecture 2 focuses on the operations and the idea of ADT.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create continuity. Mention that the next lecture will use C features to implement these ideas.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short. The goal is to make students clear about the purpose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operation names. Avoid deep complexity details here; focus on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creating a data structure is the first operation. In C, uninitialized variables are a common source of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highlighted cell to show that a loop moves step by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searching is a common operation in databases, contact lists and student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mutation operations. Explain that they may be costlier than traversal depending on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comparison qualitative here. Detailed complexity will follow in later lectures.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ADT is a major conceptual point. Make sure students understand the separation between interface and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central formula for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physical analogy to reinforce LIFO.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interface versus implementation distinction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go too deep into pointers yet. Just preview why pointers and structures are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activity reinforces ADT design: data, operations and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by previewing Lecture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high_resolution_futuristic_tech_illustration_i.png"/>
          <p:cNvPicPr>
            <a:picLocks noChangeAspect="1"/>
          </p:cNvPicPr>
          <p:nvPr/>
        </p:nvPicPr>
        <p:blipFill>
          <a:blip r:embed="rId3"/>
          <a:srcRect l="23811" r="23811"/>
          <a:stretch/>
        </p:blipFill>
        <p:spPr>
          <a:xfrm>
            <a:off x="5806440" y="0"/>
            <a:ext cx="6382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15000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Image 1" descr="/mnt/data/tcs302_assets/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20040"/>
            <a:ext cx="1508760" cy="457200"/>
          </a:xfrm>
          <a:prstGeom prst="rect">
            <a:avLst/>
          </a:prstGeom>
        </p:spPr>
      </p:pic>
      <p:pic>
        <p:nvPicPr>
          <p:cNvPr id="12" name="Image 1" descr="/mnt/data/tcs302_assets/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20040"/>
            <a:ext cx="1508760" cy="4572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85800" y="13258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75CD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2000" dirty="0"/>
          </a:p>
        </p:txBody>
      </p:sp>
      <p:sp>
        <p:nvSpPr>
          <p:cNvPr id="6" name="Text 2"/>
          <p:cNvSpPr/>
          <p:nvPr/>
        </p:nvSpPr>
        <p:spPr>
          <a:xfrm>
            <a:off x="68580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1, Lecture 2</a:t>
            </a:r>
            <a:endParaRPr lang="en-US" sz="2400" dirty="0"/>
          </a:p>
        </p:txBody>
      </p:sp>
      <p:sp>
        <p:nvSpPr>
          <p:cNvPr id="7" name="Text 3"/>
          <p:cNvSpPr/>
          <p:nvPr/>
        </p:nvSpPr>
        <p:spPr>
          <a:xfrm>
            <a:off x="685800" y="23317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Structure Operations and ADT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548640" y="3794760"/>
            <a:ext cx="4937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2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data structures become useful through operations and abstraction.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731520" y="56235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Manoj Kaushik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and Engineering</a:t>
            </a:r>
            <a:endParaRPr lang="en-US" sz="1800" dirty="0"/>
          </a:p>
        </p:txBody>
      </p:sp>
      <p:sp>
        <p:nvSpPr>
          <p:cNvPr id="13" name="Text 5"/>
          <p:cNvSpPr/>
          <p:nvPr/>
        </p:nvSpPr>
        <p:spPr>
          <a:xfrm>
            <a:off x="731520" y="56235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Manoj Kaushik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and Engineering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28600" y="100584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100584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Are We in Unit 1?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are moving from storing data to working with data.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68680" y="1874520"/>
            <a:ext cx="2971800" cy="1005840"/>
          </a:xfrm>
          <a:prstGeom prst="roundRect">
            <a:avLst>
              <a:gd name="adj" fmla="val 5455"/>
            </a:avLst>
          </a:prstGeom>
          <a:solidFill>
            <a:srgbClr val="EAF3FF"/>
          </a:solidFill>
          <a:ln w="1270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005840" y="1975104"/>
            <a:ext cx="2697480" cy="804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Lecture 1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Basic terminology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617720" y="1874520"/>
            <a:ext cx="2971800" cy="1005840"/>
          </a:xfrm>
          <a:prstGeom prst="roundRect">
            <a:avLst>
              <a:gd name="adj" fmla="val 5455"/>
            </a:avLst>
          </a:prstGeom>
          <a:solidFill>
            <a:srgbClr val="EAFBF2"/>
          </a:solidFill>
          <a:ln w="12700">
            <a:solidFill>
              <a:srgbClr val="75E0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754880" y="1975104"/>
            <a:ext cx="2697480" cy="804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580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Lecture 2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580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Operations + ADT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366760" y="1874520"/>
            <a:ext cx="2971800" cy="1005840"/>
          </a:xfrm>
          <a:prstGeom prst="roundRect">
            <a:avLst>
              <a:gd name="adj" fmla="val 5455"/>
            </a:avLst>
          </a:prstGeom>
          <a:solidFill>
            <a:srgbClr val="F4EEFF"/>
          </a:solidFill>
          <a:ln w="12700">
            <a:solidFill>
              <a:srgbClr val="D6BBF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8503920" y="1975104"/>
            <a:ext cx="2697480" cy="804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D28D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Lecture 3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6D28D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Pointers + structures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51560" y="3657600"/>
            <a:ext cx="10332720" cy="12344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A data structure is not only a storage format.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We must also define what operations are allowed.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ADT helps us separate usage from implementation.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22960" y="5650992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F6C34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1051560" y="5779008"/>
            <a:ext cx="10104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Question: Is a stack only a pile of data, or also a set of rules?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57200" y="6528816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Ask students to recall one example from Lecture 1.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28600" y="100584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100584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Outcomes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the end of today’s lecture, students should be able to: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097280" y="1920240"/>
            <a:ext cx="640080" cy="64008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097280" y="206654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965960" y="1965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Identify common operations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97280" y="3520440"/>
            <a:ext cx="640080" cy="64008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1097280" y="366674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965960" y="3566160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why operation cost matters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400800" y="1920240"/>
            <a:ext cx="640080" cy="64008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400800" y="206654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269480" y="1965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Abstract Data Type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400800" y="3520440"/>
            <a:ext cx="640080" cy="64008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400800" y="366674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269480" y="356616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Separate interface from implementation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22960" y="5623560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EAFBF2"/>
          </a:solidFill>
          <a:ln w="12700">
            <a:solidFill>
              <a:srgbClr val="75E0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1051560" y="5751576"/>
            <a:ext cx="10104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 rule: always ask, “Which operation is most important here?”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57200" y="6528816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Read outcomes as promises to students.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28600" y="100584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100584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an Operation?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operation is an action performed on stored data.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828800"/>
            <a:ext cx="2286000" cy="731520"/>
          </a:xfrm>
          <a:prstGeom prst="roundRect">
            <a:avLst>
              <a:gd name="adj" fmla="val 7500"/>
            </a:avLst>
          </a:prstGeom>
          <a:solidFill>
            <a:srgbClr val="EAF3FF"/>
          </a:solidFill>
          <a:ln w="1270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051560" y="1929384"/>
            <a:ext cx="201168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Create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520440" y="1828800"/>
            <a:ext cx="2286000" cy="731520"/>
          </a:xfrm>
          <a:prstGeom prst="roundRect">
            <a:avLst>
              <a:gd name="adj" fmla="val 7500"/>
            </a:avLst>
          </a:prstGeom>
          <a:solidFill>
            <a:srgbClr val="EAFBF2"/>
          </a:solidFill>
          <a:ln w="12700">
            <a:solidFill>
              <a:srgbClr val="75E0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3657600" y="1929384"/>
            <a:ext cx="201168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580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Traverse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26480" y="1828800"/>
            <a:ext cx="2286000" cy="731520"/>
          </a:xfrm>
          <a:prstGeom prst="roundRect">
            <a:avLst>
              <a:gd name="adj" fmla="val 7500"/>
            </a:avLst>
          </a:prstGeom>
          <a:solidFill>
            <a:srgbClr val="FFF3E8"/>
          </a:solidFill>
          <a:ln w="12700">
            <a:solidFill>
              <a:srgbClr val="FEDF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6263640" y="1929384"/>
            <a:ext cx="201168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973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Search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732520" y="1828800"/>
            <a:ext cx="2286000" cy="731520"/>
          </a:xfrm>
          <a:prstGeom prst="roundRect">
            <a:avLst>
              <a:gd name="adj" fmla="val 7500"/>
            </a:avLst>
          </a:prstGeom>
          <a:solidFill>
            <a:srgbClr val="F4EEFF"/>
          </a:solidFill>
          <a:ln w="12700">
            <a:solidFill>
              <a:srgbClr val="D6BBF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8869680" y="1929384"/>
            <a:ext cx="201168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D28D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Insert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194560" y="3154680"/>
            <a:ext cx="2286000" cy="731520"/>
          </a:xfrm>
          <a:prstGeom prst="roundRect">
            <a:avLst>
              <a:gd name="adj" fmla="val 7500"/>
            </a:avLst>
          </a:prstGeom>
          <a:solidFill>
            <a:srgbClr val="FFEDEE"/>
          </a:solidFill>
          <a:ln w="12700">
            <a:solidFill>
              <a:srgbClr val="FDA29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331720" y="3255264"/>
            <a:ext cx="201168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4231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Delete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937760" y="3154680"/>
            <a:ext cx="2286000" cy="731520"/>
          </a:xfrm>
          <a:prstGeom prst="roundRect">
            <a:avLst>
              <a:gd name="adj" fmla="val 7500"/>
            </a:avLst>
          </a:prstGeom>
          <a:solidFill>
            <a:srgbClr val="ECFEFF"/>
          </a:solidFill>
          <a:ln w="12700">
            <a:solidFill>
              <a:srgbClr val="5EEA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074920" y="3255264"/>
            <a:ext cx="201168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76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Update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680960" y="3154680"/>
            <a:ext cx="2286000" cy="731520"/>
          </a:xfrm>
          <a:prstGeom prst="roundRect">
            <a:avLst>
              <a:gd name="adj" fmla="val 7500"/>
            </a:avLst>
          </a:prstGeom>
          <a:solidFill>
            <a:srgbClr val="FFF8DB"/>
          </a:solidFill>
          <a:ln w="12700">
            <a:solidFill>
              <a:srgbClr val="F6C34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7818120" y="3255264"/>
            <a:ext cx="201168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Access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60120" y="4754880"/>
            <a:ext cx="1033272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Different structures support these operations differently.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Choosing the wrong structure makes the program slower or harder.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457200" y="6528816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Ask which operation happens when a student record is corrected.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1"/>
          <p:cNvSpPr/>
          <p:nvPr/>
        </p:nvSpPr>
        <p:spPr>
          <a:xfrm>
            <a:off x="457200" y="6528816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Ask which operation happens when a student record is corrected.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28600" y="100584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100584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Create and Initialize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Before using a structure, we must prepare it correctly.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783080"/>
            <a:ext cx="5486400" cy="64008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5"/>
          <p:cNvSpPr/>
          <p:nvPr/>
        </p:nvSpPr>
        <p:spPr>
          <a:xfrm>
            <a:off x="914400" y="1783080"/>
            <a:ext cx="5486400" cy="64008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051560" y="1920240"/>
            <a:ext cx="52120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F9F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marks[5] = {72, 85, 91, 68, 77};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51560" y="2880360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1051560" y="304495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72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929384" y="2880360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929384" y="304495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85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807208" y="2880360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2807208" y="304495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91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685032" y="2880360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685032" y="304495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68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62856" y="2880360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562856" y="304495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77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949440" y="1828800"/>
            <a:ext cx="4297680" cy="1600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Creation allocates or reserves space.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Initialization gives meaningful starting values.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Uninitialized data may produce wrong results.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22960" y="5650992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F6C34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1051560" y="5779008"/>
            <a:ext cx="10104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Ask students: What may happen if marks[] is declared but not initialized?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457200" y="6528816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Connect this with garbage values in C.</a:t>
            </a:r>
            <a:endParaRPr lang="en-US" sz="1600" dirty="0"/>
          </a:p>
        </p:txBody>
      </p:sp>
      <p:sp>
        <p:nvSpPr>
          <p:cNvPr id="40" name="Text 8"/>
          <p:cNvSpPr/>
          <p:nvPr/>
        </p:nvSpPr>
        <p:spPr>
          <a:xfrm>
            <a:off x="1051560" y="304495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72</a:t>
            </a:r>
            <a:endParaRPr lang="en-US" sz="2000" dirty="0"/>
          </a:p>
        </p:txBody>
      </p:sp>
      <p:sp>
        <p:nvSpPr>
          <p:cNvPr id="41" name="Shape 9"/>
          <p:cNvSpPr/>
          <p:nvPr/>
        </p:nvSpPr>
        <p:spPr>
          <a:xfrm>
            <a:off x="1929384" y="2880360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10"/>
          <p:cNvSpPr/>
          <p:nvPr/>
        </p:nvSpPr>
        <p:spPr>
          <a:xfrm>
            <a:off x="1929384" y="304495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85</a:t>
            </a:r>
            <a:endParaRPr lang="en-US" sz="2000" dirty="0"/>
          </a:p>
        </p:txBody>
      </p:sp>
      <p:sp>
        <p:nvSpPr>
          <p:cNvPr id="43" name="Shape 11"/>
          <p:cNvSpPr/>
          <p:nvPr/>
        </p:nvSpPr>
        <p:spPr>
          <a:xfrm>
            <a:off x="2807208" y="2880360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Text 12"/>
          <p:cNvSpPr/>
          <p:nvPr/>
        </p:nvSpPr>
        <p:spPr>
          <a:xfrm>
            <a:off x="2807208" y="304495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91</a:t>
            </a:r>
            <a:endParaRPr lang="en-US" sz="2000" dirty="0"/>
          </a:p>
        </p:txBody>
      </p:sp>
      <p:sp>
        <p:nvSpPr>
          <p:cNvPr id="45" name="Shape 13"/>
          <p:cNvSpPr/>
          <p:nvPr/>
        </p:nvSpPr>
        <p:spPr>
          <a:xfrm>
            <a:off x="3685032" y="2880360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14"/>
          <p:cNvSpPr/>
          <p:nvPr/>
        </p:nvSpPr>
        <p:spPr>
          <a:xfrm>
            <a:off x="3685032" y="304495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68</a:t>
            </a:r>
            <a:endParaRPr lang="en-US" sz="2000" dirty="0"/>
          </a:p>
        </p:txBody>
      </p:sp>
      <p:sp>
        <p:nvSpPr>
          <p:cNvPr id="47" name="Shape 15"/>
          <p:cNvSpPr/>
          <p:nvPr/>
        </p:nvSpPr>
        <p:spPr>
          <a:xfrm>
            <a:off x="4562856" y="2880360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16"/>
          <p:cNvSpPr/>
          <p:nvPr/>
        </p:nvSpPr>
        <p:spPr>
          <a:xfrm>
            <a:off x="4562856" y="304495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77</a:t>
            </a:r>
            <a:endParaRPr lang="en-US" sz="2000" dirty="0"/>
          </a:p>
        </p:txBody>
      </p:sp>
      <p:sp>
        <p:nvSpPr>
          <p:cNvPr id="49" name="Text 17"/>
          <p:cNvSpPr/>
          <p:nvPr/>
        </p:nvSpPr>
        <p:spPr>
          <a:xfrm>
            <a:off x="6949440" y="1828800"/>
            <a:ext cx="4297680" cy="1600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Creation allocates or reserves space.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Initialization gives meaningful starting values.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Uninitialized data may produce wrong results.</a:t>
            </a:r>
            <a:endParaRPr lang="en-US" sz="2000" dirty="0"/>
          </a:p>
        </p:txBody>
      </p:sp>
      <p:sp>
        <p:nvSpPr>
          <p:cNvPr id="50" name="Shape 18"/>
          <p:cNvSpPr/>
          <p:nvPr/>
        </p:nvSpPr>
        <p:spPr>
          <a:xfrm>
            <a:off x="822960" y="5650992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F6C34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19"/>
          <p:cNvSpPr/>
          <p:nvPr/>
        </p:nvSpPr>
        <p:spPr>
          <a:xfrm>
            <a:off x="1051560" y="5779008"/>
            <a:ext cx="10104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Ask students: What may happen if marks[] is declared but not initialized?</a:t>
            </a:r>
            <a:endParaRPr lang="en-US" sz="2000" dirty="0"/>
          </a:p>
        </p:txBody>
      </p:sp>
      <p:sp>
        <p:nvSpPr>
          <p:cNvPr id="52" name="Shape 20"/>
          <p:cNvSpPr/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3" name="Text 21"/>
          <p:cNvSpPr/>
          <p:nvPr/>
        </p:nvSpPr>
        <p:spPr>
          <a:xfrm>
            <a:off x="457200" y="6528816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Connect this with garbage values in C.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28600" y="100584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100584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Traversal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Traversal means visiting every element exactly once.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2011680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217627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72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792224" y="2011680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1792224" y="217627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85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670048" y="2011680"/>
            <a:ext cx="841248" cy="566928"/>
          </a:xfrm>
          <a:prstGeom prst="rect">
            <a:avLst/>
          </a:prstGeom>
          <a:solidFill>
            <a:srgbClr val="FFF3E8"/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2670048" y="217627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91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547872" y="2011680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547872" y="217627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68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425696" y="2011680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425696" y="217627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77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492240" y="1645920"/>
            <a:ext cx="4572000" cy="1325880"/>
          </a:xfrm>
          <a:prstGeom prst="roundRect">
            <a:avLst>
              <a:gd name="adj" fmla="val 2759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629400" y="1783080"/>
            <a:ext cx="429768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F9F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(int i = 0; i &lt; n; i++) {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9F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printf("%d ", marks[i]);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9F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" y="3657600"/>
            <a:ext cx="10241280" cy="11887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Used for printing, summing and scanning data.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For n elements, each element is visited once.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Time complexity is usually O(n).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22960" y="5623560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F6C34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1051560" y="5751576"/>
            <a:ext cx="10104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Quick check: Can traversal be O(1) if all n elements must be visited?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457200" y="6528816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Let students answer before showing O(n).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28600" y="100584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100584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Searching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Searching means finding an element with a given value or key.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920240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792224" y="1920240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1792224" y="2084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25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670048" y="1920240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2670048" y="2084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37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547872" y="1920240"/>
            <a:ext cx="841248" cy="566928"/>
          </a:xfrm>
          <a:prstGeom prst="rect">
            <a:avLst/>
          </a:prstGeom>
          <a:solidFill>
            <a:srgbClr val="FFF3E8"/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547872" y="2084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49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425696" y="1920240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425696" y="2084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58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60120" y="2788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973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Target = 49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1737360"/>
            <a:ext cx="5120640" cy="15087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Linear search checks elements one by one.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Binary search needs sorted data.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The best method depends on data organization.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943600" y="3840480"/>
            <a:ext cx="4297680" cy="914400"/>
          </a:xfrm>
          <a:prstGeom prst="roundRect">
            <a:avLst>
              <a:gd name="adj" fmla="val 4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6080760" y="3977640"/>
            <a:ext cx="40233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F9F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(arr[i] == key)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9F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i;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57200" y="6528816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Ask students why binary search cannot be applied directly to unsorted data.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28600" y="100584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100584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Insert, Delete and Update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These operations change the contents of a data structure.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737360"/>
            <a:ext cx="2743200" cy="640080"/>
          </a:xfrm>
          <a:prstGeom prst="roundRect">
            <a:avLst>
              <a:gd name="adj" fmla="val 5714"/>
            </a:avLst>
          </a:prstGeom>
          <a:solidFill>
            <a:srgbClr val="EAFBF2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69264" y="1783080"/>
            <a:ext cx="2633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580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Insert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709160" y="1737360"/>
            <a:ext cx="2743200" cy="640080"/>
          </a:xfrm>
          <a:prstGeom prst="roundRect">
            <a:avLst>
              <a:gd name="adj" fmla="val 5714"/>
            </a:avLst>
          </a:prstGeom>
          <a:solidFill>
            <a:srgbClr val="FFEDEE"/>
          </a:solidFill>
          <a:ln w="12700">
            <a:solidFill>
              <a:srgbClr val="B4231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764024" y="1783080"/>
            <a:ext cx="2633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4231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Delete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503920" y="1737360"/>
            <a:ext cx="2743200" cy="640080"/>
          </a:xfrm>
          <a:prstGeom prst="roundRect">
            <a:avLst>
              <a:gd name="adj" fmla="val 5714"/>
            </a:avLst>
          </a:prstGeom>
          <a:solidFill>
            <a:srgbClr val="FFF8DB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8558784" y="1783080"/>
            <a:ext cx="2633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973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Update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2743200"/>
            <a:ext cx="2834640" cy="1371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Add a new element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May require shifting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May require free space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09160" y="2743200"/>
            <a:ext cx="2834640" cy="1371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Remove an element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May require searching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May cause underflow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503920" y="2743200"/>
            <a:ext cx="2834640" cy="1371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Modify an existing value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Needs correct position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Useful in records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22960" y="5577840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EAFBF2"/>
          </a:solidFill>
          <a:ln w="12700">
            <a:solidFill>
              <a:srgbClr val="75E0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1051560" y="5705856"/>
            <a:ext cx="10104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 example: changing a student’s wrong marks is an update operation.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457200" y="6528816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Ask students to give one example of each operation from daily life.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28600" y="100584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100584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Operation Cost Matters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same operation may be easy in one structure and costly in another.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005840" y="1645920"/>
            <a:ext cx="2880360" cy="502920"/>
          </a:xfrm>
          <a:prstGeom prst="roundRect">
            <a:avLst>
              <a:gd name="adj" fmla="val 7273"/>
            </a:avLst>
          </a:prstGeom>
          <a:solidFill>
            <a:srgbClr val="EAF3FF"/>
          </a:solidFill>
          <a:ln w="12700">
            <a:solidFill>
              <a:srgbClr val="0B1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Shape 5"/>
          <p:cNvSpPr/>
          <p:nvPr/>
        </p:nvSpPr>
        <p:spPr>
          <a:xfrm>
            <a:off x="1005840" y="1645920"/>
            <a:ext cx="2880360" cy="502920"/>
          </a:xfrm>
          <a:prstGeom prst="roundRect">
            <a:avLst>
              <a:gd name="adj" fmla="val 7273"/>
            </a:avLst>
          </a:prstGeom>
          <a:solidFill>
            <a:srgbClr val="EAF3FF"/>
          </a:solidFill>
          <a:ln w="12700">
            <a:solidFill>
              <a:srgbClr val="0B1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060704" y="1691640"/>
            <a:ext cx="2770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Operation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389120" y="1645920"/>
            <a:ext cx="2880360" cy="502920"/>
          </a:xfrm>
          <a:prstGeom prst="roundRect">
            <a:avLst>
              <a:gd name="adj" fmla="val 7273"/>
            </a:avLst>
          </a:prstGeom>
          <a:solidFill>
            <a:srgbClr val="EAF3FF"/>
          </a:solidFill>
          <a:ln w="12700">
            <a:solidFill>
              <a:srgbClr val="0B1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443984" y="1691640"/>
            <a:ext cx="2770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Array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772400" y="1645920"/>
            <a:ext cx="2880360" cy="502920"/>
          </a:xfrm>
          <a:prstGeom prst="roundRect">
            <a:avLst>
              <a:gd name="adj" fmla="val 7273"/>
            </a:avLst>
          </a:prstGeom>
          <a:solidFill>
            <a:srgbClr val="EAF3FF"/>
          </a:solidFill>
          <a:ln w="12700">
            <a:solidFill>
              <a:srgbClr val="0B1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7827264" y="1691640"/>
            <a:ext cx="2770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Linked List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05840" y="242316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1143000" y="2523744"/>
            <a:ext cx="2606040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Access by index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389120" y="242316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526280" y="2523744"/>
            <a:ext cx="2606040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Fast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772400" y="242316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EAFBF2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7909560" y="2523744"/>
            <a:ext cx="2606040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Slow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1005840" y="320040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1143000" y="3300984"/>
            <a:ext cx="2606040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Insert at beginning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4389120" y="320040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526280" y="3300984"/>
            <a:ext cx="2606040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Costly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7772400" y="320040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EAFBF2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7909560" y="3300984"/>
            <a:ext cx="2606040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Fast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1005840" y="397764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1143000" y="4078224"/>
            <a:ext cx="2606040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Traversal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389120" y="397764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4526280" y="4078224"/>
            <a:ext cx="2606040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Linear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7772400" y="397764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EAFBF2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7909560" y="4078224"/>
            <a:ext cx="2606040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Linear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822960" y="5559552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FFEDEE"/>
          </a:solidFill>
          <a:ln w="12700">
            <a:solidFill>
              <a:srgbClr val="FDA29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1051560" y="5687568"/>
            <a:ext cx="10104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Engineering decision: choose the structure according to the most frequent operation.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57200" y="6528816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Relate this with designing a contact list or marks table.</a:t>
            </a:r>
            <a:endParaRPr lang="en-US" sz="1600" dirty="0"/>
          </a:p>
        </p:txBody>
      </p:sp>
      <p:sp>
        <p:nvSpPr>
          <p:cNvPr id="62" name="Text 8"/>
          <p:cNvSpPr/>
          <p:nvPr/>
        </p:nvSpPr>
        <p:spPr>
          <a:xfrm>
            <a:off x="4443984" y="1691640"/>
            <a:ext cx="2770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Array</a:t>
            </a:r>
            <a:endParaRPr lang="en-US" sz="1800" dirty="0"/>
          </a:p>
        </p:txBody>
      </p:sp>
      <p:sp>
        <p:nvSpPr>
          <p:cNvPr id="63" name="Shape 9"/>
          <p:cNvSpPr/>
          <p:nvPr/>
        </p:nvSpPr>
        <p:spPr>
          <a:xfrm>
            <a:off x="7772400" y="1645920"/>
            <a:ext cx="2880360" cy="502920"/>
          </a:xfrm>
          <a:prstGeom prst="roundRect">
            <a:avLst>
              <a:gd name="adj" fmla="val 7273"/>
            </a:avLst>
          </a:prstGeom>
          <a:solidFill>
            <a:srgbClr val="EAF3FF"/>
          </a:solidFill>
          <a:ln w="12700">
            <a:solidFill>
              <a:srgbClr val="0B1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Text 10"/>
          <p:cNvSpPr/>
          <p:nvPr/>
        </p:nvSpPr>
        <p:spPr>
          <a:xfrm>
            <a:off x="7827264" y="1691640"/>
            <a:ext cx="2770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Linked List</a:t>
            </a:r>
            <a:endParaRPr lang="en-US" sz="1800" dirty="0"/>
          </a:p>
        </p:txBody>
      </p:sp>
      <p:sp>
        <p:nvSpPr>
          <p:cNvPr id="65" name="Shape 11"/>
          <p:cNvSpPr/>
          <p:nvPr/>
        </p:nvSpPr>
        <p:spPr>
          <a:xfrm>
            <a:off x="1005840" y="242316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12"/>
          <p:cNvSpPr/>
          <p:nvPr/>
        </p:nvSpPr>
        <p:spPr>
          <a:xfrm>
            <a:off x="1143000" y="2523744"/>
            <a:ext cx="2606040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Access by index</a:t>
            </a:r>
            <a:endParaRPr lang="en-US" sz="2000" dirty="0"/>
          </a:p>
        </p:txBody>
      </p:sp>
      <p:sp>
        <p:nvSpPr>
          <p:cNvPr id="67" name="Shape 13"/>
          <p:cNvSpPr/>
          <p:nvPr/>
        </p:nvSpPr>
        <p:spPr>
          <a:xfrm>
            <a:off x="4389120" y="242316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8" name="Text 14"/>
          <p:cNvSpPr/>
          <p:nvPr/>
        </p:nvSpPr>
        <p:spPr>
          <a:xfrm>
            <a:off x="4526280" y="2523744"/>
            <a:ext cx="2606040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Fast</a:t>
            </a:r>
            <a:endParaRPr lang="en-US" sz="2000" dirty="0"/>
          </a:p>
        </p:txBody>
      </p:sp>
      <p:sp>
        <p:nvSpPr>
          <p:cNvPr id="69" name="Shape 15"/>
          <p:cNvSpPr/>
          <p:nvPr/>
        </p:nvSpPr>
        <p:spPr>
          <a:xfrm>
            <a:off x="7772400" y="242316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EAFBF2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16"/>
          <p:cNvSpPr/>
          <p:nvPr/>
        </p:nvSpPr>
        <p:spPr>
          <a:xfrm>
            <a:off x="7909560" y="2523744"/>
            <a:ext cx="2606040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Slow</a:t>
            </a:r>
            <a:endParaRPr lang="en-US" sz="2000" dirty="0"/>
          </a:p>
        </p:txBody>
      </p:sp>
      <p:sp>
        <p:nvSpPr>
          <p:cNvPr id="71" name="Shape 17"/>
          <p:cNvSpPr/>
          <p:nvPr/>
        </p:nvSpPr>
        <p:spPr>
          <a:xfrm>
            <a:off x="1005840" y="320040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18"/>
          <p:cNvSpPr/>
          <p:nvPr/>
        </p:nvSpPr>
        <p:spPr>
          <a:xfrm>
            <a:off x="1143000" y="3300984"/>
            <a:ext cx="2606040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Insert at beginning</a:t>
            </a:r>
            <a:endParaRPr lang="en-US" sz="2000" dirty="0"/>
          </a:p>
        </p:txBody>
      </p:sp>
      <p:sp>
        <p:nvSpPr>
          <p:cNvPr id="73" name="Shape 19"/>
          <p:cNvSpPr/>
          <p:nvPr/>
        </p:nvSpPr>
        <p:spPr>
          <a:xfrm>
            <a:off x="4389120" y="320040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4" name="Text 20"/>
          <p:cNvSpPr/>
          <p:nvPr/>
        </p:nvSpPr>
        <p:spPr>
          <a:xfrm>
            <a:off x="4526280" y="3300984"/>
            <a:ext cx="2606040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Costly</a:t>
            </a:r>
            <a:endParaRPr lang="en-US" sz="2000" dirty="0"/>
          </a:p>
        </p:txBody>
      </p:sp>
      <p:sp>
        <p:nvSpPr>
          <p:cNvPr id="75" name="Shape 21"/>
          <p:cNvSpPr/>
          <p:nvPr/>
        </p:nvSpPr>
        <p:spPr>
          <a:xfrm>
            <a:off x="7772400" y="320040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EAFBF2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Text 22"/>
          <p:cNvSpPr/>
          <p:nvPr/>
        </p:nvSpPr>
        <p:spPr>
          <a:xfrm>
            <a:off x="7909560" y="3300984"/>
            <a:ext cx="2606040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Fast</a:t>
            </a:r>
            <a:endParaRPr lang="en-US" sz="2000" dirty="0"/>
          </a:p>
        </p:txBody>
      </p:sp>
      <p:sp>
        <p:nvSpPr>
          <p:cNvPr id="77" name="Shape 23"/>
          <p:cNvSpPr/>
          <p:nvPr/>
        </p:nvSpPr>
        <p:spPr>
          <a:xfrm>
            <a:off x="1005840" y="397764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24"/>
          <p:cNvSpPr/>
          <p:nvPr/>
        </p:nvSpPr>
        <p:spPr>
          <a:xfrm>
            <a:off x="1143000" y="4078224"/>
            <a:ext cx="2606040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Traversal</a:t>
            </a:r>
            <a:endParaRPr lang="en-US" sz="2000" dirty="0"/>
          </a:p>
        </p:txBody>
      </p:sp>
      <p:sp>
        <p:nvSpPr>
          <p:cNvPr id="79" name="Shape 25"/>
          <p:cNvSpPr/>
          <p:nvPr/>
        </p:nvSpPr>
        <p:spPr>
          <a:xfrm>
            <a:off x="4389120" y="397764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26"/>
          <p:cNvSpPr/>
          <p:nvPr/>
        </p:nvSpPr>
        <p:spPr>
          <a:xfrm>
            <a:off x="4526280" y="4078224"/>
            <a:ext cx="2606040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Linear</a:t>
            </a:r>
            <a:endParaRPr lang="en-US" sz="2000" dirty="0"/>
          </a:p>
        </p:txBody>
      </p:sp>
      <p:sp>
        <p:nvSpPr>
          <p:cNvPr id="81" name="Shape 27"/>
          <p:cNvSpPr/>
          <p:nvPr/>
        </p:nvSpPr>
        <p:spPr>
          <a:xfrm>
            <a:off x="7772400" y="397764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EAFBF2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2" name="Text 28"/>
          <p:cNvSpPr/>
          <p:nvPr/>
        </p:nvSpPr>
        <p:spPr>
          <a:xfrm>
            <a:off x="7909560" y="4078224"/>
            <a:ext cx="2606040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Linear</a:t>
            </a:r>
            <a:endParaRPr lang="en-US" sz="2000" dirty="0"/>
          </a:p>
        </p:txBody>
      </p:sp>
      <p:sp>
        <p:nvSpPr>
          <p:cNvPr id="83" name="Shape 29"/>
          <p:cNvSpPr/>
          <p:nvPr/>
        </p:nvSpPr>
        <p:spPr>
          <a:xfrm>
            <a:off x="822960" y="5559552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FFEDEE"/>
          </a:solidFill>
          <a:ln w="12700">
            <a:solidFill>
              <a:srgbClr val="FDA29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30"/>
          <p:cNvSpPr/>
          <p:nvPr/>
        </p:nvSpPr>
        <p:spPr>
          <a:xfrm>
            <a:off x="1051560" y="5687568"/>
            <a:ext cx="10104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Engineering decision: choose the structure according to the most frequent operation.</a:t>
            </a:r>
            <a:endParaRPr lang="en-US" sz="2000" dirty="0"/>
          </a:p>
        </p:txBody>
      </p:sp>
      <p:sp>
        <p:nvSpPr>
          <p:cNvPr id="85" name="Shape 31"/>
          <p:cNvSpPr/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32"/>
          <p:cNvSpPr/>
          <p:nvPr/>
        </p:nvSpPr>
        <p:spPr>
          <a:xfrm>
            <a:off x="457200" y="6528816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Relate this with designing a contact list or marks table.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28600" y="100584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100584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Abstract Data Type: Main Idea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ADT focuses on what can be done, not how it is implemented.</a:t>
            </a:r>
            <a:endParaRPr lang="en-US" sz="2000" dirty="0"/>
          </a:p>
        </p:txBody>
      </p:sp>
      <p:pic>
        <p:nvPicPr>
          <p:cNvPr id="7" name="Image 0" descr="/mnt/data/a_clean_educational_infographic_slide_style_illu.png"/>
          <p:cNvPicPr>
            <a:picLocks noChangeAspect="1"/>
          </p:cNvPicPr>
          <p:nvPr/>
        </p:nvPicPr>
        <p:blipFill>
          <a:blip r:embed="rId3"/>
          <a:srcRect l="7978" r="7978"/>
          <a:stretch/>
        </p:blipFill>
        <p:spPr>
          <a:xfrm>
            <a:off x="685800" y="1600200"/>
            <a:ext cx="5120640" cy="3429000"/>
          </a:xfrm>
          <a:prstGeom prst="rect">
            <a:avLst/>
          </a:prstGeom>
        </p:spPr>
      </p:pic>
      <p:pic>
        <p:nvPicPr>
          <p:cNvPr id="14" name="Image 0" descr="/mnt/data/a_clean_educational_infographic_slide_style_illu.png"/>
          <p:cNvPicPr>
            <a:picLocks noChangeAspect="1"/>
          </p:cNvPicPr>
          <p:nvPr/>
        </p:nvPicPr>
        <p:blipFill>
          <a:blip r:embed="rId3"/>
          <a:srcRect l="7978" r="7978"/>
          <a:stretch/>
        </p:blipFill>
        <p:spPr>
          <a:xfrm>
            <a:off x="685800" y="1600200"/>
            <a:ext cx="512064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217920" y="1828800"/>
            <a:ext cx="4846320" cy="1554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The user sees operations.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The internal representation is hidden.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This makes programs easier to change and reuse.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22960" y="5559552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F6C34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1051560" y="5687568"/>
            <a:ext cx="10104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Analogy: We use an ATM by pressing buttons; we do not see the internal banking code.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457200" y="6528816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Use the black-box analogy slowly.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28600" y="100584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100584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ADT = Data + Operations + Rules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clear ADT description has three parts.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68680" y="1874520"/>
            <a:ext cx="3017520" cy="1005840"/>
          </a:xfrm>
          <a:prstGeom prst="roundRect">
            <a:avLst>
              <a:gd name="adj" fmla="val 5455"/>
            </a:avLst>
          </a:prstGeom>
          <a:solidFill>
            <a:srgbClr val="EAF3FF"/>
          </a:solidFill>
          <a:ln w="1270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005840" y="1975104"/>
            <a:ext cx="2743200" cy="804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stored?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617720" y="1874520"/>
            <a:ext cx="3017520" cy="1005840"/>
          </a:xfrm>
          <a:prstGeom prst="roundRect">
            <a:avLst>
              <a:gd name="adj" fmla="val 5455"/>
            </a:avLst>
          </a:prstGeom>
          <a:solidFill>
            <a:srgbClr val="EAFBF2"/>
          </a:solidFill>
          <a:ln w="12700">
            <a:solidFill>
              <a:srgbClr val="75E0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754880" y="1975104"/>
            <a:ext cx="2743200" cy="804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580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Operations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580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can be done?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366760" y="1874520"/>
            <a:ext cx="3017520" cy="1005840"/>
          </a:xfrm>
          <a:prstGeom prst="roundRect">
            <a:avLst>
              <a:gd name="adj" fmla="val 5455"/>
            </a:avLst>
          </a:prstGeom>
          <a:solidFill>
            <a:srgbClr val="F4EEFF"/>
          </a:solidFill>
          <a:ln w="12700">
            <a:solidFill>
              <a:srgbClr val="D6BBF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8503920" y="1975104"/>
            <a:ext cx="2743200" cy="804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D28D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Rules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6D28D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is it valid?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51560" y="3931920"/>
            <a:ext cx="1005840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Example: Stack ADT stores elements, supports push/pop/peek, and does not allow pop on an empty stack.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57200" y="6528816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Ask students to repeat the three parts: data, operations, rules.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28600" y="100584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100584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Stack as an ADT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stack follows Last-In, First-Out behaviour.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280160" y="1828800"/>
            <a:ext cx="2743200" cy="457200"/>
          </a:xfrm>
          <a:prstGeom prst="roundRect">
            <a:avLst>
              <a:gd name="adj" fmla="val 12000"/>
            </a:avLst>
          </a:prstGeom>
          <a:solidFill>
            <a:srgbClr val="FFF3E8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Shape 5"/>
          <p:cNvSpPr/>
          <p:nvPr/>
        </p:nvSpPr>
        <p:spPr>
          <a:xfrm>
            <a:off x="1280160" y="1828800"/>
            <a:ext cx="2743200" cy="457200"/>
          </a:xfrm>
          <a:prstGeom prst="roundRect">
            <a:avLst>
              <a:gd name="adj" fmla="val 12000"/>
            </a:avLst>
          </a:prstGeom>
          <a:solidFill>
            <a:srgbClr val="FFF3E8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417320" y="1929384"/>
            <a:ext cx="24688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Book 4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280160" y="2395728"/>
            <a:ext cx="2743200" cy="457200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270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1417320" y="2496312"/>
            <a:ext cx="24688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Book 3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280160" y="2962656"/>
            <a:ext cx="2743200" cy="457200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270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417320" y="3063240"/>
            <a:ext cx="24688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Book 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280160" y="3529584"/>
            <a:ext cx="2743200" cy="457200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270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1417320" y="3630168"/>
            <a:ext cx="24688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Book 1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251960" y="1691640"/>
            <a:ext cx="457200" cy="731520"/>
          </a:xfrm>
          <a:prstGeom prst="upArrow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80060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580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push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251960" y="2834640"/>
            <a:ext cx="457200" cy="731520"/>
          </a:xfrm>
          <a:prstGeom prst="downArrow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800600" y="2971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4231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00800" y="1737360"/>
            <a:ext cx="4663440" cy="21945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push(x): insert at top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pop(): remove from top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peek(): read top element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Rule: pop is invalid when empty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22960" y="5559552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F6C34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1051560" y="5687568"/>
            <a:ext cx="10104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Question: Why is the last book kept the first book removed?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457200" y="6528816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Demonstrate using a pile of notebooks.</a:t>
            </a:r>
            <a:endParaRPr lang="en-US" sz="1600" dirty="0"/>
          </a:p>
        </p:txBody>
      </p:sp>
      <p:sp>
        <p:nvSpPr>
          <p:cNvPr id="28" name="Shape 20"/>
          <p:cNvSpPr/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1"/>
          <p:cNvSpPr/>
          <p:nvPr/>
        </p:nvSpPr>
        <p:spPr>
          <a:xfrm>
            <a:off x="457200" y="6528816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Demonstrate using a pile of notebooks.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28600" y="100584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100584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ADT vs Implementation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behaviour may remain same while storage changes.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2596896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75C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5"/>
          <p:cNvSpPr/>
          <p:nvPr/>
        </p:nvSpPr>
        <p:spPr>
          <a:xfrm>
            <a:off x="914400" y="2596896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75C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051560" y="2697480"/>
            <a:ext cx="246888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Stack ADT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push, pop, peek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023360" y="2889504"/>
            <a:ext cx="640080" cy="320040"/>
          </a:xfrm>
          <a:prstGeom prst="rightArrow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983480" y="2267712"/>
            <a:ext cx="2743200" cy="749808"/>
          </a:xfrm>
          <a:prstGeom prst="roundRect">
            <a:avLst>
              <a:gd name="adj" fmla="val 7317"/>
            </a:avLst>
          </a:prstGeom>
          <a:solidFill>
            <a:srgbClr val="EAF3FF"/>
          </a:solidFill>
          <a:ln w="1270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5120640" y="2377440"/>
            <a:ext cx="24688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Array implementation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983480" y="3374136"/>
            <a:ext cx="2743200" cy="749808"/>
          </a:xfrm>
          <a:prstGeom prst="roundRect">
            <a:avLst>
              <a:gd name="adj" fmla="val 7317"/>
            </a:avLst>
          </a:prstGeom>
          <a:solidFill>
            <a:srgbClr val="EAFBF2"/>
          </a:solidFill>
          <a:ln w="12700">
            <a:solidFill>
              <a:srgbClr val="75E0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120640" y="3474720"/>
            <a:ext cx="24688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580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Linked-list implementation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92440" y="2889504"/>
            <a:ext cx="640080" cy="320040"/>
          </a:xfrm>
          <a:prstGeom prst="rightArrow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9144000" y="2596896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FF3E8"/>
          </a:solidFill>
          <a:ln w="12700">
            <a:solidFill>
              <a:srgbClr val="FEDF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9281160" y="2697480"/>
            <a:ext cx="201168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973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Same user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973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experience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22960" y="5166360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EAFBF2"/>
          </a:solidFill>
          <a:ln w="12700">
            <a:solidFill>
              <a:srgbClr val="75E0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1051560" y="5294376"/>
            <a:ext cx="10104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idea: ADT is the promise; implementation is the method.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57200" y="6528816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Say: the user calls pop(), but does not ask how memory is arranged.</a:t>
            </a:r>
            <a:endParaRPr lang="en-US" sz="1600" dirty="0"/>
          </a:p>
        </p:txBody>
      </p:sp>
      <p:sp>
        <p:nvSpPr>
          <p:cNvPr id="31" name="Text 11"/>
          <p:cNvSpPr/>
          <p:nvPr/>
        </p:nvSpPr>
        <p:spPr>
          <a:xfrm>
            <a:off x="5120640" y="3474720"/>
            <a:ext cx="24688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580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Linked-list implementation</a:t>
            </a:r>
            <a:endParaRPr lang="en-US" sz="2000" dirty="0"/>
          </a:p>
        </p:txBody>
      </p:sp>
      <p:sp>
        <p:nvSpPr>
          <p:cNvPr id="32" name="Shape 12"/>
          <p:cNvSpPr/>
          <p:nvPr/>
        </p:nvSpPr>
        <p:spPr>
          <a:xfrm>
            <a:off x="8092440" y="2889504"/>
            <a:ext cx="640080" cy="320040"/>
          </a:xfrm>
          <a:prstGeom prst="rightArrow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13"/>
          <p:cNvSpPr/>
          <p:nvPr/>
        </p:nvSpPr>
        <p:spPr>
          <a:xfrm>
            <a:off x="9144000" y="2596896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FF3E8"/>
          </a:solidFill>
          <a:ln w="12700">
            <a:solidFill>
              <a:srgbClr val="FEDF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14"/>
          <p:cNvSpPr/>
          <p:nvPr/>
        </p:nvSpPr>
        <p:spPr>
          <a:xfrm>
            <a:off x="9281160" y="2697480"/>
            <a:ext cx="201168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973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Same user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973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experience</a:t>
            </a:r>
            <a:endParaRPr lang="en-US" sz="2000" dirty="0"/>
          </a:p>
        </p:txBody>
      </p:sp>
      <p:sp>
        <p:nvSpPr>
          <p:cNvPr id="35" name="Shape 15"/>
          <p:cNvSpPr/>
          <p:nvPr/>
        </p:nvSpPr>
        <p:spPr>
          <a:xfrm>
            <a:off x="822960" y="5166360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EAFBF2"/>
          </a:solidFill>
          <a:ln w="12700">
            <a:solidFill>
              <a:srgbClr val="75E0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16"/>
          <p:cNvSpPr/>
          <p:nvPr/>
        </p:nvSpPr>
        <p:spPr>
          <a:xfrm>
            <a:off x="1051560" y="5294376"/>
            <a:ext cx="10104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idea: ADT is the promise; implementation is the method.</a:t>
            </a:r>
            <a:endParaRPr lang="en-US" sz="2000" dirty="0"/>
          </a:p>
        </p:txBody>
      </p:sp>
      <p:sp>
        <p:nvSpPr>
          <p:cNvPr id="37" name="Shape 17"/>
          <p:cNvSpPr/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18"/>
          <p:cNvSpPr/>
          <p:nvPr/>
        </p:nvSpPr>
        <p:spPr>
          <a:xfrm>
            <a:off x="457200" y="6528816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Say: the user calls pop(), but does not ask how memory is arranged.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28600" y="100584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100584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ADT Thinking in C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 can express ADT ideas using structs and functions.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68680" y="1600200"/>
            <a:ext cx="5166360" cy="2834640"/>
          </a:xfrm>
          <a:prstGeom prst="roundRect">
            <a:avLst>
              <a:gd name="adj" fmla="val 129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005840" y="1737360"/>
            <a:ext cx="4892040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F9F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typedef struct {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9F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data[100];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9F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top;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9F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Stack;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9F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push(Stack *s, int x);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9F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pop(Stack *s);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0" y="1737360"/>
            <a:ext cx="4663440" cy="1965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struct stores internal data.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functions define legal operations.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users should call functions, not directly modify top.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22960" y="5440680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F6C34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1051560" y="5568696"/>
            <a:ext cx="10104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is why pointers and structures are important in the next lecture.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457200" y="6528816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Explain Stack *s as access to the actual stack object.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28600" y="100584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100584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Mini Classroom Activity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 a simple LibraryBook ADT in pairs.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45820" y="2176272"/>
            <a:ext cx="10469880" cy="685800"/>
          </a:xfrm>
          <a:prstGeom prst="roundRect">
            <a:avLst>
              <a:gd name="adj" fmla="val 8000"/>
            </a:avLst>
          </a:prstGeom>
          <a:solidFill>
            <a:srgbClr val="FFF3E8"/>
          </a:solidFill>
          <a:ln w="12700">
            <a:solidFill>
              <a:srgbClr val="FEDF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010412" y="2212848"/>
            <a:ext cx="100126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Problem: A library wants to manage books with ID, title, author and availability status.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143000" y="3392424"/>
            <a:ext cx="5120640" cy="1828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What data will the ADT store?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Which operations are required?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Which operation should be rejected as invalid?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Which implementation may be suitable?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766560" y="3483864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EAFBF2"/>
          </a:solidFill>
          <a:ln w="12700">
            <a:solidFill>
              <a:srgbClr val="75E0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903720" y="3584448"/>
            <a:ext cx="3840480" cy="11704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580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operations: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580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addBook(), searchBook(),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580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issueBook(), returnBook()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11480" y="6574536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457200" y="6574536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Give students 3 minutes, then take two answers.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28600" y="100584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100584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Recap and Exit Questions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30352" y="1225296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Close the lecture with quick oral or written responses.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2176272"/>
            <a:ext cx="5166360" cy="548640"/>
          </a:xfrm>
          <a:prstGeom prst="roundRect">
            <a:avLst>
              <a:gd name="adj" fmla="val 10000"/>
            </a:avLst>
          </a:prstGeom>
          <a:solidFill>
            <a:srgbClr val="EAF3FF"/>
          </a:solidFill>
          <a:ln w="12700">
            <a:solidFill>
              <a:srgbClr val="84CA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60120" y="2276856"/>
            <a:ext cx="489204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Today’s Recap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60120" y="3044952"/>
            <a:ext cx="4800600" cy="1645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Operations make data structures useful.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ADT hides implementation details.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C uses structs and functions to support ADT thinking.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355080" y="2176272"/>
            <a:ext cx="5074920" cy="548640"/>
          </a:xfrm>
          <a:prstGeom prst="roundRect">
            <a:avLst>
              <a:gd name="adj" fmla="val 10000"/>
            </a:avLst>
          </a:prstGeom>
          <a:solidFill>
            <a:srgbClr val="FFF8DB"/>
          </a:solidFill>
          <a:ln w="12700">
            <a:solidFill>
              <a:srgbClr val="F6C34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492240" y="2276856"/>
            <a:ext cx="480060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973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Exit Questions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92240" y="3044952"/>
            <a:ext cx="4663440" cy="1645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Define ADT in one sentence.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Why is pop invalid on an empty stack?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01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Give one real example of update operation.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22960" y="5623560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EAFBF2"/>
          </a:solidFill>
          <a:ln w="12700">
            <a:solidFill>
              <a:srgbClr val="75E0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1051560" y="5751576"/>
            <a:ext cx="10104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 Lecture: Pointers, structures and dynamic memory allocation in C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57200" y="6528816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4754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Ask students to submit one exit answer before leaving.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1783</Words>
  <Application>Microsoft Office PowerPoint</Application>
  <PresentationFormat>Widescreen</PresentationFormat>
  <Paragraphs>289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Consolas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Graphic Era Hill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1 Lecture 2: Data Structure Operations and ADT</dc:title>
  <dc:subject>TCS302 Data Structures with C - Unit 1 Lecture 2</dc:subject>
  <dc:creator>Manoj Kaushik</dc:creator>
  <cp:lastModifiedBy>SC22D012-Manoj Kaushik 2022-PHD-Earth&amp;SpaceScience</cp:lastModifiedBy>
  <cp:revision>1</cp:revision>
  <dcterms:created xsi:type="dcterms:W3CDTF">2026-07-20T02:16:06Z</dcterms:created>
  <dcterms:modified xsi:type="dcterms:W3CDTF">2026-07-20T08:47:12Z</dcterms:modified>
</cp:coreProperties>
</file>