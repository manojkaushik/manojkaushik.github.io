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c36bb188b14481" /><Relationship Type="http://schemas.openxmlformats.org/officeDocument/2006/relationships/extended-properties" Target="/docProps/app.xml" Id="Rf7817416c4d24c52" /><Relationship Type="http://schemas.openxmlformats.org/officeDocument/2006/relationships/officeDocument" Target="/ppt/presentation.xml" Id="Rc56c6007ee2c4df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7b2517778d04b2d"/>
  </p:sldMasterIdLst>
  <p:notesMasterIdLst>
    <p:notesMasterId xmlns:r="http://schemas.openxmlformats.org/officeDocument/2006/relationships" r:id="R791a9014de9e42ba"/>
  </p:notesMasterIdLst>
  <p:sldIdLst>
    <p:sldId xmlns:r="http://schemas.openxmlformats.org/officeDocument/2006/relationships" id="256" r:id="R85d9da9468ae4fd2"/>
    <p:sldId xmlns:r="http://schemas.openxmlformats.org/officeDocument/2006/relationships" id="257" r:id="Rb5add231ea6848ef"/>
    <p:sldId xmlns:r="http://schemas.openxmlformats.org/officeDocument/2006/relationships" id="258" r:id="R243ca6071a1b4930"/>
    <p:sldId xmlns:r="http://schemas.openxmlformats.org/officeDocument/2006/relationships" id="259" r:id="Rad99b3922c254b38"/>
    <p:sldId xmlns:r="http://schemas.openxmlformats.org/officeDocument/2006/relationships" id="260" r:id="R063b280f95d7432a"/>
    <p:sldId xmlns:r="http://schemas.openxmlformats.org/officeDocument/2006/relationships" id="261" r:id="R5ff499d67dc94e8b"/>
    <p:sldId xmlns:r="http://schemas.openxmlformats.org/officeDocument/2006/relationships" id="262" r:id="R4145a8df72a34b00"/>
    <p:sldId xmlns:r="http://schemas.openxmlformats.org/officeDocument/2006/relationships" id="263" r:id="R29e90840959643dc"/>
    <p:sldId xmlns:r="http://schemas.openxmlformats.org/officeDocument/2006/relationships" id="264" r:id="R1c31ea58c5ff4a77"/>
    <p:sldId xmlns:r="http://schemas.openxmlformats.org/officeDocument/2006/relationships" id="265" r:id="Re984b81673544636"/>
    <p:sldId xmlns:r="http://schemas.openxmlformats.org/officeDocument/2006/relationships" id="266" r:id="R219f77853f204b12"/>
    <p:sldId xmlns:r="http://schemas.openxmlformats.org/officeDocument/2006/relationships" id="267" r:id="R81e8f206e859443a"/>
    <p:sldId xmlns:r="http://schemas.openxmlformats.org/officeDocument/2006/relationships" id="268" r:id="Ra7b2075ad39242f3"/>
    <p:sldId xmlns:r="http://schemas.openxmlformats.org/officeDocument/2006/relationships" id="269" r:id="R3e5a017b1dd14a05"/>
    <p:sldId xmlns:r="http://schemas.openxmlformats.org/officeDocument/2006/relationships" id="270" r:id="R0855b96c64bb4fb9"/>
    <p:sldId xmlns:r="http://schemas.openxmlformats.org/officeDocument/2006/relationships" id="271" r:id="R22152c6b30a746d3"/>
    <p:sldId xmlns:r="http://schemas.openxmlformats.org/officeDocument/2006/relationships" id="272" r:id="R79f1ed661ac6487a"/>
    <p:sldId xmlns:r="http://schemas.openxmlformats.org/officeDocument/2006/relationships" id="273" r:id="Rfaeb67bf6c3a4a6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7fbe21e7a024502" /><Relationship Type="http://schemas.openxmlformats.org/officeDocument/2006/relationships/slideMaster" Target="/ppt/slideMasters/slideMaster1.xml" Id="R17b2517778d04b2d" /><Relationship Type="http://schemas.openxmlformats.org/officeDocument/2006/relationships/notesMaster" Target="/ppt/notesMasters/notesMaster1.xml" Id="R791a9014de9e42ba" /><Relationship Type="http://schemas.openxmlformats.org/officeDocument/2006/relationships/presProps" Target="/ppt/presProps.xml" Id="R28858e305f8c4004" /><Relationship Type="http://schemas.openxmlformats.org/officeDocument/2006/relationships/tableStyles" Target="/ppt/tableStyles.xml" Id="R606c26d9452d4047" /><Relationship Type="http://schemas.openxmlformats.org/officeDocument/2006/relationships/slide" Target="/ppt/slides/slide1.xml" Id="R85d9da9468ae4fd2" /><Relationship Type="http://schemas.openxmlformats.org/officeDocument/2006/relationships/slide" Target="/ppt/slides/slide2.xml" Id="Rb5add231ea6848ef" /><Relationship Type="http://schemas.openxmlformats.org/officeDocument/2006/relationships/slide" Target="/ppt/slides/slide3.xml" Id="R243ca6071a1b4930" /><Relationship Type="http://schemas.openxmlformats.org/officeDocument/2006/relationships/slide" Target="/ppt/slides/slide4.xml" Id="Rad99b3922c254b38" /><Relationship Type="http://schemas.openxmlformats.org/officeDocument/2006/relationships/slide" Target="/ppt/slides/slide5.xml" Id="R063b280f95d7432a" /><Relationship Type="http://schemas.openxmlformats.org/officeDocument/2006/relationships/slide" Target="/ppt/slides/slide6.xml" Id="R5ff499d67dc94e8b" /><Relationship Type="http://schemas.openxmlformats.org/officeDocument/2006/relationships/slide" Target="/ppt/slides/slide7.xml" Id="R4145a8df72a34b00" /><Relationship Type="http://schemas.openxmlformats.org/officeDocument/2006/relationships/slide" Target="/ppt/slides/slide8.xml" Id="R29e90840959643dc" /><Relationship Type="http://schemas.openxmlformats.org/officeDocument/2006/relationships/slide" Target="/ppt/slides/slide9.xml" Id="R1c31ea58c5ff4a77" /><Relationship Type="http://schemas.openxmlformats.org/officeDocument/2006/relationships/slide" Target="/ppt/slides/slide10.xml" Id="Re984b81673544636" /><Relationship Type="http://schemas.openxmlformats.org/officeDocument/2006/relationships/slide" Target="/ppt/slides/slide11.xml" Id="R219f77853f204b12" /><Relationship Type="http://schemas.openxmlformats.org/officeDocument/2006/relationships/slide" Target="/ppt/slides/slide12.xml" Id="R81e8f206e859443a" /><Relationship Type="http://schemas.openxmlformats.org/officeDocument/2006/relationships/slide" Target="/ppt/slides/slide13.xml" Id="Ra7b2075ad39242f3" /><Relationship Type="http://schemas.openxmlformats.org/officeDocument/2006/relationships/slide" Target="/ppt/slides/slide14.xml" Id="R3e5a017b1dd14a05" /><Relationship Type="http://schemas.openxmlformats.org/officeDocument/2006/relationships/slide" Target="/ppt/slides/slide15.xml" Id="R0855b96c64bb4fb9" /><Relationship Type="http://schemas.openxmlformats.org/officeDocument/2006/relationships/slide" Target="/ppt/slides/slide16.xml" Id="R22152c6b30a746d3" /><Relationship Type="http://schemas.openxmlformats.org/officeDocument/2006/relationships/slide" Target="/ppt/slides/slide17.xml" Id="R79f1ed661ac6487a" /><Relationship Type="http://schemas.openxmlformats.org/officeDocument/2006/relationships/slide" Target="/ppt/slides/slide18.xml" Id="Rfaeb67bf6c3a4a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1133ab20c5d47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399dc03d7c4124" /><Relationship Type="http://schemas.openxmlformats.org/officeDocument/2006/relationships/notesMaster" Target="/ppt/notesMasters/notesMaster1.xml" Id="R1e8320e0f5a54db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ff34ba115104d1e" /><Relationship Type="http://schemas.openxmlformats.org/officeDocument/2006/relationships/notesMaster" Target="/ppt/notesMasters/notesMaster1.xml" Id="R19ec8ac3d6e547f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dfb5841d0e4a3b" /><Relationship Type="http://schemas.openxmlformats.org/officeDocument/2006/relationships/notesMaster" Target="/ppt/notesMasters/notesMaster1.xml" Id="R4403115c246749c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332be8b3cc4003" /><Relationship Type="http://schemas.openxmlformats.org/officeDocument/2006/relationships/notesMaster" Target="/ppt/notesMasters/notesMaster1.xml" Id="R68b17430795544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022da4c47f54810" /><Relationship Type="http://schemas.openxmlformats.org/officeDocument/2006/relationships/notesMaster" Target="/ppt/notesMasters/notesMaster1.xml" Id="R34629e3e6b0445b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8c6b0e125242df" /><Relationship Type="http://schemas.openxmlformats.org/officeDocument/2006/relationships/notesMaster" Target="/ppt/notesMasters/notesMaster1.xml" Id="R4eda2e212b7a453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97943f1eb644b06" /><Relationship Type="http://schemas.openxmlformats.org/officeDocument/2006/relationships/notesMaster" Target="/ppt/notesMasters/notesMaster1.xml" Id="R89a2cb9b62a1427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bf7429a89a40d7" /><Relationship Type="http://schemas.openxmlformats.org/officeDocument/2006/relationships/notesMaster" Target="/ppt/notesMasters/notesMaster1.xml" Id="Rf486c3438c394c7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d555213acff45d7" /><Relationship Type="http://schemas.openxmlformats.org/officeDocument/2006/relationships/notesMaster" Target="/ppt/notesMasters/notesMaster1.xml" Id="R2350abbbf639470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bce4428cf4d49e1" /><Relationship Type="http://schemas.openxmlformats.org/officeDocument/2006/relationships/notesMaster" Target="/ppt/notesMasters/notesMaster1.xml" Id="R24076e260bd648b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620833b63df4668" /><Relationship Type="http://schemas.openxmlformats.org/officeDocument/2006/relationships/notesMaster" Target="/ppt/notesMasters/notesMaster1.xml" Id="R2988a0ef00ca468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ab6d7b987e04cfd" /><Relationship Type="http://schemas.openxmlformats.org/officeDocument/2006/relationships/notesMaster" Target="/ppt/notesMasters/notesMaster1.xml" Id="Ra98762569cf5495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4e58f1b921e4d54" /><Relationship Type="http://schemas.openxmlformats.org/officeDocument/2006/relationships/notesMaster" Target="/ppt/notesMasters/notesMaster1.xml" Id="R85e3fa74a2ed4a0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581a9e4bf3f47f3" /><Relationship Type="http://schemas.openxmlformats.org/officeDocument/2006/relationships/notesMaster" Target="/ppt/notesMasters/notesMaster1.xml" Id="R099c3b8c4c274d8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b99a1f4b73c4e74" /><Relationship Type="http://schemas.openxmlformats.org/officeDocument/2006/relationships/notesMaster" Target="/ppt/notesMasters/notesMaster1.xml" Id="R807e33db7dae4a9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bc7cedf2cb14ee6" /><Relationship Type="http://schemas.openxmlformats.org/officeDocument/2006/relationships/notesMaster" Target="/ppt/notesMasters/notesMaster1.xml" Id="Rd71254138d53469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d9b05d183664516" /><Relationship Type="http://schemas.openxmlformats.org/officeDocument/2006/relationships/notesMaster" Target="/ppt/notesMasters/notesMaster1.xml" Id="R41d1f6c71d03490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c2cd5f08a914dd2" /><Relationship Type="http://schemas.openxmlformats.org/officeDocument/2006/relationships/notesMaster" Target="/ppt/notesMasters/notesMaster1.xml" Id="R20d3b7118e9e45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connecting arrays to the students' prior experience with variables.</a:t>
            </a:r>
          </a:p>
          <a:p xmlns:a="http://schemas.openxmlformats.org/drawingml/2006/main">
            <a:r>
              <a:t>State that the three lectures move from storage, to address calculation, to practical use.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students to predict which of the three questions will be hardest.</a:t>
            </a:r>
          </a:p>
          <a:p xmlns:a="http://schemas.openxmlformats.org/drawingml/2006/main">
            <a:r>
              <a:t>Use their responses to set the pace; address calculation is usually the key conceptual hurdle.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contiguous storage and equal element width.</a:t>
            </a:r>
          </a:p>
          <a:p xmlns:a="http://schemas.openxmlformats.org/drawingml/2006/main">
            <a:r>
              <a:t>Ask the prompt before introducing the address formula on the next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Build the formula term by term rather than presenting it as something to memorize.</a:t>
            </a:r>
          </a:p>
          <a:p xmlns:a="http://schemas.openxmlformats.org/drawingml/2006/main">
            <a:r>
              <a:t>Prompt answer: 2040.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Trace the index positions aloud.</a:t>
            </a:r>
          </a:p>
          <a:p xmlns:a="http://schemas.openxmlformats.org/drawingml/2006/main">
            <a:r>
              <a:t>Stress that C does not automatically stop an out-of-bounds access.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students to distinguish direct access from processing every element.</a:t>
            </a:r>
          </a:p>
          <a:p xmlns:a="http://schemas.openxmlformats.org/drawingml/2006/main">
            <a:r>
              <a:t>Use a short dry run with n = 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Animate verbally: move elements from the end first during insertion.</a:t>
            </a:r>
          </a:p>
          <a:p xmlns:a="http://schemas.openxmlformats.org/drawingml/2006/main">
            <a:r>
              <a:t>Explain that access is fast, but middle updates are costly.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the logical table from the physical storage.</a:t>
            </a:r>
          </a:p>
          <a:p xmlns:a="http://schemas.openxmlformats.org/drawingml/2006/main">
            <a:r>
              <a:t>Ask students to identify the zero-based offset of m[1][2]; answer: 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phrase 'row stride' for N.</a:t>
            </a:r>
          </a:p>
          <a:p xmlns:a="http://schemas.openxmlformats.org/drawingml/2006/main">
            <a:r>
              <a:t>Prompt answer: 2 × 5 + 3 = 13 elements.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Let students complete step 2 before showing the rest.</a:t>
            </a:r>
          </a:p>
          <a:p xmlns:a="http://schemas.openxmlformats.org/drawingml/2006/main">
            <a:r>
              <a:t>For A[1][3], the offset changes to 7 and the address to 1028.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 column-major as a contrast, not as C's storage rule.</a:t>
            </a:r>
          </a:p>
          <a:p xmlns:a="http://schemas.openxmlformats.org/drawingml/2006/main">
            <a:r>
              <a:t>Point out that M replaces N because the column stride is the number of rows.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the formula as nested strides: planes, rows, then columns.</a:t>
            </a:r>
          </a:p>
          <a:p xmlns:a="http://schemas.openxmlformats.org/drawingml/2006/main">
            <a:r>
              <a:t>If Base = 2000 and w = 4, the address is 2092.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Relate a[i] to pointer arithmetic without turning this into a pointer lecture.</a:t>
            </a:r>
          </a:p>
          <a:p xmlns:a="http://schemas.openxmlformats.org/drawingml/2006/main">
            <a:r>
              <a:t>Explain why n must be a separate parameter.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Tie the parameter syntax directly to row-major address calculation.</a:t>
            </a:r>
          </a:p>
          <a:p xmlns:a="http://schemas.openxmlformats.org/drawingml/2006/main">
            <a:r>
              <a:t>Explain that the wrong column count produces the wrong stride and therefore wrong addresses.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students for one real application from each category.</a:t>
            </a:r>
          </a:p>
          <a:p xmlns:a="http://schemas.openxmlformats.org/drawingml/2006/main">
            <a:r>
              <a:t>Use the final question to introduce the trade-off between arrays and dynamic structures.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the cost of finding the position from the cost of making space.</a:t>
            </a:r>
          </a:p>
          <a:p xmlns:a="http://schemas.openxmlformats.org/drawingml/2006/main">
            <a:r>
              <a:t>Ask when an ordered array is reasonable: frequent reads, infrequent updates, known capacity.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first triplet row as metadata: rows, columns, non-zero count.</a:t>
            </a:r>
          </a:p>
          <a:p xmlns:a="http://schemas.openxmlformats.org/drawingml/2006/main">
            <a:r>
              <a:t>Stress that the storage benefit grows as the matrix becomes larger and sparser.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students two minutes to solve independently.</a:t>
            </a:r>
          </a:p>
          <a:p xmlns:a="http://schemas.openxmlformats.org/drawingml/2006/main">
            <a:r>
              <a:t>Answer: offset = 3 × 6 + 4 = 22; displacement = 88; address = 888.</a:t>
            </a:r>
          </a:p>
          <a:p xmlns:a="http://schemas.openxmlformats.org/drawingml/2006/main">
            <a:r>
              <a:t>Close by linking representation choice to both memory layout and operation cost.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9fcc4199464ca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f1543e43224937" /><Relationship Type="http://schemas.openxmlformats.org/officeDocument/2006/relationships/slideLayout" Target="/ppt/slideLayouts/slideLayout1.xml" Id="R257148342b4b4eb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7148342b4b4eb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c0b81da0f4fa1" /><Relationship Type="http://schemas.openxmlformats.org/officeDocument/2006/relationships/notesSlide" Target="/ppt/notesSlides/notesSlide1.xml" Id="Rc3d4f7c3722a475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91196594984730" /><Relationship Type="http://schemas.openxmlformats.org/officeDocument/2006/relationships/notesSlide" Target="/ppt/notesSlides/notesSlide2.xml" Id="Ra7150acb8193497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bcfca23abb426f" /><Relationship Type="http://schemas.openxmlformats.org/officeDocument/2006/relationships/notesSlide" Target="/ppt/notesSlides/notesSlide3.xml" Id="R1169b23c4619461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ec4310877145cf" /><Relationship Type="http://schemas.openxmlformats.org/officeDocument/2006/relationships/notesSlide" Target="/ppt/notesSlides/notesSlide4.xml" Id="R8ed4feda7716464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70ef32bb90488f" /><Relationship Type="http://schemas.openxmlformats.org/officeDocument/2006/relationships/notesSlide" Target="/ppt/notesSlides/notesSlide5.xml" Id="Rcf93b6473d5549a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f318c88c5b4bd5" /><Relationship Type="http://schemas.openxmlformats.org/officeDocument/2006/relationships/notesSlide" Target="/ppt/notesSlides/notesSlide6.xml" Id="Ra9dfa7a7e3dd430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ba0040dd3f403e" /><Relationship Type="http://schemas.openxmlformats.org/officeDocument/2006/relationships/notesSlide" Target="/ppt/notesSlides/notesSlide7.xml" Id="R66fc83960e5b406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3d1430dd3b46b9" /><Relationship Type="http://schemas.openxmlformats.org/officeDocument/2006/relationships/notesSlide" Target="/ppt/notesSlides/notesSlide8.xml" Id="Rd8b71e36c03649f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135b22dc5b4a7e" /><Relationship Type="http://schemas.openxmlformats.org/officeDocument/2006/relationships/notesSlide" Target="/ppt/notesSlides/notesSlide9.xml" Id="R245e7e8350d74b6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62d6d793cc4d2a" /><Relationship Type="http://schemas.openxmlformats.org/officeDocument/2006/relationships/notesSlide" Target="/ppt/notesSlides/notesSlide10.xml" Id="Red28ec4c1137436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9dcf0de49c48ae" /><Relationship Type="http://schemas.openxmlformats.org/officeDocument/2006/relationships/notesSlide" Target="/ppt/notesSlides/notesSlide11.xml" Id="R01e055a2df444ee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75b7cc4945444d" /><Relationship Type="http://schemas.openxmlformats.org/officeDocument/2006/relationships/notesSlide" Target="/ppt/notesSlides/notesSlide12.xml" Id="R24fd273ae4b64cc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145f5a91e040bf" /><Relationship Type="http://schemas.openxmlformats.org/officeDocument/2006/relationships/notesSlide" Target="/ppt/notesSlides/notesSlide13.xml" Id="R589589d6b075434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d6b6ba4b0d4fd9" /><Relationship Type="http://schemas.openxmlformats.org/officeDocument/2006/relationships/notesSlide" Target="/ppt/notesSlides/notesSlide14.xml" Id="R6fada07a9f764f8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ff5f64c57c47b3" /><Relationship Type="http://schemas.openxmlformats.org/officeDocument/2006/relationships/notesSlide" Target="/ppt/notesSlides/notesSlide15.xml" Id="R3e663d65575244d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e0713040e64e92" /><Relationship Type="http://schemas.openxmlformats.org/officeDocument/2006/relationships/notesSlide" Target="/ppt/notesSlides/notesSlide16.xml" Id="R54bcd49a32b54cc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ef403ab8274c46" /><Relationship Type="http://schemas.openxmlformats.org/officeDocument/2006/relationships/notesSlide" Target="/ppt/notesSlides/notesSlide17.xml" Id="Rcd213b7251594b4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d83f5bde9c4d51" /><Relationship Type="http://schemas.openxmlformats.org/officeDocument/2006/relationships/notesSlide" Target="/ppt/notesSlides/notesSlide18.xml" Id="R6f3a8a1812b447f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cent-bar">
            <a:extLst xmlns:a="http://schemas.openxmlformats.org/drawingml/2006/main">
              <a:ext uri="{FF2B5EF4-FFF2-40B4-BE49-F238E27FC236}">
                <a16:creationId xmlns:a16="http://schemas.microsoft.com/office/drawing/2014/main" id="{567DD6D8-2A22-4F2A-82A3-D7C72E0B0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E129A50A-D5EC-42B2-A1FE-91BC0F270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85800"/>
            <a:ext cx="628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TCS302  •  DATA STRUCTURES WITH C</a:t>
            </a:r>
          </a:p>
        </p:txBody>
      </p:sp>
      <p:sp>
        <p:nvSpPr>
          <p:cNvPr id="3" name="deck-title">
            <a:extLst xmlns:a="http://schemas.openxmlformats.org/drawingml/2006/main">
              <a:ext uri="{FF2B5EF4-FFF2-40B4-BE49-F238E27FC236}">
                <a16:creationId xmlns:a16="http://schemas.microsoft.com/office/drawing/2014/main" id="{E276E413-9FBC-4EED-BFBB-B8F20099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1028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Arrays in C</a:t>
            </a:r>
          </a:p>
        </p:txBody>
      </p:sp>
      <p:sp>
        <p:nvSpPr>
          <p:cNvPr id="4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704E7182-CFBA-48A7-A188-37E492D2A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36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Representation, Addressing &amp; Applications</a:t>
            </a:r>
          </a:p>
        </p:txBody>
      </p:sp>
      <p:sp>
        <p:nvSpPr>
          <p:cNvPr id="5" name="divider">
            <a:extLst xmlns:a="http://schemas.openxmlformats.org/drawingml/2006/main">
              <a:ext uri="{FF2B5EF4-FFF2-40B4-BE49-F238E27FC236}">
                <a16:creationId xmlns:a16="http://schemas.microsoft.com/office/drawing/2014/main" id="{C83F112B-B47B-4942-88C9-C5AF3A3C6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76625"/>
            <a:ext cx="790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F766E"/>
            </a:solidFill>
            <a:prstDash val="solid"/>
          </a:ln>
        </p:spPr>
      </p:sp>
      <p:sp>
        <p:nvSpPr>
          <p:cNvPr id="6" name="lecture-range">
            <a:extLst xmlns:a="http://schemas.openxmlformats.org/drawingml/2006/main">
              <a:ext uri="{FF2B5EF4-FFF2-40B4-BE49-F238E27FC236}">
                <a16:creationId xmlns:a16="http://schemas.microsoft.com/office/drawing/2014/main" id="{5AFBD5CB-4D08-4685-B947-2039F48E8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240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Unit I  •  Combined Lectures 5, 6 and 7</a:t>
            </a:r>
          </a:p>
        </p:txBody>
      </p:sp>
      <p:sp>
        <p:nvSpPr>
          <p:cNvPr id="7" name="label-bg">
            <a:extLst xmlns:a="http://schemas.openxmlformats.org/drawingml/2006/main">
              <a:ext uri="{FF2B5EF4-FFF2-40B4-BE49-F238E27FC236}">
                <a16:creationId xmlns:a16="http://schemas.microsoft.com/office/drawing/2014/main" id="{391A7755-7B6F-4517-8F84-A6780AB01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67300"/>
            <a:ext cx="2781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0">
            <a:solidFill>
              <a:srgbClr val="EAF6F4"/>
            </a:solidFill>
            <a:prstDash val="solid"/>
          </a:ln>
        </p:spPr>
      </p:sp>
      <p:sp>
        <p:nvSpPr>
          <p:cNvPr id="8" name="label-text">
            <a:extLst xmlns:a="http://schemas.openxmlformats.org/drawingml/2006/main">
              <a:ext uri="{FF2B5EF4-FFF2-40B4-BE49-F238E27FC236}">
                <a16:creationId xmlns:a16="http://schemas.microsoft.com/office/drawing/2014/main" id="{B0DC0293-E602-4697-92A9-5F3A5A5E8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86350"/>
            <a:ext cx="2590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5  •  1D ARRAYS</a:t>
            </a:r>
          </a:p>
        </p:txBody>
      </p:sp>
      <p:sp>
        <p:nvSpPr>
          <p:cNvPr id="9" name="label-bg">
            <a:extLst xmlns:a="http://schemas.openxmlformats.org/drawingml/2006/main">
              <a:ext uri="{FF2B5EF4-FFF2-40B4-BE49-F238E27FC236}">
                <a16:creationId xmlns:a16="http://schemas.microsoft.com/office/drawing/2014/main" id="{03B7FDC3-26A6-44CE-8561-E3C6113D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067300"/>
            <a:ext cx="3028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4FF"/>
          </a:solidFill>
          <a:ln xmlns:a="http://schemas.openxmlformats.org/drawingml/2006/main" w="0">
            <a:solidFill>
              <a:srgbClr val="EDF4FF"/>
            </a:solidFill>
            <a:prstDash val="solid"/>
          </a:ln>
        </p:spPr>
      </p:sp>
      <p:sp>
        <p:nvSpPr>
          <p:cNvPr id="10" name="label-text">
            <a:extLst xmlns:a="http://schemas.openxmlformats.org/drawingml/2006/main">
              <a:ext uri="{FF2B5EF4-FFF2-40B4-BE49-F238E27FC236}">
                <a16:creationId xmlns:a16="http://schemas.microsoft.com/office/drawing/2014/main" id="{442F0A95-6C2C-46BB-834E-5C2E2B49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086350"/>
            <a:ext cx="28384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LECTURE 6  •  ADDRESSING</a:t>
            </a:r>
          </a:p>
        </p:txBody>
      </p:sp>
      <p:sp>
        <p:nvSpPr>
          <p:cNvPr id="11" name="label-bg">
            <a:extLst xmlns:a="http://schemas.openxmlformats.org/drawingml/2006/main">
              <a:ext uri="{FF2B5EF4-FFF2-40B4-BE49-F238E27FC236}">
                <a16:creationId xmlns:a16="http://schemas.microsoft.com/office/drawing/2014/main" id="{B39C92B0-23DA-45C8-B536-0705EEDB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067300"/>
            <a:ext cx="3143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E7"/>
          </a:solidFill>
          <a:ln xmlns:a="http://schemas.openxmlformats.org/drawingml/2006/main" w="0">
            <a:solidFill>
              <a:srgbClr val="FFF6E7"/>
            </a:solidFill>
            <a:prstDash val="solid"/>
          </a:ln>
        </p:spPr>
      </p:sp>
      <p:sp>
        <p:nvSpPr>
          <p:cNvPr id="12" name="label-text">
            <a:extLst xmlns:a="http://schemas.openxmlformats.org/drawingml/2006/main">
              <a:ext uri="{FF2B5EF4-FFF2-40B4-BE49-F238E27FC236}">
                <a16:creationId xmlns:a16="http://schemas.microsoft.com/office/drawing/2014/main" id="{6B429118-2694-45EF-9B0E-D3CFC0836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0863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LECTURE 7  •  APPLICATIONS</a:t>
            </a:r>
          </a:p>
        </p:txBody>
      </p:sp>
      <p:sp>
        <p:nvSpPr>
          <p:cNvPr id="13" name="format-note">
            <a:extLst xmlns:a="http://schemas.openxmlformats.org/drawingml/2006/main">
              <a:ext uri="{FF2B5EF4-FFF2-40B4-BE49-F238E27FC236}">
                <a16:creationId xmlns:a16="http://schemas.microsoft.com/office/drawing/2014/main" id="{83B5566D-2943-4D78-816B-65660598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76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Classroom-ready • editable text and shapes</a:t>
            </a:r>
          </a:p>
        </p:txBody>
      </p:sp>
    </p:spTree>
    <p:extLst>
      <p:ext uri="{BB962C8B-B14F-4D97-AF65-F5344CB8AC3E}">
        <p14:creationId xmlns:p14="http://schemas.microsoft.com/office/powerpoint/2010/main" val="156868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lesson-label">
            <a:extLst xmlns:a="http://schemas.openxmlformats.org/drawingml/2006/main">
              <a:ext uri="{FF2B5EF4-FFF2-40B4-BE49-F238E27FC236}">
                <a16:creationId xmlns:a16="http://schemas.microsoft.com/office/drawing/2014/main" id="{2608D4B0-2430-4A14-AE62-AE69599D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LECTURES 5–7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3FFEBFE-0C15-4F3E-AA49-D1324D96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Three questions guide these lectures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76DDBE78-AB04-4F3D-8E0D-F4F2D01F7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4" name="divider">
            <a:extLst xmlns:a="http://schemas.openxmlformats.org/drawingml/2006/main">
              <a:ext uri="{FF2B5EF4-FFF2-40B4-BE49-F238E27FC236}">
                <a16:creationId xmlns:a16="http://schemas.microsoft.com/office/drawing/2014/main" id="{24B03348-6717-42BE-950E-EC705615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5" name="footer-course">
            <a:extLst xmlns:a="http://schemas.openxmlformats.org/drawingml/2006/main">
              <a:ext uri="{FF2B5EF4-FFF2-40B4-BE49-F238E27FC236}">
                <a16:creationId xmlns:a16="http://schemas.microsoft.com/office/drawing/2014/main" id="{BDB5447B-9FB9-48AA-A7E7-12FD1263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2E9BA40B-7137-4941-9465-B6D9E8FCA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055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divider">
            <a:extLst xmlns:a="http://schemas.openxmlformats.org/drawingml/2006/main">
              <a:ext uri="{FF2B5EF4-FFF2-40B4-BE49-F238E27FC236}">
                <a16:creationId xmlns:a16="http://schemas.microsoft.com/office/drawing/2014/main" id="{B3BF34A8-FE52-4BC9-8645-4EA7B8EF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457450"/>
            <a:ext cx="6896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D7DE"/>
            </a:solidFill>
            <a:prstDash val="solid"/>
          </a:ln>
        </p:spPr>
      </p:sp>
      <p:sp>
        <p:nvSpPr>
          <p:cNvPr id="8" name="question-number">
            <a:extLst xmlns:a="http://schemas.openxmlformats.org/drawingml/2006/main">
              <a:ext uri="{FF2B5EF4-FFF2-40B4-BE49-F238E27FC236}">
                <a16:creationId xmlns:a16="http://schemas.microsoft.com/office/drawing/2014/main" id="{54AEBE63-8746-4700-B6B3-82B4044A6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47875"/>
            <a:ext cx="952500" cy="952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9" name="question-number-text">
            <a:extLst xmlns:a="http://schemas.openxmlformats.org/drawingml/2006/main">
              <a:ext uri="{FF2B5EF4-FFF2-40B4-BE49-F238E27FC236}">
                <a16:creationId xmlns:a16="http://schemas.microsoft.com/office/drawing/2014/main" id="{1AA77820-B096-45DA-99BB-30ADE27E4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76450"/>
            <a:ext cx="95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question-number">
            <a:extLst xmlns:a="http://schemas.openxmlformats.org/drawingml/2006/main">
              <a:ext uri="{FF2B5EF4-FFF2-40B4-BE49-F238E27FC236}">
                <a16:creationId xmlns:a16="http://schemas.microsoft.com/office/drawing/2014/main" id="{4FE70347-7C35-4B84-A752-D330A9688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47875"/>
            <a:ext cx="952500" cy="952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4FF"/>
          </a:solidFill>
          <a:ln xmlns:a="http://schemas.openxmlformats.org/drawingml/2006/main" w="19050">
            <a:solidFill>
              <a:srgbClr val="12324A"/>
            </a:solidFill>
            <a:prstDash val="solid"/>
          </a:ln>
        </p:spPr>
      </p:sp>
      <p:sp>
        <p:nvSpPr>
          <p:cNvPr id="11" name="question-number-text">
            <a:extLst xmlns:a="http://schemas.openxmlformats.org/drawingml/2006/main">
              <a:ext uri="{FF2B5EF4-FFF2-40B4-BE49-F238E27FC236}">
                <a16:creationId xmlns:a16="http://schemas.microsoft.com/office/drawing/2014/main" id="{EFF32D66-A249-41A4-92F8-FF9B9079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76450"/>
            <a:ext cx="95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question-number">
            <a:extLst xmlns:a="http://schemas.openxmlformats.org/drawingml/2006/main">
              <a:ext uri="{FF2B5EF4-FFF2-40B4-BE49-F238E27FC236}">
                <a16:creationId xmlns:a16="http://schemas.microsoft.com/office/drawing/2014/main" id="{2B53A14B-D925-40DE-9882-E22F1BFD5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47875"/>
            <a:ext cx="952500" cy="952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3" name="question-number-text">
            <a:extLst xmlns:a="http://schemas.openxmlformats.org/drawingml/2006/main">
              <a:ext uri="{FF2B5EF4-FFF2-40B4-BE49-F238E27FC236}">
                <a16:creationId xmlns:a16="http://schemas.microsoft.com/office/drawing/2014/main" id="{74F94010-5607-4F58-A1A7-11986928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76450"/>
            <a:ext cx="95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question-1">
            <a:extLst xmlns:a="http://schemas.openxmlformats.org/drawingml/2006/main">
              <a:ext uri="{FF2B5EF4-FFF2-40B4-BE49-F238E27FC236}">
                <a16:creationId xmlns:a16="http://schemas.microsoft.com/office/drawing/2014/main" id="{F7FCA224-3635-4D91-A98A-FA37F06B2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19450"/>
            <a:ext cx="276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8313F"/>
                </a:solidFill>
                <a:latin typeface="Aptos"/>
                <a:ea typeface="Aptos"/>
                <a:cs typeface="Aptos"/>
              </a:rPr>
              <a:t>How are array elements stored?</a:t>
            </a:r>
          </a:p>
        </p:txBody>
      </p:sp>
      <p:sp>
        <p:nvSpPr>
          <p:cNvPr id="15" name="question-2">
            <a:extLst xmlns:a="http://schemas.openxmlformats.org/drawingml/2006/main">
              <a:ext uri="{FF2B5EF4-FFF2-40B4-BE49-F238E27FC236}">
                <a16:creationId xmlns:a16="http://schemas.microsoft.com/office/drawing/2014/main" id="{4756A145-905B-4647-9AC3-DB98F158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19450"/>
            <a:ext cx="276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8313F"/>
                </a:solidFill>
                <a:latin typeface="Aptos"/>
                <a:ea typeface="Aptos"/>
                <a:cs typeface="Aptos"/>
              </a:rPr>
              <a:t>How is an element address calculated?</a:t>
            </a:r>
          </a:p>
        </p:txBody>
      </p:sp>
      <p:sp>
        <p:nvSpPr>
          <p:cNvPr id="16" name="question-3">
            <a:extLst xmlns:a="http://schemas.openxmlformats.org/drawingml/2006/main">
              <a:ext uri="{FF2B5EF4-FFF2-40B4-BE49-F238E27FC236}">
                <a16:creationId xmlns:a16="http://schemas.microsoft.com/office/drawing/2014/main" id="{CFAE2AB0-591E-4477-ADCE-189515F7C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19450"/>
            <a:ext cx="304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8313F"/>
                </a:solidFill>
                <a:latin typeface="Aptos"/>
                <a:ea typeface="Aptos"/>
                <a:cs typeface="Aptos"/>
              </a:rPr>
              <a:t>When is an array the right representation?</a:t>
            </a:r>
          </a:p>
        </p:txBody>
      </p:sp>
      <p:sp>
        <p:nvSpPr>
          <p:cNvPr id="17" name="bullet">
            <a:extLst xmlns:a="http://schemas.openxmlformats.org/drawingml/2006/main">
              <a:ext uri="{FF2B5EF4-FFF2-40B4-BE49-F238E27FC236}">
                <a16:creationId xmlns:a16="http://schemas.microsoft.com/office/drawing/2014/main" id="{1AA9DF69-C87B-4DC7-B220-DA3E7D01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5148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" name="bullet-text">
            <a:extLst xmlns:a="http://schemas.openxmlformats.org/drawingml/2006/main">
              <a:ext uri="{FF2B5EF4-FFF2-40B4-BE49-F238E27FC236}">
                <a16:creationId xmlns:a16="http://schemas.microsoft.com/office/drawing/2014/main" id="{F9A37266-A1A9-4211-829C-6C770317E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429125"/>
            <a:ext cx="794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Trace one- and two-dimensional arrays in memory.</a:t>
            </a:r>
          </a:p>
        </p:txBody>
      </p:sp>
      <p:sp>
        <p:nvSpPr>
          <p:cNvPr id="19" name="bullet">
            <a:extLst xmlns:a="http://schemas.openxmlformats.org/drawingml/2006/main">
              <a:ext uri="{FF2B5EF4-FFF2-40B4-BE49-F238E27FC236}">
                <a16:creationId xmlns:a16="http://schemas.microsoft.com/office/drawing/2014/main" id="{1721EDD3-F30E-4078-86B3-8AC6BBB3B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9339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" name="bullet-text">
            <a:extLst xmlns:a="http://schemas.openxmlformats.org/drawingml/2006/main">
              <a:ext uri="{FF2B5EF4-FFF2-40B4-BE49-F238E27FC236}">
                <a16:creationId xmlns:a16="http://schemas.microsoft.com/office/drawing/2014/main" id="{F94D25E0-4592-43AA-A73A-A91B3C6B8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48225"/>
            <a:ext cx="794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Write C functions that receive arrays safely.</a:t>
            </a:r>
          </a:p>
        </p:txBody>
      </p:sp>
      <p:sp>
        <p:nvSpPr>
          <p:cNvPr id="21" name="bullet">
            <a:extLst xmlns:a="http://schemas.openxmlformats.org/drawingml/2006/main">
              <a:ext uri="{FF2B5EF4-FFF2-40B4-BE49-F238E27FC236}">
                <a16:creationId xmlns:a16="http://schemas.microsoft.com/office/drawing/2014/main" id="{A0A03293-2B19-436E-A2CB-94673560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3530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" name="bullet-text">
            <a:extLst xmlns:a="http://schemas.openxmlformats.org/drawingml/2006/main">
              <a:ext uri="{FF2B5EF4-FFF2-40B4-BE49-F238E27FC236}">
                <a16:creationId xmlns:a16="http://schemas.microsoft.com/office/drawing/2014/main" id="{2853B262-1BED-4736-A0D0-720BDF4D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67325"/>
            <a:ext cx="794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Select ordered or sparse representations for the problem.</a:t>
            </a:r>
          </a:p>
        </p:txBody>
      </p:sp>
    </p:spTree>
    <p:extLst>
      <p:ext uri="{BB962C8B-B14F-4D97-AF65-F5344CB8AC3E}">
        <p14:creationId xmlns:p14="http://schemas.microsoft.com/office/powerpoint/2010/main" val="7627629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lesson-label">
            <a:extLst xmlns:a="http://schemas.openxmlformats.org/drawingml/2006/main">
              <a:ext uri="{FF2B5EF4-FFF2-40B4-BE49-F238E27FC236}">
                <a16:creationId xmlns:a16="http://schemas.microsoft.com/office/drawing/2014/main" id="{64097A72-4D3B-4327-A123-3DCB8E52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5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4B1B23E-869C-4E8D-BA61-DEFF6016E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An array stores one type in contiguous memory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68230D1D-B63E-49F3-B550-81AB99C33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4" name="divider">
            <a:extLst xmlns:a="http://schemas.openxmlformats.org/drawingml/2006/main">
              <a:ext uri="{FF2B5EF4-FFF2-40B4-BE49-F238E27FC236}">
                <a16:creationId xmlns:a16="http://schemas.microsoft.com/office/drawing/2014/main" id="{B5AFA538-06EC-4F48-96A2-AD9AF4604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5" name="footer-course">
            <a:extLst xmlns:a="http://schemas.openxmlformats.org/drawingml/2006/main">
              <a:ext uri="{FF2B5EF4-FFF2-40B4-BE49-F238E27FC236}">
                <a16:creationId xmlns:a16="http://schemas.microsoft.com/office/drawing/2014/main" id="{C7E86E0A-95A3-4C06-99AA-E6B11FCB4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96701B73-FF72-4E24-9C6F-6570C5BB3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055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definition">
            <a:extLst xmlns:a="http://schemas.openxmlformats.org/drawingml/2006/main">
              <a:ext uri="{FF2B5EF4-FFF2-40B4-BE49-F238E27FC236}">
                <a16:creationId xmlns:a16="http://schemas.microsoft.com/office/drawing/2014/main" id="{7E1300FC-4533-4A7D-8714-CDE51AE61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An array is a fixed-size, indexed sequence.</a:t>
            </a:r>
          </a:p>
        </p:txBody>
      </p:sp>
      <p:sp>
        <p:nvSpPr>
          <p:cNvPr id="8" name="bullet">
            <a:extLst xmlns:a="http://schemas.openxmlformats.org/drawingml/2006/main">
              <a:ext uri="{FF2B5EF4-FFF2-40B4-BE49-F238E27FC236}">
                <a16:creationId xmlns:a16="http://schemas.microsoft.com/office/drawing/2014/main" id="{2E481A0B-95D2-4F3F-8B24-B5BFD61F4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9077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" name="bullet-text">
            <a:extLst xmlns:a="http://schemas.openxmlformats.org/drawingml/2006/main">
              <a:ext uri="{FF2B5EF4-FFF2-40B4-BE49-F238E27FC236}">
                <a16:creationId xmlns:a16="http://schemas.microsoft.com/office/drawing/2014/main" id="{33393E76-B51E-469A-98E3-A0A6B0AE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05050"/>
            <a:ext cx="4229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Every element has the same data type.</a:t>
            </a:r>
          </a:p>
        </p:txBody>
      </p:sp>
      <p:sp>
        <p:nvSpPr>
          <p:cNvPr id="10" name="bullet">
            <a:extLst xmlns:a="http://schemas.openxmlformats.org/drawingml/2006/main">
              <a:ext uri="{FF2B5EF4-FFF2-40B4-BE49-F238E27FC236}">
                <a16:creationId xmlns:a16="http://schemas.microsoft.com/office/drawing/2014/main" id="{0420D9B0-38AB-428A-B830-B611889A6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" name="bullet-text">
            <a:extLst xmlns:a="http://schemas.openxmlformats.org/drawingml/2006/main">
              <a:ext uri="{FF2B5EF4-FFF2-40B4-BE49-F238E27FC236}">
                <a16:creationId xmlns:a16="http://schemas.microsoft.com/office/drawing/2014/main" id="{50F54857-860E-464B-AD32-5C0D5AF0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86075"/>
            <a:ext cx="4229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Elements occupy consecutive memory locations.</a:t>
            </a:r>
          </a:p>
        </p:txBody>
      </p:sp>
      <p:sp>
        <p:nvSpPr>
          <p:cNvPr id="12" name="bullet">
            <a:extLst xmlns:a="http://schemas.openxmlformats.org/drawingml/2006/main">
              <a:ext uri="{FF2B5EF4-FFF2-40B4-BE49-F238E27FC236}">
                <a16:creationId xmlns:a16="http://schemas.microsoft.com/office/drawing/2014/main" id="{F2DDCFA8-7F57-4B78-9F0D-0754DDEF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5282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" name="bullet-text">
            <a:extLst xmlns:a="http://schemas.openxmlformats.org/drawingml/2006/main">
              <a:ext uri="{FF2B5EF4-FFF2-40B4-BE49-F238E27FC236}">
                <a16:creationId xmlns:a16="http://schemas.microsoft.com/office/drawing/2014/main" id="{A1EDB1E1-88DB-4E19-BB83-887474625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67100"/>
            <a:ext cx="4229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The index identifies a position, not an address.</a:t>
            </a:r>
          </a:p>
        </p:txBody>
      </p:sp>
      <p:sp>
        <p:nvSpPr>
          <p:cNvPr id="14" name="bullet">
            <a:extLst xmlns:a="http://schemas.openxmlformats.org/drawingml/2006/main">
              <a:ext uri="{FF2B5EF4-FFF2-40B4-BE49-F238E27FC236}">
                <a16:creationId xmlns:a16="http://schemas.microsoft.com/office/drawing/2014/main" id="{D808394C-A7CC-41B7-A372-F5C030497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338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" name="bullet-text">
            <a:extLst xmlns:a="http://schemas.openxmlformats.org/drawingml/2006/main">
              <a:ext uri="{FF2B5EF4-FFF2-40B4-BE49-F238E27FC236}">
                <a16:creationId xmlns:a16="http://schemas.microsoft.com/office/drawing/2014/main" id="{3F824619-ACD9-4BA6-B4D6-0CBF489F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48125"/>
            <a:ext cx="4229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Valid C indexes run from 0 to n − 1.</a:t>
            </a:r>
          </a:p>
        </p:txBody>
      </p:sp>
      <p:sp>
        <p:nvSpPr>
          <p:cNvPr id="16" name="array-declaration">
            <a:extLst xmlns:a="http://schemas.openxmlformats.org/drawingml/2006/main">
              <a:ext uri="{FF2B5EF4-FFF2-40B4-BE49-F238E27FC236}">
                <a16:creationId xmlns:a16="http://schemas.microsoft.com/office/drawing/2014/main" id="{BB88433B-1BE5-4D3B-BDC4-319164F28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7526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int marks[5] = {72, 81, 65, 90, 77};</a:t>
            </a:r>
          </a:p>
        </p:txBody>
      </p:sp>
      <p:sp>
        <p:nvSpPr>
          <p:cNvPr id="17" name="array-index">
            <a:extLst xmlns:a="http://schemas.openxmlformats.org/drawingml/2006/main">
              <a:ext uri="{FF2B5EF4-FFF2-40B4-BE49-F238E27FC236}">
                <a16:creationId xmlns:a16="http://schemas.microsoft.com/office/drawing/2014/main" id="{C2D19740-1B2D-461F-86AC-61AEAF8C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241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18" name="array-cell">
            <a:extLst xmlns:a="http://schemas.openxmlformats.org/drawingml/2006/main">
              <a:ext uri="{FF2B5EF4-FFF2-40B4-BE49-F238E27FC236}">
                <a16:creationId xmlns:a16="http://schemas.microsoft.com/office/drawing/2014/main" id="{C346A461-B96D-4731-BC31-C6CBF0C5F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09850"/>
            <a:ext cx="914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19" name="array-value">
            <a:extLst xmlns:a="http://schemas.openxmlformats.org/drawingml/2006/main">
              <a:ext uri="{FF2B5EF4-FFF2-40B4-BE49-F238E27FC236}">
                <a16:creationId xmlns:a16="http://schemas.microsoft.com/office/drawing/2014/main" id="{CEB88B1E-5A93-4C0B-9AFC-D093B3568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28900"/>
            <a:ext cx="876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72</a:t>
            </a:r>
          </a:p>
        </p:txBody>
      </p:sp>
      <p:sp>
        <p:nvSpPr>
          <p:cNvPr id="20" name="array-address">
            <a:extLst xmlns:a="http://schemas.openxmlformats.org/drawingml/2006/main">
              <a:ext uri="{FF2B5EF4-FFF2-40B4-BE49-F238E27FC236}">
                <a16:creationId xmlns:a16="http://schemas.microsoft.com/office/drawing/2014/main" id="{CCC27EA3-3A24-4234-AD78-B80F06DE5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05175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1000</a:t>
            </a:r>
          </a:p>
        </p:txBody>
      </p:sp>
      <p:sp>
        <p:nvSpPr>
          <p:cNvPr id="21" name="array-index">
            <a:extLst xmlns:a="http://schemas.openxmlformats.org/drawingml/2006/main">
              <a:ext uri="{FF2B5EF4-FFF2-40B4-BE49-F238E27FC236}">
                <a16:creationId xmlns:a16="http://schemas.microsoft.com/office/drawing/2014/main" id="{151F1310-B8E3-41A0-AA36-F786E0CE7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3241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22" name="array-cell">
            <a:extLst xmlns:a="http://schemas.openxmlformats.org/drawingml/2006/main">
              <a:ext uri="{FF2B5EF4-FFF2-40B4-BE49-F238E27FC236}">
                <a16:creationId xmlns:a16="http://schemas.microsoft.com/office/drawing/2014/main" id="{3D1E276C-9026-4A33-AA91-E1651AD37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609850"/>
            <a:ext cx="914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23" name="array-value">
            <a:extLst xmlns:a="http://schemas.openxmlformats.org/drawingml/2006/main">
              <a:ext uri="{FF2B5EF4-FFF2-40B4-BE49-F238E27FC236}">
                <a16:creationId xmlns:a16="http://schemas.microsoft.com/office/drawing/2014/main" id="{B4894A3A-D52C-47DB-8EE2-6D12C462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628900"/>
            <a:ext cx="876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81</a:t>
            </a:r>
          </a:p>
        </p:txBody>
      </p:sp>
      <p:sp>
        <p:nvSpPr>
          <p:cNvPr id="24" name="array-address">
            <a:extLst xmlns:a="http://schemas.openxmlformats.org/drawingml/2006/main">
              <a:ext uri="{FF2B5EF4-FFF2-40B4-BE49-F238E27FC236}">
                <a16:creationId xmlns:a16="http://schemas.microsoft.com/office/drawing/2014/main" id="{76F8E120-130C-4679-9D83-DA9AD41EE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305175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1004</a:t>
            </a:r>
          </a:p>
        </p:txBody>
      </p:sp>
      <p:sp>
        <p:nvSpPr>
          <p:cNvPr id="25" name="array-index">
            <a:extLst xmlns:a="http://schemas.openxmlformats.org/drawingml/2006/main">
              <a:ext uri="{FF2B5EF4-FFF2-40B4-BE49-F238E27FC236}">
                <a16:creationId xmlns:a16="http://schemas.microsoft.com/office/drawing/2014/main" id="{D8074104-B12E-4281-BFFB-05764B52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241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26" name="array-cell">
            <a:extLst xmlns:a="http://schemas.openxmlformats.org/drawingml/2006/main">
              <a:ext uri="{FF2B5EF4-FFF2-40B4-BE49-F238E27FC236}">
                <a16:creationId xmlns:a16="http://schemas.microsoft.com/office/drawing/2014/main" id="{CFD0707C-72A4-4D76-8BF9-157BA1D78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609850"/>
            <a:ext cx="914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27" name="array-value">
            <a:extLst xmlns:a="http://schemas.openxmlformats.org/drawingml/2006/main">
              <a:ext uri="{FF2B5EF4-FFF2-40B4-BE49-F238E27FC236}">
                <a16:creationId xmlns:a16="http://schemas.microsoft.com/office/drawing/2014/main" id="{E459121B-C327-4BF8-9874-2CEF5BE02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28900"/>
            <a:ext cx="876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65</a:t>
            </a:r>
          </a:p>
        </p:txBody>
      </p:sp>
      <p:sp>
        <p:nvSpPr>
          <p:cNvPr id="28" name="array-address">
            <a:extLst xmlns:a="http://schemas.openxmlformats.org/drawingml/2006/main">
              <a:ext uri="{FF2B5EF4-FFF2-40B4-BE49-F238E27FC236}">
                <a16:creationId xmlns:a16="http://schemas.microsoft.com/office/drawing/2014/main" id="{E6939392-E16F-41AD-8035-6C373164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05175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1008</a:t>
            </a:r>
          </a:p>
        </p:txBody>
      </p:sp>
      <p:sp>
        <p:nvSpPr>
          <p:cNvPr id="29" name="array-index">
            <a:extLst xmlns:a="http://schemas.openxmlformats.org/drawingml/2006/main">
              <a:ext uri="{FF2B5EF4-FFF2-40B4-BE49-F238E27FC236}">
                <a16:creationId xmlns:a16="http://schemas.microsoft.com/office/drawing/2014/main" id="{E87CFB7D-0DCE-401B-BFEA-859C7D129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241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30" name="array-cell">
            <a:extLst xmlns:a="http://schemas.openxmlformats.org/drawingml/2006/main">
              <a:ext uri="{FF2B5EF4-FFF2-40B4-BE49-F238E27FC236}">
                <a16:creationId xmlns:a16="http://schemas.microsoft.com/office/drawing/2014/main" id="{2BDA645C-8F6A-4C7D-BB63-D3B83760D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09850"/>
            <a:ext cx="914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31" name="array-value">
            <a:extLst xmlns:a="http://schemas.openxmlformats.org/drawingml/2006/main">
              <a:ext uri="{FF2B5EF4-FFF2-40B4-BE49-F238E27FC236}">
                <a16:creationId xmlns:a16="http://schemas.microsoft.com/office/drawing/2014/main" id="{EADA815E-56E4-4484-AC8C-37E69392F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28900"/>
            <a:ext cx="876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90</a:t>
            </a:r>
          </a:p>
        </p:txBody>
      </p:sp>
      <p:sp>
        <p:nvSpPr>
          <p:cNvPr id="32" name="array-address">
            <a:extLst xmlns:a="http://schemas.openxmlformats.org/drawingml/2006/main">
              <a:ext uri="{FF2B5EF4-FFF2-40B4-BE49-F238E27FC236}">
                <a16:creationId xmlns:a16="http://schemas.microsoft.com/office/drawing/2014/main" id="{439CBF38-6E51-43EA-A28D-82344E3E7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05175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1012</a:t>
            </a:r>
          </a:p>
        </p:txBody>
      </p:sp>
      <p:sp>
        <p:nvSpPr>
          <p:cNvPr id="33" name="array-index">
            <a:extLst xmlns:a="http://schemas.openxmlformats.org/drawingml/2006/main">
              <a:ext uri="{FF2B5EF4-FFF2-40B4-BE49-F238E27FC236}">
                <a16:creationId xmlns:a16="http://schemas.microsoft.com/office/drawing/2014/main" id="{BF34EA9C-044A-41C5-8047-8328A4138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3241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34" name="array-cell">
            <a:extLst xmlns:a="http://schemas.openxmlformats.org/drawingml/2006/main">
              <a:ext uri="{FF2B5EF4-FFF2-40B4-BE49-F238E27FC236}">
                <a16:creationId xmlns:a16="http://schemas.microsoft.com/office/drawing/2014/main" id="{9CDD31C3-6EFB-409C-A69D-4F1A1BB8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09850"/>
            <a:ext cx="914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35" name="array-value">
            <a:extLst xmlns:a="http://schemas.openxmlformats.org/drawingml/2006/main">
              <a:ext uri="{FF2B5EF4-FFF2-40B4-BE49-F238E27FC236}">
                <a16:creationId xmlns:a16="http://schemas.microsoft.com/office/drawing/2014/main" id="{77F93F5E-EF4F-4D3F-A2F6-222103336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628900"/>
            <a:ext cx="876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77</a:t>
            </a:r>
          </a:p>
        </p:txBody>
      </p:sp>
      <p:sp>
        <p:nvSpPr>
          <p:cNvPr id="36" name="array-address">
            <a:extLst xmlns:a="http://schemas.openxmlformats.org/drawingml/2006/main">
              <a:ext uri="{FF2B5EF4-FFF2-40B4-BE49-F238E27FC236}">
                <a16:creationId xmlns:a16="http://schemas.microsoft.com/office/drawing/2014/main" id="{30488D44-54EF-4FB4-B235-C83096726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305175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1016</a:t>
            </a:r>
          </a:p>
        </p:txBody>
      </p:sp>
      <p:sp>
        <p:nvSpPr>
          <p:cNvPr id="37" name="index-label">
            <a:extLst xmlns:a="http://schemas.openxmlformats.org/drawingml/2006/main">
              <a:ext uri="{FF2B5EF4-FFF2-40B4-BE49-F238E27FC236}">
                <a16:creationId xmlns:a16="http://schemas.microsoft.com/office/drawing/2014/main" id="{65B70BD9-5E40-436A-8D14-84923BE60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24100"/>
            <a:ext cx="78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index</a:t>
            </a:r>
          </a:p>
        </p:txBody>
      </p:sp>
      <p:sp>
        <p:nvSpPr>
          <p:cNvPr id="38" name="address-label">
            <a:extLst xmlns:a="http://schemas.openxmlformats.org/drawingml/2006/main">
              <a:ext uri="{FF2B5EF4-FFF2-40B4-BE49-F238E27FC236}">
                <a16:creationId xmlns:a16="http://schemas.microsoft.com/office/drawing/2014/main" id="{C9C5141E-4202-4716-A1B0-9939E634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71850"/>
            <a:ext cx="895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address</a:t>
            </a:r>
          </a:p>
        </p:txBody>
      </p:sp>
      <p:sp>
        <p:nvSpPr>
          <p:cNvPr id="39" name="width-note">
            <a:extLst xmlns:a="http://schemas.openxmlformats.org/drawingml/2006/main">
              <a:ext uri="{FF2B5EF4-FFF2-40B4-BE49-F238E27FC236}">
                <a16:creationId xmlns:a16="http://schemas.microsoft.com/office/drawing/2014/main" id="{D8F6AF95-C073-4B68-8EC5-DA3049D3C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29075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Each int uses w = 4 bytes in this example.</a:t>
            </a:r>
          </a:p>
        </p:txBody>
      </p:sp>
      <p:sp>
        <p:nvSpPr>
          <p:cNvPr id="40" name="classroom-prompt">
            <a:extLst xmlns:a="http://schemas.openxmlformats.org/drawingml/2006/main">
              <a:ext uri="{FF2B5EF4-FFF2-40B4-BE49-F238E27FC236}">
                <a16:creationId xmlns:a16="http://schemas.microsoft.com/office/drawing/2014/main" id="{C8C8985C-96A7-4E59-8C6C-631A1DDDF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9775"/>
            <a:ext cx="108204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0">
            <a:solidFill>
              <a:srgbClr val="EAF6F4"/>
            </a:solidFill>
            <a:prstDash val="solid"/>
          </a:ln>
        </p:spPr>
      </p:sp>
      <p:sp>
        <p:nvSpPr>
          <p:cNvPr id="41" name="prompt-label">
            <a:extLst xmlns:a="http://schemas.openxmlformats.org/drawingml/2006/main">
              <a:ext uri="{FF2B5EF4-FFF2-40B4-BE49-F238E27FC236}">
                <a16:creationId xmlns:a16="http://schemas.microsoft.com/office/drawing/2014/main" id="{674FCA16-6E94-433B-91F5-7A5BB86AD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05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ASK</a:t>
            </a:r>
          </a:p>
        </p:txBody>
      </p:sp>
      <p:sp>
        <p:nvSpPr>
          <p:cNvPr id="42" name="prompt-text">
            <a:extLst xmlns:a="http://schemas.openxmlformats.org/drawingml/2006/main">
              <a:ext uri="{FF2B5EF4-FFF2-40B4-BE49-F238E27FC236}">
                <a16:creationId xmlns:a16="http://schemas.microsoft.com/office/drawing/2014/main" id="{0009AA06-56AC-4C65-82E3-8516415A4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76925"/>
            <a:ext cx="988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Why can the computer reach marks[3] without scanning marks[0], marks[1], and marks[2]?</a:t>
            </a:r>
          </a:p>
        </p:txBody>
      </p:sp>
    </p:spTree>
    <p:extLst>
      <p:ext uri="{BB962C8B-B14F-4D97-AF65-F5344CB8AC3E}">
        <p14:creationId xmlns:p14="http://schemas.microsoft.com/office/powerpoint/2010/main" val="9015030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lesson-label">
            <a:extLst xmlns:a="http://schemas.openxmlformats.org/drawingml/2006/main">
              <a:ext uri="{FF2B5EF4-FFF2-40B4-BE49-F238E27FC236}">
                <a16:creationId xmlns:a16="http://schemas.microsoft.com/office/drawing/2014/main" id="{3A104691-66E7-446E-888A-F5131793D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5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1228100-5898-4019-A6C1-7E7352CB1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Indexing gives every element a predictable address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887FE724-21A5-4356-833B-5212A63E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4" name="divider">
            <a:extLst xmlns:a="http://schemas.openxmlformats.org/drawingml/2006/main">
              <a:ext uri="{FF2B5EF4-FFF2-40B4-BE49-F238E27FC236}">
                <a16:creationId xmlns:a16="http://schemas.microsoft.com/office/drawing/2014/main" id="{75B39D38-DEAD-4786-8CA1-5BA409C36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5" name="footer-course">
            <a:extLst xmlns:a="http://schemas.openxmlformats.org/drawingml/2006/main">
              <a:ext uri="{FF2B5EF4-FFF2-40B4-BE49-F238E27FC236}">
                <a16:creationId xmlns:a16="http://schemas.microsoft.com/office/drawing/2014/main" id="{752266CE-D3A5-4A18-BD63-B77FE8EC0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93CA3963-DA09-4196-8265-2F0941FF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055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formula-band">
            <a:extLst xmlns:a="http://schemas.openxmlformats.org/drawingml/2006/main">
              <a:ext uri="{FF2B5EF4-FFF2-40B4-BE49-F238E27FC236}">
                <a16:creationId xmlns:a16="http://schemas.microsoft.com/office/drawing/2014/main" id="{61CA2F3F-0B16-4112-82D3-153D83C5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43075"/>
            <a:ext cx="9753600" cy="81915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EDF4FF"/>
          </a:solidFill>
          <a:ln xmlns:a="http://schemas.openxmlformats.org/drawingml/2006/main" w="0">
            <a:solidFill>
              <a:srgbClr val="EDF4FF"/>
            </a:solidFill>
            <a:prstDash val="solid"/>
          </a:ln>
        </p:spPr>
      </p:sp>
      <p:sp>
        <p:nvSpPr>
          <p:cNvPr id="8" name="formula">
            <a:extLst xmlns:a="http://schemas.openxmlformats.org/drawingml/2006/main">
              <a:ext uri="{FF2B5EF4-FFF2-40B4-BE49-F238E27FC236}">
                <a16:creationId xmlns:a16="http://schemas.microsoft.com/office/drawing/2014/main" id="{E9E10CAD-5DAD-45DB-9118-693B9129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57375"/>
            <a:ext cx="9372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2324A"/>
                </a:solidFill>
                <a:latin typeface="Consolas"/>
                <a:ea typeface="Consolas"/>
                <a:cs typeface="Consolas"/>
              </a:defRPr>
            </a:pPr>
            <a:r>
              <a:rPr sz="2850" b="1">
                <a:solidFill>
                  <a:srgbClr val="12324A"/>
                </a:solidFill>
                <a:latin typeface="Consolas"/>
                <a:ea typeface="Consolas"/>
                <a:cs typeface="Consolas"/>
              </a:rPr>
              <a:t>LOC(A[i]) = Base(A) + (i − LB) × w</a:t>
            </a:r>
          </a:p>
        </p:txBody>
      </p:sp>
      <p:sp>
        <p:nvSpPr>
          <p:cNvPr id="9" name="term-base">
            <a:extLst xmlns:a="http://schemas.openxmlformats.org/drawingml/2006/main">
              <a:ext uri="{FF2B5EF4-FFF2-40B4-BE49-F238E27FC236}">
                <a16:creationId xmlns:a16="http://schemas.microsoft.com/office/drawing/2014/main" id="{65511D65-AF96-47BB-9795-BC85F50FB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95600"/>
            <a:ext cx="152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766E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0F766E"/>
                </a:solidFill>
                <a:latin typeface="Consolas"/>
                <a:ea typeface="Consolas"/>
                <a:cs typeface="Consolas"/>
              </a:rPr>
              <a:t>Base(A)</a:t>
            </a:r>
          </a:p>
        </p:txBody>
      </p:sp>
      <p:sp>
        <p:nvSpPr>
          <p:cNvPr id="10" name="term-base-desc">
            <a:extLst xmlns:a="http://schemas.openxmlformats.org/drawingml/2006/main">
              <a:ext uri="{FF2B5EF4-FFF2-40B4-BE49-F238E27FC236}">
                <a16:creationId xmlns:a16="http://schemas.microsoft.com/office/drawing/2014/main" id="{CD530A24-13AF-4DD6-AFAF-DA3D2AD67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89560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address of the first logical element</a:t>
            </a:r>
          </a:p>
        </p:txBody>
      </p:sp>
      <p:sp>
        <p:nvSpPr>
          <p:cNvPr id="11" name="term-lb">
            <a:extLst xmlns:a="http://schemas.openxmlformats.org/drawingml/2006/main">
              <a:ext uri="{FF2B5EF4-FFF2-40B4-BE49-F238E27FC236}">
                <a16:creationId xmlns:a16="http://schemas.microsoft.com/office/drawing/2014/main" id="{A0937F7D-0687-428F-A227-32D14541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19475"/>
            <a:ext cx="152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766E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0F766E"/>
                </a:solidFill>
                <a:latin typeface="Consolas"/>
                <a:ea typeface="Consolas"/>
                <a:cs typeface="Consolas"/>
              </a:rPr>
              <a:t>LB</a:t>
            </a:r>
          </a:p>
        </p:txBody>
      </p:sp>
      <p:sp>
        <p:nvSpPr>
          <p:cNvPr id="12" name="term-lb-desc">
            <a:extLst xmlns:a="http://schemas.openxmlformats.org/drawingml/2006/main">
              <a:ext uri="{FF2B5EF4-FFF2-40B4-BE49-F238E27FC236}">
                <a16:creationId xmlns:a16="http://schemas.microsoft.com/office/drawing/2014/main" id="{D0C136FC-FAC2-4B4E-A8CE-29764AA96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419475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lower bound; LB = 0 for a normal C array</a:t>
            </a:r>
          </a:p>
        </p:txBody>
      </p:sp>
      <p:sp>
        <p:nvSpPr>
          <p:cNvPr id="13" name="term-w">
            <a:extLst xmlns:a="http://schemas.openxmlformats.org/drawingml/2006/main">
              <a:ext uri="{FF2B5EF4-FFF2-40B4-BE49-F238E27FC236}">
                <a16:creationId xmlns:a16="http://schemas.microsoft.com/office/drawing/2014/main" id="{33A9ED38-363C-4A01-A966-203988EE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43350"/>
            <a:ext cx="152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766E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0F766E"/>
                </a:solidFill>
                <a:latin typeface="Consolas"/>
                <a:ea typeface="Consolas"/>
                <a:cs typeface="Consolas"/>
              </a:rPr>
              <a:t>w</a:t>
            </a:r>
          </a:p>
        </p:txBody>
      </p:sp>
      <p:sp>
        <p:nvSpPr>
          <p:cNvPr id="14" name="term-w-desc">
            <a:extLst xmlns:a="http://schemas.openxmlformats.org/drawingml/2006/main">
              <a:ext uri="{FF2B5EF4-FFF2-40B4-BE49-F238E27FC236}">
                <a16:creationId xmlns:a16="http://schemas.microsoft.com/office/drawing/2014/main" id="{1BFDE10A-E0DE-459C-96FF-87D375F16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94335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size of one element in bytes</a:t>
            </a:r>
          </a:p>
        </p:txBody>
      </p:sp>
      <p:sp>
        <p:nvSpPr>
          <p:cNvPr id="15" name="worked-example">
            <a:extLst xmlns:a="http://schemas.openxmlformats.org/drawingml/2006/main">
              <a:ext uri="{FF2B5EF4-FFF2-40B4-BE49-F238E27FC236}">
                <a16:creationId xmlns:a16="http://schemas.microsoft.com/office/drawing/2014/main" id="{F2098B52-7B4B-49D3-A35D-B72C1C68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67025"/>
            <a:ext cx="390525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4F8FA"/>
          </a:solidFill>
          <a:ln xmlns:a="http://schemas.openxmlformats.org/drawingml/2006/main" w="14288">
            <a:solidFill>
              <a:srgbClr val="C9D7DE"/>
            </a:solidFill>
            <a:prstDash val="solid"/>
          </a:ln>
        </p:spPr>
      </p:sp>
      <p:sp>
        <p:nvSpPr>
          <p:cNvPr id="16" name="worked-label">
            <a:extLst xmlns:a="http://schemas.openxmlformats.org/drawingml/2006/main">
              <a:ext uri="{FF2B5EF4-FFF2-40B4-BE49-F238E27FC236}">
                <a16:creationId xmlns:a16="http://schemas.microsoft.com/office/drawing/2014/main" id="{4A7A46A9-E62B-4BB3-8636-8A9A38677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099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WORKED EXAMPLE</a:t>
            </a:r>
          </a:p>
        </p:txBody>
      </p:sp>
      <p:sp>
        <p:nvSpPr>
          <p:cNvPr id="17" name="worked-text">
            <a:extLst xmlns:a="http://schemas.openxmlformats.org/drawingml/2006/main">
              <a:ext uri="{FF2B5EF4-FFF2-40B4-BE49-F238E27FC236}">
                <a16:creationId xmlns:a16="http://schemas.microsoft.com/office/drawing/2014/main" id="{C4D0BDF0-95C4-454A-89DF-1107B6469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71850"/>
            <a:ext cx="342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A[6], Base = 500, w = 4</a:t>
            </a:r>
          </a:p>
          <a:p xmlns:a="http://schemas.openxmlformats.org/drawingml/2006/main">
            <a:pPr algn="l">
              <a:defRPr sz="2100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Find LOC(A[4])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100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500 + (4 − 0) × 4 = 516</a:t>
            </a:r>
          </a:p>
        </p:txBody>
      </p:sp>
      <p:sp>
        <p:nvSpPr>
          <p:cNvPr id="18" name="classroom-prompt">
            <a:extLst xmlns:a="http://schemas.openxmlformats.org/drawingml/2006/main">
              <a:ext uri="{FF2B5EF4-FFF2-40B4-BE49-F238E27FC236}">
                <a16:creationId xmlns:a16="http://schemas.microsoft.com/office/drawing/2014/main" id="{B49F6C66-1B7A-4983-AF44-194277914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9775"/>
            <a:ext cx="108204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0">
            <a:solidFill>
              <a:srgbClr val="EAF6F4"/>
            </a:solidFill>
            <a:prstDash val="solid"/>
          </a:ln>
        </p:spPr>
      </p:sp>
      <p:sp>
        <p:nvSpPr>
          <p:cNvPr id="19" name="prompt-label">
            <a:extLst xmlns:a="http://schemas.openxmlformats.org/drawingml/2006/main">
              <a:ext uri="{FF2B5EF4-FFF2-40B4-BE49-F238E27FC236}">
                <a16:creationId xmlns:a16="http://schemas.microsoft.com/office/drawing/2014/main" id="{B4A5C333-E0A5-4C07-B1B6-488BE08D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05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ASK</a:t>
            </a:r>
          </a:p>
        </p:txBody>
      </p:sp>
      <p:sp>
        <p:nvSpPr>
          <p:cNvPr id="20" name="prompt-text">
            <a:extLst xmlns:a="http://schemas.openxmlformats.org/drawingml/2006/main">
              <a:ext uri="{FF2B5EF4-FFF2-40B4-BE49-F238E27FC236}">
                <a16:creationId xmlns:a16="http://schemas.microsoft.com/office/drawing/2014/main" id="{CF606C43-82B3-4DF6-9B86-DA82FE622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76925"/>
            <a:ext cx="988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If A is a double array and Base(A) = 2000, what is LOC(A[5]) when w = 8 bytes?</a:t>
            </a:r>
          </a:p>
        </p:txBody>
      </p:sp>
    </p:spTree>
    <p:extLst>
      <p:ext uri="{BB962C8B-B14F-4D97-AF65-F5344CB8AC3E}">
        <p14:creationId xmlns:p14="http://schemas.microsoft.com/office/powerpoint/2010/main" val="19923442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lesson-label">
            <a:extLst xmlns:a="http://schemas.openxmlformats.org/drawingml/2006/main">
              <a:ext uri="{FF2B5EF4-FFF2-40B4-BE49-F238E27FC236}">
                <a16:creationId xmlns:a16="http://schemas.microsoft.com/office/drawing/2014/main" id="{0C9B4473-F9B9-401E-A769-0ABA233D5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5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9719D1D-F87A-4495-9CFB-2EAF070C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Declare and use one-dimensional arrays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A66E02B4-336B-4AA8-ACAA-F46B2FC58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4" name="divider">
            <a:extLst xmlns:a="http://schemas.openxmlformats.org/drawingml/2006/main">
              <a:ext uri="{FF2B5EF4-FFF2-40B4-BE49-F238E27FC236}">
                <a16:creationId xmlns:a16="http://schemas.microsoft.com/office/drawing/2014/main" id="{7B9A2D33-0EB5-41D6-9D98-AF59FD6E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5" name="footer-course">
            <a:extLst xmlns:a="http://schemas.openxmlformats.org/drawingml/2006/main">
              <a:ext uri="{FF2B5EF4-FFF2-40B4-BE49-F238E27FC236}">
                <a16:creationId xmlns:a16="http://schemas.microsoft.com/office/drawing/2014/main" id="{4D784744-03B6-4697-8065-19EF6FFF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3EFBAE7F-6113-4480-A292-7E68F4529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055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code-panel">
            <a:extLst xmlns:a="http://schemas.openxmlformats.org/drawingml/2006/main">
              <a:ext uri="{FF2B5EF4-FFF2-40B4-BE49-F238E27FC236}">
                <a16:creationId xmlns:a16="http://schemas.microsoft.com/office/drawing/2014/main" id="{49519B8D-A9FD-43DE-A085-4C8159F05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43075"/>
            <a:ext cx="6191250" cy="3257550"/>
          </a:xfrm>
          <a:prstGeom xmlns:a="http://schemas.openxmlformats.org/drawingml/2006/main" prst="roundRect">
            <a:avLst>
              <a:gd name="adj" fmla="val 2339"/>
            </a:avLst>
          </a:prstGeom>
          <a:solidFill xmlns:a="http://schemas.openxmlformats.org/drawingml/2006/main">
            <a:srgbClr val="F4F8FA"/>
          </a:solidFill>
          <a:ln xmlns:a="http://schemas.openxmlformats.org/drawingml/2006/main" w="14288">
            <a:solidFill>
              <a:srgbClr val="C9D7DE"/>
            </a:solidFill>
            <a:prstDash val="solid"/>
          </a:ln>
        </p:spPr>
      </p:sp>
      <p:sp>
        <p:nvSpPr>
          <p:cNvPr id="8" name="code-label">
            <a:extLst xmlns:a="http://schemas.openxmlformats.org/drawingml/2006/main">
              <a:ext uri="{FF2B5EF4-FFF2-40B4-BE49-F238E27FC236}">
                <a16:creationId xmlns:a16="http://schemas.microsoft.com/office/drawing/2014/main" id="{986CFE79-2167-474D-B026-894FF970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76425"/>
            <a:ext cx="581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DECLARATION + ACCESS</a:t>
            </a:r>
          </a:p>
        </p:txBody>
      </p:sp>
      <p:sp>
        <p:nvSpPr>
          <p:cNvPr id="9" name="code-text">
            <a:extLst xmlns:a="http://schemas.openxmlformats.org/drawingml/2006/main">
              <a:ext uri="{FF2B5EF4-FFF2-40B4-BE49-F238E27FC236}">
                <a16:creationId xmlns:a16="http://schemas.microsoft.com/office/drawing/2014/main" id="{B31C3ED5-FC0F-4869-86C9-8B42144F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0275"/>
            <a:ext cx="58102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int score[5] = {82, 75, 91, 68, 88};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score[3] = 70;</a:t>
            </a:r>
          </a:p>
          <a:p xmlns:a="http://schemas.openxmlformats.org/drawingml/2006/main"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printf("%d", score[2]);   // 91</a:t>
            </a:r>
          </a:p>
        </p:txBody>
      </p:sp>
      <p:sp>
        <p:nvSpPr>
          <p:cNvPr id="10" name="reading-title">
            <a:extLst xmlns:a="http://schemas.openxmlformats.org/drawingml/2006/main">
              <a:ext uri="{FF2B5EF4-FFF2-40B4-BE49-F238E27FC236}">
                <a16:creationId xmlns:a16="http://schemas.microsoft.com/office/drawing/2014/main" id="{E7370E54-E092-4088-81BA-85C28B231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79070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Read the declaration from right to left</a:t>
            </a:r>
          </a:p>
        </p:txBody>
      </p:sp>
      <p:sp>
        <p:nvSpPr>
          <p:cNvPr id="11" name="bullet">
            <a:extLst xmlns:a="http://schemas.openxmlformats.org/drawingml/2006/main">
              <a:ext uri="{FF2B5EF4-FFF2-40B4-BE49-F238E27FC236}">
                <a16:creationId xmlns:a16="http://schemas.microsoft.com/office/drawing/2014/main" id="{030E18D2-1DB8-4CF2-A85B-22E35B5E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57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" name="bullet-text">
            <a:extLst xmlns:a="http://schemas.openxmlformats.org/drawingml/2006/main">
              <a:ext uri="{FF2B5EF4-FFF2-40B4-BE49-F238E27FC236}">
                <a16:creationId xmlns:a16="http://schemas.microsoft.com/office/drawing/2014/main" id="{C8399D62-C145-4EB2-9475-A1BA72BF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371725"/>
            <a:ext cx="358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score is an array</a:t>
            </a:r>
          </a:p>
        </p:txBody>
      </p:sp>
      <p:sp>
        <p:nvSpPr>
          <p:cNvPr id="13" name="bullet">
            <a:extLst xmlns:a="http://schemas.openxmlformats.org/drawingml/2006/main">
              <a:ext uri="{FF2B5EF4-FFF2-40B4-BE49-F238E27FC236}">
                <a16:creationId xmlns:a16="http://schemas.microsoft.com/office/drawing/2014/main" id="{8C847B7E-EFD7-4D54-8579-F718D34C2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0099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" name="bullet-text">
            <a:extLst xmlns:a="http://schemas.openxmlformats.org/drawingml/2006/main">
              <a:ext uri="{FF2B5EF4-FFF2-40B4-BE49-F238E27FC236}">
                <a16:creationId xmlns:a16="http://schemas.microsoft.com/office/drawing/2014/main" id="{2BEE39E8-1062-45AF-9F85-0E71A4AD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924175"/>
            <a:ext cx="358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with 5 elements</a:t>
            </a:r>
          </a:p>
        </p:txBody>
      </p:sp>
      <p:sp>
        <p:nvSpPr>
          <p:cNvPr id="15" name="bullet">
            <a:extLst xmlns:a="http://schemas.openxmlformats.org/drawingml/2006/main">
              <a:ext uri="{FF2B5EF4-FFF2-40B4-BE49-F238E27FC236}">
                <a16:creationId xmlns:a16="http://schemas.microsoft.com/office/drawing/2014/main" id="{D7FECCAC-40B0-4DCB-9081-872F8B29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5623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6" name="bullet-text">
            <a:extLst xmlns:a="http://schemas.openxmlformats.org/drawingml/2006/main">
              <a:ext uri="{FF2B5EF4-FFF2-40B4-BE49-F238E27FC236}">
                <a16:creationId xmlns:a16="http://schemas.microsoft.com/office/drawing/2014/main" id="{B01816BF-6C28-4ECE-A364-562718CD4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476625"/>
            <a:ext cx="358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each element is int</a:t>
            </a:r>
          </a:p>
        </p:txBody>
      </p:sp>
      <p:sp>
        <p:nvSpPr>
          <p:cNvPr id="17" name="bullet">
            <a:extLst xmlns:a="http://schemas.openxmlformats.org/drawingml/2006/main">
              <a:ext uri="{FF2B5EF4-FFF2-40B4-BE49-F238E27FC236}">
                <a16:creationId xmlns:a16="http://schemas.microsoft.com/office/drawing/2014/main" id="{1E05101E-ED44-4F31-BB82-49CA50BE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1148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" name="bullet-text">
            <a:extLst xmlns:a="http://schemas.openxmlformats.org/drawingml/2006/main">
              <a:ext uri="{FF2B5EF4-FFF2-40B4-BE49-F238E27FC236}">
                <a16:creationId xmlns:a16="http://schemas.microsoft.com/office/drawing/2014/main" id="{B0DBC8CE-D394-4F12-BF0B-570C8F86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029075"/>
            <a:ext cx="358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score[3] updates the fourth element</a:t>
            </a:r>
          </a:p>
        </p:txBody>
      </p:sp>
      <p:sp>
        <p:nvSpPr>
          <p:cNvPr id="19" name="bounds-warning">
            <a:extLst xmlns:a="http://schemas.openxmlformats.org/drawingml/2006/main">
              <a:ext uri="{FF2B5EF4-FFF2-40B4-BE49-F238E27FC236}">
                <a16:creationId xmlns:a16="http://schemas.microsoft.com/office/drawing/2014/main" id="{E37598F1-6CA4-4201-A227-0FF7D00E5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810125"/>
            <a:ext cx="39052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6E7"/>
          </a:solidFill>
          <a:ln xmlns:a="http://schemas.openxmlformats.org/drawingml/2006/main" w="0">
            <a:solidFill>
              <a:srgbClr val="FFF6E7"/>
            </a:solidFill>
            <a:prstDash val="solid"/>
          </a:ln>
        </p:spPr>
      </p:sp>
      <p:sp>
        <p:nvSpPr>
          <p:cNvPr id="20" name="warning-title">
            <a:extLst xmlns:a="http://schemas.openxmlformats.org/drawingml/2006/main">
              <a:ext uri="{FF2B5EF4-FFF2-40B4-BE49-F238E27FC236}">
                <a16:creationId xmlns:a16="http://schemas.microsoft.com/office/drawing/2014/main" id="{BFE4A31A-7E86-48CE-AD51-5F2D0157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Bounds matter</a:t>
            </a:r>
          </a:p>
        </p:txBody>
      </p:sp>
      <p:sp>
        <p:nvSpPr>
          <p:cNvPr id="21" name="warning-text">
            <a:extLst xmlns:a="http://schemas.openxmlformats.org/drawingml/2006/main">
              <a:ext uri="{FF2B5EF4-FFF2-40B4-BE49-F238E27FC236}">
                <a16:creationId xmlns:a16="http://schemas.microsoft.com/office/drawing/2014/main" id="{EC6CE0F6-C605-45A4-AB19-FDD095EE8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1625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score[5] is outside this array.</a:t>
            </a:r>
          </a:p>
        </p:txBody>
      </p:sp>
      <p:sp>
        <p:nvSpPr>
          <p:cNvPr id="22" name="classroom-prompt">
            <a:extLst xmlns:a="http://schemas.openxmlformats.org/drawingml/2006/main">
              <a:ext uri="{FF2B5EF4-FFF2-40B4-BE49-F238E27FC236}">
                <a16:creationId xmlns:a16="http://schemas.microsoft.com/office/drawing/2014/main" id="{E3F29557-D87D-4BB5-8BE0-DD8405082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9775"/>
            <a:ext cx="108204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0">
            <a:solidFill>
              <a:srgbClr val="EAF6F4"/>
            </a:solidFill>
            <a:prstDash val="solid"/>
          </a:ln>
        </p:spPr>
      </p:sp>
      <p:sp>
        <p:nvSpPr>
          <p:cNvPr id="23" name="prompt-label">
            <a:extLst xmlns:a="http://schemas.openxmlformats.org/drawingml/2006/main">
              <a:ext uri="{FF2B5EF4-FFF2-40B4-BE49-F238E27FC236}">
                <a16:creationId xmlns:a16="http://schemas.microsoft.com/office/drawing/2014/main" id="{2F37737D-EE45-4987-A77E-C7E0DA2D3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05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ASK</a:t>
            </a:r>
          </a:p>
        </p:txBody>
      </p:sp>
      <p:sp>
        <p:nvSpPr>
          <p:cNvPr id="24" name="prompt-text">
            <a:extLst xmlns:a="http://schemas.openxmlformats.org/drawingml/2006/main">
              <a:ext uri="{FF2B5EF4-FFF2-40B4-BE49-F238E27FC236}">
                <a16:creationId xmlns:a16="http://schemas.microsoft.com/office/drawing/2014/main" id="{F6156DDC-DD01-4269-8000-D0C705415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76925"/>
            <a:ext cx="988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What values are stored after score[3] = 70?</a:t>
            </a:r>
          </a:p>
        </p:txBody>
      </p:sp>
    </p:spTree>
    <p:extLst>
      <p:ext uri="{BB962C8B-B14F-4D97-AF65-F5344CB8AC3E}">
        <p14:creationId xmlns:p14="http://schemas.microsoft.com/office/powerpoint/2010/main" val="7207538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lesson-label">
            <a:extLst xmlns:a="http://schemas.openxmlformats.org/drawingml/2006/main">
              <a:ext uri="{FF2B5EF4-FFF2-40B4-BE49-F238E27FC236}">
                <a16:creationId xmlns:a16="http://schemas.microsoft.com/office/drawing/2014/main" id="{6C2163D9-D15B-4876-8C51-E83084A7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5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3708BD7-AF77-4CCD-A4FA-E59E4617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A loop traverses; an index updates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DF3C1252-45C4-471A-92B9-D8870DD71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4" name="divider">
            <a:extLst xmlns:a="http://schemas.openxmlformats.org/drawingml/2006/main">
              <a:ext uri="{FF2B5EF4-FFF2-40B4-BE49-F238E27FC236}">
                <a16:creationId xmlns:a16="http://schemas.microsoft.com/office/drawing/2014/main" id="{6FA4F453-3678-43D9-AACB-B8FAF637D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5" name="footer-course">
            <a:extLst xmlns:a="http://schemas.openxmlformats.org/drawingml/2006/main">
              <a:ext uri="{FF2B5EF4-FFF2-40B4-BE49-F238E27FC236}">
                <a16:creationId xmlns:a16="http://schemas.microsoft.com/office/drawing/2014/main" id="{6FA79B26-CD61-4603-AA6D-D67983F8E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A1B367E7-B7C5-42C7-B1CD-2046D7ED9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055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code-panel">
            <a:extLst xmlns:a="http://schemas.openxmlformats.org/drawingml/2006/main">
              <a:ext uri="{FF2B5EF4-FFF2-40B4-BE49-F238E27FC236}">
                <a16:creationId xmlns:a16="http://schemas.microsoft.com/office/drawing/2014/main" id="{48F38A25-5417-4024-B1B0-467819DCB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43075"/>
            <a:ext cx="52197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4F8FA"/>
          </a:solidFill>
          <a:ln xmlns:a="http://schemas.openxmlformats.org/drawingml/2006/main" w="14288">
            <a:solidFill>
              <a:srgbClr val="C9D7DE"/>
            </a:solidFill>
            <a:prstDash val="solid"/>
          </a:ln>
        </p:spPr>
      </p:sp>
      <p:sp>
        <p:nvSpPr>
          <p:cNvPr id="8" name="code-label">
            <a:extLst xmlns:a="http://schemas.openxmlformats.org/drawingml/2006/main">
              <a:ext uri="{FF2B5EF4-FFF2-40B4-BE49-F238E27FC236}">
                <a16:creationId xmlns:a16="http://schemas.microsoft.com/office/drawing/2014/main" id="{0EB0CCF7-EC8F-450F-9C61-3366360C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76425"/>
            <a:ext cx="483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TRAVERSE ALL ELEMENTS</a:t>
            </a:r>
          </a:p>
        </p:txBody>
      </p:sp>
      <p:sp>
        <p:nvSpPr>
          <p:cNvPr id="9" name="code-text">
            <a:extLst xmlns:a="http://schemas.openxmlformats.org/drawingml/2006/main">
              <a:ext uri="{FF2B5EF4-FFF2-40B4-BE49-F238E27FC236}">
                <a16:creationId xmlns:a16="http://schemas.microsoft.com/office/drawing/2014/main" id="{44891DFB-5269-4632-89CA-14CEF1F4C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0275"/>
            <a:ext cx="48387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int sum = 0;</a:t>
            </a:r>
          </a:p>
          <a:p xmlns:a="http://schemas.openxmlformats.org/drawingml/2006/main"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for (int i = 0; i &lt; n; ++i) {</a:t>
            </a:r>
          </a:p>
          <a:p xmlns:a="http://schemas.openxmlformats.org/drawingml/2006/main"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sum += a[i];</a:t>
            </a:r>
          </a:p>
          <a:p xmlns:a="http://schemas.openxmlformats.org/drawingml/2006/main"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0" name="code-panel">
            <a:extLst xmlns:a="http://schemas.openxmlformats.org/drawingml/2006/main">
              <a:ext uri="{FF2B5EF4-FFF2-40B4-BE49-F238E27FC236}">
                <a16:creationId xmlns:a16="http://schemas.microsoft.com/office/drawing/2014/main" id="{DBC97978-9D56-4991-9225-EF49B78C0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43075"/>
            <a:ext cx="52197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4F8FA"/>
          </a:solidFill>
          <a:ln xmlns:a="http://schemas.openxmlformats.org/drawingml/2006/main" w="14288">
            <a:solidFill>
              <a:srgbClr val="C9D7DE"/>
            </a:solidFill>
            <a:prstDash val="solid"/>
          </a:ln>
        </p:spPr>
      </p:sp>
      <p:sp>
        <p:nvSpPr>
          <p:cNvPr id="11" name="code-label">
            <a:extLst xmlns:a="http://schemas.openxmlformats.org/drawingml/2006/main">
              <a:ext uri="{FF2B5EF4-FFF2-40B4-BE49-F238E27FC236}">
                <a16:creationId xmlns:a16="http://schemas.microsoft.com/office/drawing/2014/main" id="{F09E7C80-A07B-4502-8817-FEBF332A7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76425"/>
            <a:ext cx="483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UPDATE ONE ELEMENT</a:t>
            </a:r>
          </a:p>
        </p:txBody>
      </p:sp>
      <p:sp>
        <p:nvSpPr>
          <p:cNvPr id="12" name="code-text">
            <a:extLst xmlns:a="http://schemas.openxmlformats.org/drawingml/2006/main">
              <a:ext uri="{FF2B5EF4-FFF2-40B4-BE49-F238E27FC236}">
                <a16:creationId xmlns:a16="http://schemas.microsoft.com/office/drawing/2014/main" id="{60FBEF16-B1D8-4482-89BF-E97F5EB9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00275"/>
            <a:ext cx="48387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a[2] = a[2] + 5;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// direct access to one element</a:t>
            </a:r>
          </a:p>
        </p:txBody>
      </p:sp>
      <p:sp>
        <p:nvSpPr>
          <p:cNvPr id="13" name="complexity-head-1">
            <a:extLst xmlns:a="http://schemas.openxmlformats.org/drawingml/2006/main">
              <a:ext uri="{FF2B5EF4-FFF2-40B4-BE49-F238E27FC236}">
                <a16:creationId xmlns:a16="http://schemas.microsoft.com/office/drawing/2014/main" id="{BE0C6DDB-44DC-4643-B771-D2517582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19625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Operation</a:t>
            </a:r>
          </a:p>
        </p:txBody>
      </p:sp>
      <p:sp>
        <p:nvSpPr>
          <p:cNvPr id="14" name="complexity-head-2">
            <a:extLst xmlns:a="http://schemas.openxmlformats.org/drawingml/2006/main">
              <a:ext uri="{FF2B5EF4-FFF2-40B4-BE49-F238E27FC236}">
                <a16:creationId xmlns:a16="http://schemas.microsoft.com/office/drawing/2014/main" id="{5F4557CC-5CE4-4F22-83EC-6388A1180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61962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Cost</a:t>
            </a:r>
          </a:p>
        </p:txBody>
      </p:sp>
      <p:sp>
        <p:nvSpPr>
          <p:cNvPr id="15" name="divider">
            <a:extLst xmlns:a="http://schemas.openxmlformats.org/drawingml/2006/main">
              <a:ext uri="{FF2B5EF4-FFF2-40B4-BE49-F238E27FC236}">
                <a16:creationId xmlns:a16="http://schemas.microsoft.com/office/drawing/2014/main" id="{0BB33EBC-357F-4DEC-BDFB-3844398F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81575"/>
            <a:ext cx="447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16" name="complexity-operation">
            <a:extLst xmlns:a="http://schemas.openxmlformats.org/drawingml/2006/main">
              <a:ext uri="{FF2B5EF4-FFF2-40B4-BE49-F238E27FC236}">
                <a16:creationId xmlns:a16="http://schemas.microsoft.com/office/drawing/2014/main" id="{64E2B83D-54EC-4F68-8862-CA35E884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0482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Access a[i]</a:t>
            </a:r>
          </a:p>
        </p:txBody>
      </p:sp>
      <p:sp>
        <p:nvSpPr>
          <p:cNvPr id="17" name="complexity-cost">
            <a:extLst xmlns:a="http://schemas.openxmlformats.org/drawingml/2006/main">
              <a:ext uri="{FF2B5EF4-FFF2-40B4-BE49-F238E27FC236}">
                <a16:creationId xmlns:a16="http://schemas.microsoft.com/office/drawing/2014/main" id="{974E2F21-6C69-4C35-9912-D1A2FCB2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0482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766E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F766E"/>
                </a:solidFill>
                <a:latin typeface="Consolas"/>
                <a:ea typeface="Consolas"/>
                <a:cs typeface="Consolas"/>
              </a:rPr>
              <a:t>O(1)</a:t>
            </a:r>
          </a:p>
        </p:txBody>
      </p:sp>
      <p:sp>
        <p:nvSpPr>
          <p:cNvPr id="18" name="complexity-operation">
            <a:extLst xmlns:a="http://schemas.openxmlformats.org/drawingml/2006/main">
              <a:ext uri="{FF2B5EF4-FFF2-40B4-BE49-F238E27FC236}">
                <a16:creationId xmlns:a16="http://schemas.microsoft.com/office/drawing/2014/main" id="{4331B2BD-BB81-49EC-8FBC-5F279EB0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3530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Update a[i]</a:t>
            </a:r>
          </a:p>
        </p:txBody>
      </p:sp>
      <p:sp>
        <p:nvSpPr>
          <p:cNvPr id="19" name="complexity-cost">
            <a:extLst xmlns:a="http://schemas.openxmlformats.org/drawingml/2006/main">
              <a:ext uri="{FF2B5EF4-FFF2-40B4-BE49-F238E27FC236}">
                <a16:creationId xmlns:a16="http://schemas.microsoft.com/office/drawing/2014/main" id="{FE581F0D-829B-42F5-900F-0AB581D4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353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766E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F766E"/>
                </a:solidFill>
                <a:latin typeface="Consolas"/>
                <a:ea typeface="Consolas"/>
                <a:cs typeface="Consolas"/>
              </a:rPr>
              <a:t>O(1)</a:t>
            </a:r>
          </a:p>
        </p:txBody>
      </p:sp>
      <p:sp>
        <p:nvSpPr>
          <p:cNvPr id="20" name="complexity-operation">
            <a:extLst xmlns:a="http://schemas.openxmlformats.org/drawingml/2006/main">
              <a:ext uri="{FF2B5EF4-FFF2-40B4-BE49-F238E27FC236}">
                <a16:creationId xmlns:a16="http://schemas.microsoft.com/office/drawing/2014/main" id="{57D3E237-69D1-4D05-8B96-FBA49A3CD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6578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Traverse n values</a:t>
            </a:r>
          </a:p>
        </p:txBody>
      </p:sp>
      <p:sp>
        <p:nvSpPr>
          <p:cNvPr id="21" name="complexity-cost">
            <a:extLst xmlns:a="http://schemas.openxmlformats.org/drawingml/2006/main">
              <a:ext uri="{FF2B5EF4-FFF2-40B4-BE49-F238E27FC236}">
                <a16:creationId xmlns:a16="http://schemas.microsoft.com/office/drawing/2014/main" id="{3D9831FB-3073-4C55-BF12-8F09B7F0C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6578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766E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0F766E"/>
                </a:solidFill>
                <a:latin typeface="Consolas"/>
                <a:ea typeface="Consolas"/>
                <a:cs typeface="Consolas"/>
              </a:rPr>
              <a:t>O(n)</a:t>
            </a:r>
          </a:p>
        </p:txBody>
      </p:sp>
      <p:sp>
        <p:nvSpPr>
          <p:cNvPr id="22" name="complexity-takeaway">
            <a:extLst xmlns:a="http://schemas.openxmlformats.org/drawingml/2006/main">
              <a:ext uri="{FF2B5EF4-FFF2-40B4-BE49-F238E27FC236}">
                <a16:creationId xmlns:a16="http://schemas.microsoft.com/office/drawing/2014/main" id="{CF410146-2801-4F88-950C-E7042E79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62500"/>
            <a:ext cx="4857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The loop is linear because every element contributes once.</a:t>
            </a:r>
          </a:p>
        </p:txBody>
      </p:sp>
    </p:spTree>
    <p:extLst>
      <p:ext uri="{BB962C8B-B14F-4D97-AF65-F5344CB8AC3E}">
        <p14:creationId xmlns:p14="http://schemas.microsoft.com/office/powerpoint/2010/main" val="27694146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" name="lesson-label">
            <a:extLst xmlns:a="http://schemas.openxmlformats.org/drawingml/2006/main">
              <a:ext uri="{FF2B5EF4-FFF2-40B4-BE49-F238E27FC236}">
                <a16:creationId xmlns:a16="http://schemas.microsoft.com/office/drawing/2014/main" id="{EF503953-E88C-4785-A71C-AA37F171F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5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C593F0C-2898-4376-86EC-72522637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Insertion and deletion require shifting elements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9749EF49-B604-4EE8-A93B-7E00A39C5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4" name="divider">
            <a:extLst xmlns:a="http://schemas.openxmlformats.org/drawingml/2006/main">
              <a:ext uri="{FF2B5EF4-FFF2-40B4-BE49-F238E27FC236}">
                <a16:creationId xmlns:a16="http://schemas.microsoft.com/office/drawing/2014/main" id="{DD914EA8-2FAF-4F3A-9D6C-16CBBD74D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5" name="footer-course">
            <a:extLst xmlns:a="http://schemas.openxmlformats.org/drawingml/2006/main">
              <a:ext uri="{FF2B5EF4-FFF2-40B4-BE49-F238E27FC236}">
                <a16:creationId xmlns:a16="http://schemas.microsoft.com/office/drawing/2014/main" id="{6D4C8DAE-1BC1-4BD4-9841-C9DCF261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AB2255BE-E700-4BC0-926F-025222842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055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insert-title">
            <a:extLst xmlns:a="http://schemas.openxmlformats.org/drawingml/2006/main">
              <a:ext uri="{FF2B5EF4-FFF2-40B4-BE49-F238E27FC236}">
                <a16:creationId xmlns:a16="http://schemas.microsoft.com/office/drawing/2014/main" id="{2F5A7171-3675-49CA-8994-0FD57E0E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Insert 30 at index 2</a:t>
            </a:r>
          </a:p>
        </p:txBody>
      </p:sp>
      <p:sp>
        <p:nvSpPr>
          <p:cNvPr id="8" name="array-index">
            <a:extLst xmlns:a="http://schemas.openxmlformats.org/drawingml/2006/main">
              <a:ext uri="{FF2B5EF4-FFF2-40B4-BE49-F238E27FC236}">
                <a16:creationId xmlns:a16="http://schemas.microsoft.com/office/drawing/2014/main" id="{CB8D26D7-8469-4147-9B81-38D9F4A7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9" name="array-cell">
            <a:extLst xmlns:a="http://schemas.openxmlformats.org/drawingml/2006/main">
              <a:ext uri="{FF2B5EF4-FFF2-40B4-BE49-F238E27FC236}">
                <a16:creationId xmlns:a16="http://schemas.microsoft.com/office/drawing/2014/main" id="{F745248D-7F5C-40B1-82AC-2EDB35D7A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876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10" name="array-value">
            <a:extLst xmlns:a="http://schemas.openxmlformats.org/drawingml/2006/main">
              <a:ext uri="{FF2B5EF4-FFF2-40B4-BE49-F238E27FC236}">
                <a16:creationId xmlns:a16="http://schemas.microsoft.com/office/drawing/2014/main" id="{32592CA1-998B-42DA-B640-FAF8463F5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57450"/>
            <a:ext cx="838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11" name="array-index">
            <a:extLst xmlns:a="http://schemas.openxmlformats.org/drawingml/2006/main">
              <a:ext uri="{FF2B5EF4-FFF2-40B4-BE49-F238E27FC236}">
                <a16:creationId xmlns:a16="http://schemas.microsoft.com/office/drawing/2014/main" id="{700C309C-94C0-4E2C-90D9-B1A83EDC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15265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2" name="array-cell">
            <a:extLst xmlns:a="http://schemas.openxmlformats.org/drawingml/2006/main">
              <a:ext uri="{FF2B5EF4-FFF2-40B4-BE49-F238E27FC236}">
                <a16:creationId xmlns:a16="http://schemas.microsoft.com/office/drawing/2014/main" id="{775A93AE-FEE0-4A3A-A9AF-E29A22C5B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438400"/>
            <a:ext cx="876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13" name="array-value">
            <a:extLst xmlns:a="http://schemas.openxmlformats.org/drawingml/2006/main">
              <a:ext uri="{FF2B5EF4-FFF2-40B4-BE49-F238E27FC236}">
                <a16:creationId xmlns:a16="http://schemas.microsoft.com/office/drawing/2014/main" id="{17409AA6-C5C5-400A-B304-F4E0CEED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838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20</a:t>
            </a:r>
          </a:p>
        </p:txBody>
      </p:sp>
      <p:sp>
        <p:nvSpPr>
          <p:cNvPr id="14" name="array-index">
            <a:extLst xmlns:a="http://schemas.openxmlformats.org/drawingml/2006/main">
              <a:ext uri="{FF2B5EF4-FFF2-40B4-BE49-F238E27FC236}">
                <a16:creationId xmlns:a16="http://schemas.microsoft.com/office/drawing/2014/main" id="{C11E395D-B92E-4F7D-B729-BA0EECE35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15265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5" name="array-cell">
            <a:extLst xmlns:a="http://schemas.openxmlformats.org/drawingml/2006/main">
              <a:ext uri="{FF2B5EF4-FFF2-40B4-BE49-F238E27FC236}">
                <a16:creationId xmlns:a16="http://schemas.microsoft.com/office/drawing/2014/main" id="{6A08CFBD-DAA4-4DC4-A304-AC4B4827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38400"/>
            <a:ext cx="876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7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16" name="array-value">
            <a:extLst xmlns:a="http://schemas.openxmlformats.org/drawingml/2006/main">
              <a:ext uri="{FF2B5EF4-FFF2-40B4-BE49-F238E27FC236}">
                <a16:creationId xmlns:a16="http://schemas.microsoft.com/office/drawing/2014/main" id="{EE6E8A9D-9BB1-4DEA-843A-FC6EF82C4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457450"/>
            <a:ext cx="838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40</a:t>
            </a:r>
          </a:p>
        </p:txBody>
      </p:sp>
      <p:sp>
        <p:nvSpPr>
          <p:cNvPr id="17" name="array-index">
            <a:extLst xmlns:a="http://schemas.openxmlformats.org/drawingml/2006/main">
              <a:ext uri="{FF2B5EF4-FFF2-40B4-BE49-F238E27FC236}">
                <a16:creationId xmlns:a16="http://schemas.microsoft.com/office/drawing/2014/main" id="{BAC45D4F-00E2-430C-BACA-28DAF041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5265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8" name="array-cell">
            <a:extLst xmlns:a="http://schemas.openxmlformats.org/drawingml/2006/main">
              <a:ext uri="{FF2B5EF4-FFF2-40B4-BE49-F238E27FC236}">
                <a16:creationId xmlns:a16="http://schemas.microsoft.com/office/drawing/2014/main" id="{80D2B15E-5A22-4A77-8B85-E37463F4F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438400"/>
            <a:ext cx="876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7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19" name="array-value">
            <a:extLst xmlns:a="http://schemas.openxmlformats.org/drawingml/2006/main">
              <a:ext uri="{FF2B5EF4-FFF2-40B4-BE49-F238E27FC236}">
                <a16:creationId xmlns:a16="http://schemas.microsoft.com/office/drawing/2014/main" id="{ED703CD3-C685-4D67-8B9A-8EFA5E108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457450"/>
            <a:ext cx="838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50</a:t>
            </a:r>
          </a:p>
        </p:txBody>
      </p:sp>
      <p:sp>
        <p:nvSpPr>
          <p:cNvPr id="20" name="array-index">
            <a:extLst xmlns:a="http://schemas.openxmlformats.org/drawingml/2006/main">
              <a:ext uri="{FF2B5EF4-FFF2-40B4-BE49-F238E27FC236}">
                <a16:creationId xmlns:a16="http://schemas.microsoft.com/office/drawing/2014/main" id="{9321E566-B58C-4080-8849-CF1A50FA3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5265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21" name="array-cell">
            <a:extLst xmlns:a="http://schemas.openxmlformats.org/drawingml/2006/main">
              <a:ext uri="{FF2B5EF4-FFF2-40B4-BE49-F238E27FC236}">
                <a16:creationId xmlns:a16="http://schemas.microsoft.com/office/drawing/2014/main" id="{F6068A2F-2326-43AF-96F1-A2B0E756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38400"/>
            <a:ext cx="876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8FA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22" name="array-value">
            <a:extLst xmlns:a="http://schemas.openxmlformats.org/drawingml/2006/main">
              <a:ext uri="{FF2B5EF4-FFF2-40B4-BE49-F238E27FC236}">
                <a16:creationId xmlns:a16="http://schemas.microsoft.com/office/drawing/2014/main" id="{D6425CEE-7806-4844-A968-650A4E27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57450"/>
            <a:ext cx="838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—</a:t>
            </a:r>
          </a:p>
        </p:txBody>
      </p:sp>
      <p:sp>
        <p:nvSpPr>
          <p:cNvPr id="23" name="shift-arrow">
            <a:extLst xmlns:a="http://schemas.openxmlformats.org/drawingml/2006/main">
              <a:ext uri="{FF2B5EF4-FFF2-40B4-BE49-F238E27FC236}">
                <a16:creationId xmlns:a16="http://schemas.microsoft.com/office/drawing/2014/main" id="{822A3ACA-8F24-4C90-9556-8F567284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524125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shift right  →</a:t>
            </a:r>
          </a:p>
        </p:txBody>
      </p:sp>
      <p:sp>
        <p:nvSpPr>
          <p:cNvPr id="24" name="array-index">
            <a:extLst xmlns:a="http://schemas.openxmlformats.org/drawingml/2006/main">
              <a:ext uri="{FF2B5EF4-FFF2-40B4-BE49-F238E27FC236}">
                <a16:creationId xmlns:a16="http://schemas.microsoft.com/office/drawing/2014/main" id="{1A941101-6734-4318-B8FD-1EF420A8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152650"/>
            <a:ext cx="78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25" name="array-cell">
            <a:extLst xmlns:a="http://schemas.openxmlformats.org/drawingml/2006/main">
              <a:ext uri="{FF2B5EF4-FFF2-40B4-BE49-F238E27FC236}">
                <a16:creationId xmlns:a16="http://schemas.microsoft.com/office/drawing/2014/main" id="{CE97249B-9AA5-4B82-8BD4-0FFA29B12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38400"/>
            <a:ext cx="781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26" name="array-value">
            <a:extLst xmlns:a="http://schemas.openxmlformats.org/drawingml/2006/main">
              <a:ext uri="{FF2B5EF4-FFF2-40B4-BE49-F238E27FC236}">
                <a16:creationId xmlns:a16="http://schemas.microsoft.com/office/drawing/2014/main" id="{FD5462F6-0D6B-4A4E-8CCE-8123665A7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57450"/>
            <a:ext cx="742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7" name="array-index">
            <a:extLst xmlns:a="http://schemas.openxmlformats.org/drawingml/2006/main">
              <a:ext uri="{FF2B5EF4-FFF2-40B4-BE49-F238E27FC236}">
                <a16:creationId xmlns:a16="http://schemas.microsoft.com/office/drawing/2014/main" id="{35411290-15E3-4BC7-AD3B-0E1FDCFD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52650"/>
            <a:ext cx="78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28" name="array-cell">
            <a:extLst xmlns:a="http://schemas.openxmlformats.org/drawingml/2006/main">
              <a:ext uri="{FF2B5EF4-FFF2-40B4-BE49-F238E27FC236}">
                <a16:creationId xmlns:a16="http://schemas.microsoft.com/office/drawing/2014/main" id="{81C70CD4-4B0D-4462-A864-AB698AAB2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38400"/>
            <a:ext cx="781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29" name="array-value">
            <a:extLst xmlns:a="http://schemas.openxmlformats.org/drawingml/2006/main">
              <a:ext uri="{FF2B5EF4-FFF2-40B4-BE49-F238E27FC236}">
                <a16:creationId xmlns:a16="http://schemas.microsoft.com/office/drawing/2014/main" id="{F875128B-D7C9-43AA-B5AB-F6C923A5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57450"/>
            <a:ext cx="742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20</a:t>
            </a:r>
          </a:p>
        </p:txBody>
      </p:sp>
      <p:sp>
        <p:nvSpPr>
          <p:cNvPr id="30" name="array-index">
            <a:extLst xmlns:a="http://schemas.openxmlformats.org/drawingml/2006/main">
              <a:ext uri="{FF2B5EF4-FFF2-40B4-BE49-F238E27FC236}">
                <a16:creationId xmlns:a16="http://schemas.microsoft.com/office/drawing/2014/main" id="{4D49186C-CFE7-48D2-8957-49D019351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152650"/>
            <a:ext cx="78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31" name="array-cell">
            <a:extLst xmlns:a="http://schemas.openxmlformats.org/drawingml/2006/main">
              <a:ext uri="{FF2B5EF4-FFF2-40B4-BE49-F238E27FC236}">
                <a16:creationId xmlns:a16="http://schemas.microsoft.com/office/drawing/2014/main" id="{EEFEACB0-C616-40E4-B6C6-F113AF60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438400"/>
            <a:ext cx="781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32" name="array-value">
            <a:extLst xmlns:a="http://schemas.openxmlformats.org/drawingml/2006/main">
              <a:ext uri="{FF2B5EF4-FFF2-40B4-BE49-F238E27FC236}">
                <a16:creationId xmlns:a16="http://schemas.microsoft.com/office/drawing/2014/main" id="{C706AAF7-2D82-4F93-B14E-4EAF66128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457450"/>
            <a:ext cx="742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30</a:t>
            </a:r>
          </a:p>
        </p:txBody>
      </p:sp>
      <p:sp>
        <p:nvSpPr>
          <p:cNvPr id="33" name="array-index">
            <a:extLst xmlns:a="http://schemas.openxmlformats.org/drawingml/2006/main">
              <a:ext uri="{FF2B5EF4-FFF2-40B4-BE49-F238E27FC236}">
                <a16:creationId xmlns:a16="http://schemas.microsoft.com/office/drawing/2014/main" id="{6D70A92B-3899-40AB-92CD-4F957BD78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152650"/>
            <a:ext cx="78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34" name="array-cell">
            <a:extLst xmlns:a="http://schemas.openxmlformats.org/drawingml/2006/main">
              <a:ext uri="{FF2B5EF4-FFF2-40B4-BE49-F238E27FC236}">
                <a16:creationId xmlns:a16="http://schemas.microsoft.com/office/drawing/2014/main" id="{A961B048-7F4B-4550-98CE-3CE05C25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38400"/>
            <a:ext cx="781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35" name="array-value">
            <a:extLst xmlns:a="http://schemas.openxmlformats.org/drawingml/2006/main">
              <a:ext uri="{FF2B5EF4-FFF2-40B4-BE49-F238E27FC236}">
                <a16:creationId xmlns:a16="http://schemas.microsoft.com/office/drawing/2014/main" id="{05227A6A-5D7E-4C33-B559-D924046A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457450"/>
            <a:ext cx="742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40</a:t>
            </a:r>
          </a:p>
        </p:txBody>
      </p:sp>
      <p:sp>
        <p:nvSpPr>
          <p:cNvPr id="36" name="array-index">
            <a:extLst xmlns:a="http://schemas.openxmlformats.org/drawingml/2006/main">
              <a:ext uri="{FF2B5EF4-FFF2-40B4-BE49-F238E27FC236}">
                <a16:creationId xmlns:a16="http://schemas.microsoft.com/office/drawing/2014/main" id="{CC638530-19F9-491B-9E6C-C3DFEC5B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78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37" name="array-cell">
            <a:extLst xmlns:a="http://schemas.openxmlformats.org/drawingml/2006/main">
              <a:ext uri="{FF2B5EF4-FFF2-40B4-BE49-F238E27FC236}">
                <a16:creationId xmlns:a16="http://schemas.microsoft.com/office/drawing/2014/main" id="{93D9F448-6F97-4A33-A8F2-CD331D9A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438400"/>
            <a:ext cx="781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38" name="array-value">
            <a:extLst xmlns:a="http://schemas.openxmlformats.org/drawingml/2006/main">
              <a:ext uri="{FF2B5EF4-FFF2-40B4-BE49-F238E27FC236}">
                <a16:creationId xmlns:a16="http://schemas.microsoft.com/office/drawing/2014/main" id="{35D88FAF-BC8C-485B-8B0F-97EAC8F6F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457450"/>
            <a:ext cx="742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50</a:t>
            </a:r>
          </a:p>
        </p:txBody>
      </p:sp>
      <p:sp>
        <p:nvSpPr>
          <p:cNvPr id="39" name="delete-title">
            <a:extLst xmlns:a="http://schemas.openxmlformats.org/drawingml/2006/main">
              <a:ext uri="{FF2B5EF4-FFF2-40B4-BE49-F238E27FC236}">
                <a16:creationId xmlns:a16="http://schemas.microsoft.com/office/drawing/2014/main" id="{53290860-DCD0-4116-8EFC-9F6C6DD73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Delete the value at index 2</a:t>
            </a:r>
          </a:p>
        </p:txBody>
      </p:sp>
      <p:sp>
        <p:nvSpPr>
          <p:cNvPr id="40" name="array-index">
            <a:extLst xmlns:a="http://schemas.openxmlformats.org/drawingml/2006/main">
              <a:ext uri="{FF2B5EF4-FFF2-40B4-BE49-F238E27FC236}">
                <a16:creationId xmlns:a16="http://schemas.microsoft.com/office/drawing/2014/main" id="{BAB46706-30EE-4C88-8CFB-5A4A75D7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5290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41" name="array-cell">
            <a:extLst xmlns:a="http://schemas.openxmlformats.org/drawingml/2006/main">
              <a:ext uri="{FF2B5EF4-FFF2-40B4-BE49-F238E27FC236}">
                <a16:creationId xmlns:a16="http://schemas.microsoft.com/office/drawing/2014/main" id="{E4221DC1-44C2-4DF7-941F-A8D457FFF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876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42" name="array-value">
            <a:extLst xmlns:a="http://schemas.openxmlformats.org/drawingml/2006/main">
              <a:ext uri="{FF2B5EF4-FFF2-40B4-BE49-F238E27FC236}">
                <a16:creationId xmlns:a16="http://schemas.microsoft.com/office/drawing/2014/main" id="{439F0797-FF73-4F3B-B596-7B8024E9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838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43" name="array-index">
            <a:extLst xmlns:a="http://schemas.openxmlformats.org/drawingml/2006/main">
              <a:ext uri="{FF2B5EF4-FFF2-40B4-BE49-F238E27FC236}">
                <a16:creationId xmlns:a16="http://schemas.microsoft.com/office/drawing/2014/main" id="{07E9E236-E60B-4165-B31C-F54DFD1A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15290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44" name="array-cell">
            <a:extLst xmlns:a="http://schemas.openxmlformats.org/drawingml/2006/main">
              <a:ext uri="{FF2B5EF4-FFF2-40B4-BE49-F238E27FC236}">
                <a16:creationId xmlns:a16="http://schemas.microsoft.com/office/drawing/2014/main" id="{8079B042-8360-4EBE-87F8-909714CB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38650"/>
            <a:ext cx="876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45" name="array-value">
            <a:extLst xmlns:a="http://schemas.openxmlformats.org/drawingml/2006/main">
              <a:ext uri="{FF2B5EF4-FFF2-40B4-BE49-F238E27FC236}">
                <a16:creationId xmlns:a16="http://schemas.microsoft.com/office/drawing/2014/main" id="{EE8812E0-F764-4D83-B6E0-2D0EFB987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457700"/>
            <a:ext cx="838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20</a:t>
            </a:r>
          </a:p>
        </p:txBody>
      </p:sp>
      <p:sp>
        <p:nvSpPr>
          <p:cNvPr id="46" name="array-index">
            <a:extLst xmlns:a="http://schemas.openxmlformats.org/drawingml/2006/main">
              <a:ext uri="{FF2B5EF4-FFF2-40B4-BE49-F238E27FC236}">
                <a16:creationId xmlns:a16="http://schemas.microsoft.com/office/drawing/2014/main" id="{8727DE5E-4439-410E-8AE8-05B8C38A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15290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47" name="array-cell">
            <a:extLst xmlns:a="http://schemas.openxmlformats.org/drawingml/2006/main">
              <a:ext uri="{FF2B5EF4-FFF2-40B4-BE49-F238E27FC236}">
                <a16:creationId xmlns:a16="http://schemas.microsoft.com/office/drawing/2014/main" id="{8BD1DA38-D414-457A-94AD-54A5520E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438650"/>
            <a:ext cx="876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C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48" name="array-value">
            <a:extLst xmlns:a="http://schemas.openxmlformats.org/drawingml/2006/main">
              <a:ext uri="{FF2B5EF4-FFF2-40B4-BE49-F238E27FC236}">
                <a16:creationId xmlns:a16="http://schemas.microsoft.com/office/drawing/2014/main" id="{13E6E75C-F10C-4496-B296-9BDB1705E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457700"/>
            <a:ext cx="838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30</a:t>
            </a:r>
          </a:p>
        </p:txBody>
      </p:sp>
      <p:sp>
        <p:nvSpPr>
          <p:cNvPr id="49" name="array-index">
            <a:extLst xmlns:a="http://schemas.openxmlformats.org/drawingml/2006/main">
              <a:ext uri="{FF2B5EF4-FFF2-40B4-BE49-F238E27FC236}">
                <a16:creationId xmlns:a16="http://schemas.microsoft.com/office/drawing/2014/main" id="{209F0972-908C-4463-9F7B-E0D353762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15290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50" name="array-cell">
            <a:extLst xmlns:a="http://schemas.openxmlformats.org/drawingml/2006/main">
              <a:ext uri="{FF2B5EF4-FFF2-40B4-BE49-F238E27FC236}">
                <a16:creationId xmlns:a16="http://schemas.microsoft.com/office/drawing/2014/main" id="{63D4E859-909F-4CF0-9523-FDB35EF0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438650"/>
            <a:ext cx="876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51" name="array-value">
            <a:extLst xmlns:a="http://schemas.openxmlformats.org/drawingml/2006/main">
              <a:ext uri="{FF2B5EF4-FFF2-40B4-BE49-F238E27FC236}">
                <a16:creationId xmlns:a16="http://schemas.microsoft.com/office/drawing/2014/main" id="{4613A15F-FAAC-4C9E-99B5-280AC37FF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457700"/>
            <a:ext cx="838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40</a:t>
            </a:r>
          </a:p>
        </p:txBody>
      </p:sp>
      <p:sp>
        <p:nvSpPr>
          <p:cNvPr id="52" name="array-index">
            <a:extLst xmlns:a="http://schemas.openxmlformats.org/drawingml/2006/main">
              <a:ext uri="{FF2B5EF4-FFF2-40B4-BE49-F238E27FC236}">
                <a16:creationId xmlns:a16="http://schemas.microsoft.com/office/drawing/2014/main" id="{6CA2821F-183A-4EF1-A2D6-76D89856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5290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53" name="array-cell">
            <a:extLst xmlns:a="http://schemas.openxmlformats.org/drawingml/2006/main">
              <a:ext uri="{FF2B5EF4-FFF2-40B4-BE49-F238E27FC236}">
                <a16:creationId xmlns:a16="http://schemas.microsoft.com/office/drawing/2014/main" id="{40A4F6DA-4BE7-4163-BE81-08F380D11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438650"/>
            <a:ext cx="876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54" name="array-value">
            <a:extLst xmlns:a="http://schemas.openxmlformats.org/drawingml/2006/main">
              <a:ext uri="{FF2B5EF4-FFF2-40B4-BE49-F238E27FC236}">
                <a16:creationId xmlns:a16="http://schemas.microsoft.com/office/drawing/2014/main" id="{C5D2164F-E8EC-4CEA-90E7-CA5D5D8B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57700"/>
            <a:ext cx="838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50</a:t>
            </a:r>
          </a:p>
        </p:txBody>
      </p:sp>
      <p:sp>
        <p:nvSpPr>
          <p:cNvPr id="55" name="shift-left">
            <a:extLst xmlns:a="http://schemas.openxmlformats.org/drawingml/2006/main">
              <a:ext uri="{FF2B5EF4-FFF2-40B4-BE49-F238E27FC236}">
                <a16:creationId xmlns:a16="http://schemas.microsoft.com/office/drawing/2014/main" id="{72051A4E-2A4C-40D5-870C-9C366D5D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24375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←  shift left</a:t>
            </a:r>
          </a:p>
        </p:txBody>
      </p:sp>
      <p:sp>
        <p:nvSpPr>
          <p:cNvPr id="56" name="array-index">
            <a:extLst xmlns:a="http://schemas.openxmlformats.org/drawingml/2006/main">
              <a:ext uri="{FF2B5EF4-FFF2-40B4-BE49-F238E27FC236}">
                <a16:creationId xmlns:a16="http://schemas.microsoft.com/office/drawing/2014/main" id="{23ECC85D-BC63-45F4-8D60-3202ABE5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152900"/>
            <a:ext cx="78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57" name="array-cell">
            <a:extLst xmlns:a="http://schemas.openxmlformats.org/drawingml/2006/main">
              <a:ext uri="{FF2B5EF4-FFF2-40B4-BE49-F238E27FC236}">
                <a16:creationId xmlns:a16="http://schemas.microsoft.com/office/drawing/2014/main" id="{52ADFCEE-DA41-4291-B127-972455F5E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438650"/>
            <a:ext cx="781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58" name="array-value">
            <a:extLst xmlns:a="http://schemas.openxmlformats.org/drawingml/2006/main">
              <a:ext uri="{FF2B5EF4-FFF2-40B4-BE49-F238E27FC236}">
                <a16:creationId xmlns:a16="http://schemas.microsoft.com/office/drawing/2014/main" id="{92968EE9-2558-47CB-A8D3-AAF81FC0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57700"/>
            <a:ext cx="742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59" name="array-index">
            <a:extLst xmlns:a="http://schemas.openxmlformats.org/drawingml/2006/main">
              <a:ext uri="{FF2B5EF4-FFF2-40B4-BE49-F238E27FC236}">
                <a16:creationId xmlns:a16="http://schemas.microsoft.com/office/drawing/2014/main" id="{7E245059-E9E2-4F49-B007-04009C55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152900"/>
            <a:ext cx="78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60" name="array-cell">
            <a:extLst xmlns:a="http://schemas.openxmlformats.org/drawingml/2006/main">
              <a:ext uri="{FF2B5EF4-FFF2-40B4-BE49-F238E27FC236}">
                <a16:creationId xmlns:a16="http://schemas.microsoft.com/office/drawing/2014/main" id="{6FF034A2-CCF8-4D1A-9427-787BCEED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38650"/>
            <a:ext cx="781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61" name="array-value">
            <a:extLst xmlns:a="http://schemas.openxmlformats.org/drawingml/2006/main">
              <a:ext uri="{FF2B5EF4-FFF2-40B4-BE49-F238E27FC236}">
                <a16:creationId xmlns:a16="http://schemas.microsoft.com/office/drawing/2014/main" id="{95E8AC10-D4F3-43DC-8EFE-21EC81C4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457700"/>
            <a:ext cx="742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20</a:t>
            </a:r>
          </a:p>
        </p:txBody>
      </p:sp>
      <p:sp>
        <p:nvSpPr>
          <p:cNvPr id="62" name="array-index">
            <a:extLst xmlns:a="http://schemas.openxmlformats.org/drawingml/2006/main">
              <a:ext uri="{FF2B5EF4-FFF2-40B4-BE49-F238E27FC236}">
                <a16:creationId xmlns:a16="http://schemas.microsoft.com/office/drawing/2014/main" id="{F378D569-5031-4EF1-860C-839032CB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152900"/>
            <a:ext cx="78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63" name="array-cell">
            <a:extLst xmlns:a="http://schemas.openxmlformats.org/drawingml/2006/main">
              <a:ext uri="{FF2B5EF4-FFF2-40B4-BE49-F238E27FC236}">
                <a16:creationId xmlns:a16="http://schemas.microsoft.com/office/drawing/2014/main" id="{CBE8559F-F290-4CB5-B822-FD92F1E1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438650"/>
            <a:ext cx="781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64" name="array-value">
            <a:extLst xmlns:a="http://schemas.openxmlformats.org/drawingml/2006/main">
              <a:ext uri="{FF2B5EF4-FFF2-40B4-BE49-F238E27FC236}">
                <a16:creationId xmlns:a16="http://schemas.microsoft.com/office/drawing/2014/main" id="{9B79F144-0EAF-481F-B58D-26251815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457700"/>
            <a:ext cx="742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40</a:t>
            </a:r>
          </a:p>
        </p:txBody>
      </p:sp>
      <p:sp>
        <p:nvSpPr>
          <p:cNvPr id="65" name="array-index">
            <a:extLst xmlns:a="http://schemas.openxmlformats.org/drawingml/2006/main">
              <a:ext uri="{FF2B5EF4-FFF2-40B4-BE49-F238E27FC236}">
                <a16:creationId xmlns:a16="http://schemas.microsoft.com/office/drawing/2014/main" id="{28879BD8-68D2-4606-A5E9-F01CB7ED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152900"/>
            <a:ext cx="78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66" name="array-cell">
            <a:extLst xmlns:a="http://schemas.openxmlformats.org/drawingml/2006/main">
              <a:ext uri="{FF2B5EF4-FFF2-40B4-BE49-F238E27FC236}">
                <a16:creationId xmlns:a16="http://schemas.microsoft.com/office/drawing/2014/main" id="{46FDF137-E118-4BFA-890E-B519C176B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438650"/>
            <a:ext cx="781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67" name="array-value">
            <a:extLst xmlns:a="http://schemas.openxmlformats.org/drawingml/2006/main">
              <a:ext uri="{FF2B5EF4-FFF2-40B4-BE49-F238E27FC236}">
                <a16:creationId xmlns:a16="http://schemas.microsoft.com/office/drawing/2014/main" id="{7E08733E-7817-4A24-8029-7BD1715BB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457700"/>
            <a:ext cx="742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50</a:t>
            </a:r>
          </a:p>
        </p:txBody>
      </p:sp>
      <p:sp>
        <p:nvSpPr>
          <p:cNvPr id="68" name="array-index">
            <a:extLst xmlns:a="http://schemas.openxmlformats.org/drawingml/2006/main">
              <a:ext uri="{FF2B5EF4-FFF2-40B4-BE49-F238E27FC236}">
                <a16:creationId xmlns:a16="http://schemas.microsoft.com/office/drawing/2014/main" id="{75B5B069-35A2-4A38-8DCA-287D9418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152900"/>
            <a:ext cx="78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69" name="array-cell">
            <a:extLst xmlns:a="http://schemas.openxmlformats.org/drawingml/2006/main">
              <a:ext uri="{FF2B5EF4-FFF2-40B4-BE49-F238E27FC236}">
                <a16:creationId xmlns:a16="http://schemas.microsoft.com/office/drawing/2014/main" id="{2FFC93E8-93E7-4F31-BC28-A3D9AF01E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438650"/>
            <a:ext cx="7810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8FA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70" name="array-value">
            <a:extLst xmlns:a="http://schemas.openxmlformats.org/drawingml/2006/main">
              <a:ext uri="{FF2B5EF4-FFF2-40B4-BE49-F238E27FC236}">
                <a16:creationId xmlns:a16="http://schemas.microsoft.com/office/drawing/2014/main" id="{78D4591E-117F-4A14-BFF7-82CACFC1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457700"/>
            <a:ext cx="742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—</a:t>
            </a:r>
          </a:p>
        </p:txBody>
      </p:sp>
      <p:sp>
        <p:nvSpPr>
          <p:cNvPr id="71" name="cost-band">
            <a:extLst xmlns:a="http://schemas.openxmlformats.org/drawingml/2006/main">
              <a:ext uri="{FF2B5EF4-FFF2-40B4-BE49-F238E27FC236}">
                <a16:creationId xmlns:a16="http://schemas.microsoft.com/office/drawing/2014/main" id="{F734B701-8356-46F4-AEF0-E7F986CEF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43525"/>
            <a:ext cx="4000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4F8FA"/>
          </a:solidFill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72" name="cost-text">
            <a:extLst xmlns:a="http://schemas.openxmlformats.org/drawingml/2006/main">
              <a:ext uri="{FF2B5EF4-FFF2-40B4-BE49-F238E27FC236}">
                <a16:creationId xmlns:a16="http://schemas.microsoft.com/office/drawing/2014/main" id="{66E3EBCC-2DFD-4CA3-94B8-DD484F1B4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391150"/>
            <a:ext cx="377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Worst-case insertion or deletion: O(n)</a:t>
            </a:r>
          </a:p>
        </p:txBody>
      </p:sp>
    </p:spTree>
    <p:extLst>
      <p:ext uri="{BB962C8B-B14F-4D97-AF65-F5344CB8AC3E}">
        <p14:creationId xmlns:p14="http://schemas.microsoft.com/office/powerpoint/2010/main" val="80366647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lesson-label">
            <a:extLst xmlns:a="http://schemas.openxmlformats.org/drawingml/2006/main">
              <a:ext uri="{FF2B5EF4-FFF2-40B4-BE49-F238E27FC236}">
                <a16:creationId xmlns:a16="http://schemas.microsoft.com/office/drawing/2014/main" id="{58FF652A-0B9E-4CF7-8EE9-9B86DE39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6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6591E69-85CA-4633-A1C3-48865300E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A two-dimensional array is still one linear block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DACDDED3-0726-4AB7-A14F-A6FC54136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4" name="divider">
            <a:extLst xmlns:a="http://schemas.openxmlformats.org/drawingml/2006/main">
              <a:ext uri="{FF2B5EF4-FFF2-40B4-BE49-F238E27FC236}">
                <a16:creationId xmlns:a16="http://schemas.microsoft.com/office/drawing/2014/main" id="{DB882021-CBC4-4B5B-96C5-A8626E4C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5" name="footer-course">
            <a:extLst xmlns:a="http://schemas.openxmlformats.org/drawingml/2006/main">
              <a:ext uri="{FF2B5EF4-FFF2-40B4-BE49-F238E27FC236}">
                <a16:creationId xmlns:a16="http://schemas.microsoft.com/office/drawing/2014/main" id="{563B2A7D-1C00-4E81-AEC7-7961A7E98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CFB2B164-6D0B-451F-AF2B-7223113A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055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7" name="logical-label">
            <a:extLst xmlns:a="http://schemas.openxmlformats.org/drawingml/2006/main">
              <a:ext uri="{FF2B5EF4-FFF2-40B4-BE49-F238E27FC236}">
                <a16:creationId xmlns:a16="http://schemas.microsoft.com/office/drawing/2014/main" id="{ECD941AD-CAD4-412F-92AD-E66DB611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526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Logical view</a:t>
            </a:r>
          </a:p>
        </p:txBody>
      </p:sp>
      <p:sp>
        <p:nvSpPr>
          <p:cNvPr id="8" name="matrix-cell">
            <a:extLst xmlns:a="http://schemas.openxmlformats.org/drawingml/2006/main">
              <a:ext uri="{FF2B5EF4-FFF2-40B4-BE49-F238E27FC236}">
                <a16:creationId xmlns:a16="http://schemas.microsoft.com/office/drawing/2014/main" id="{3ABFAFA6-5813-4DF6-8C64-677E3ADA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00300"/>
            <a:ext cx="876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9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EC07B60F-280C-4949-9A70-85636080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09825"/>
            <a:ext cx="87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10" name="matrix-cell">
            <a:extLst xmlns:a="http://schemas.openxmlformats.org/drawingml/2006/main">
              <a:ext uri="{FF2B5EF4-FFF2-40B4-BE49-F238E27FC236}">
                <a16:creationId xmlns:a16="http://schemas.microsoft.com/office/drawing/2014/main" id="{57E52C70-3A18-42F2-8AA5-2BC5F463B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400300"/>
            <a:ext cx="876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11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8B27BB16-65BC-48A0-8260-49644D25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409825"/>
            <a:ext cx="87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12" name="matrix-cell">
            <a:extLst xmlns:a="http://schemas.openxmlformats.org/drawingml/2006/main">
              <a:ext uri="{FF2B5EF4-FFF2-40B4-BE49-F238E27FC236}">
                <a16:creationId xmlns:a16="http://schemas.microsoft.com/office/drawing/2014/main" id="{D262EAEA-6E28-4801-A395-68D07B88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00300"/>
            <a:ext cx="876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13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975F44BA-4E20-4EDE-B951-EB10892F3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09825"/>
            <a:ext cx="87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14" name="matrix-cell">
            <a:extLst xmlns:a="http://schemas.openxmlformats.org/drawingml/2006/main">
              <a:ext uri="{FF2B5EF4-FFF2-40B4-BE49-F238E27FC236}">
                <a16:creationId xmlns:a16="http://schemas.microsoft.com/office/drawing/2014/main" id="{E7AE7DF7-553A-437E-8A31-3EF60B41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876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15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F96A5596-9600-4AA6-8B3C-FC1FF203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57525"/>
            <a:ext cx="87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21</a:t>
            </a:r>
          </a:p>
        </p:txBody>
      </p:sp>
      <p:sp>
        <p:nvSpPr>
          <p:cNvPr id="16" name="matrix-cell">
            <a:extLst xmlns:a="http://schemas.openxmlformats.org/drawingml/2006/main">
              <a:ext uri="{FF2B5EF4-FFF2-40B4-BE49-F238E27FC236}">
                <a16:creationId xmlns:a16="http://schemas.microsoft.com/office/drawing/2014/main" id="{1F672DB9-B5B4-4888-A1AF-BAB6CDFD1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048000"/>
            <a:ext cx="876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17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464BD01C-0767-40EE-9AF9-C0C8270C1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057525"/>
            <a:ext cx="87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22</a:t>
            </a:r>
          </a:p>
        </p:txBody>
      </p:sp>
      <p:sp>
        <p:nvSpPr>
          <p:cNvPr id="18" name="matrix-cell">
            <a:extLst xmlns:a="http://schemas.openxmlformats.org/drawingml/2006/main">
              <a:ext uri="{FF2B5EF4-FFF2-40B4-BE49-F238E27FC236}">
                <a16:creationId xmlns:a16="http://schemas.microsoft.com/office/drawing/2014/main" id="{B5023E44-D6DD-4BAD-9CC0-95FFBB3F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048000"/>
            <a:ext cx="876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19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2EF5963D-7D8C-4688-9194-BB71CD4F0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057525"/>
            <a:ext cx="87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23</a:t>
            </a:r>
          </a:p>
        </p:txBody>
      </p:sp>
      <p:sp>
        <p:nvSpPr>
          <p:cNvPr id="20" name="matrix-size">
            <a:extLst xmlns:a="http://schemas.openxmlformats.org/drawingml/2006/main">
              <a:ext uri="{FF2B5EF4-FFF2-40B4-BE49-F238E27FC236}">
                <a16:creationId xmlns:a16="http://schemas.microsoft.com/office/drawing/2014/main" id="{4CC1C538-818C-4EC7-BB4E-8960CC923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957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rows × columns = 2 × 3</a:t>
            </a:r>
          </a:p>
        </p:txBody>
      </p:sp>
      <p:sp>
        <p:nvSpPr>
          <p:cNvPr id="21" name="mapping-arrow">
            <a:extLst xmlns:a="http://schemas.openxmlformats.org/drawingml/2006/main">
              <a:ext uri="{FF2B5EF4-FFF2-40B4-BE49-F238E27FC236}">
                <a16:creationId xmlns:a16="http://schemas.microsoft.com/office/drawing/2014/main" id="{B4F25CF9-1E5A-4244-B36E-428E2D681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72415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2" name="physical-label">
            <a:extLst xmlns:a="http://schemas.openxmlformats.org/drawingml/2006/main">
              <a:ext uri="{FF2B5EF4-FFF2-40B4-BE49-F238E27FC236}">
                <a16:creationId xmlns:a16="http://schemas.microsoft.com/office/drawing/2014/main" id="{41608547-831D-4F35-9453-5D0CEFA49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752600"/>
            <a:ext cx="381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Physical order in C</a:t>
            </a:r>
          </a:p>
        </p:txBody>
      </p:sp>
      <p:sp>
        <p:nvSpPr>
          <p:cNvPr id="23" name="array-cell">
            <a:extLst xmlns:a="http://schemas.openxmlformats.org/drawingml/2006/main">
              <a:ext uri="{FF2B5EF4-FFF2-40B4-BE49-F238E27FC236}">
                <a16:creationId xmlns:a16="http://schemas.microsoft.com/office/drawing/2014/main" id="{0A77EE1D-D39C-4155-8BB8-94D93CF0C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09850"/>
            <a:ext cx="7810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24" name="array-value">
            <a:extLst xmlns:a="http://schemas.openxmlformats.org/drawingml/2006/main">
              <a:ext uri="{FF2B5EF4-FFF2-40B4-BE49-F238E27FC236}">
                <a16:creationId xmlns:a16="http://schemas.microsoft.com/office/drawing/2014/main" id="{F924F78F-8FE2-4D9C-997A-D11C7FB2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289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25" name="array-cell">
            <a:extLst xmlns:a="http://schemas.openxmlformats.org/drawingml/2006/main">
              <a:ext uri="{FF2B5EF4-FFF2-40B4-BE49-F238E27FC236}">
                <a16:creationId xmlns:a16="http://schemas.microsoft.com/office/drawing/2014/main" id="{C4ABDD6E-B123-4DBF-8620-2322B9A9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09850"/>
            <a:ext cx="7810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26" name="array-value">
            <a:extLst xmlns:a="http://schemas.openxmlformats.org/drawingml/2006/main">
              <a:ext uri="{FF2B5EF4-FFF2-40B4-BE49-F238E27FC236}">
                <a16:creationId xmlns:a16="http://schemas.microsoft.com/office/drawing/2014/main" id="{54A8FCD2-60C1-441F-81E4-83473416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289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27" name="array-cell">
            <a:extLst xmlns:a="http://schemas.openxmlformats.org/drawingml/2006/main">
              <a:ext uri="{FF2B5EF4-FFF2-40B4-BE49-F238E27FC236}">
                <a16:creationId xmlns:a16="http://schemas.microsoft.com/office/drawing/2014/main" id="{76680862-D7F3-465B-8E6B-CF0D3B04C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09850"/>
            <a:ext cx="7810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28" name="array-value">
            <a:extLst xmlns:a="http://schemas.openxmlformats.org/drawingml/2006/main">
              <a:ext uri="{FF2B5EF4-FFF2-40B4-BE49-F238E27FC236}">
                <a16:creationId xmlns:a16="http://schemas.microsoft.com/office/drawing/2014/main" id="{AB097562-0E84-4F1D-BF6F-41CC6CF0A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289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29" name="array-cell">
            <a:extLst xmlns:a="http://schemas.openxmlformats.org/drawingml/2006/main">
              <a:ext uri="{FF2B5EF4-FFF2-40B4-BE49-F238E27FC236}">
                <a16:creationId xmlns:a16="http://schemas.microsoft.com/office/drawing/2014/main" id="{235D16F8-C147-4C5C-8B32-FEE6452D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09850"/>
            <a:ext cx="7810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30" name="array-value">
            <a:extLst xmlns:a="http://schemas.openxmlformats.org/drawingml/2006/main">
              <a:ext uri="{FF2B5EF4-FFF2-40B4-BE49-F238E27FC236}">
                <a16:creationId xmlns:a16="http://schemas.microsoft.com/office/drawing/2014/main" id="{E0DA25CF-17BB-4A9B-A52D-C60747A64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6289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21</a:t>
            </a:r>
          </a:p>
        </p:txBody>
      </p:sp>
      <p:sp>
        <p:nvSpPr>
          <p:cNvPr id="31" name="array-cell">
            <a:extLst xmlns:a="http://schemas.openxmlformats.org/drawingml/2006/main">
              <a:ext uri="{FF2B5EF4-FFF2-40B4-BE49-F238E27FC236}">
                <a16:creationId xmlns:a16="http://schemas.microsoft.com/office/drawing/2014/main" id="{7CB43BBE-606E-4A35-A8E3-456779F7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609850"/>
            <a:ext cx="7810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32" name="array-value">
            <a:extLst xmlns:a="http://schemas.openxmlformats.org/drawingml/2006/main">
              <a:ext uri="{FF2B5EF4-FFF2-40B4-BE49-F238E27FC236}">
                <a16:creationId xmlns:a16="http://schemas.microsoft.com/office/drawing/2014/main" id="{D504B1F0-7811-40BA-817B-B9AC40C4B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6289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22</a:t>
            </a:r>
          </a:p>
        </p:txBody>
      </p:sp>
      <p:sp>
        <p:nvSpPr>
          <p:cNvPr id="33" name="array-cell">
            <a:extLst xmlns:a="http://schemas.openxmlformats.org/drawingml/2006/main">
              <a:ext uri="{FF2B5EF4-FFF2-40B4-BE49-F238E27FC236}">
                <a16:creationId xmlns:a16="http://schemas.microsoft.com/office/drawing/2014/main" id="{1C153566-D1B4-4C93-85DE-E4E9556BB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609850"/>
            <a:ext cx="7810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34" name="array-value">
            <a:extLst xmlns:a="http://schemas.openxmlformats.org/drawingml/2006/main">
              <a:ext uri="{FF2B5EF4-FFF2-40B4-BE49-F238E27FC236}">
                <a16:creationId xmlns:a16="http://schemas.microsoft.com/office/drawing/2014/main" id="{EC2F17A1-428D-4ACA-A116-5FCF26380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6289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23</a:t>
            </a:r>
          </a:p>
        </p:txBody>
      </p:sp>
      <p:sp>
        <p:nvSpPr>
          <p:cNvPr id="35" name="row0-label">
            <a:extLst xmlns:a="http://schemas.openxmlformats.org/drawingml/2006/main">
              <a:ext uri="{FF2B5EF4-FFF2-40B4-BE49-F238E27FC236}">
                <a16:creationId xmlns:a16="http://schemas.microsoft.com/office/drawing/2014/main" id="{662AEBD1-E1BA-44B1-9416-0F3E6A79D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09950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row 0 first</a:t>
            </a:r>
          </a:p>
        </p:txBody>
      </p:sp>
      <p:sp>
        <p:nvSpPr>
          <p:cNvPr id="36" name="row1-label">
            <a:extLst xmlns:a="http://schemas.openxmlformats.org/drawingml/2006/main">
              <a:ext uri="{FF2B5EF4-FFF2-40B4-BE49-F238E27FC236}">
                <a16:creationId xmlns:a16="http://schemas.microsoft.com/office/drawing/2014/main" id="{34A67E75-3A30-4046-A213-AB789F04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409950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then row 1</a:t>
            </a:r>
          </a:p>
        </p:txBody>
      </p:sp>
      <p:sp>
        <p:nvSpPr>
          <p:cNvPr id="37" name="code-panel">
            <a:extLst xmlns:a="http://schemas.openxmlformats.org/drawingml/2006/main">
              <a:ext uri="{FF2B5EF4-FFF2-40B4-BE49-F238E27FC236}">
                <a16:creationId xmlns:a16="http://schemas.microsoft.com/office/drawing/2014/main" id="{52405591-B887-4B4F-BAB0-499B0558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267200"/>
            <a:ext cx="53911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4F8FA"/>
          </a:solidFill>
          <a:ln xmlns:a="http://schemas.openxmlformats.org/drawingml/2006/main" w="14288">
            <a:solidFill>
              <a:srgbClr val="C9D7DE"/>
            </a:solidFill>
            <a:prstDash val="solid"/>
          </a:ln>
        </p:spPr>
      </p:sp>
      <p:sp>
        <p:nvSpPr>
          <p:cNvPr id="38" name="code-label">
            <a:extLst xmlns:a="http://schemas.openxmlformats.org/drawingml/2006/main">
              <a:ext uri="{FF2B5EF4-FFF2-40B4-BE49-F238E27FC236}">
                <a16:creationId xmlns:a16="http://schemas.microsoft.com/office/drawing/2014/main" id="{1E0C1BE0-A4A1-4343-A782-D30DDD24B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400550"/>
            <a:ext cx="5010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 DECLARATION</a:t>
            </a:r>
          </a:p>
        </p:txBody>
      </p:sp>
      <p:sp>
        <p:nvSpPr>
          <p:cNvPr id="39" name="code-text">
            <a:extLst xmlns:a="http://schemas.openxmlformats.org/drawingml/2006/main">
              <a:ext uri="{FF2B5EF4-FFF2-40B4-BE49-F238E27FC236}">
                <a16:creationId xmlns:a16="http://schemas.microsoft.com/office/drawing/2014/main" id="{B90B1829-B69D-4616-9589-770AA29C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724400"/>
            <a:ext cx="50101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int m[2][3] = {</a:t>
            </a:r>
          </a:p>
          <a:p xmlns:a="http://schemas.openxmlformats.org/drawingml/2006/main"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{11, 12, 13},</a:t>
            </a:r>
          </a:p>
          <a:p xmlns:a="http://schemas.openxmlformats.org/drawingml/2006/main"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{21, 22, 23}</a:t>
            </a:r>
          </a:p>
          <a:p xmlns:a="http://schemas.openxmlformats.org/drawingml/2006/main"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8073116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lesson-label">
            <a:extLst xmlns:a="http://schemas.openxmlformats.org/drawingml/2006/main">
              <a:ext uri="{FF2B5EF4-FFF2-40B4-BE49-F238E27FC236}">
                <a16:creationId xmlns:a16="http://schemas.microsoft.com/office/drawing/2014/main" id="{E41C38F2-6DCF-4321-98B8-11074A93A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6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580E745-6468-4CF3-95AC-6EB9EFA7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C stores 2D arrays in row-major order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384B00B0-7B99-46BF-9A36-82A7E6D7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4" name="divider">
            <a:extLst xmlns:a="http://schemas.openxmlformats.org/drawingml/2006/main">
              <a:ext uri="{FF2B5EF4-FFF2-40B4-BE49-F238E27FC236}">
                <a16:creationId xmlns:a16="http://schemas.microsoft.com/office/drawing/2014/main" id="{FFF83870-1D8B-4E99-AB94-B073A1631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5" name="footer-course">
            <a:extLst xmlns:a="http://schemas.openxmlformats.org/drawingml/2006/main">
              <a:ext uri="{FF2B5EF4-FFF2-40B4-BE49-F238E27FC236}">
                <a16:creationId xmlns:a16="http://schemas.microsoft.com/office/drawing/2014/main" id="{7C749440-EB48-4A40-A53D-B536D22A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F68EA375-7049-4C37-BB05-5B964CBA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055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7" name="row-major-formula-band">
            <a:extLst xmlns:a="http://schemas.openxmlformats.org/drawingml/2006/main">
              <a:ext uri="{FF2B5EF4-FFF2-40B4-BE49-F238E27FC236}">
                <a16:creationId xmlns:a16="http://schemas.microsoft.com/office/drawing/2014/main" id="{75C7B2EF-685C-4C73-B3A9-6CCE18DF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14500"/>
            <a:ext cx="102108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DF4FF"/>
          </a:solidFill>
          <a:ln xmlns:a="http://schemas.openxmlformats.org/drawingml/2006/main" w="0">
            <a:solidFill>
              <a:srgbClr val="EDF4FF"/>
            </a:solidFill>
            <a:prstDash val="solid"/>
          </a:ln>
        </p:spPr>
      </p:sp>
      <p:sp>
        <p:nvSpPr>
          <p:cNvPr id="8" name="row-major-formula">
            <a:extLst xmlns:a="http://schemas.openxmlformats.org/drawingml/2006/main">
              <a:ext uri="{FF2B5EF4-FFF2-40B4-BE49-F238E27FC236}">
                <a16:creationId xmlns:a16="http://schemas.microsoft.com/office/drawing/2014/main" id="{2D89570B-856B-43D0-B107-4E99E493A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47850"/>
            <a:ext cx="982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2324A"/>
                </a:solidFill>
                <a:latin typeface="Consolas"/>
                <a:ea typeface="Consolas"/>
                <a:cs typeface="Consolas"/>
              </a:defRPr>
            </a:pPr>
            <a:r>
              <a:rPr sz="2550" b="1">
                <a:solidFill>
                  <a:srgbClr val="12324A"/>
                </a:solidFill>
                <a:latin typeface="Consolas"/>
                <a:ea typeface="Consolas"/>
                <a:cs typeface="Consolas"/>
              </a:rPr>
              <a:t>LOC(A[i][j]) = Base + w × [(i − Lr) × N + (j − Lc)]</a:t>
            </a:r>
          </a:p>
        </p:txBody>
      </p:sp>
      <p:sp>
        <p:nvSpPr>
          <p:cNvPr id="9" name="n-definition">
            <a:extLst xmlns:a="http://schemas.openxmlformats.org/drawingml/2006/main">
              <a:ext uri="{FF2B5EF4-FFF2-40B4-BE49-F238E27FC236}">
                <a16:creationId xmlns:a16="http://schemas.microsoft.com/office/drawing/2014/main" id="{1946B983-083D-411D-89C1-E6AADFB8E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67025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N = number of columns</a:t>
            </a:r>
          </a:p>
        </p:txBody>
      </p:sp>
      <p:sp>
        <p:nvSpPr>
          <p:cNvPr id="10" name="stride-explanation">
            <a:extLst xmlns:a="http://schemas.openxmlformats.org/drawingml/2006/main">
              <a:ext uri="{FF2B5EF4-FFF2-40B4-BE49-F238E27FC236}">
                <a16:creationId xmlns:a16="http://schemas.microsoft.com/office/drawing/2014/main" id="{6294A327-413C-4EA6-B4DD-51E667EB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7660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One complete row contributes N elements to the offset.</a:t>
            </a:r>
          </a:p>
        </p:txBody>
      </p:sp>
      <p:sp>
        <p:nvSpPr>
          <p:cNvPr id="11" name="sequence-label">
            <a:extLst xmlns:a="http://schemas.openxmlformats.org/drawingml/2006/main">
              <a:ext uri="{FF2B5EF4-FFF2-40B4-BE49-F238E27FC236}">
                <a16:creationId xmlns:a16="http://schemas.microsoft.com/office/drawing/2014/main" id="{ADA75B28-E136-4CBD-B3CD-C48704905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67025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Storage sequence</a:t>
            </a:r>
          </a:p>
        </p:txBody>
      </p:sp>
      <p:sp>
        <p:nvSpPr>
          <p:cNvPr id="12" name="array-cell">
            <a:extLst xmlns:a="http://schemas.openxmlformats.org/drawingml/2006/main">
              <a:ext uri="{FF2B5EF4-FFF2-40B4-BE49-F238E27FC236}">
                <a16:creationId xmlns:a16="http://schemas.microsoft.com/office/drawing/2014/main" id="{9C2A4CCC-1296-418A-9C07-74AB46D32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24250"/>
            <a:ext cx="742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13" name="array-value">
            <a:extLst xmlns:a="http://schemas.openxmlformats.org/drawingml/2006/main">
              <a:ext uri="{FF2B5EF4-FFF2-40B4-BE49-F238E27FC236}">
                <a16:creationId xmlns:a16="http://schemas.microsoft.com/office/drawing/2014/main" id="{BB32DE41-1156-415C-AE50-0DC8BF14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543300"/>
            <a:ext cx="704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a00</a:t>
            </a:r>
          </a:p>
        </p:txBody>
      </p:sp>
      <p:sp>
        <p:nvSpPr>
          <p:cNvPr id="14" name="array-cell">
            <a:extLst xmlns:a="http://schemas.openxmlformats.org/drawingml/2006/main">
              <a:ext uri="{FF2B5EF4-FFF2-40B4-BE49-F238E27FC236}">
                <a16:creationId xmlns:a16="http://schemas.microsoft.com/office/drawing/2014/main" id="{B989D44F-A12D-4198-BB96-119F25EA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24250"/>
            <a:ext cx="742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15" name="array-value">
            <a:extLst xmlns:a="http://schemas.openxmlformats.org/drawingml/2006/main">
              <a:ext uri="{FF2B5EF4-FFF2-40B4-BE49-F238E27FC236}">
                <a16:creationId xmlns:a16="http://schemas.microsoft.com/office/drawing/2014/main" id="{96007E1B-16B0-4A81-8935-B248AAC1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543300"/>
            <a:ext cx="704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a01</a:t>
            </a:r>
          </a:p>
        </p:txBody>
      </p:sp>
      <p:sp>
        <p:nvSpPr>
          <p:cNvPr id="16" name="array-cell">
            <a:extLst xmlns:a="http://schemas.openxmlformats.org/drawingml/2006/main">
              <a:ext uri="{FF2B5EF4-FFF2-40B4-BE49-F238E27FC236}">
                <a16:creationId xmlns:a16="http://schemas.microsoft.com/office/drawing/2014/main" id="{8EE97AEB-B3C2-4CA1-899F-61C65265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24250"/>
            <a:ext cx="742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17" name="array-value">
            <a:extLst xmlns:a="http://schemas.openxmlformats.org/drawingml/2006/main">
              <a:ext uri="{FF2B5EF4-FFF2-40B4-BE49-F238E27FC236}">
                <a16:creationId xmlns:a16="http://schemas.microsoft.com/office/drawing/2014/main" id="{244F6C5E-91A6-4214-A569-B1FADBE7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543300"/>
            <a:ext cx="704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a02</a:t>
            </a:r>
          </a:p>
        </p:txBody>
      </p:sp>
      <p:sp>
        <p:nvSpPr>
          <p:cNvPr id="18" name="array-cell">
            <a:extLst xmlns:a="http://schemas.openxmlformats.org/drawingml/2006/main">
              <a:ext uri="{FF2B5EF4-FFF2-40B4-BE49-F238E27FC236}">
                <a16:creationId xmlns:a16="http://schemas.microsoft.com/office/drawing/2014/main" id="{C909A048-580D-4046-8C3B-2A8B0533A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24250"/>
            <a:ext cx="742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19" name="array-value">
            <a:extLst xmlns:a="http://schemas.openxmlformats.org/drawingml/2006/main">
              <a:ext uri="{FF2B5EF4-FFF2-40B4-BE49-F238E27FC236}">
                <a16:creationId xmlns:a16="http://schemas.microsoft.com/office/drawing/2014/main" id="{4A024451-1896-47E0-BBB5-9E83CCEC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543300"/>
            <a:ext cx="704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a10</a:t>
            </a:r>
          </a:p>
        </p:txBody>
      </p:sp>
      <p:sp>
        <p:nvSpPr>
          <p:cNvPr id="20" name="array-cell">
            <a:extLst xmlns:a="http://schemas.openxmlformats.org/drawingml/2006/main">
              <a:ext uri="{FF2B5EF4-FFF2-40B4-BE49-F238E27FC236}">
                <a16:creationId xmlns:a16="http://schemas.microsoft.com/office/drawing/2014/main" id="{E1C4D5C2-E1FE-4047-B88C-E996CBD7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24250"/>
            <a:ext cx="742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21" name="array-value">
            <a:extLst xmlns:a="http://schemas.openxmlformats.org/drawingml/2006/main">
              <a:ext uri="{FF2B5EF4-FFF2-40B4-BE49-F238E27FC236}">
                <a16:creationId xmlns:a16="http://schemas.microsoft.com/office/drawing/2014/main" id="{F207BC9A-2957-42D6-9156-9742F11FB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543300"/>
            <a:ext cx="704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a11</a:t>
            </a:r>
          </a:p>
        </p:txBody>
      </p:sp>
      <p:sp>
        <p:nvSpPr>
          <p:cNvPr id="22" name="array-cell">
            <a:extLst xmlns:a="http://schemas.openxmlformats.org/drawingml/2006/main">
              <a:ext uri="{FF2B5EF4-FFF2-40B4-BE49-F238E27FC236}">
                <a16:creationId xmlns:a16="http://schemas.microsoft.com/office/drawing/2014/main" id="{915664EA-8B0C-47CC-8A20-A3F12F617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3524250"/>
            <a:ext cx="742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23" name="array-value">
            <a:extLst xmlns:a="http://schemas.openxmlformats.org/drawingml/2006/main">
              <a:ext uri="{FF2B5EF4-FFF2-40B4-BE49-F238E27FC236}">
                <a16:creationId xmlns:a16="http://schemas.microsoft.com/office/drawing/2014/main" id="{AC042531-49E7-4E74-BA62-0C60A1F3E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3543300"/>
            <a:ext cx="704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a12</a:t>
            </a:r>
          </a:p>
        </p:txBody>
      </p:sp>
      <p:sp>
        <p:nvSpPr>
          <p:cNvPr id="24" name="skip-rows">
            <a:extLst xmlns:a="http://schemas.openxmlformats.org/drawingml/2006/main">
              <a:ext uri="{FF2B5EF4-FFF2-40B4-BE49-F238E27FC236}">
                <a16:creationId xmlns:a16="http://schemas.microsoft.com/office/drawing/2014/main" id="{2D847D3C-1E1F-4E9C-9949-1183165A4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720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skip i rows</a:t>
            </a:r>
          </a:p>
        </p:txBody>
      </p:sp>
      <p:sp>
        <p:nvSpPr>
          <p:cNvPr id="25" name="move-columns">
            <a:extLst xmlns:a="http://schemas.openxmlformats.org/drawingml/2006/main">
              <a:ext uri="{FF2B5EF4-FFF2-40B4-BE49-F238E27FC236}">
                <a16:creationId xmlns:a16="http://schemas.microsoft.com/office/drawing/2014/main" id="{5B236145-4A5C-46BF-9550-E739C1E2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5720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then move j columns</a:t>
            </a:r>
          </a:p>
        </p:txBody>
      </p:sp>
      <p:sp>
        <p:nvSpPr>
          <p:cNvPr id="26" name="offset-equation">
            <a:extLst xmlns:a="http://schemas.openxmlformats.org/drawingml/2006/main">
              <a:ext uri="{FF2B5EF4-FFF2-40B4-BE49-F238E27FC236}">
                <a16:creationId xmlns:a16="http://schemas.microsoft.com/office/drawing/2014/main" id="{E02F6CD9-2077-48BA-90AB-825C63126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572000"/>
            <a:ext cx="3524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offset = i × N + j</a:t>
            </a:r>
          </a:p>
        </p:txBody>
      </p:sp>
      <p:sp>
        <p:nvSpPr>
          <p:cNvPr id="27" name="classroom-prompt">
            <a:extLst xmlns:a="http://schemas.openxmlformats.org/drawingml/2006/main">
              <a:ext uri="{FF2B5EF4-FFF2-40B4-BE49-F238E27FC236}">
                <a16:creationId xmlns:a16="http://schemas.microsoft.com/office/drawing/2014/main" id="{DAEB48A3-B70B-41C9-AF60-ECCAF2AB4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9775"/>
            <a:ext cx="108204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0">
            <a:solidFill>
              <a:srgbClr val="EAF6F4"/>
            </a:solidFill>
            <a:prstDash val="solid"/>
          </a:ln>
        </p:spPr>
      </p:sp>
      <p:sp>
        <p:nvSpPr>
          <p:cNvPr id="28" name="prompt-label">
            <a:extLst xmlns:a="http://schemas.openxmlformats.org/drawingml/2006/main">
              <a:ext uri="{FF2B5EF4-FFF2-40B4-BE49-F238E27FC236}">
                <a16:creationId xmlns:a16="http://schemas.microsoft.com/office/drawing/2014/main" id="{1EC298A5-514C-407C-8D20-5307DCFCA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05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ASK</a:t>
            </a:r>
          </a:p>
        </p:txBody>
      </p:sp>
      <p:sp>
        <p:nvSpPr>
          <p:cNvPr id="29" name="prompt-text">
            <a:extLst xmlns:a="http://schemas.openxmlformats.org/drawingml/2006/main">
              <a:ext uri="{FF2B5EF4-FFF2-40B4-BE49-F238E27FC236}">
                <a16:creationId xmlns:a16="http://schemas.microsoft.com/office/drawing/2014/main" id="{F1503BE6-44A5-44A2-BB33-5FEE11A5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76925"/>
            <a:ext cx="988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For A[4][5], how many elements are skipped before reaching A[2][3]?</a:t>
            </a:r>
          </a:p>
        </p:txBody>
      </p:sp>
    </p:spTree>
    <p:extLst>
      <p:ext uri="{BB962C8B-B14F-4D97-AF65-F5344CB8AC3E}">
        <p14:creationId xmlns:p14="http://schemas.microsoft.com/office/powerpoint/2010/main" val="197754926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lesson-label">
            <a:extLst xmlns:a="http://schemas.openxmlformats.org/drawingml/2006/main">
              <a:ext uri="{FF2B5EF4-FFF2-40B4-BE49-F238E27FC236}">
                <a16:creationId xmlns:a16="http://schemas.microsoft.com/office/drawing/2014/main" id="{80C6E360-64F4-4BE7-8925-DC840E4D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6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A50F256-194C-4A33-8919-EB4341EA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Use the row-major formula to compute any address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2DF7C211-320B-44BC-A6A2-8183160A8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4" name="divider">
            <a:extLst xmlns:a="http://schemas.openxmlformats.org/drawingml/2006/main">
              <a:ext uri="{FF2B5EF4-FFF2-40B4-BE49-F238E27FC236}">
                <a16:creationId xmlns:a16="http://schemas.microsoft.com/office/drawing/2014/main" id="{774C1847-8B85-420E-AE56-BEE388B6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5" name="footer-course">
            <a:extLst xmlns:a="http://schemas.openxmlformats.org/drawingml/2006/main">
              <a:ext uri="{FF2B5EF4-FFF2-40B4-BE49-F238E27FC236}">
                <a16:creationId xmlns:a16="http://schemas.microsoft.com/office/drawing/2014/main" id="{307FE5B7-51D3-46FA-B021-65DE17D65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19569F8C-2EE6-4014-8947-84FD60712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055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7" name="given">
            <a:extLst xmlns:a="http://schemas.openxmlformats.org/drawingml/2006/main">
              <a:ext uri="{FF2B5EF4-FFF2-40B4-BE49-F238E27FC236}">
                <a16:creationId xmlns:a16="http://schemas.microsoft.com/office/drawing/2014/main" id="{0F54F425-B35F-469D-B5B9-9F1618A0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Given: int A[3][4], Base = 1000, w = 4 bytes</a:t>
            </a:r>
          </a:p>
        </p:txBody>
      </p:sp>
      <p:sp>
        <p:nvSpPr>
          <p:cNvPr id="8" name="matrix-cell">
            <a:extLst xmlns:a="http://schemas.openxmlformats.org/drawingml/2006/main">
              <a:ext uri="{FF2B5EF4-FFF2-40B4-BE49-F238E27FC236}">
                <a16:creationId xmlns:a16="http://schemas.microsoft.com/office/drawing/2014/main" id="{8266B99E-8987-4BE4-8286-D4A6E3259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95550"/>
            <a:ext cx="857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9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8C6A46E1-5B0E-45AB-95C2-881888B4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85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A00</a:t>
            </a:r>
          </a:p>
        </p:txBody>
      </p:sp>
      <p:sp>
        <p:nvSpPr>
          <p:cNvPr id="10" name="matrix-cell">
            <a:extLst xmlns:a="http://schemas.openxmlformats.org/drawingml/2006/main">
              <a:ext uri="{FF2B5EF4-FFF2-40B4-BE49-F238E27FC236}">
                <a16:creationId xmlns:a16="http://schemas.microsoft.com/office/drawing/2014/main" id="{AC2C4D0D-C893-4D56-8642-389C3CCCA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495550"/>
            <a:ext cx="857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11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81467120-4BA6-4D7A-94D0-95D5747C3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05075"/>
            <a:ext cx="85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A01</a:t>
            </a:r>
          </a:p>
        </p:txBody>
      </p:sp>
      <p:sp>
        <p:nvSpPr>
          <p:cNvPr id="12" name="matrix-cell">
            <a:extLst xmlns:a="http://schemas.openxmlformats.org/drawingml/2006/main">
              <a:ext uri="{FF2B5EF4-FFF2-40B4-BE49-F238E27FC236}">
                <a16:creationId xmlns:a16="http://schemas.microsoft.com/office/drawing/2014/main" id="{C5336DF5-48B5-48DF-AB30-AFF77B1AA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95550"/>
            <a:ext cx="857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13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B9627A13-C45A-4240-8CB4-64F9686F6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505075"/>
            <a:ext cx="85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A02</a:t>
            </a:r>
          </a:p>
        </p:txBody>
      </p:sp>
      <p:sp>
        <p:nvSpPr>
          <p:cNvPr id="14" name="matrix-cell">
            <a:extLst xmlns:a="http://schemas.openxmlformats.org/drawingml/2006/main">
              <a:ext uri="{FF2B5EF4-FFF2-40B4-BE49-F238E27FC236}">
                <a16:creationId xmlns:a16="http://schemas.microsoft.com/office/drawing/2014/main" id="{3A772DAF-A699-44E3-BC45-346DCD55C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495550"/>
            <a:ext cx="857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15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BC4DE029-05E4-45FE-ACBE-60404B177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505075"/>
            <a:ext cx="85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A03</a:t>
            </a:r>
          </a:p>
        </p:txBody>
      </p:sp>
      <p:sp>
        <p:nvSpPr>
          <p:cNvPr id="16" name="matrix-cell">
            <a:extLst xmlns:a="http://schemas.openxmlformats.org/drawingml/2006/main">
              <a:ext uri="{FF2B5EF4-FFF2-40B4-BE49-F238E27FC236}">
                <a16:creationId xmlns:a16="http://schemas.microsoft.com/office/drawing/2014/main" id="{DCEB0322-9CD5-41C5-803C-31C956A1E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67050"/>
            <a:ext cx="857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17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824E2033-7DBE-477E-B309-E97A55110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76575"/>
            <a:ext cx="85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A10</a:t>
            </a:r>
          </a:p>
        </p:txBody>
      </p:sp>
      <p:sp>
        <p:nvSpPr>
          <p:cNvPr id="18" name="matrix-cell">
            <a:extLst xmlns:a="http://schemas.openxmlformats.org/drawingml/2006/main">
              <a:ext uri="{FF2B5EF4-FFF2-40B4-BE49-F238E27FC236}">
                <a16:creationId xmlns:a16="http://schemas.microsoft.com/office/drawing/2014/main" id="{7A69FBDE-DB18-42E8-B0E8-1F82A4338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067050"/>
            <a:ext cx="857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19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0472571D-3ACD-428E-8445-10EFBD25A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076575"/>
            <a:ext cx="85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A11</a:t>
            </a:r>
          </a:p>
        </p:txBody>
      </p:sp>
      <p:sp>
        <p:nvSpPr>
          <p:cNvPr id="20" name="matrix-cell">
            <a:extLst xmlns:a="http://schemas.openxmlformats.org/drawingml/2006/main">
              <a:ext uri="{FF2B5EF4-FFF2-40B4-BE49-F238E27FC236}">
                <a16:creationId xmlns:a16="http://schemas.microsoft.com/office/drawing/2014/main" id="{35D94B18-43FB-4508-87F8-E5295300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067050"/>
            <a:ext cx="857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21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B6AC11D8-1944-46A4-866D-5CB7B66F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076575"/>
            <a:ext cx="85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A12</a:t>
            </a:r>
          </a:p>
        </p:txBody>
      </p:sp>
      <p:sp>
        <p:nvSpPr>
          <p:cNvPr id="22" name="matrix-cell">
            <a:extLst xmlns:a="http://schemas.openxmlformats.org/drawingml/2006/main">
              <a:ext uri="{FF2B5EF4-FFF2-40B4-BE49-F238E27FC236}">
                <a16:creationId xmlns:a16="http://schemas.microsoft.com/office/drawing/2014/main" id="{7ACABCB8-CD0E-4206-9266-08D87956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67050"/>
            <a:ext cx="857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23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D4224970-DC06-4C19-94EF-FB01FE9EB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76575"/>
            <a:ext cx="85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A13</a:t>
            </a:r>
          </a:p>
        </p:txBody>
      </p:sp>
      <p:sp>
        <p:nvSpPr>
          <p:cNvPr id="24" name="matrix-cell">
            <a:extLst xmlns:a="http://schemas.openxmlformats.org/drawingml/2006/main">
              <a:ext uri="{FF2B5EF4-FFF2-40B4-BE49-F238E27FC236}">
                <a16:creationId xmlns:a16="http://schemas.microsoft.com/office/drawing/2014/main" id="{1B1D80C2-0B5D-423A-9FBB-AEA3BFCDA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857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25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E01D8BBF-2BF7-481F-B379-7A957D24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48075"/>
            <a:ext cx="85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A20</a:t>
            </a:r>
          </a:p>
        </p:txBody>
      </p:sp>
      <p:sp>
        <p:nvSpPr>
          <p:cNvPr id="26" name="matrix-cell">
            <a:extLst xmlns:a="http://schemas.openxmlformats.org/drawingml/2006/main">
              <a:ext uri="{FF2B5EF4-FFF2-40B4-BE49-F238E27FC236}">
                <a16:creationId xmlns:a16="http://schemas.microsoft.com/office/drawing/2014/main" id="{0FDB85DD-1705-4C5F-8E5F-68A47610F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638550"/>
            <a:ext cx="857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7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27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030802E0-493A-4186-A74E-BEAA7B87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648075"/>
            <a:ext cx="85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D97706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D97706"/>
                </a:solidFill>
                <a:latin typeface="Consolas"/>
                <a:ea typeface="Consolas"/>
                <a:cs typeface="Consolas"/>
              </a:rPr>
              <a:t>A21</a:t>
            </a:r>
          </a:p>
        </p:txBody>
      </p:sp>
      <p:sp>
        <p:nvSpPr>
          <p:cNvPr id="28" name="matrix-cell">
            <a:extLst xmlns:a="http://schemas.openxmlformats.org/drawingml/2006/main">
              <a:ext uri="{FF2B5EF4-FFF2-40B4-BE49-F238E27FC236}">
                <a16:creationId xmlns:a16="http://schemas.microsoft.com/office/drawing/2014/main" id="{437CA9FF-8275-46A1-A34E-4CF78F2C2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638550"/>
            <a:ext cx="857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29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F10DCEDA-9477-4178-BBB6-A32D4DD3B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648075"/>
            <a:ext cx="85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A22</a:t>
            </a:r>
          </a:p>
        </p:txBody>
      </p:sp>
      <p:sp>
        <p:nvSpPr>
          <p:cNvPr id="30" name="matrix-cell">
            <a:extLst xmlns:a="http://schemas.openxmlformats.org/drawingml/2006/main">
              <a:ext uri="{FF2B5EF4-FFF2-40B4-BE49-F238E27FC236}">
                <a16:creationId xmlns:a16="http://schemas.microsoft.com/office/drawing/2014/main" id="{D9D353FA-82EA-4647-974A-006BC3B5F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638550"/>
            <a:ext cx="857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31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B3BDCAF2-842E-4C31-84FD-6E07B0C9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648075"/>
            <a:ext cx="85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A23</a:t>
            </a:r>
          </a:p>
        </p:txBody>
      </p:sp>
      <p:sp>
        <p:nvSpPr>
          <p:cNvPr id="32" name="target">
            <a:extLst xmlns:a="http://schemas.openxmlformats.org/drawingml/2006/main">
              <a:ext uri="{FF2B5EF4-FFF2-40B4-BE49-F238E27FC236}">
                <a16:creationId xmlns:a16="http://schemas.microsoft.com/office/drawing/2014/main" id="{DE3EA702-7BD2-4D53-85FB-C04F4600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767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D97706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D97706"/>
                </a:solidFill>
                <a:latin typeface="Consolas"/>
                <a:ea typeface="Consolas"/>
                <a:cs typeface="Consolas"/>
              </a:rPr>
              <a:t>Target: A[2][1]</a:t>
            </a:r>
          </a:p>
        </p:txBody>
      </p:sp>
      <p:sp>
        <p:nvSpPr>
          <p:cNvPr id="33" name="step-number">
            <a:extLst xmlns:a="http://schemas.openxmlformats.org/drawingml/2006/main">
              <a:ext uri="{FF2B5EF4-FFF2-40B4-BE49-F238E27FC236}">
                <a16:creationId xmlns:a16="http://schemas.microsoft.com/office/drawing/2014/main" id="{4CFDD5C6-DE0B-4E1A-8566-49B9A5E9A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19075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0">
            <a:solidFill>
              <a:srgbClr val="EAF6F4"/>
            </a:solidFill>
            <a:prstDash val="solid"/>
          </a:ln>
        </p:spPr>
      </p:sp>
      <p:sp>
        <p:nvSpPr>
          <p:cNvPr id="34" name="step-number-text">
            <a:extLst xmlns:a="http://schemas.openxmlformats.org/drawingml/2006/main">
              <a:ext uri="{FF2B5EF4-FFF2-40B4-BE49-F238E27FC236}">
                <a16:creationId xmlns:a16="http://schemas.microsoft.com/office/drawing/2014/main" id="{886B170E-D1F4-4657-AFF7-7B76BD009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09800"/>
            <a:ext cx="495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5" name="step-text">
            <a:extLst xmlns:a="http://schemas.openxmlformats.org/drawingml/2006/main">
              <a:ext uri="{FF2B5EF4-FFF2-40B4-BE49-F238E27FC236}">
                <a16:creationId xmlns:a16="http://schemas.microsoft.com/office/drawing/2014/main" id="{2F6EB8A8-E999-430B-AD94-8ADB5129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907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N = 4 columns</a:t>
            </a:r>
          </a:p>
        </p:txBody>
      </p:sp>
      <p:sp>
        <p:nvSpPr>
          <p:cNvPr id="36" name="step-number">
            <a:extLst xmlns:a="http://schemas.openxmlformats.org/drawingml/2006/main">
              <a:ext uri="{FF2B5EF4-FFF2-40B4-BE49-F238E27FC236}">
                <a16:creationId xmlns:a16="http://schemas.microsoft.com/office/drawing/2014/main" id="{E53FE12F-66E1-41C1-BFC9-79020BE83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91465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0">
            <a:solidFill>
              <a:srgbClr val="EAF6F4"/>
            </a:solidFill>
            <a:prstDash val="solid"/>
          </a:ln>
        </p:spPr>
      </p:sp>
      <p:sp>
        <p:nvSpPr>
          <p:cNvPr id="37" name="step-number-text">
            <a:extLst xmlns:a="http://schemas.openxmlformats.org/drawingml/2006/main">
              <a:ext uri="{FF2B5EF4-FFF2-40B4-BE49-F238E27FC236}">
                <a16:creationId xmlns:a16="http://schemas.microsoft.com/office/drawing/2014/main" id="{C3DC1CDB-114C-4C6D-BA4E-D2098AFD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933700"/>
            <a:ext cx="495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8" name="step-text">
            <a:extLst xmlns:a="http://schemas.openxmlformats.org/drawingml/2006/main">
              <a:ext uri="{FF2B5EF4-FFF2-40B4-BE49-F238E27FC236}">
                <a16:creationId xmlns:a16="http://schemas.microsoft.com/office/drawing/2014/main" id="{687EBDE0-A0D0-410E-BF0C-5529C575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9146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13F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18313F"/>
                </a:solidFill>
                <a:latin typeface="Consolas"/>
                <a:ea typeface="Consolas"/>
                <a:cs typeface="Consolas"/>
              </a:rPr>
              <a:t>offset = 2 × 4 + 1 = 9</a:t>
            </a:r>
          </a:p>
        </p:txBody>
      </p:sp>
      <p:sp>
        <p:nvSpPr>
          <p:cNvPr id="39" name="step-number">
            <a:extLst xmlns:a="http://schemas.openxmlformats.org/drawingml/2006/main">
              <a:ext uri="{FF2B5EF4-FFF2-40B4-BE49-F238E27FC236}">
                <a16:creationId xmlns:a16="http://schemas.microsoft.com/office/drawing/2014/main" id="{2BA42595-7A6A-4B0E-B5FD-AF270C185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3855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0">
            <a:solidFill>
              <a:srgbClr val="EAF6F4"/>
            </a:solidFill>
            <a:prstDash val="solid"/>
          </a:ln>
        </p:spPr>
      </p:sp>
      <p:sp>
        <p:nvSpPr>
          <p:cNvPr id="40" name="step-number-text">
            <a:extLst xmlns:a="http://schemas.openxmlformats.org/drawingml/2006/main">
              <a:ext uri="{FF2B5EF4-FFF2-40B4-BE49-F238E27FC236}">
                <a16:creationId xmlns:a16="http://schemas.microsoft.com/office/drawing/2014/main" id="{0E7E7F50-24BD-4D9D-8089-A980F52F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57600"/>
            <a:ext cx="495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41" name="step-text">
            <a:extLst xmlns:a="http://schemas.openxmlformats.org/drawingml/2006/main">
              <a:ext uri="{FF2B5EF4-FFF2-40B4-BE49-F238E27FC236}">
                <a16:creationId xmlns:a16="http://schemas.microsoft.com/office/drawing/2014/main" id="{CCF26B0A-7C6E-445B-8D38-5B1A3FAC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38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13F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18313F"/>
                </a:solidFill>
                <a:latin typeface="Consolas"/>
                <a:ea typeface="Consolas"/>
                <a:cs typeface="Consolas"/>
              </a:rPr>
              <a:t>byte displacement = 9 × 4 = 36</a:t>
            </a:r>
          </a:p>
        </p:txBody>
      </p:sp>
      <p:sp>
        <p:nvSpPr>
          <p:cNvPr id="42" name="step-number">
            <a:extLst xmlns:a="http://schemas.openxmlformats.org/drawingml/2006/main">
              <a:ext uri="{FF2B5EF4-FFF2-40B4-BE49-F238E27FC236}">
                <a16:creationId xmlns:a16="http://schemas.microsoft.com/office/drawing/2014/main" id="{583F052C-1790-4507-B077-6940611CE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362450"/>
            <a:ext cx="4953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3" name="step-number-text">
            <a:extLst xmlns:a="http://schemas.openxmlformats.org/drawingml/2006/main">
              <a:ext uri="{FF2B5EF4-FFF2-40B4-BE49-F238E27FC236}">
                <a16:creationId xmlns:a16="http://schemas.microsoft.com/office/drawing/2014/main" id="{DD6BE1DB-2120-46B9-A634-71551F925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381500"/>
            <a:ext cx="495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4" name="step-text">
            <a:extLst xmlns:a="http://schemas.openxmlformats.org/drawingml/2006/main">
              <a:ext uri="{FF2B5EF4-FFF2-40B4-BE49-F238E27FC236}">
                <a16:creationId xmlns:a16="http://schemas.microsoft.com/office/drawing/2014/main" id="{8EBE1582-66E8-4A30-A90C-51F92426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3624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24A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12324A"/>
                </a:solidFill>
                <a:latin typeface="Consolas"/>
                <a:ea typeface="Consolas"/>
                <a:cs typeface="Consolas"/>
              </a:rPr>
              <a:t>LOC(A[2][1]) = 1000 + 36 = 1036</a:t>
            </a:r>
          </a:p>
        </p:txBody>
      </p:sp>
      <p:sp>
        <p:nvSpPr>
          <p:cNvPr id="45" name="classroom-prompt">
            <a:extLst xmlns:a="http://schemas.openxmlformats.org/drawingml/2006/main">
              <a:ext uri="{FF2B5EF4-FFF2-40B4-BE49-F238E27FC236}">
                <a16:creationId xmlns:a16="http://schemas.microsoft.com/office/drawing/2014/main" id="{0F6F3EBE-CEF8-40C2-96BD-B9E5FD6B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9775"/>
            <a:ext cx="108204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0">
            <a:solidFill>
              <a:srgbClr val="EAF6F4"/>
            </a:solidFill>
            <a:prstDash val="solid"/>
          </a:ln>
        </p:spPr>
      </p:sp>
      <p:sp>
        <p:nvSpPr>
          <p:cNvPr id="46" name="prompt-label">
            <a:extLst xmlns:a="http://schemas.openxmlformats.org/drawingml/2006/main">
              <a:ext uri="{FF2B5EF4-FFF2-40B4-BE49-F238E27FC236}">
                <a16:creationId xmlns:a16="http://schemas.microsoft.com/office/drawing/2014/main" id="{7EE3877C-5CA6-40B1-B33C-AF0D6A7D9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05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ASK</a:t>
            </a:r>
          </a:p>
        </p:txBody>
      </p:sp>
      <p:sp>
        <p:nvSpPr>
          <p:cNvPr id="47" name="prompt-text">
            <a:extLst xmlns:a="http://schemas.openxmlformats.org/drawingml/2006/main">
              <a:ext uri="{FF2B5EF4-FFF2-40B4-BE49-F238E27FC236}">
                <a16:creationId xmlns:a16="http://schemas.microsoft.com/office/drawing/2014/main" id="{C6E7B514-9600-4321-9E9D-33FD1258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76925"/>
            <a:ext cx="988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Change the target to A[1][3]. Which step changes first?</a:t>
            </a:r>
          </a:p>
        </p:txBody>
      </p:sp>
    </p:spTree>
    <p:extLst>
      <p:ext uri="{BB962C8B-B14F-4D97-AF65-F5344CB8AC3E}">
        <p14:creationId xmlns:p14="http://schemas.microsoft.com/office/powerpoint/2010/main" val="5934399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lesson-label">
            <a:extLst xmlns:a="http://schemas.openxmlformats.org/drawingml/2006/main">
              <a:ext uri="{FF2B5EF4-FFF2-40B4-BE49-F238E27FC236}">
                <a16:creationId xmlns:a16="http://schemas.microsoft.com/office/drawing/2014/main" id="{7CF19AB5-501E-44BD-A837-6F714BAE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6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AAEE59-8AAF-40A7-8BFE-0EE07ACB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Column-major order changes only the stride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5566E6CF-D472-46F5-B4BB-0016FC5A1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4" name="divider">
            <a:extLst xmlns:a="http://schemas.openxmlformats.org/drawingml/2006/main">
              <a:ext uri="{FF2B5EF4-FFF2-40B4-BE49-F238E27FC236}">
                <a16:creationId xmlns:a16="http://schemas.microsoft.com/office/drawing/2014/main" id="{DCF98773-F0D0-4924-8A60-624F817E3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5" name="footer-course">
            <a:extLst xmlns:a="http://schemas.openxmlformats.org/drawingml/2006/main">
              <a:ext uri="{FF2B5EF4-FFF2-40B4-BE49-F238E27FC236}">
                <a16:creationId xmlns:a16="http://schemas.microsoft.com/office/drawing/2014/main" id="{36A9F9C6-31D0-46C6-9C12-EFF46775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7EAAC212-F79F-413D-99DB-2D266962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055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7" name="column-major-formula-band">
            <a:extLst xmlns:a="http://schemas.openxmlformats.org/drawingml/2006/main">
              <a:ext uri="{FF2B5EF4-FFF2-40B4-BE49-F238E27FC236}">
                <a16:creationId xmlns:a16="http://schemas.microsoft.com/office/drawing/2014/main" id="{36B178E2-9CAA-4B50-8906-46DE2D47C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14500"/>
            <a:ext cx="10210800" cy="81915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FFF6E7"/>
          </a:solidFill>
          <a:ln xmlns:a="http://schemas.openxmlformats.org/drawingml/2006/main" w="0">
            <a:solidFill>
              <a:srgbClr val="FFF6E7"/>
            </a:solidFill>
            <a:prstDash val="solid"/>
          </a:ln>
        </p:spPr>
      </p:sp>
      <p:sp>
        <p:nvSpPr>
          <p:cNvPr id="8" name="column-major-formula">
            <a:extLst xmlns:a="http://schemas.openxmlformats.org/drawingml/2006/main">
              <a:ext uri="{FF2B5EF4-FFF2-40B4-BE49-F238E27FC236}">
                <a16:creationId xmlns:a16="http://schemas.microsoft.com/office/drawing/2014/main" id="{717CF3E9-B8BD-44AA-81D4-105E313DD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38325"/>
            <a:ext cx="9829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2324A"/>
                </a:solidFill>
                <a:latin typeface="Consolas"/>
                <a:ea typeface="Consolas"/>
                <a:cs typeface="Consolas"/>
              </a:defRPr>
            </a:pPr>
            <a:r>
              <a:rPr sz="2550" b="1">
                <a:solidFill>
                  <a:srgbClr val="12324A"/>
                </a:solidFill>
                <a:latin typeface="Consolas"/>
                <a:ea typeface="Consolas"/>
                <a:cs typeface="Consolas"/>
              </a:rPr>
              <a:t>LOC(A[i][j]) = Base + w × [(j − Lc) × M + (i − Lr)]</a:t>
            </a:r>
          </a:p>
        </p:txBody>
      </p:sp>
      <p:sp>
        <p:nvSpPr>
          <p:cNvPr id="9" name="m-definition">
            <a:extLst xmlns:a="http://schemas.openxmlformats.org/drawingml/2006/main">
              <a:ext uri="{FF2B5EF4-FFF2-40B4-BE49-F238E27FC236}">
                <a16:creationId xmlns:a16="http://schemas.microsoft.com/office/drawing/2014/main" id="{92C02054-D973-4725-AB36-B93EA5C67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575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M = number of rows</a:t>
            </a:r>
          </a:p>
        </p:txBody>
      </p:sp>
      <p:sp>
        <p:nvSpPr>
          <p:cNvPr id="10" name="row-major-label">
            <a:extLst xmlns:a="http://schemas.openxmlformats.org/drawingml/2006/main">
              <a:ext uri="{FF2B5EF4-FFF2-40B4-BE49-F238E27FC236}">
                <a16:creationId xmlns:a16="http://schemas.microsoft.com/office/drawing/2014/main" id="{1FC11220-B363-46DE-823D-0F1942F3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76625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Row-major sequence</a:t>
            </a:r>
          </a:p>
        </p:txBody>
      </p:sp>
      <p:sp>
        <p:nvSpPr>
          <p:cNvPr id="11" name="array-cell">
            <a:extLst xmlns:a="http://schemas.openxmlformats.org/drawingml/2006/main">
              <a:ext uri="{FF2B5EF4-FFF2-40B4-BE49-F238E27FC236}">
                <a16:creationId xmlns:a16="http://schemas.microsoft.com/office/drawing/2014/main" id="{08EC49BA-5E20-40AE-84B4-54157052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48125"/>
            <a:ext cx="704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12" name="array-value">
            <a:extLst xmlns:a="http://schemas.openxmlformats.org/drawingml/2006/main">
              <a:ext uri="{FF2B5EF4-FFF2-40B4-BE49-F238E27FC236}">
                <a16:creationId xmlns:a16="http://schemas.microsoft.com/office/drawing/2014/main" id="{D48F1C47-A872-49D9-B9C6-9F5FB2A0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67175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a00</a:t>
            </a:r>
          </a:p>
        </p:txBody>
      </p:sp>
      <p:sp>
        <p:nvSpPr>
          <p:cNvPr id="13" name="array-cell">
            <a:extLst xmlns:a="http://schemas.openxmlformats.org/drawingml/2006/main">
              <a:ext uri="{FF2B5EF4-FFF2-40B4-BE49-F238E27FC236}">
                <a16:creationId xmlns:a16="http://schemas.microsoft.com/office/drawing/2014/main" id="{8E878E0D-C370-45DA-86FF-EAC94EBF0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048125"/>
            <a:ext cx="704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14" name="array-value">
            <a:extLst xmlns:a="http://schemas.openxmlformats.org/drawingml/2006/main">
              <a:ext uri="{FF2B5EF4-FFF2-40B4-BE49-F238E27FC236}">
                <a16:creationId xmlns:a16="http://schemas.microsoft.com/office/drawing/2014/main" id="{18185F65-FBB8-4F1E-A2F0-ED96CA79F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067175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a01</a:t>
            </a:r>
          </a:p>
        </p:txBody>
      </p:sp>
      <p:sp>
        <p:nvSpPr>
          <p:cNvPr id="15" name="array-cell">
            <a:extLst xmlns:a="http://schemas.openxmlformats.org/drawingml/2006/main">
              <a:ext uri="{FF2B5EF4-FFF2-40B4-BE49-F238E27FC236}">
                <a16:creationId xmlns:a16="http://schemas.microsoft.com/office/drawing/2014/main" id="{65206041-6DE1-4E9A-8022-9BE7D6DD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48125"/>
            <a:ext cx="704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16" name="array-value">
            <a:extLst xmlns:a="http://schemas.openxmlformats.org/drawingml/2006/main">
              <a:ext uri="{FF2B5EF4-FFF2-40B4-BE49-F238E27FC236}">
                <a16:creationId xmlns:a16="http://schemas.microsoft.com/office/drawing/2014/main" id="{B703CEE0-C3B9-4E3A-B283-B530E9C0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67175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a02</a:t>
            </a:r>
          </a:p>
        </p:txBody>
      </p:sp>
      <p:sp>
        <p:nvSpPr>
          <p:cNvPr id="17" name="array-cell">
            <a:extLst xmlns:a="http://schemas.openxmlformats.org/drawingml/2006/main">
              <a:ext uri="{FF2B5EF4-FFF2-40B4-BE49-F238E27FC236}">
                <a16:creationId xmlns:a16="http://schemas.microsoft.com/office/drawing/2014/main" id="{AF3C0FC1-8545-474E-9B5C-89C142648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48125"/>
            <a:ext cx="704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18" name="array-value">
            <a:extLst xmlns:a="http://schemas.openxmlformats.org/drawingml/2006/main">
              <a:ext uri="{FF2B5EF4-FFF2-40B4-BE49-F238E27FC236}">
                <a16:creationId xmlns:a16="http://schemas.microsoft.com/office/drawing/2014/main" id="{765FB44C-9FD3-4A34-84AB-50D5B959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067175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a10</a:t>
            </a:r>
          </a:p>
        </p:txBody>
      </p:sp>
      <p:sp>
        <p:nvSpPr>
          <p:cNvPr id="19" name="array-cell">
            <a:extLst xmlns:a="http://schemas.openxmlformats.org/drawingml/2006/main">
              <a:ext uri="{FF2B5EF4-FFF2-40B4-BE49-F238E27FC236}">
                <a16:creationId xmlns:a16="http://schemas.microsoft.com/office/drawing/2014/main" id="{5A5455F9-07D7-4782-BC0C-DB408568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048125"/>
            <a:ext cx="704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20" name="array-value">
            <a:extLst xmlns:a="http://schemas.openxmlformats.org/drawingml/2006/main">
              <a:ext uri="{FF2B5EF4-FFF2-40B4-BE49-F238E27FC236}">
                <a16:creationId xmlns:a16="http://schemas.microsoft.com/office/drawing/2014/main" id="{69ECE139-A749-4BA2-8035-16BA2DBCA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067175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a11</a:t>
            </a:r>
          </a:p>
        </p:txBody>
      </p:sp>
      <p:sp>
        <p:nvSpPr>
          <p:cNvPr id="21" name="array-cell">
            <a:extLst xmlns:a="http://schemas.openxmlformats.org/drawingml/2006/main">
              <a:ext uri="{FF2B5EF4-FFF2-40B4-BE49-F238E27FC236}">
                <a16:creationId xmlns:a16="http://schemas.microsoft.com/office/drawing/2014/main" id="{5B4A5E55-9805-4499-B56D-5769B9F8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048125"/>
            <a:ext cx="704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22" name="array-value">
            <a:extLst xmlns:a="http://schemas.openxmlformats.org/drawingml/2006/main">
              <a:ext uri="{FF2B5EF4-FFF2-40B4-BE49-F238E27FC236}">
                <a16:creationId xmlns:a16="http://schemas.microsoft.com/office/drawing/2014/main" id="{942EFC18-B16E-432F-B954-B7BF45260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067175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a12</a:t>
            </a:r>
          </a:p>
        </p:txBody>
      </p:sp>
      <p:sp>
        <p:nvSpPr>
          <p:cNvPr id="23" name="col-major-label">
            <a:extLst xmlns:a="http://schemas.openxmlformats.org/drawingml/2006/main">
              <a:ext uri="{FF2B5EF4-FFF2-40B4-BE49-F238E27FC236}">
                <a16:creationId xmlns:a16="http://schemas.microsoft.com/office/drawing/2014/main" id="{A0385857-896B-4191-ACF2-4E03B7A55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76625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Column-major sequence</a:t>
            </a:r>
          </a:p>
        </p:txBody>
      </p:sp>
      <p:sp>
        <p:nvSpPr>
          <p:cNvPr id="24" name="array-cell">
            <a:extLst xmlns:a="http://schemas.openxmlformats.org/drawingml/2006/main">
              <a:ext uri="{FF2B5EF4-FFF2-40B4-BE49-F238E27FC236}">
                <a16:creationId xmlns:a16="http://schemas.microsoft.com/office/drawing/2014/main" id="{C059F783-EDA5-4AD4-8AB4-8DEF7525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48125"/>
            <a:ext cx="704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25" name="array-value">
            <a:extLst xmlns:a="http://schemas.openxmlformats.org/drawingml/2006/main">
              <a:ext uri="{FF2B5EF4-FFF2-40B4-BE49-F238E27FC236}">
                <a16:creationId xmlns:a16="http://schemas.microsoft.com/office/drawing/2014/main" id="{32311EEB-8B2D-4144-ADA6-307DC426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067175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a00</a:t>
            </a:r>
          </a:p>
        </p:txBody>
      </p:sp>
      <p:sp>
        <p:nvSpPr>
          <p:cNvPr id="26" name="array-cell">
            <a:extLst xmlns:a="http://schemas.openxmlformats.org/drawingml/2006/main">
              <a:ext uri="{FF2B5EF4-FFF2-40B4-BE49-F238E27FC236}">
                <a16:creationId xmlns:a16="http://schemas.microsoft.com/office/drawing/2014/main" id="{1416D203-CB4B-40DC-B5B5-E4D90D37F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048125"/>
            <a:ext cx="704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27" name="array-value">
            <a:extLst xmlns:a="http://schemas.openxmlformats.org/drawingml/2006/main">
              <a:ext uri="{FF2B5EF4-FFF2-40B4-BE49-F238E27FC236}">
                <a16:creationId xmlns:a16="http://schemas.microsoft.com/office/drawing/2014/main" id="{BC0EA5CC-26CD-45CE-86CC-90346EE4B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067175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a10</a:t>
            </a:r>
          </a:p>
        </p:txBody>
      </p:sp>
      <p:sp>
        <p:nvSpPr>
          <p:cNvPr id="28" name="array-cell">
            <a:extLst xmlns:a="http://schemas.openxmlformats.org/drawingml/2006/main">
              <a:ext uri="{FF2B5EF4-FFF2-40B4-BE49-F238E27FC236}">
                <a16:creationId xmlns:a16="http://schemas.microsoft.com/office/drawing/2014/main" id="{DEFF2CFF-6A0C-4FC0-9583-453B59027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48125"/>
            <a:ext cx="704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29" name="array-value">
            <a:extLst xmlns:a="http://schemas.openxmlformats.org/drawingml/2006/main">
              <a:ext uri="{FF2B5EF4-FFF2-40B4-BE49-F238E27FC236}">
                <a16:creationId xmlns:a16="http://schemas.microsoft.com/office/drawing/2014/main" id="{FA5A2784-3F9C-4727-95ED-C7152309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67175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a01</a:t>
            </a:r>
          </a:p>
        </p:txBody>
      </p:sp>
      <p:sp>
        <p:nvSpPr>
          <p:cNvPr id="30" name="array-cell">
            <a:extLst xmlns:a="http://schemas.openxmlformats.org/drawingml/2006/main">
              <a:ext uri="{FF2B5EF4-FFF2-40B4-BE49-F238E27FC236}">
                <a16:creationId xmlns:a16="http://schemas.microsoft.com/office/drawing/2014/main" id="{838FA3E6-D319-455C-BFAD-0A3D7902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48125"/>
            <a:ext cx="704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31" name="array-value">
            <a:extLst xmlns:a="http://schemas.openxmlformats.org/drawingml/2006/main">
              <a:ext uri="{FF2B5EF4-FFF2-40B4-BE49-F238E27FC236}">
                <a16:creationId xmlns:a16="http://schemas.microsoft.com/office/drawing/2014/main" id="{A9F99F75-EF21-4297-B38E-FC3E7C79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67175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a11</a:t>
            </a:r>
          </a:p>
        </p:txBody>
      </p:sp>
      <p:sp>
        <p:nvSpPr>
          <p:cNvPr id="32" name="array-cell">
            <a:extLst xmlns:a="http://schemas.openxmlformats.org/drawingml/2006/main">
              <a:ext uri="{FF2B5EF4-FFF2-40B4-BE49-F238E27FC236}">
                <a16:creationId xmlns:a16="http://schemas.microsoft.com/office/drawing/2014/main" id="{C2C2334F-4780-40DE-B8DE-F9CCB83D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048125"/>
            <a:ext cx="704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33" name="array-value">
            <a:extLst xmlns:a="http://schemas.openxmlformats.org/drawingml/2006/main">
              <a:ext uri="{FF2B5EF4-FFF2-40B4-BE49-F238E27FC236}">
                <a16:creationId xmlns:a16="http://schemas.microsoft.com/office/drawing/2014/main" id="{907C6719-262C-4B17-862F-128C26BF6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067175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a02</a:t>
            </a:r>
          </a:p>
        </p:txBody>
      </p:sp>
      <p:sp>
        <p:nvSpPr>
          <p:cNvPr id="34" name="array-cell">
            <a:extLst xmlns:a="http://schemas.openxmlformats.org/drawingml/2006/main">
              <a:ext uri="{FF2B5EF4-FFF2-40B4-BE49-F238E27FC236}">
                <a16:creationId xmlns:a16="http://schemas.microsoft.com/office/drawing/2014/main" id="{17693424-0778-4F3A-B47D-4D9751B50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048125"/>
            <a:ext cx="704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35" name="array-value">
            <a:extLst xmlns:a="http://schemas.openxmlformats.org/drawingml/2006/main">
              <a:ext uri="{FF2B5EF4-FFF2-40B4-BE49-F238E27FC236}">
                <a16:creationId xmlns:a16="http://schemas.microsoft.com/office/drawing/2014/main" id="{5A97D265-28D9-4471-8951-1188EA2F4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4067175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a12</a:t>
            </a:r>
          </a:p>
        </p:txBody>
      </p:sp>
      <p:sp>
        <p:nvSpPr>
          <p:cNvPr id="36" name="c-note">
            <a:extLst xmlns:a="http://schemas.openxmlformats.org/drawingml/2006/main">
              <a:ext uri="{FF2B5EF4-FFF2-40B4-BE49-F238E27FC236}">
                <a16:creationId xmlns:a16="http://schemas.microsoft.com/office/drawing/2014/main" id="{886B560D-F084-4C6F-9ADB-60C4E7A85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095875"/>
            <a:ext cx="9525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8FA"/>
          </a:solidFill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37" name="c-note-text">
            <a:extLst xmlns:a="http://schemas.openxmlformats.org/drawingml/2006/main">
              <a:ext uri="{FF2B5EF4-FFF2-40B4-BE49-F238E27FC236}">
                <a16:creationId xmlns:a16="http://schemas.microsoft.com/office/drawing/2014/main" id="{F9A146A9-6C47-48F8-BBE3-8321BB170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91125"/>
            <a:ext cx="9105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C uses row-major order. Column-major order is useful for comparison and address-analysis questions.</a:t>
            </a:r>
          </a:p>
        </p:txBody>
      </p:sp>
    </p:spTree>
    <p:extLst>
      <p:ext uri="{BB962C8B-B14F-4D97-AF65-F5344CB8AC3E}">
        <p14:creationId xmlns:p14="http://schemas.microsoft.com/office/powerpoint/2010/main" val="19400735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lesson-label">
            <a:extLst xmlns:a="http://schemas.openxmlformats.org/drawingml/2006/main">
              <a:ext uri="{FF2B5EF4-FFF2-40B4-BE49-F238E27FC236}">
                <a16:creationId xmlns:a16="http://schemas.microsoft.com/office/drawing/2014/main" id="{2BC97544-A680-4662-A4F7-1F593010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6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1B8A6D0-CBA9-44D7-9DD1-C895C55C6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Three dimensions extend the same address logic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1817BC6D-C9A9-4263-9ED9-B8AD1F9C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4" name="divider">
            <a:extLst xmlns:a="http://schemas.openxmlformats.org/drawingml/2006/main">
              <a:ext uri="{FF2B5EF4-FFF2-40B4-BE49-F238E27FC236}">
                <a16:creationId xmlns:a16="http://schemas.microsoft.com/office/drawing/2014/main" id="{E1C6FD8B-9783-4291-8DC0-991F5DEE5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5" name="footer-course">
            <a:extLst xmlns:a="http://schemas.openxmlformats.org/drawingml/2006/main">
              <a:ext uri="{FF2B5EF4-FFF2-40B4-BE49-F238E27FC236}">
                <a16:creationId xmlns:a16="http://schemas.microsoft.com/office/drawing/2014/main" id="{76D31D8B-F460-4397-AC32-6251DB040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5FAFE7C3-3494-4AF3-ACD7-F70A246C9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055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7" name="3d-intro">
            <a:extLst xmlns:a="http://schemas.openxmlformats.org/drawingml/2006/main">
              <a:ext uri="{FF2B5EF4-FFF2-40B4-BE49-F238E27FC236}">
                <a16:creationId xmlns:a16="http://schemas.microsoft.com/office/drawing/2014/main" id="{EC3710B8-898A-4FD7-A8C9-2D7148F2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For A[D1][D2][D3] in row-major order:</a:t>
            </a:r>
          </a:p>
        </p:txBody>
      </p:sp>
      <p:sp>
        <p:nvSpPr>
          <p:cNvPr id="8" name="3d-formula-band">
            <a:extLst xmlns:a="http://schemas.openxmlformats.org/drawingml/2006/main">
              <a:ext uri="{FF2B5EF4-FFF2-40B4-BE49-F238E27FC236}">
                <a16:creationId xmlns:a16="http://schemas.microsoft.com/office/drawing/2014/main" id="{B1FCEDF6-C17B-466C-A072-F40666810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0820400" cy="81915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EDF4FF"/>
          </a:solidFill>
          <a:ln xmlns:a="http://schemas.openxmlformats.org/drawingml/2006/main" w="0">
            <a:solidFill>
              <a:srgbClr val="EDF4FF"/>
            </a:solidFill>
            <a:prstDash val="solid"/>
          </a:ln>
        </p:spPr>
      </p:sp>
      <p:sp>
        <p:nvSpPr>
          <p:cNvPr id="9" name="3d-formula">
            <a:extLst xmlns:a="http://schemas.openxmlformats.org/drawingml/2006/main">
              <a:ext uri="{FF2B5EF4-FFF2-40B4-BE49-F238E27FC236}">
                <a16:creationId xmlns:a16="http://schemas.microsoft.com/office/drawing/2014/main" id="{270AB506-B759-410B-850E-D2610E301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3625"/>
            <a:ext cx="10439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2324A"/>
                </a:solidFill>
                <a:latin typeface="Consolas"/>
                <a:ea typeface="Consolas"/>
                <a:cs typeface="Consolas"/>
              </a:defRPr>
            </a:pPr>
            <a:r>
              <a:rPr sz="2400" b="1">
                <a:solidFill>
                  <a:srgbClr val="12324A"/>
                </a:solidFill>
                <a:latin typeface="Consolas"/>
                <a:ea typeface="Consolas"/>
                <a:cs typeface="Consolas"/>
              </a:rPr>
              <a:t>offset = ((i − L1) × D2 + (j − L2)) × D3 + (k − L3)</a:t>
            </a:r>
          </a:p>
        </p:txBody>
      </p:sp>
      <p:sp>
        <p:nvSpPr>
          <p:cNvPr id="10" name="dimension-label">
            <a:extLst xmlns:a="http://schemas.openxmlformats.org/drawingml/2006/main">
              <a:ext uri="{FF2B5EF4-FFF2-40B4-BE49-F238E27FC236}">
                <a16:creationId xmlns:a16="http://schemas.microsoft.com/office/drawing/2014/main" id="{818AE5DD-372A-441C-9FD6-F3F6D7B28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290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PLANES</a:t>
            </a:r>
          </a:p>
        </p:txBody>
      </p:sp>
      <p:sp>
        <p:nvSpPr>
          <p:cNvPr id="11" name="dimension-term">
            <a:extLst xmlns:a="http://schemas.openxmlformats.org/drawingml/2006/main">
              <a:ext uri="{FF2B5EF4-FFF2-40B4-BE49-F238E27FC236}">
                <a16:creationId xmlns:a16="http://schemas.microsoft.com/office/drawing/2014/main" id="{338AFFB8-3F65-4383-86D2-190BCBBC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481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3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i × D2 × D3</a:t>
            </a:r>
          </a:p>
        </p:txBody>
      </p:sp>
      <p:sp>
        <p:nvSpPr>
          <p:cNvPr id="12" name="dimension-label">
            <a:extLst xmlns:a="http://schemas.openxmlformats.org/drawingml/2006/main">
              <a:ext uri="{FF2B5EF4-FFF2-40B4-BE49-F238E27FC236}">
                <a16:creationId xmlns:a16="http://schemas.microsoft.com/office/drawing/2014/main" id="{AE6E09C6-546B-4E2B-A724-6BC2B014E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4290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ROWS</a:t>
            </a:r>
          </a:p>
        </p:txBody>
      </p:sp>
      <p:sp>
        <p:nvSpPr>
          <p:cNvPr id="13" name="dimension-term">
            <a:extLst xmlns:a="http://schemas.openxmlformats.org/drawingml/2006/main">
              <a:ext uri="{FF2B5EF4-FFF2-40B4-BE49-F238E27FC236}">
                <a16:creationId xmlns:a16="http://schemas.microsoft.com/office/drawing/2014/main" id="{3F19BAAD-5661-4FEE-8E28-5823F9339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481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3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j × D3</a:t>
            </a:r>
          </a:p>
        </p:txBody>
      </p:sp>
      <p:sp>
        <p:nvSpPr>
          <p:cNvPr id="14" name="dimension-label">
            <a:extLst xmlns:a="http://schemas.openxmlformats.org/drawingml/2006/main">
              <a:ext uri="{FF2B5EF4-FFF2-40B4-BE49-F238E27FC236}">
                <a16:creationId xmlns:a16="http://schemas.microsoft.com/office/drawing/2014/main" id="{8537697D-5E37-4605-B8B7-C6DC1AFD9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4290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COLUMNS</a:t>
            </a:r>
          </a:p>
        </p:txBody>
      </p:sp>
      <p:sp>
        <p:nvSpPr>
          <p:cNvPr id="15" name="dimension-term">
            <a:extLst xmlns:a="http://schemas.openxmlformats.org/drawingml/2006/main">
              <a:ext uri="{FF2B5EF4-FFF2-40B4-BE49-F238E27FC236}">
                <a16:creationId xmlns:a16="http://schemas.microsoft.com/office/drawing/2014/main" id="{7189B6CF-651F-4FB8-97C6-9F3C1BBC7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481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3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k</a:t>
            </a:r>
          </a:p>
        </p:txBody>
      </p:sp>
      <p:sp>
        <p:nvSpPr>
          <p:cNvPr id="16" name="3d-example">
            <a:extLst xmlns:a="http://schemas.openxmlformats.org/drawingml/2006/main">
              <a:ext uri="{FF2B5EF4-FFF2-40B4-BE49-F238E27FC236}">
                <a16:creationId xmlns:a16="http://schemas.microsoft.com/office/drawing/2014/main" id="{6F6B0DB4-EE02-43C9-A6CA-0912940C8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705350"/>
            <a:ext cx="8115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4F8FA"/>
          </a:solidFill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17" name="3d-example-text">
            <a:extLst xmlns:a="http://schemas.openxmlformats.org/drawingml/2006/main">
              <a:ext uri="{FF2B5EF4-FFF2-40B4-BE49-F238E27FC236}">
                <a16:creationId xmlns:a16="http://schemas.microsoft.com/office/drawing/2014/main" id="{4F33D348-CC7A-4A83-B514-CF527BBB4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7658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18313F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18313F"/>
                </a:solidFill>
                <a:latin typeface="Consolas"/>
                <a:ea typeface="Consolas"/>
                <a:cs typeface="Consolas"/>
              </a:rPr>
              <a:t>Example: A[2][3][4], target A[1][2][3]  →  offset = ((1 × 3) + 2) × 4 + 3 = 23</a:t>
            </a:r>
          </a:p>
        </p:txBody>
      </p:sp>
    </p:spTree>
    <p:extLst>
      <p:ext uri="{BB962C8B-B14F-4D97-AF65-F5344CB8AC3E}">
        <p14:creationId xmlns:p14="http://schemas.microsoft.com/office/powerpoint/2010/main" val="6463265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lesson-label">
            <a:extLst xmlns:a="http://schemas.openxmlformats.org/drawingml/2006/main">
              <a:ext uri="{FF2B5EF4-FFF2-40B4-BE49-F238E27FC236}">
                <a16:creationId xmlns:a16="http://schemas.microsoft.com/office/drawing/2014/main" id="{5C76A492-3559-43F8-9042-4BEC1F994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7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F814A1F-4AD9-48DD-B1C1-089D9BFB7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Pass an array by sending its first element's address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BDEFF87F-8722-4757-A964-70DDFCC16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4" name="divider">
            <a:extLst xmlns:a="http://schemas.openxmlformats.org/drawingml/2006/main">
              <a:ext uri="{FF2B5EF4-FFF2-40B4-BE49-F238E27FC236}">
                <a16:creationId xmlns:a16="http://schemas.microsoft.com/office/drawing/2014/main" id="{8CCD9707-3B64-44D0-92C4-1DD9E24E4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5" name="footer-course">
            <a:extLst xmlns:a="http://schemas.openxmlformats.org/drawingml/2006/main">
              <a:ext uri="{FF2B5EF4-FFF2-40B4-BE49-F238E27FC236}">
                <a16:creationId xmlns:a16="http://schemas.microsoft.com/office/drawing/2014/main" id="{5103A410-0CBA-48B2-8C01-6995F10E9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80FF01A8-588A-45ED-B197-0F163400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055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7" name="code-panel">
            <a:extLst xmlns:a="http://schemas.openxmlformats.org/drawingml/2006/main">
              <a:ext uri="{FF2B5EF4-FFF2-40B4-BE49-F238E27FC236}">
                <a16:creationId xmlns:a16="http://schemas.microsoft.com/office/drawing/2014/main" id="{6A03E427-C0F0-4F07-B0C1-05865AEA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6286500" cy="3409950"/>
          </a:xfrm>
          <a:prstGeom xmlns:a="http://schemas.openxmlformats.org/drawingml/2006/main" prst="roundRect">
            <a:avLst>
              <a:gd name="adj" fmla="val 2235"/>
            </a:avLst>
          </a:prstGeom>
          <a:solidFill xmlns:a="http://schemas.openxmlformats.org/drawingml/2006/main">
            <a:srgbClr val="F4F8FA"/>
          </a:solidFill>
          <a:ln xmlns:a="http://schemas.openxmlformats.org/drawingml/2006/main" w="14288">
            <a:solidFill>
              <a:srgbClr val="C9D7DE"/>
            </a:solidFill>
            <a:prstDash val="solid"/>
          </a:ln>
        </p:spPr>
      </p:sp>
      <p:sp>
        <p:nvSpPr>
          <p:cNvPr id="8" name="code-label">
            <a:extLst xmlns:a="http://schemas.openxmlformats.org/drawingml/2006/main">
              <a:ext uri="{FF2B5EF4-FFF2-40B4-BE49-F238E27FC236}">
                <a16:creationId xmlns:a16="http://schemas.microsoft.com/office/drawing/2014/main" id="{0371B966-CFC6-4849-9568-0A44F816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669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ARRAY AS A PARAMETER</a:t>
            </a:r>
          </a:p>
        </p:txBody>
      </p:sp>
      <p:sp>
        <p:nvSpPr>
          <p:cNvPr id="9" name="code-text">
            <a:extLst xmlns:a="http://schemas.openxmlformats.org/drawingml/2006/main">
              <a:ext uri="{FF2B5EF4-FFF2-40B4-BE49-F238E27FC236}">
                <a16:creationId xmlns:a16="http://schemas.microsoft.com/office/drawing/2014/main" id="{3CC05D8E-A7FE-4F89-AA06-75BBCE561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5905500" cy="281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void printArray(const int a[], int n) {</a:t>
            </a:r>
          </a:p>
          <a:p xmlns:a="http://schemas.openxmlformats.org/drawingml/2006/main"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for (int i = 0; i &lt; n; ++i)</a:t>
            </a:r>
          </a:p>
          <a:p xmlns:a="http://schemas.openxmlformats.org/drawingml/2006/main"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    printf("%d ", a[i]);</a:t>
            </a:r>
          </a:p>
          <a:p xmlns:a="http://schemas.openxmlformats.org/drawingml/2006/main"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printArray(score, 5);</a:t>
            </a:r>
          </a:p>
        </p:txBody>
      </p:sp>
      <p:sp>
        <p:nvSpPr>
          <p:cNvPr id="10" name="parameter-title">
            <a:extLst xmlns:a="http://schemas.openxmlformats.org/drawingml/2006/main">
              <a:ext uri="{FF2B5EF4-FFF2-40B4-BE49-F238E27FC236}">
                <a16:creationId xmlns:a16="http://schemas.microsoft.com/office/drawing/2014/main" id="{63FC708D-494A-496D-A760-F2AF83BC9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9070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What the function receives</a:t>
            </a:r>
          </a:p>
        </p:txBody>
      </p:sp>
      <p:sp>
        <p:nvSpPr>
          <p:cNvPr id="11" name="bullet">
            <a:extLst xmlns:a="http://schemas.openxmlformats.org/drawingml/2006/main">
              <a:ext uri="{FF2B5EF4-FFF2-40B4-BE49-F238E27FC236}">
                <a16:creationId xmlns:a16="http://schemas.microsoft.com/office/drawing/2014/main" id="{18A47E28-B0B9-449E-A347-0B64749A9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8602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" name="bullet-text">
            <a:extLst xmlns:a="http://schemas.openxmlformats.org/drawingml/2006/main">
              <a:ext uri="{FF2B5EF4-FFF2-40B4-BE49-F238E27FC236}">
                <a16:creationId xmlns:a16="http://schemas.microsoft.com/office/drawing/2014/main" id="{28490725-2430-49BF-9B03-50865504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400300"/>
            <a:ext cx="3562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a refers to the first element.</a:t>
            </a:r>
          </a:p>
        </p:txBody>
      </p:sp>
      <p:sp>
        <p:nvSpPr>
          <p:cNvPr id="13" name="bullet">
            <a:extLst xmlns:a="http://schemas.openxmlformats.org/drawingml/2006/main">
              <a:ext uri="{FF2B5EF4-FFF2-40B4-BE49-F238E27FC236}">
                <a16:creationId xmlns:a16="http://schemas.microsoft.com/office/drawing/2014/main" id="{8319742B-84E8-4E2A-94AC-E3B8C9E8A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1467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" name="bullet-text">
            <a:extLst xmlns:a="http://schemas.openxmlformats.org/drawingml/2006/main">
              <a:ext uri="{FF2B5EF4-FFF2-40B4-BE49-F238E27FC236}">
                <a16:creationId xmlns:a16="http://schemas.microsoft.com/office/drawing/2014/main" id="{8788552E-6502-4E26-8E68-59C15A39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28950"/>
            <a:ext cx="3562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The array length is not carried automatically.</a:t>
            </a:r>
          </a:p>
        </p:txBody>
      </p:sp>
      <p:sp>
        <p:nvSpPr>
          <p:cNvPr id="15" name="bullet">
            <a:extLst xmlns:a="http://schemas.openxmlformats.org/drawingml/2006/main">
              <a:ext uri="{FF2B5EF4-FFF2-40B4-BE49-F238E27FC236}">
                <a16:creationId xmlns:a16="http://schemas.microsoft.com/office/drawing/2014/main" id="{2A57D1E2-1123-415A-8CD9-F1B211224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74332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6" name="bullet-text">
            <a:extLst xmlns:a="http://schemas.openxmlformats.org/drawingml/2006/main">
              <a:ext uri="{FF2B5EF4-FFF2-40B4-BE49-F238E27FC236}">
                <a16:creationId xmlns:a16="http://schemas.microsoft.com/office/drawing/2014/main" id="{8F6EAEBA-01C3-4406-A5D4-7487F9D76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57600"/>
            <a:ext cx="3562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Pass n explicitly to keep the loop in bounds.</a:t>
            </a:r>
          </a:p>
        </p:txBody>
      </p:sp>
      <p:sp>
        <p:nvSpPr>
          <p:cNvPr id="17" name="bullet">
            <a:extLst xmlns:a="http://schemas.openxmlformats.org/drawingml/2006/main">
              <a:ext uri="{FF2B5EF4-FFF2-40B4-BE49-F238E27FC236}">
                <a16:creationId xmlns:a16="http://schemas.microsoft.com/office/drawing/2014/main" id="{F94A5151-C6EC-4C10-B7FC-E8E1D4E5C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37197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" name="bullet-text">
            <a:extLst xmlns:a="http://schemas.openxmlformats.org/drawingml/2006/main">
              <a:ext uri="{FF2B5EF4-FFF2-40B4-BE49-F238E27FC236}">
                <a16:creationId xmlns:a16="http://schemas.microsoft.com/office/drawing/2014/main" id="{AD141247-2CED-429C-81CB-C896215F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286250"/>
            <a:ext cx="3562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const prevents accidental element changes.</a:t>
            </a:r>
          </a:p>
        </p:txBody>
      </p:sp>
      <p:sp>
        <p:nvSpPr>
          <p:cNvPr id="19" name="pointer-equivalence">
            <a:extLst xmlns:a="http://schemas.openxmlformats.org/drawingml/2006/main">
              <a:ext uri="{FF2B5EF4-FFF2-40B4-BE49-F238E27FC236}">
                <a16:creationId xmlns:a16="http://schemas.microsoft.com/office/drawing/2014/main" id="{0BF8CAD4-16F4-4D6F-937D-3C668E34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057775"/>
            <a:ext cx="36957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0">
            <a:solidFill>
              <a:srgbClr val="EAF6F4"/>
            </a:solidFill>
            <a:prstDash val="solid"/>
          </a:ln>
        </p:spPr>
      </p:sp>
      <p:sp>
        <p:nvSpPr>
          <p:cNvPr id="20" name="pointer-equivalence-text">
            <a:extLst xmlns:a="http://schemas.openxmlformats.org/drawingml/2006/main">
              <a:ext uri="{FF2B5EF4-FFF2-40B4-BE49-F238E27FC236}">
                <a16:creationId xmlns:a16="http://schemas.microsoft.com/office/drawing/2014/main" id="{13ECD12E-1297-4417-933E-9FF480A27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172075"/>
            <a:ext cx="335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F766E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0F766E"/>
                </a:solidFill>
                <a:latin typeface="Consolas"/>
                <a:ea typeface="Consolas"/>
                <a:cs typeface="Consolas"/>
              </a:rPr>
              <a:t>a[i] means *(a + i)</a:t>
            </a:r>
          </a:p>
        </p:txBody>
      </p:sp>
    </p:spTree>
    <p:extLst>
      <p:ext uri="{BB962C8B-B14F-4D97-AF65-F5344CB8AC3E}">
        <p14:creationId xmlns:p14="http://schemas.microsoft.com/office/powerpoint/2010/main" val="20967132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lesson-label">
            <a:extLst xmlns:a="http://schemas.openxmlformats.org/drawingml/2006/main">
              <a:ext uri="{FF2B5EF4-FFF2-40B4-BE49-F238E27FC236}">
                <a16:creationId xmlns:a16="http://schemas.microsoft.com/office/drawing/2014/main" id="{C81EACA6-EF78-44E7-AEFA-F360E15D6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7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36F044-E39E-47C9-85DE-340DCD60F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A 2D parameter needs its column size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D43A60EC-06FB-46FF-999D-4FC8009EA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4" name="divider">
            <a:extLst xmlns:a="http://schemas.openxmlformats.org/drawingml/2006/main">
              <a:ext uri="{FF2B5EF4-FFF2-40B4-BE49-F238E27FC236}">
                <a16:creationId xmlns:a16="http://schemas.microsoft.com/office/drawing/2014/main" id="{E69707ED-1012-41E1-9B55-1CC0981D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5" name="footer-course">
            <a:extLst xmlns:a="http://schemas.openxmlformats.org/drawingml/2006/main">
              <a:ext uri="{FF2B5EF4-FFF2-40B4-BE49-F238E27FC236}">
                <a16:creationId xmlns:a16="http://schemas.microsoft.com/office/drawing/2014/main" id="{AF6BD966-80C6-4282-8817-63BC1010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87BD5E20-BBA4-4B4B-B851-793454FC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055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7" name="code-panel">
            <a:extLst xmlns:a="http://schemas.openxmlformats.org/drawingml/2006/main">
              <a:ext uri="{FF2B5EF4-FFF2-40B4-BE49-F238E27FC236}">
                <a16:creationId xmlns:a16="http://schemas.microsoft.com/office/drawing/2014/main" id="{67D90AED-B14E-4F87-B8EC-86E24218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6191250" cy="33528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4F8FA"/>
          </a:solidFill>
          <a:ln xmlns:a="http://schemas.openxmlformats.org/drawingml/2006/main" w="14288">
            <a:solidFill>
              <a:srgbClr val="C9D7DE"/>
            </a:solidFill>
            <a:prstDash val="solid"/>
          </a:ln>
        </p:spPr>
      </p:sp>
      <p:sp>
        <p:nvSpPr>
          <p:cNvPr id="8" name="code-label">
            <a:extLst xmlns:a="http://schemas.openxmlformats.org/drawingml/2006/main">
              <a:ext uri="{FF2B5EF4-FFF2-40B4-BE49-F238E27FC236}">
                <a16:creationId xmlns:a16="http://schemas.microsoft.com/office/drawing/2014/main" id="{5F9527D3-64EB-4641-9F2D-B0020F5C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66900"/>
            <a:ext cx="581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FIXED COLUMN COUNT</a:t>
            </a:r>
          </a:p>
        </p:txBody>
      </p:sp>
      <p:sp>
        <p:nvSpPr>
          <p:cNvPr id="9" name="code-text">
            <a:extLst xmlns:a="http://schemas.openxmlformats.org/drawingml/2006/main">
              <a:ext uri="{FF2B5EF4-FFF2-40B4-BE49-F238E27FC236}">
                <a16:creationId xmlns:a16="http://schemas.microsoft.com/office/drawing/2014/main" id="{9029AC4A-454A-444D-98D2-319E78248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58102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void printMatrix(int rows, int a[][4]) {</a:t>
            </a:r>
          </a:p>
          <a:p xmlns:a="http://schemas.openxmlformats.org/drawingml/2006/main"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for (int i = 0; i &lt; rows; ++i)</a:t>
            </a:r>
          </a:p>
          <a:p xmlns:a="http://schemas.openxmlformats.org/drawingml/2006/main"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    for (int j = 0; j &lt; 4; ++j)</a:t>
            </a:r>
          </a:p>
          <a:p xmlns:a="http://schemas.openxmlformats.org/drawingml/2006/main"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            printf("%d ", a[i][j]);</a:t>
            </a:r>
          </a:p>
          <a:p xmlns:a="http://schemas.openxmlformats.org/drawingml/2006/main">
            <a:pPr algn="l">
              <a:defRPr sz="2025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0" name="why-columns">
            <a:extLst xmlns:a="http://schemas.openxmlformats.org/drawingml/2006/main">
              <a:ext uri="{FF2B5EF4-FFF2-40B4-BE49-F238E27FC236}">
                <a16:creationId xmlns:a16="http://schemas.microsoft.com/office/drawing/2014/main" id="{B570C324-4399-4664-8394-5DDA67D3F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7907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Why is 4 required?</a:t>
            </a:r>
          </a:p>
        </p:txBody>
      </p:sp>
      <p:sp>
        <p:nvSpPr>
          <p:cNvPr id="11" name="stride-reason">
            <a:extLst xmlns:a="http://schemas.openxmlformats.org/drawingml/2006/main">
              <a:ext uri="{FF2B5EF4-FFF2-40B4-BE49-F238E27FC236}">
                <a16:creationId xmlns:a16="http://schemas.microsoft.com/office/drawing/2014/main" id="{F88AC67C-3362-4E1A-A193-D1F1C3A02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381250"/>
            <a:ext cx="3695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The compiler needs the row stride to calculate:</a:t>
            </a:r>
          </a:p>
        </p:txBody>
      </p:sp>
      <p:sp>
        <p:nvSpPr>
          <p:cNvPr id="12" name="2d-offset">
            <a:extLst xmlns:a="http://schemas.openxmlformats.org/drawingml/2006/main">
              <a:ext uri="{FF2B5EF4-FFF2-40B4-BE49-F238E27FC236}">
                <a16:creationId xmlns:a16="http://schemas.microsoft.com/office/drawing/2014/main" id="{5A2B8F82-896C-4E5D-AF3C-9EC1C3A8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90875"/>
            <a:ext cx="36957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4FF"/>
          </a:solidFill>
          <a:ln xmlns:a="http://schemas.openxmlformats.org/drawingml/2006/main" w="0">
            <a:solidFill>
              <a:srgbClr val="EDF4FF"/>
            </a:solidFill>
            <a:prstDash val="solid"/>
          </a:ln>
        </p:spPr>
      </p:sp>
      <p:sp>
        <p:nvSpPr>
          <p:cNvPr id="13" name="2d-offset-text">
            <a:extLst xmlns:a="http://schemas.openxmlformats.org/drawingml/2006/main">
              <a:ext uri="{FF2B5EF4-FFF2-40B4-BE49-F238E27FC236}">
                <a16:creationId xmlns:a16="http://schemas.microsoft.com/office/drawing/2014/main" id="{31AC0EAC-B07C-4E76-A612-712FC1A2F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314700"/>
            <a:ext cx="335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2324A"/>
                </a:solidFill>
                <a:latin typeface="Consolas"/>
                <a:ea typeface="Consolas"/>
                <a:cs typeface="Consolas"/>
              </a:defRPr>
            </a:pPr>
            <a:r>
              <a:rPr sz="2400" b="1">
                <a:solidFill>
                  <a:srgbClr val="12324A"/>
                </a:solidFill>
                <a:latin typeface="Consolas"/>
                <a:ea typeface="Consolas"/>
                <a:cs typeface="Consolas"/>
              </a:rPr>
              <a:t>offset = i × 4 + j</a:t>
            </a:r>
          </a:p>
        </p:txBody>
      </p:sp>
      <p:sp>
        <p:nvSpPr>
          <p:cNvPr id="14" name="vla-label">
            <a:extLst xmlns:a="http://schemas.openxmlformats.org/drawingml/2006/main">
              <a:ext uri="{FF2B5EF4-FFF2-40B4-BE49-F238E27FC236}">
                <a16:creationId xmlns:a16="http://schemas.microsoft.com/office/drawing/2014/main" id="{CA8E9321-EF45-48B0-921A-91087D068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0"/>
            <a:ext cx="3695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C99 variable-length alternative</a:t>
            </a:r>
          </a:p>
        </p:txBody>
      </p:sp>
      <p:sp>
        <p:nvSpPr>
          <p:cNvPr id="15" name="vla-code">
            <a:extLst xmlns:a="http://schemas.openxmlformats.org/drawingml/2006/main">
              <a:ext uri="{FF2B5EF4-FFF2-40B4-BE49-F238E27FC236}">
                <a16:creationId xmlns:a16="http://schemas.microsoft.com/office/drawing/2014/main" id="{13C578EB-42DF-4B3D-A864-7C3616F0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733925"/>
            <a:ext cx="3790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void f(int r, int c, int a[r][c]);</a:t>
            </a:r>
          </a:p>
        </p:txBody>
      </p:sp>
      <p:sp>
        <p:nvSpPr>
          <p:cNvPr id="16" name="classroom-prompt">
            <a:extLst xmlns:a="http://schemas.openxmlformats.org/drawingml/2006/main">
              <a:ext uri="{FF2B5EF4-FFF2-40B4-BE49-F238E27FC236}">
                <a16:creationId xmlns:a16="http://schemas.microsoft.com/office/drawing/2014/main" id="{5C96F1D8-5F7B-417A-AFC0-19C005C4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9775"/>
            <a:ext cx="108204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0">
            <a:solidFill>
              <a:srgbClr val="EAF6F4"/>
            </a:solidFill>
            <a:prstDash val="solid"/>
          </a:ln>
        </p:spPr>
      </p:sp>
      <p:sp>
        <p:nvSpPr>
          <p:cNvPr id="17" name="prompt-label">
            <a:extLst xmlns:a="http://schemas.openxmlformats.org/drawingml/2006/main">
              <a:ext uri="{FF2B5EF4-FFF2-40B4-BE49-F238E27FC236}">
                <a16:creationId xmlns:a16="http://schemas.microsoft.com/office/drawing/2014/main" id="{6F182116-6F2C-4D21-883C-33A6D8658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05500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ASK</a:t>
            </a:r>
          </a:p>
        </p:txBody>
      </p:sp>
      <p:sp>
        <p:nvSpPr>
          <p:cNvPr id="18" name="prompt-text">
            <a:extLst xmlns:a="http://schemas.openxmlformats.org/drawingml/2006/main">
              <a:ext uri="{FF2B5EF4-FFF2-40B4-BE49-F238E27FC236}">
                <a16:creationId xmlns:a16="http://schemas.microsoft.com/office/drawing/2014/main" id="{137120A5-DADE-4031-9219-B8CA062F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76925"/>
            <a:ext cx="988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What goes wrong if the function assumes 3 columns but the caller stores 4?</a:t>
            </a:r>
          </a:p>
        </p:txBody>
      </p:sp>
    </p:spTree>
    <p:extLst>
      <p:ext uri="{BB962C8B-B14F-4D97-AF65-F5344CB8AC3E}">
        <p14:creationId xmlns:p14="http://schemas.microsoft.com/office/powerpoint/2010/main" val="97117946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lesson-label">
            <a:extLst xmlns:a="http://schemas.openxmlformats.org/drawingml/2006/main">
              <a:ext uri="{FF2B5EF4-FFF2-40B4-BE49-F238E27FC236}">
                <a16:creationId xmlns:a16="http://schemas.microsoft.com/office/drawing/2014/main" id="{5FE21A7D-33F9-45E5-8AA2-7A482FE7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7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4FF4B39-7CEF-47F4-B384-F7807831F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Arrays simplify counting, lookup, and tabulation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BB19E51F-BD37-4F09-8014-0019D1F39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4" name="divider">
            <a:extLst xmlns:a="http://schemas.openxmlformats.org/drawingml/2006/main">
              <a:ext uri="{FF2B5EF4-FFF2-40B4-BE49-F238E27FC236}">
                <a16:creationId xmlns:a16="http://schemas.microsoft.com/office/drawing/2014/main" id="{91130F55-375E-4381-A60B-A9051B007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5" name="footer-course">
            <a:extLst xmlns:a="http://schemas.openxmlformats.org/drawingml/2006/main">
              <a:ext uri="{FF2B5EF4-FFF2-40B4-BE49-F238E27FC236}">
                <a16:creationId xmlns:a16="http://schemas.microsoft.com/office/drawing/2014/main" id="{8FB6E2BA-B573-4487-A555-5EAF183B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B98E03B1-E938-4F07-95C6-1C467BF81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055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7" name="application-number">
            <a:extLst xmlns:a="http://schemas.openxmlformats.org/drawingml/2006/main">
              <a:ext uri="{FF2B5EF4-FFF2-40B4-BE49-F238E27FC236}">
                <a16:creationId xmlns:a16="http://schemas.microsoft.com/office/drawing/2014/main" id="{D86521CF-DA74-4DDE-99F7-4E31C93ED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2880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</p:sp>
      <p:sp>
        <p:nvSpPr>
          <p:cNvPr id="8" name="application-number-text">
            <a:extLst xmlns:a="http://schemas.openxmlformats.org/drawingml/2006/main">
              <a:ext uri="{FF2B5EF4-FFF2-40B4-BE49-F238E27FC236}">
                <a16:creationId xmlns:a16="http://schemas.microsoft.com/office/drawing/2014/main" id="{43BF8EE0-6E0B-4527-9B2B-2B053D73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application-title">
            <a:extLst xmlns:a="http://schemas.openxmlformats.org/drawingml/2006/main">
              <a:ext uri="{FF2B5EF4-FFF2-40B4-BE49-F238E27FC236}">
                <a16:creationId xmlns:a16="http://schemas.microsoft.com/office/drawing/2014/main" id="{05C09D9F-5672-453C-953E-8E9374C4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52600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Frequency counting</a:t>
            </a:r>
          </a:p>
        </p:txBody>
      </p:sp>
      <p:sp>
        <p:nvSpPr>
          <p:cNvPr id="10" name="application-desc">
            <a:extLst xmlns:a="http://schemas.openxmlformats.org/drawingml/2006/main">
              <a:ext uri="{FF2B5EF4-FFF2-40B4-BE49-F238E27FC236}">
                <a16:creationId xmlns:a16="http://schemas.microsoft.com/office/drawing/2014/main" id="{1334B0FC-7F31-4F49-9157-4CE3FEA2B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152650"/>
            <a:ext cx="847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count[value]++ records how often a value occurs.</a:t>
            </a:r>
          </a:p>
        </p:txBody>
      </p:sp>
      <p:sp>
        <p:nvSpPr>
          <p:cNvPr id="11" name="divider">
            <a:extLst xmlns:a="http://schemas.openxmlformats.org/drawingml/2006/main">
              <a:ext uri="{FF2B5EF4-FFF2-40B4-BE49-F238E27FC236}">
                <a16:creationId xmlns:a16="http://schemas.microsoft.com/office/drawing/2014/main" id="{488269C8-FC42-4B67-92AD-B973EF26D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619375"/>
            <a:ext cx="904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EEF1"/>
            </a:solidFill>
            <a:prstDash val="solid"/>
          </a:ln>
        </p:spPr>
      </p:sp>
      <p:sp>
        <p:nvSpPr>
          <p:cNvPr id="12" name="application-number">
            <a:extLst xmlns:a="http://schemas.openxmlformats.org/drawingml/2006/main">
              <a:ext uri="{FF2B5EF4-FFF2-40B4-BE49-F238E27FC236}">
                <a16:creationId xmlns:a16="http://schemas.microsoft.com/office/drawing/2014/main" id="{A1047723-AFB8-49C6-A91C-D715493E2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622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4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13" name="application-number-text">
            <a:extLst xmlns:a="http://schemas.openxmlformats.org/drawingml/2006/main">
              <a:ext uri="{FF2B5EF4-FFF2-40B4-BE49-F238E27FC236}">
                <a16:creationId xmlns:a16="http://schemas.microsoft.com/office/drawing/2014/main" id="{00039E68-1D21-4889-9BC6-75B36EFF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8130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application-title">
            <a:extLst xmlns:a="http://schemas.openxmlformats.org/drawingml/2006/main">
              <a:ext uri="{FF2B5EF4-FFF2-40B4-BE49-F238E27FC236}">
                <a16:creationId xmlns:a16="http://schemas.microsoft.com/office/drawing/2014/main" id="{69934B9A-705A-436B-ACCD-E33AA9C7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686050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Searching and lookup</a:t>
            </a:r>
          </a:p>
        </p:txBody>
      </p:sp>
      <p:sp>
        <p:nvSpPr>
          <p:cNvPr id="15" name="application-desc">
            <a:extLst xmlns:a="http://schemas.openxmlformats.org/drawingml/2006/main">
              <a:ext uri="{FF2B5EF4-FFF2-40B4-BE49-F238E27FC236}">
                <a16:creationId xmlns:a16="http://schemas.microsoft.com/office/drawing/2014/main" id="{A936E173-BEC5-4946-A562-0C25D7EE9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86100"/>
            <a:ext cx="847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Indexes provide direct access; ordered arrays support binary search.</a:t>
            </a:r>
          </a:p>
        </p:txBody>
      </p:sp>
      <p:sp>
        <p:nvSpPr>
          <p:cNvPr id="16" name="divider">
            <a:extLst xmlns:a="http://schemas.openxmlformats.org/drawingml/2006/main">
              <a:ext uri="{FF2B5EF4-FFF2-40B4-BE49-F238E27FC236}">
                <a16:creationId xmlns:a16="http://schemas.microsoft.com/office/drawing/2014/main" id="{39571942-3074-46D5-9DED-38FD5D9CF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552825"/>
            <a:ext cx="904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EEF1"/>
            </a:solidFill>
            <a:prstDash val="solid"/>
          </a:ln>
        </p:spPr>
      </p:sp>
      <p:sp>
        <p:nvSpPr>
          <p:cNvPr id="17" name="application-number">
            <a:extLst xmlns:a="http://schemas.openxmlformats.org/drawingml/2006/main">
              <a:ext uri="{FF2B5EF4-FFF2-40B4-BE49-F238E27FC236}">
                <a16:creationId xmlns:a16="http://schemas.microsoft.com/office/drawing/2014/main" id="{4564DBB0-6AB7-4758-897A-4B616CB0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</p:sp>
      <p:sp>
        <p:nvSpPr>
          <p:cNvPr id="18" name="application-number-text">
            <a:extLst xmlns:a="http://schemas.openxmlformats.org/drawingml/2006/main">
              <a:ext uri="{FF2B5EF4-FFF2-40B4-BE49-F238E27FC236}">
                <a16:creationId xmlns:a16="http://schemas.microsoft.com/office/drawing/2014/main" id="{1889CEA9-F91E-41F2-877C-49C18F4D9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147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9" name="application-title">
            <a:extLst xmlns:a="http://schemas.openxmlformats.org/drawingml/2006/main">
              <a:ext uri="{FF2B5EF4-FFF2-40B4-BE49-F238E27FC236}">
                <a16:creationId xmlns:a16="http://schemas.microsoft.com/office/drawing/2014/main" id="{527C7878-A398-45C0-8B50-8ADE157B8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619500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Tables and matrices</a:t>
            </a:r>
          </a:p>
        </p:txBody>
      </p:sp>
      <p:sp>
        <p:nvSpPr>
          <p:cNvPr id="20" name="application-desc">
            <a:extLst xmlns:a="http://schemas.openxmlformats.org/drawingml/2006/main">
              <a:ext uri="{FF2B5EF4-FFF2-40B4-BE49-F238E27FC236}">
                <a16:creationId xmlns:a16="http://schemas.microsoft.com/office/drawing/2014/main" id="{9C00C206-9E19-4438-9C87-DC0CCB312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019550"/>
            <a:ext cx="847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Rows and columns model marks, images, grids, and numeric data.</a:t>
            </a:r>
          </a:p>
        </p:txBody>
      </p:sp>
      <p:sp>
        <p:nvSpPr>
          <p:cNvPr id="21" name="divider">
            <a:extLst xmlns:a="http://schemas.openxmlformats.org/drawingml/2006/main">
              <a:ext uri="{FF2B5EF4-FFF2-40B4-BE49-F238E27FC236}">
                <a16:creationId xmlns:a16="http://schemas.microsoft.com/office/drawing/2014/main" id="{4E421D01-E8C6-4591-AF29-C34A7B06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486275"/>
            <a:ext cx="904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EEF1"/>
            </a:solidFill>
            <a:prstDash val="solid"/>
          </a:ln>
        </p:spPr>
      </p:sp>
      <p:sp>
        <p:nvSpPr>
          <p:cNvPr id="22" name="application-number">
            <a:extLst xmlns:a="http://schemas.openxmlformats.org/drawingml/2006/main">
              <a:ext uri="{FF2B5EF4-FFF2-40B4-BE49-F238E27FC236}">
                <a16:creationId xmlns:a16="http://schemas.microsoft.com/office/drawing/2014/main" id="{559CD4C9-E030-4232-9021-6A5561B69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4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23" name="application-number-text">
            <a:extLst xmlns:a="http://schemas.openxmlformats.org/drawingml/2006/main">
              <a:ext uri="{FF2B5EF4-FFF2-40B4-BE49-F238E27FC236}">
                <a16:creationId xmlns:a16="http://schemas.microsoft.com/office/drawing/2014/main" id="{B2C6A99A-D6C8-40B6-A394-D647FCF42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4820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application-title">
            <a:extLst xmlns:a="http://schemas.openxmlformats.org/drawingml/2006/main">
              <a:ext uri="{FF2B5EF4-FFF2-40B4-BE49-F238E27FC236}">
                <a16:creationId xmlns:a16="http://schemas.microsoft.com/office/drawing/2014/main" id="{2FA66E43-A3E4-4564-813A-AF7E62D65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552950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Building other structures</a:t>
            </a:r>
          </a:p>
        </p:txBody>
      </p:sp>
      <p:sp>
        <p:nvSpPr>
          <p:cNvPr id="25" name="application-desc">
            <a:extLst xmlns:a="http://schemas.openxmlformats.org/drawingml/2006/main">
              <a:ext uri="{FF2B5EF4-FFF2-40B4-BE49-F238E27FC236}">
                <a16:creationId xmlns:a16="http://schemas.microsoft.com/office/drawing/2014/main" id="{9E130639-55D7-4222-BA67-90511C85A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53000"/>
            <a:ext cx="847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Stacks, queues, heaps, and strings can use arrays.</a:t>
            </a:r>
          </a:p>
        </p:txBody>
      </p:sp>
      <p:sp>
        <p:nvSpPr>
          <p:cNvPr id="26" name="selection-question">
            <a:extLst xmlns:a="http://schemas.openxmlformats.org/drawingml/2006/main">
              <a:ext uri="{FF2B5EF4-FFF2-40B4-BE49-F238E27FC236}">
                <a16:creationId xmlns:a16="http://schemas.microsoft.com/office/drawing/2014/main" id="{689CDB52-45BA-4796-B722-89F82C97B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219700"/>
            <a:ext cx="2857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6E7"/>
          </a:solidFill>
          <a:ln xmlns:a="http://schemas.openxmlformats.org/drawingml/2006/main" w="0">
            <a:solidFill>
              <a:srgbClr val="FFF6E7"/>
            </a:solidFill>
            <a:prstDash val="solid"/>
          </a:ln>
        </p:spPr>
      </p:sp>
      <p:sp>
        <p:nvSpPr>
          <p:cNvPr id="27" name="selection-question-text">
            <a:extLst xmlns:a="http://schemas.openxmlformats.org/drawingml/2006/main">
              <a:ext uri="{FF2B5EF4-FFF2-40B4-BE49-F238E27FC236}">
                <a16:creationId xmlns:a16="http://schemas.microsoft.com/office/drawing/2014/main" id="{3A6A83B6-8627-4D19-B253-8BF676E8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3054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Question: Is the size known?</a:t>
            </a:r>
          </a:p>
        </p:txBody>
      </p:sp>
    </p:spTree>
    <p:extLst>
      <p:ext uri="{BB962C8B-B14F-4D97-AF65-F5344CB8AC3E}">
        <p14:creationId xmlns:p14="http://schemas.microsoft.com/office/powerpoint/2010/main" val="188565156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lesson-label">
            <a:extLst xmlns:a="http://schemas.openxmlformats.org/drawingml/2006/main">
              <a:ext uri="{FF2B5EF4-FFF2-40B4-BE49-F238E27FC236}">
                <a16:creationId xmlns:a16="http://schemas.microsoft.com/office/drawing/2014/main" id="{1023A1F7-0119-4419-AC8F-4887FECD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7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2D29188-73E4-4BDA-9261-B2C7E72D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Ordered arrays speed search but slow updates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90DF2AB2-6028-4729-906E-4E3549D3D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4" name="divider">
            <a:extLst xmlns:a="http://schemas.openxmlformats.org/drawingml/2006/main">
              <a:ext uri="{FF2B5EF4-FFF2-40B4-BE49-F238E27FC236}">
                <a16:creationId xmlns:a16="http://schemas.microsoft.com/office/drawing/2014/main" id="{A3ECDAAB-6156-4AC0-831F-09DAEBBE7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5" name="footer-course">
            <a:extLst xmlns:a="http://schemas.openxmlformats.org/drawingml/2006/main">
              <a:ext uri="{FF2B5EF4-FFF2-40B4-BE49-F238E27FC236}">
                <a16:creationId xmlns:a16="http://schemas.microsoft.com/office/drawing/2014/main" id="{251DA244-B858-4893-9E4F-E14D2FBD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D6F0CD9D-6140-4B03-9037-2CBF078D8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055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7" name="ordered-label">
            <a:extLst xmlns:a="http://schemas.openxmlformats.org/drawingml/2006/main">
              <a:ext uri="{FF2B5EF4-FFF2-40B4-BE49-F238E27FC236}">
                <a16:creationId xmlns:a16="http://schemas.microsoft.com/office/drawing/2014/main" id="{92E524C9-EF71-4319-A09A-A4E8CFA98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Ordered list</a:t>
            </a:r>
          </a:p>
        </p:txBody>
      </p:sp>
      <p:sp>
        <p:nvSpPr>
          <p:cNvPr id="8" name="array-index">
            <a:extLst xmlns:a="http://schemas.openxmlformats.org/drawingml/2006/main">
              <a:ext uri="{FF2B5EF4-FFF2-40B4-BE49-F238E27FC236}">
                <a16:creationId xmlns:a16="http://schemas.microsoft.com/office/drawing/2014/main" id="{55A64F9B-E4FD-4CC1-946D-472BA522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819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9" name="array-cell">
            <a:extLst xmlns:a="http://schemas.openxmlformats.org/drawingml/2006/main">
              <a:ext uri="{FF2B5EF4-FFF2-40B4-BE49-F238E27FC236}">
                <a16:creationId xmlns:a16="http://schemas.microsoft.com/office/drawing/2014/main" id="{7E65519E-B1BE-420B-9696-A8BB8D1BA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819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10" name="array-value">
            <a:extLst xmlns:a="http://schemas.openxmlformats.org/drawingml/2006/main">
              <a:ext uri="{FF2B5EF4-FFF2-40B4-BE49-F238E27FC236}">
                <a16:creationId xmlns:a16="http://schemas.microsoft.com/office/drawing/2014/main" id="{86E75E91-1B35-4178-A5B2-AC609921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781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11" name="array-index">
            <a:extLst xmlns:a="http://schemas.openxmlformats.org/drawingml/2006/main">
              <a:ext uri="{FF2B5EF4-FFF2-40B4-BE49-F238E27FC236}">
                <a16:creationId xmlns:a16="http://schemas.microsoft.com/office/drawing/2014/main" id="{6777A68C-2D0D-446D-B8CC-A1E1B1B28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171700"/>
            <a:ext cx="819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2" name="array-cell">
            <a:extLst xmlns:a="http://schemas.openxmlformats.org/drawingml/2006/main">
              <a:ext uri="{FF2B5EF4-FFF2-40B4-BE49-F238E27FC236}">
                <a16:creationId xmlns:a16="http://schemas.microsoft.com/office/drawing/2014/main" id="{ACD8E3DA-0F18-4B86-88B2-04E870F8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457450"/>
            <a:ext cx="819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13" name="array-value">
            <a:extLst xmlns:a="http://schemas.openxmlformats.org/drawingml/2006/main">
              <a:ext uri="{FF2B5EF4-FFF2-40B4-BE49-F238E27FC236}">
                <a16:creationId xmlns:a16="http://schemas.microsoft.com/office/drawing/2014/main" id="{4F888437-84B4-4B67-9DB7-4F491DD6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476500"/>
            <a:ext cx="781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18</a:t>
            </a:r>
          </a:p>
        </p:txBody>
      </p:sp>
      <p:sp>
        <p:nvSpPr>
          <p:cNvPr id="14" name="array-index">
            <a:extLst xmlns:a="http://schemas.openxmlformats.org/drawingml/2006/main">
              <a:ext uri="{FF2B5EF4-FFF2-40B4-BE49-F238E27FC236}">
                <a16:creationId xmlns:a16="http://schemas.microsoft.com/office/drawing/2014/main" id="{5D462A6D-4CF0-403E-9080-CAF0EE197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171700"/>
            <a:ext cx="819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5" name="array-cell">
            <a:extLst xmlns:a="http://schemas.openxmlformats.org/drawingml/2006/main">
              <a:ext uri="{FF2B5EF4-FFF2-40B4-BE49-F238E27FC236}">
                <a16:creationId xmlns:a16="http://schemas.microsoft.com/office/drawing/2014/main" id="{A3391AA8-4BBB-4BC9-83B7-2317A36A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457450"/>
            <a:ext cx="819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16" name="array-value">
            <a:extLst xmlns:a="http://schemas.openxmlformats.org/drawingml/2006/main">
              <a:ext uri="{FF2B5EF4-FFF2-40B4-BE49-F238E27FC236}">
                <a16:creationId xmlns:a16="http://schemas.microsoft.com/office/drawing/2014/main" id="{66F0D0C7-F899-44EA-81F6-7715B5ACC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476500"/>
            <a:ext cx="781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25</a:t>
            </a:r>
          </a:p>
        </p:txBody>
      </p:sp>
      <p:sp>
        <p:nvSpPr>
          <p:cNvPr id="17" name="array-index">
            <a:extLst xmlns:a="http://schemas.openxmlformats.org/drawingml/2006/main">
              <a:ext uri="{FF2B5EF4-FFF2-40B4-BE49-F238E27FC236}">
                <a16:creationId xmlns:a16="http://schemas.microsoft.com/office/drawing/2014/main" id="{0BC28408-529A-4E51-AC63-1A664A21E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171700"/>
            <a:ext cx="819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8" name="array-cell">
            <a:extLst xmlns:a="http://schemas.openxmlformats.org/drawingml/2006/main">
              <a:ext uri="{FF2B5EF4-FFF2-40B4-BE49-F238E27FC236}">
                <a16:creationId xmlns:a16="http://schemas.microsoft.com/office/drawing/2014/main" id="{D268F178-999F-4C8A-8DB3-27EA7606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57450"/>
            <a:ext cx="819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19" name="array-value">
            <a:extLst xmlns:a="http://schemas.openxmlformats.org/drawingml/2006/main">
              <a:ext uri="{FF2B5EF4-FFF2-40B4-BE49-F238E27FC236}">
                <a16:creationId xmlns:a16="http://schemas.microsoft.com/office/drawing/2014/main" id="{18F7BA31-E3FC-4039-87C6-3A9880AC5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476500"/>
            <a:ext cx="781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31</a:t>
            </a:r>
          </a:p>
        </p:txBody>
      </p:sp>
      <p:sp>
        <p:nvSpPr>
          <p:cNvPr id="20" name="array-index">
            <a:extLst xmlns:a="http://schemas.openxmlformats.org/drawingml/2006/main">
              <a:ext uri="{FF2B5EF4-FFF2-40B4-BE49-F238E27FC236}">
                <a16:creationId xmlns:a16="http://schemas.microsoft.com/office/drawing/2014/main" id="{0B483BB5-1AF9-47CA-9920-8FF87968F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71700"/>
            <a:ext cx="819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21" name="array-cell">
            <a:extLst xmlns:a="http://schemas.openxmlformats.org/drawingml/2006/main">
              <a:ext uri="{FF2B5EF4-FFF2-40B4-BE49-F238E27FC236}">
                <a16:creationId xmlns:a16="http://schemas.microsoft.com/office/drawing/2014/main" id="{B4556E53-3B22-4E9A-B328-154EEFC0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457450"/>
            <a:ext cx="819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22" name="array-value">
            <a:extLst xmlns:a="http://schemas.openxmlformats.org/drawingml/2006/main">
              <a:ext uri="{FF2B5EF4-FFF2-40B4-BE49-F238E27FC236}">
                <a16:creationId xmlns:a16="http://schemas.microsoft.com/office/drawing/2014/main" id="{0C716DC8-CFF6-419C-99BC-92C242FD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476500"/>
            <a:ext cx="781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44</a:t>
            </a:r>
          </a:p>
        </p:txBody>
      </p:sp>
      <p:sp>
        <p:nvSpPr>
          <p:cNvPr id="23" name="array-index">
            <a:extLst xmlns:a="http://schemas.openxmlformats.org/drawingml/2006/main">
              <a:ext uri="{FF2B5EF4-FFF2-40B4-BE49-F238E27FC236}">
                <a16:creationId xmlns:a16="http://schemas.microsoft.com/office/drawing/2014/main" id="{A33C74E2-C68B-4DA9-A168-7DBFAC845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171700"/>
            <a:ext cx="819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4" name="array-cell">
            <a:extLst xmlns:a="http://schemas.openxmlformats.org/drawingml/2006/main">
              <a:ext uri="{FF2B5EF4-FFF2-40B4-BE49-F238E27FC236}">
                <a16:creationId xmlns:a16="http://schemas.microsoft.com/office/drawing/2014/main" id="{0E10754C-293B-4B0A-BA8C-AB90FD6A3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457450"/>
            <a:ext cx="819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8FA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25" name="array-value">
            <a:extLst xmlns:a="http://schemas.openxmlformats.org/drawingml/2006/main">
              <a:ext uri="{FF2B5EF4-FFF2-40B4-BE49-F238E27FC236}">
                <a16:creationId xmlns:a16="http://schemas.microsoft.com/office/drawing/2014/main" id="{20560CE5-BF6D-4E7C-97F8-580A61E1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476500"/>
            <a:ext cx="781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—</a:t>
            </a:r>
          </a:p>
        </p:txBody>
      </p:sp>
      <p:sp>
        <p:nvSpPr>
          <p:cNvPr id="26" name="insert-27">
            <a:extLst xmlns:a="http://schemas.openxmlformats.org/drawingml/2006/main">
              <a:ext uri="{FF2B5EF4-FFF2-40B4-BE49-F238E27FC236}">
                <a16:creationId xmlns:a16="http://schemas.microsoft.com/office/drawing/2014/main" id="{0B864979-AD6C-4D84-8D2B-8FCC5358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95550"/>
            <a:ext cx="123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Insert 27</a:t>
            </a:r>
          </a:p>
        </p:txBody>
      </p:sp>
      <p:sp>
        <p:nvSpPr>
          <p:cNvPr id="27" name="insert-arrow">
            <a:extLst xmlns:a="http://schemas.openxmlformats.org/drawingml/2006/main">
              <a:ext uri="{FF2B5EF4-FFF2-40B4-BE49-F238E27FC236}">
                <a16:creationId xmlns:a16="http://schemas.microsoft.com/office/drawing/2014/main" id="{BFFDE6B3-670F-4C49-BB7E-D2F05604B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95550"/>
            <a:ext cx="523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8" name="array-index">
            <a:extLst xmlns:a="http://schemas.openxmlformats.org/drawingml/2006/main">
              <a:ext uri="{FF2B5EF4-FFF2-40B4-BE49-F238E27FC236}">
                <a16:creationId xmlns:a16="http://schemas.microsoft.com/office/drawing/2014/main" id="{10AF275A-89C3-4022-AFD8-0F4FEA78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717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29" name="array-cell">
            <a:extLst xmlns:a="http://schemas.openxmlformats.org/drawingml/2006/main">
              <a:ext uri="{FF2B5EF4-FFF2-40B4-BE49-F238E27FC236}">
                <a16:creationId xmlns:a16="http://schemas.microsoft.com/office/drawing/2014/main" id="{38C200ED-4864-40E0-9512-676C1408A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57450"/>
            <a:ext cx="514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30" name="array-value">
            <a:extLst xmlns:a="http://schemas.openxmlformats.org/drawingml/2006/main">
              <a:ext uri="{FF2B5EF4-FFF2-40B4-BE49-F238E27FC236}">
                <a16:creationId xmlns:a16="http://schemas.microsoft.com/office/drawing/2014/main" id="{8C815875-1339-4FFA-9C8E-F05B17DB1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76500"/>
            <a:ext cx="47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1" name="array-index">
            <a:extLst xmlns:a="http://schemas.openxmlformats.org/drawingml/2006/main">
              <a:ext uri="{FF2B5EF4-FFF2-40B4-BE49-F238E27FC236}">
                <a16:creationId xmlns:a16="http://schemas.microsoft.com/office/drawing/2014/main" id="{C7E203AC-161F-4B14-A4E2-23B32118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32" name="array-cell">
            <a:extLst xmlns:a="http://schemas.openxmlformats.org/drawingml/2006/main">
              <a:ext uri="{FF2B5EF4-FFF2-40B4-BE49-F238E27FC236}">
                <a16:creationId xmlns:a16="http://schemas.microsoft.com/office/drawing/2014/main" id="{0BAB3900-0020-46D2-826B-FF086903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57450"/>
            <a:ext cx="514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33" name="array-value">
            <a:extLst xmlns:a="http://schemas.openxmlformats.org/drawingml/2006/main">
              <a:ext uri="{FF2B5EF4-FFF2-40B4-BE49-F238E27FC236}">
                <a16:creationId xmlns:a16="http://schemas.microsoft.com/office/drawing/2014/main" id="{E63DFDFA-FA1C-4944-8216-92546A1C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76500"/>
            <a:ext cx="47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18</a:t>
            </a:r>
          </a:p>
        </p:txBody>
      </p:sp>
      <p:sp>
        <p:nvSpPr>
          <p:cNvPr id="34" name="array-index">
            <a:extLst xmlns:a="http://schemas.openxmlformats.org/drawingml/2006/main">
              <a:ext uri="{FF2B5EF4-FFF2-40B4-BE49-F238E27FC236}">
                <a16:creationId xmlns:a16="http://schemas.microsoft.com/office/drawing/2014/main" id="{09B03BAA-F6BA-44AA-AB05-B0B6A42A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1717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35" name="array-cell">
            <a:extLst xmlns:a="http://schemas.openxmlformats.org/drawingml/2006/main">
              <a:ext uri="{FF2B5EF4-FFF2-40B4-BE49-F238E27FC236}">
                <a16:creationId xmlns:a16="http://schemas.microsoft.com/office/drawing/2014/main" id="{9A38CD95-7D9C-4B71-8E4B-810A71B00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457450"/>
            <a:ext cx="514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36" name="array-value">
            <a:extLst xmlns:a="http://schemas.openxmlformats.org/drawingml/2006/main">
              <a:ext uri="{FF2B5EF4-FFF2-40B4-BE49-F238E27FC236}">
                <a16:creationId xmlns:a16="http://schemas.microsoft.com/office/drawing/2014/main" id="{32EEB797-C7FD-443E-AEB0-178E4BF6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476500"/>
            <a:ext cx="47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25</a:t>
            </a:r>
          </a:p>
        </p:txBody>
      </p:sp>
      <p:sp>
        <p:nvSpPr>
          <p:cNvPr id="37" name="array-index">
            <a:extLst xmlns:a="http://schemas.openxmlformats.org/drawingml/2006/main">
              <a:ext uri="{FF2B5EF4-FFF2-40B4-BE49-F238E27FC236}">
                <a16:creationId xmlns:a16="http://schemas.microsoft.com/office/drawing/2014/main" id="{4EF86001-F914-4978-8591-A05A2A1C7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1717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38" name="array-cell">
            <a:extLst xmlns:a="http://schemas.openxmlformats.org/drawingml/2006/main">
              <a:ext uri="{FF2B5EF4-FFF2-40B4-BE49-F238E27FC236}">
                <a16:creationId xmlns:a16="http://schemas.microsoft.com/office/drawing/2014/main" id="{9A8695D4-86D3-43B3-A170-7F08B11E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57450"/>
            <a:ext cx="514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39" name="array-value">
            <a:extLst xmlns:a="http://schemas.openxmlformats.org/drawingml/2006/main">
              <a:ext uri="{FF2B5EF4-FFF2-40B4-BE49-F238E27FC236}">
                <a16:creationId xmlns:a16="http://schemas.microsoft.com/office/drawing/2014/main" id="{1AA93D89-7F18-41FE-AAC6-C7341117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476500"/>
            <a:ext cx="47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27</a:t>
            </a:r>
          </a:p>
        </p:txBody>
      </p:sp>
      <p:sp>
        <p:nvSpPr>
          <p:cNvPr id="40" name="array-index">
            <a:extLst xmlns:a="http://schemas.openxmlformats.org/drawingml/2006/main">
              <a:ext uri="{FF2B5EF4-FFF2-40B4-BE49-F238E27FC236}">
                <a16:creationId xmlns:a16="http://schemas.microsoft.com/office/drawing/2014/main" id="{703E5DFC-9472-4BD1-9424-C682E3EB2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1717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41" name="array-cell">
            <a:extLst xmlns:a="http://schemas.openxmlformats.org/drawingml/2006/main">
              <a:ext uri="{FF2B5EF4-FFF2-40B4-BE49-F238E27FC236}">
                <a16:creationId xmlns:a16="http://schemas.microsoft.com/office/drawing/2014/main" id="{03AE1C9F-AC9F-4709-9634-1A22689D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457450"/>
            <a:ext cx="514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42" name="array-value">
            <a:extLst xmlns:a="http://schemas.openxmlformats.org/drawingml/2006/main">
              <a:ext uri="{FF2B5EF4-FFF2-40B4-BE49-F238E27FC236}">
                <a16:creationId xmlns:a16="http://schemas.microsoft.com/office/drawing/2014/main" id="{9428FC0F-E73E-4025-80E0-31D788EEB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476500"/>
            <a:ext cx="47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31</a:t>
            </a:r>
          </a:p>
        </p:txBody>
      </p:sp>
      <p:sp>
        <p:nvSpPr>
          <p:cNvPr id="43" name="array-index">
            <a:extLst xmlns:a="http://schemas.openxmlformats.org/drawingml/2006/main">
              <a:ext uri="{FF2B5EF4-FFF2-40B4-BE49-F238E27FC236}">
                <a16:creationId xmlns:a16="http://schemas.microsoft.com/office/drawing/2014/main" id="{028D3A8E-6906-4369-B8BA-94BB92EDD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17170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66B78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66B78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44" name="array-cell">
            <a:extLst xmlns:a="http://schemas.openxmlformats.org/drawingml/2006/main">
              <a:ext uri="{FF2B5EF4-FFF2-40B4-BE49-F238E27FC236}">
                <a16:creationId xmlns:a16="http://schemas.microsoft.com/office/drawing/2014/main" id="{17BC026E-2E2C-462A-8CD4-7D7542F93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457450"/>
            <a:ext cx="514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24A"/>
            </a:solidFill>
            <a:prstDash val="solid"/>
          </a:ln>
        </p:spPr>
      </p:sp>
      <p:sp>
        <p:nvSpPr>
          <p:cNvPr id="45" name="array-value">
            <a:extLst xmlns:a="http://schemas.openxmlformats.org/drawingml/2006/main">
              <a:ext uri="{FF2B5EF4-FFF2-40B4-BE49-F238E27FC236}">
                <a16:creationId xmlns:a16="http://schemas.microsoft.com/office/drawing/2014/main" id="{80CD523A-CD2B-45FD-AB9A-D57A8466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476500"/>
            <a:ext cx="47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44</a:t>
            </a:r>
          </a:p>
        </p:txBody>
      </p:sp>
      <p:sp>
        <p:nvSpPr>
          <p:cNvPr id="46" name="ordered-rule">
            <a:extLst xmlns:a="http://schemas.openxmlformats.org/drawingml/2006/main">
              <a:ext uri="{FF2B5EF4-FFF2-40B4-BE49-F238E27FC236}">
                <a16:creationId xmlns:a16="http://schemas.microsoft.com/office/drawing/2014/main" id="{99819D34-4D2F-47BE-B793-9E234D25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52850"/>
            <a:ext cx="10420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4F8FA"/>
          </a:solidFill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47" name="ordered-rule-text">
            <a:extLst xmlns:a="http://schemas.openxmlformats.org/drawingml/2006/main">
              <a:ext uri="{FF2B5EF4-FFF2-40B4-BE49-F238E27FC236}">
                <a16:creationId xmlns:a16="http://schemas.microsoft.com/office/drawing/2014/main" id="{1F4D1340-DF4C-4B6B-8E91-C67C9F4C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38575"/>
            <a:ext cx="10077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Invariant: after every operation, a[0] ≤ a[1] ≤ … ≤ a[n−1]</a:t>
            </a:r>
          </a:p>
        </p:txBody>
      </p:sp>
      <p:sp>
        <p:nvSpPr>
          <p:cNvPr id="48" name="ordered-operation">
            <a:extLst xmlns:a="http://schemas.openxmlformats.org/drawingml/2006/main">
              <a:ext uri="{FF2B5EF4-FFF2-40B4-BE49-F238E27FC236}">
                <a16:creationId xmlns:a16="http://schemas.microsoft.com/office/drawing/2014/main" id="{97C098F1-6DFE-499D-82B6-610E9EDF7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958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Binary search</a:t>
            </a:r>
          </a:p>
        </p:txBody>
      </p:sp>
      <p:sp>
        <p:nvSpPr>
          <p:cNvPr id="49" name="ordered-cost">
            <a:extLst xmlns:a="http://schemas.openxmlformats.org/drawingml/2006/main">
              <a:ext uri="{FF2B5EF4-FFF2-40B4-BE49-F238E27FC236}">
                <a16:creationId xmlns:a16="http://schemas.microsoft.com/office/drawing/2014/main" id="{7C140F0C-6B36-40F8-B866-07B2A0C3C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9587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0F766E"/>
                </a:solidFill>
                <a:latin typeface="Consolas"/>
                <a:ea typeface="Consolas"/>
                <a:cs typeface="Consolas"/>
              </a:defRPr>
            </a:pPr>
            <a:r>
              <a:rPr sz="2400" b="1">
                <a:solidFill>
                  <a:srgbClr val="0F766E"/>
                </a:solidFill>
                <a:latin typeface="Consolas"/>
                <a:ea typeface="Consolas"/>
                <a:cs typeface="Consolas"/>
              </a:rPr>
              <a:t>O(log n)</a:t>
            </a:r>
          </a:p>
        </p:txBody>
      </p:sp>
      <p:sp>
        <p:nvSpPr>
          <p:cNvPr id="50" name="ordered-operation">
            <a:extLst xmlns:a="http://schemas.openxmlformats.org/drawingml/2006/main">
              <a:ext uri="{FF2B5EF4-FFF2-40B4-BE49-F238E27FC236}">
                <a16:creationId xmlns:a16="http://schemas.microsoft.com/office/drawing/2014/main" id="{3C1CE1FD-70D8-4F0D-A05A-DC69E4BEA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6958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Find insert position</a:t>
            </a:r>
          </a:p>
        </p:txBody>
      </p:sp>
      <p:sp>
        <p:nvSpPr>
          <p:cNvPr id="51" name="ordered-cost">
            <a:extLst xmlns:a="http://schemas.openxmlformats.org/drawingml/2006/main">
              <a:ext uri="{FF2B5EF4-FFF2-40B4-BE49-F238E27FC236}">
                <a16:creationId xmlns:a16="http://schemas.microsoft.com/office/drawing/2014/main" id="{B17BDC58-2F76-400D-9CB2-621070ED4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9587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2324A"/>
                </a:solidFill>
                <a:latin typeface="Consolas"/>
                <a:ea typeface="Consolas"/>
                <a:cs typeface="Consolas"/>
              </a:defRPr>
            </a:pPr>
            <a:r>
              <a:rPr sz="2400" b="1">
                <a:solidFill>
                  <a:srgbClr val="12324A"/>
                </a:solidFill>
                <a:latin typeface="Consolas"/>
                <a:ea typeface="Consolas"/>
                <a:cs typeface="Consolas"/>
              </a:rPr>
              <a:t>O(log n)</a:t>
            </a:r>
          </a:p>
        </p:txBody>
      </p:sp>
      <p:sp>
        <p:nvSpPr>
          <p:cNvPr id="52" name="ordered-operation">
            <a:extLst xmlns:a="http://schemas.openxmlformats.org/drawingml/2006/main">
              <a:ext uri="{FF2B5EF4-FFF2-40B4-BE49-F238E27FC236}">
                <a16:creationId xmlns:a16="http://schemas.microsoft.com/office/drawing/2014/main" id="{F5E9B7A4-2C65-482B-ABED-6DBC5AD9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958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025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Shift elements</a:t>
            </a:r>
          </a:p>
        </p:txBody>
      </p:sp>
      <p:sp>
        <p:nvSpPr>
          <p:cNvPr id="53" name="ordered-cost">
            <a:extLst xmlns:a="http://schemas.openxmlformats.org/drawingml/2006/main">
              <a:ext uri="{FF2B5EF4-FFF2-40B4-BE49-F238E27FC236}">
                <a16:creationId xmlns:a16="http://schemas.microsoft.com/office/drawing/2014/main" id="{CBA92D0F-94F4-4F8F-9361-7AD3F77E3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9587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D97706"/>
                </a:solidFill>
                <a:latin typeface="Consolas"/>
                <a:ea typeface="Consolas"/>
                <a:cs typeface="Consolas"/>
              </a:defRPr>
            </a:pPr>
            <a:r>
              <a:rPr sz="2400" b="1">
                <a:solidFill>
                  <a:srgbClr val="D97706"/>
                </a:solidFill>
                <a:latin typeface="Consolas"/>
                <a:ea typeface="Consolas"/>
                <a:cs typeface="Consolas"/>
              </a:rPr>
              <a:t>O(n)</a:t>
            </a:r>
          </a:p>
        </p:txBody>
      </p:sp>
    </p:spTree>
    <p:extLst>
      <p:ext uri="{BB962C8B-B14F-4D97-AF65-F5344CB8AC3E}">
        <p14:creationId xmlns:p14="http://schemas.microsoft.com/office/powerpoint/2010/main" val="36579060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9" name="lesson-label">
            <a:extLst xmlns:a="http://schemas.openxmlformats.org/drawingml/2006/main">
              <a:ext uri="{FF2B5EF4-FFF2-40B4-BE49-F238E27FC236}">
                <a16:creationId xmlns:a16="http://schemas.microsoft.com/office/drawing/2014/main" id="{16D2C159-B7AD-4989-AE0E-871987772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 7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BA69927-0C73-45EB-B08A-27171F17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Sparse matrices should store only non-zero values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60E1CB77-A6D3-45AC-AB99-897DE3F58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4" name="divider">
            <a:extLst xmlns:a="http://schemas.openxmlformats.org/drawingml/2006/main">
              <a:ext uri="{FF2B5EF4-FFF2-40B4-BE49-F238E27FC236}">
                <a16:creationId xmlns:a16="http://schemas.microsoft.com/office/drawing/2014/main" id="{8FB155DD-777A-4888-BC8A-4831AC92F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5" name="footer-course">
            <a:extLst xmlns:a="http://schemas.openxmlformats.org/drawingml/2006/main">
              <a:ext uri="{FF2B5EF4-FFF2-40B4-BE49-F238E27FC236}">
                <a16:creationId xmlns:a16="http://schemas.microsoft.com/office/drawing/2014/main" id="{03C1622C-7568-40B5-92C2-C0C07BD8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81D90F87-4797-4CCB-B539-C23C22BE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055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7" name="dense-label">
            <a:extLst xmlns:a="http://schemas.openxmlformats.org/drawingml/2006/main">
              <a:ext uri="{FF2B5EF4-FFF2-40B4-BE49-F238E27FC236}">
                <a16:creationId xmlns:a16="http://schemas.microsoft.com/office/drawing/2014/main" id="{7808BE1D-A12C-4627-BB4E-5E6ADC706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335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Dense view</a:t>
            </a:r>
          </a:p>
        </p:txBody>
      </p:sp>
      <p:sp>
        <p:nvSpPr>
          <p:cNvPr id="8" name="matrix-cell">
            <a:extLst xmlns:a="http://schemas.openxmlformats.org/drawingml/2006/main">
              <a:ext uri="{FF2B5EF4-FFF2-40B4-BE49-F238E27FC236}">
                <a16:creationId xmlns:a16="http://schemas.microsoft.com/office/drawing/2014/main" id="{E75E0E29-0CAC-453E-8992-4259342E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24100"/>
            <a:ext cx="59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9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6C759B75-9CD6-4E04-9E48-C17AC4C38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33625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10" name="matrix-cell">
            <a:extLst xmlns:a="http://schemas.openxmlformats.org/drawingml/2006/main">
              <a:ext uri="{FF2B5EF4-FFF2-40B4-BE49-F238E27FC236}">
                <a16:creationId xmlns:a16="http://schemas.microsoft.com/office/drawing/2014/main" id="{58B8B7E5-1470-411B-807C-07FEDAAD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24100"/>
            <a:ext cx="59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11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E08DECE9-A1F2-4E7F-B486-F9897843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33625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12" name="matrix-cell">
            <a:extLst xmlns:a="http://schemas.openxmlformats.org/drawingml/2006/main">
              <a:ext uri="{FF2B5EF4-FFF2-40B4-BE49-F238E27FC236}">
                <a16:creationId xmlns:a16="http://schemas.microsoft.com/office/drawing/2014/main" id="{A063512A-AF5C-4EF7-B462-D0633AD82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324100"/>
            <a:ext cx="59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13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A6B003C2-C834-476E-B673-5D78242BA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333625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14" name="matrix-cell">
            <a:extLst xmlns:a="http://schemas.openxmlformats.org/drawingml/2006/main">
              <a:ext uri="{FF2B5EF4-FFF2-40B4-BE49-F238E27FC236}">
                <a16:creationId xmlns:a16="http://schemas.microsoft.com/office/drawing/2014/main" id="{CA187E70-B37D-4E8A-9E40-F8A6D5CE5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324100"/>
            <a:ext cx="59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15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393C05DD-39BF-4AF3-A361-B8E8A1577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333625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16" name="matrix-cell">
            <a:extLst xmlns:a="http://schemas.openxmlformats.org/drawingml/2006/main">
              <a:ext uri="{FF2B5EF4-FFF2-40B4-BE49-F238E27FC236}">
                <a16:creationId xmlns:a16="http://schemas.microsoft.com/office/drawing/2014/main" id="{C2EA6800-F63F-4F18-AFD6-7722733B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324100"/>
            <a:ext cx="59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17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3BF7BBDD-DF91-4D76-84A5-DE6298C14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333625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18" name="matrix-cell">
            <a:extLst xmlns:a="http://schemas.openxmlformats.org/drawingml/2006/main">
              <a:ext uri="{FF2B5EF4-FFF2-40B4-BE49-F238E27FC236}">
                <a16:creationId xmlns:a16="http://schemas.microsoft.com/office/drawing/2014/main" id="{B279FBAF-3308-41D0-9DCF-47774494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00350"/>
            <a:ext cx="59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19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FCF67838-09C6-4615-A487-6035950F3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09875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20" name="matrix-cell">
            <a:extLst xmlns:a="http://schemas.openxmlformats.org/drawingml/2006/main">
              <a:ext uri="{FF2B5EF4-FFF2-40B4-BE49-F238E27FC236}">
                <a16:creationId xmlns:a16="http://schemas.microsoft.com/office/drawing/2014/main" id="{0B1FC8AB-CB63-4B12-BC6B-021990B8A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800350"/>
            <a:ext cx="59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21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4A6A7DE2-2D8E-4724-A0AF-BF0E11C7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809875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22" name="matrix-cell">
            <a:extLst xmlns:a="http://schemas.openxmlformats.org/drawingml/2006/main">
              <a:ext uri="{FF2B5EF4-FFF2-40B4-BE49-F238E27FC236}">
                <a16:creationId xmlns:a16="http://schemas.microsoft.com/office/drawing/2014/main" id="{5C7DF537-3FA9-4358-822E-2E055287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800350"/>
            <a:ext cx="59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23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6F0D3798-47FC-43BB-A040-5B517DAFB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809875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24" name="matrix-cell">
            <a:extLst xmlns:a="http://schemas.openxmlformats.org/drawingml/2006/main">
              <a:ext uri="{FF2B5EF4-FFF2-40B4-BE49-F238E27FC236}">
                <a16:creationId xmlns:a16="http://schemas.microsoft.com/office/drawing/2014/main" id="{580EC002-D0F5-400E-8CF2-6F53DD8B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800350"/>
            <a:ext cx="59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25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F93F3C3C-DCC3-4582-A7DA-A9C4F396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809875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26" name="matrix-cell">
            <a:extLst xmlns:a="http://schemas.openxmlformats.org/drawingml/2006/main">
              <a:ext uri="{FF2B5EF4-FFF2-40B4-BE49-F238E27FC236}">
                <a16:creationId xmlns:a16="http://schemas.microsoft.com/office/drawing/2014/main" id="{70303269-2AAA-4BD7-BD85-152BB3756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800350"/>
            <a:ext cx="59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27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4F9563D4-1338-46B4-93F2-9E92219A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809875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9</a:t>
            </a:r>
          </a:p>
        </p:txBody>
      </p:sp>
      <p:sp>
        <p:nvSpPr>
          <p:cNvPr id="28" name="matrix-cell">
            <a:extLst xmlns:a="http://schemas.openxmlformats.org/drawingml/2006/main">
              <a:ext uri="{FF2B5EF4-FFF2-40B4-BE49-F238E27FC236}">
                <a16:creationId xmlns:a16="http://schemas.microsoft.com/office/drawing/2014/main" id="{7458D0DB-0CCC-4B42-81E0-EA8CCBD99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76600"/>
            <a:ext cx="59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29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5DB87191-CBBB-4580-A6CD-D54E0A62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86125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30" name="matrix-cell">
            <a:extLst xmlns:a="http://schemas.openxmlformats.org/drawingml/2006/main">
              <a:ext uri="{FF2B5EF4-FFF2-40B4-BE49-F238E27FC236}">
                <a16:creationId xmlns:a16="http://schemas.microsoft.com/office/drawing/2014/main" id="{00FA221A-B4D4-4EEB-8C42-8DEAC6BFC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76600"/>
            <a:ext cx="59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31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C1687233-A866-44FB-9791-73EDE4FC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86125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32" name="matrix-cell">
            <a:extLst xmlns:a="http://schemas.openxmlformats.org/drawingml/2006/main">
              <a:ext uri="{FF2B5EF4-FFF2-40B4-BE49-F238E27FC236}">
                <a16:creationId xmlns:a16="http://schemas.microsoft.com/office/drawing/2014/main" id="{5C5A9881-C373-4DC3-93CE-EDA640E78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276600"/>
            <a:ext cx="59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33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7AA22F84-755F-4E7C-AA77-6160340C0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286125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34" name="matrix-cell">
            <a:extLst xmlns:a="http://schemas.openxmlformats.org/drawingml/2006/main">
              <a:ext uri="{FF2B5EF4-FFF2-40B4-BE49-F238E27FC236}">
                <a16:creationId xmlns:a16="http://schemas.microsoft.com/office/drawing/2014/main" id="{C387DA51-5053-4F49-BE2B-2B5C2ADC3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276600"/>
            <a:ext cx="59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35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52C59325-7D05-4F57-8517-1A103787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286125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36" name="matrix-cell">
            <a:extLst xmlns:a="http://schemas.openxmlformats.org/drawingml/2006/main">
              <a:ext uri="{FF2B5EF4-FFF2-40B4-BE49-F238E27FC236}">
                <a16:creationId xmlns:a16="http://schemas.microsoft.com/office/drawing/2014/main" id="{93B00899-C536-4384-B96B-2D4EC5581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276600"/>
            <a:ext cx="59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37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BDE6C6C0-ADC2-4264-8D5A-DC2D26D78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286125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38" name="matrix-cell">
            <a:extLst xmlns:a="http://schemas.openxmlformats.org/drawingml/2006/main">
              <a:ext uri="{FF2B5EF4-FFF2-40B4-BE49-F238E27FC236}">
                <a16:creationId xmlns:a16="http://schemas.microsoft.com/office/drawing/2014/main" id="{1E773D41-AEF1-49C2-8235-E7146DEFE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52850"/>
            <a:ext cx="59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39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BA212ADE-8626-4E6D-A5CC-67A548F5A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62375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40" name="matrix-cell">
            <a:extLst xmlns:a="http://schemas.openxmlformats.org/drawingml/2006/main">
              <a:ext uri="{FF2B5EF4-FFF2-40B4-BE49-F238E27FC236}">
                <a16:creationId xmlns:a16="http://schemas.microsoft.com/office/drawing/2014/main" id="{876B682B-26FB-42E0-AA8F-3DB76519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752850"/>
            <a:ext cx="59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41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756EC853-5442-4A0C-A487-5756C2B77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762375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42" name="matrix-cell">
            <a:extLst xmlns:a="http://schemas.openxmlformats.org/drawingml/2006/main">
              <a:ext uri="{FF2B5EF4-FFF2-40B4-BE49-F238E27FC236}">
                <a16:creationId xmlns:a16="http://schemas.microsoft.com/office/drawing/2014/main" id="{674AB02D-A571-4C0A-982E-2D9F0C777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752850"/>
            <a:ext cx="59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43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40821E18-C175-4B8D-AE61-AD83DC010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762375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44" name="matrix-cell">
            <a:extLst xmlns:a="http://schemas.openxmlformats.org/drawingml/2006/main">
              <a:ext uri="{FF2B5EF4-FFF2-40B4-BE49-F238E27FC236}">
                <a16:creationId xmlns:a16="http://schemas.microsoft.com/office/drawing/2014/main" id="{A5CFA8C2-9BE6-4CB1-91B7-730B809B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752850"/>
            <a:ext cx="59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45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8FF918E7-BC6E-4C02-B6E6-64E1BD560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762375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46" name="matrix-cell">
            <a:extLst xmlns:a="http://schemas.openxmlformats.org/drawingml/2006/main">
              <a:ext uri="{FF2B5EF4-FFF2-40B4-BE49-F238E27FC236}">
                <a16:creationId xmlns:a16="http://schemas.microsoft.com/office/drawing/2014/main" id="{D17D1E53-E81F-40D8-A97D-DB0773F10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752850"/>
            <a:ext cx="59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4"/>
          </a:solidFill>
          <a:ln xmlns:a="http://schemas.openxmlformats.org/drawingml/2006/main" w="11430">
            <a:solidFill>
              <a:srgbClr val="12324A"/>
            </a:solidFill>
            <a:prstDash val="solid"/>
          </a:ln>
        </p:spPr>
      </p:sp>
      <p:sp>
        <p:nvSpPr>
          <p:cNvPr id="47" name="matrix-value">
            <a:extLst xmlns:a="http://schemas.openxmlformats.org/drawingml/2006/main">
              <a:ext uri="{FF2B5EF4-FFF2-40B4-BE49-F238E27FC236}">
                <a16:creationId xmlns:a16="http://schemas.microsoft.com/office/drawing/2014/main" id="{D6A91748-D59C-479A-ACC0-77D9F8686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762375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48" name="dense-desc">
            <a:extLst xmlns:a="http://schemas.openxmlformats.org/drawingml/2006/main">
              <a:ext uri="{FF2B5EF4-FFF2-40B4-BE49-F238E27FC236}">
                <a16:creationId xmlns:a16="http://schemas.microsoft.com/office/drawing/2014/main" id="{CC72C6D3-3729-4666-8991-56630694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4 × 5 matrix; 4 non-zero values</a:t>
            </a:r>
          </a:p>
        </p:txBody>
      </p:sp>
      <p:sp>
        <p:nvSpPr>
          <p:cNvPr id="49" name="sparse-arrow">
            <a:extLst xmlns:a="http://schemas.openxmlformats.org/drawingml/2006/main">
              <a:ext uri="{FF2B5EF4-FFF2-40B4-BE49-F238E27FC236}">
                <a16:creationId xmlns:a16="http://schemas.microsoft.com/office/drawing/2014/main" id="{282BAD50-A3AF-4A52-8273-EF9F8CDD0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90850"/>
            <a:ext cx="723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50" name="triplet-label">
            <a:extLst xmlns:a="http://schemas.openxmlformats.org/drawingml/2006/main">
              <a:ext uri="{FF2B5EF4-FFF2-40B4-BE49-F238E27FC236}">
                <a16:creationId xmlns:a16="http://schemas.microsoft.com/office/drawing/2014/main" id="{2D0BA422-2289-4FFE-86CE-4F96916F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73355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Triplet representation</a:t>
            </a:r>
          </a:p>
        </p:txBody>
      </p:sp>
      <p:sp>
        <p:nvSpPr>
          <p:cNvPr id="51" name="triplet-cell">
            <a:extLst xmlns:a="http://schemas.openxmlformats.org/drawingml/2006/main">
              <a:ext uri="{FF2B5EF4-FFF2-40B4-BE49-F238E27FC236}">
                <a16:creationId xmlns:a16="http://schemas.microsoft.com/office/drawing/2014/main" id="{47E09F47-3D24-4E7B-B1E5-B85A55B5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4790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24A"/>
          </a:solidFill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52" name="triplet-text">
            <a:extLst xmlns:a="http://schemas.openxmlformats.org/drawingml/2006/main">
              <a:ext uri="{FF2B5EF4-FFF2-40B4-BE49-F238E27FC236}">
                <a16:creationId xmlns:a16="http://schemas.microsoft.com/office/drawing/2014/main" id="{8090F5FD-D3DF-4B99-B59F-E2C999C80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257425"/>
            <a:ext cx="1409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row</a:t>
            </a:r>
          </a:p>
        </p:txBody>
      </p:sp>
      <p:sp>
        <p:nvSpPr>
          <p:cNvPr id="53" name="triplet-cell">
            <a:extLst xmlns:a="http://schemas.openxmlformats.org/drawingml/2006/main">
              <a:ext uri="{FF2B5EF4-FFF2-40B4-BE49-F238E27FC236}">
                <a16:creationId xmlns:a16="http://schemas.microsoft.com/office/drawing/2014/main" id="{F68D4348-FC6D-4FCB-B301-FF8E02E8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4790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24A"/>
          </a:solidFill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54" name="triplet-text">
            <a:extLst xmlns:a="http://schemas.openxmlformats.org/drawingml/2006/main">
              <a:ext uri="{FF2B5EF4-FFF2-40B4-BE49-F238E27FC236}">
                <a16:creationId xmlns:a16="http://schemas.microsoft.com/office/drawing/2014/main" id="{AE56C479-9196-4C0A-8967-DE653B19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57425"/>
            <a:ext cx="1409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col</a:t>
            </a:r>
          </a:p>
        </p:txBody>
      </p:sp>
      <p:sp>
        <p:nvSpPr>
          <p:cNvPr id="55" name="triplet-cell">
            <a:extLst xmlns:a="http://schemas.openxmlformats.org/drawingml/2006/main">
              <a:ext uri="{FF2B5EF4-FFF2-40B4-BE49-F238E27FC236}">
                <a16:creationId xmlns:a16="http://schemas.microsoft.com/office/drawing/2014/main" id="{EB95A8F8-1856-4A33-BCFF-396AD2D5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24790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24A"/>
          </a:solidFill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56" name="triplet-text">
            <a:extLst xmlns:a="http://schemas.openxmlformats.org/drawingml/2006/main">
              <a:ext uri="{FF2B5EF4-FFF2-40B4-BE49-F238E27FC236}">
                <a16:creationId xmlns:a16="http://schemas.microsoft.com/office/drawing/2014/main" id="{E3F8EC41-A1DD-4EF7-B7D6-DE3A9E58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257425"/>
            <a:ext cx="1409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value</a:t>
            </a:r>
          </a:p>
        </p:txBody>
      </p:sp>
      <p:sp>
        <p:nvSpPr>
          <p:cNvPr id="57" name="triplet-cell">
            <a:extLst xmlns:a="http://schemas.openxmlformats.org/drawingml/2006/main">
              <a:ext uri="{FF2B5EF4-FFF2-40B4-BE49-F238E27FC236}">
                <a16:creationId xmlns:a16="http://schemas.microsoft.com/office/drawing/2014/main" id="{AE9AE334-A13E-4502-A30F-9B7EAA1F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4320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7"/>
          </a:solidFill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58" name="triplet-text">
            <a:extLst xmlns:a="http://schemas.openxmlformats.org/drawingml/2006/main">
              <a:ext uri="{FF2B5EF4-FFF2-40B4-BE49-F238E27FC236}">
                <a16:creationId xmlns:a16="http://schemas.microsoft.com/office/drawing/2014/main" id="{D12F3527-ED47-4607-9A9C-91FA32B1D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52725"/>
            <a:ext cx="1409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D97706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D97706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59" name="triplet-cell">
            <a:extLst xmlns:a="http://schemas.openxmlformats.org/drawingml/2006/main">
              <a:ext uri="{FF2B5EF4-FFF2-40B4-BE49-F238E27FC236}">
                <a16:creationId xmlns:a16="http://schemas.microsoft.com/office/drawing/2014/main" id="{44EED8E5-94FF-45A4-B33A-AF519B6A1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74320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7"/>
          </a:solidFill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60" name="triplet-text">
            <a:extLst xmlns:a="http://schemas.openxmlformats.org/drawingml/2006/main">
              <a:ext uri="{FF2B5EF4-FFF2-40B4-BE49-F238E27FC236}">
                <a16:creationId xmlns:a16="http://schemas.microsoft.com/office/drawing/2014/main" id="{16511731-F238-4802-AE25-D33A1198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752725"/>
            <a:ext cx="1409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D97706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D97706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61" name="triplet-cell">
            <a:extLst xmlns:a="http://schemas.openxmlformats.org/drawingml/2006/main">
              <a:ext uri="{FF2B5EF4-FFF2-40B4-BE49-F238E27FC236}">
                <a16:creationId xmlns:a16="http://schemas.microsoft.com/office/drawing/2014/main" id="{E6FE3385-2E37-426E-A82B-62C2C76BC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74320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E7"/>
          </a:solidFill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62" name="triplet-text">
            <a:extLst xmlns:a="http://schemas.openxmlformats.org/drawingml/2006/main">
              <a:ext uri="{FF2B5EF4-FFF2-40B4-BE49-F238E27FC236}">
                <a16:creationId xmlns:a16="http://schemas.microsoft.com/office/drawing/2014/main" id="{B14E483B-500D-44A2-873D-D0A771374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752725"/>
            <a:ext cx="1409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D97706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D97706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63" name="triplet-cell">
            <a:extLst xmlns:a="http://schemas.openxmlformats.org/drawingml/2006/main">
              <a:ext uri="{FF2B5EF4-FFF2-40B4-BE49-F238E27FC236}">
                <a16:creationId xmlns:a16="http://schemas.microsoft.com/office/drawing/2014/main" id="{8C808C90-F553-42FC-B5D5-6851AF6D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3850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64" name="triplet-text">
            <a:extLst xmlns:a="http://schemas.openxmlformats.org/drawingml/2006/main">
              <a:ext uri="{FF2B5EF4-FFF2-40B4-BE49-F238E27FC236}">
                <a16:creationId xmlns:a16="http://schemas.microsoft.com/office/drawing/2014/main" id="{1BD6B64F-4DBB-437F-A242-4FEFE380F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48025"/>
            <a:ext cx="1409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65" name="triplet-cell">
            <a:extLst xmlns:a="http://schemas.openxmlformats.org/drawingml/2006/main">
              <a:ext uri="{FF2B5EF4-FFF2-40B4-BE49-F238E27FC236}">
                <a16:creationId xmlns:a16="http://schemas.microsoft.com/office/drawing/2014/main" id="{2A100316-C4AB-4459-AB5C-0EFC0663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23850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66" name="triplet-text">
            <a:extLst xmlns:a="http://schemas.openxmlformats.org/drawingml/2006/main">
              <a:ext uri="{FF2B5EF4-FFF2-40B4-BE49-F238E27FC236}">
                <a16:creationId xmlns:a16="http://schemas.microsoft.com/office/drawing/2014/main" id="{7199C31C-7827-419E-8BA0-1E1ABF31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248025"/>
            <a:ext cx="1409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67" name="triplet-cell">
            <a:extLst xmlns:a="http://schemas.openxmlformats.org/drawingml/2006/main">
              <a:ext uri="{FF2B5EF4-FFF2-40B4-BE49-F238E27FC236}">
                <a16:creationId xmlns:a16="http://schemas.microsoft.com/office/drawing/2014/main" id="{97C95B94-D399-4755-8848-BE81546F0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23850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68" name="triplet-text">
            <a:extLst xmlns:a="http://schemas.openxmlformats.org/drawingml/2006/main">
              <a:ext uri="{FF2B5EF4-FFF2-40B4-BE49-F238E27FC236}">
                <a16:creationId xmlns:a16="http://schemas.microsoft.com/office/drawing/2014/main" id="{410E566B-2138-421F-9C76-DD96D3F63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248025"/>
            <a:ext cx="1409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7</a:t>
            </a:r>
          </a:p>
        </p:txBody>
      </p:sp>
      <p:sp>
        <p:nvSpPr>
          <p:cNvPr id="69" name="triplet-cell">
            <a:extLst xmlns:a="http://schemas.openxmlformats.org/drawingml/2006/main">
              <a:ext uri="{FF2B5EF4-FFF2-40B4-BE49-F238E27FC236}">
                <a16:creationId xmlns:a16="http://schemas.microsoft.com/office/drawing/2014/main" id="{4D14031F-8A9A-4B21-A752-7D08A880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3380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70" name="triplet-text">
            <a:extLst xmlns:a="http://schemas.openxmlformats.org/drawingml/2006/main">
              <a:ext uri="{FF2B5EF4-FFF2-40B4-BE49-F238E27FC236}">
                <a16:creationId xmlns:a16="http://schemas.microsoft.com/office/drawing/2014/main" id="{DD7C7972-9BD3-4A62-BF4B-78252CF3E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43325"/>
            <a:ext cx="1409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71" name="triplet-cell">
            <a:extLst xmlns:a="http://schemas.openxmlformats.org/drawingml/2006/main">
              <a:ext uri="{FF2B5EF4-FFF2-40B4-BE49-F238E27FC236}">
                <a16:creationId xmlns:a16="http://schemas.microsoft.com/office/drawing/2014/main" id="{C9A19957-DFAB-417D-A218-9B0421238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73380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72" name="triplet-text">
            <a:extLst xmlns:a="http://schemas.openxmlformats.org/drawingml/2006/main">
              <a:ext uri="{FF2B5EF4-FFF2-40B4-BE49-F238E27FC236}">
                <a16:creationId xmlns:a16="http://schemas.microsoft.com/office/drawing/2014/main" id="{121B0AE7-FD2B-4C78-80AF-AE9B50960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743325"/>
            <a:ext cx="1409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73" name="triplet-cell">
            <a:extLst xmlns:a="http://schemas.openxmlformats.org/drawingml/2006/main">
              <a:ext uri="{FF2B5EF4-FFF2-40B4-BE49-F238E27FC236}">
                <a16:creationId xmlns:a16="http://schemas.microsoft.com/office/drawing/2014/main" id="{64631132-29B2-477A-83F0-BB5C8B504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73380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74" name="triplet-text">
            <a:extLst xmlns:a="http://schemas.openxmlformats.org/drawingml/2006/main">
              <a:ext uri="{FF2B5EF4-FFF2-40B4-BE49-F238E27FC236}">
                <a16:creationId xmlns:a16="http://schemas.microsoft.com/office/drawing/2014/main" id="{A037618E-5A81-4B00-A04E-969BEF4C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743325"/>
            <a:ext cx="1409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9</a:t>
            </a:r>
          </a:p>
        </p:txBody>
      </p:sp>
      <p:sp>
        <p:nvSpPr>
          <p:cNvPr id="75" name="triplet-cell">
            <a:extLst xmlns:a="http://schemas.openxmlformats.org/drawingml/2006/main">
              <a:ext uri="{FF2B5EF4-FFF2-40B4-BE49-F238E27FC236}">
                <a16:creationId xmlns:a16="http://schemas.microsoft.com/office/drawing/2014/main" id="{CF9EDAE3-3A73-4728-B7AA-316727C25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22910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76" name="triplet-text">
            <a:extLst xmlns:a="http://schemas.openxmlformats.org/drawingml/2006/main">
              <a:ext uri="{FF2B5EF4-FFF2-40B4-BE49-F238E27FC236}">
                <a16:creationId xmlns:a16="http://schemas.microsoft.com/office/drawing/2014/main" id="{FB5D0709-971F-4C7B-8A9C-EF15C3C7D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238625"/>
            <a:ext cx="1409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77" name="triplet-cell">
            <a:extLst xmlns:a="http://schemas.openxmlformats.org/drawingml/2006/main">
              <a:ext uri="{FF2B5EF4-FFF2-40B4-BE49-F238E27FC236}">
                <a16:creationId xmlns:a16="http://schemas.microsoft.com/office/drawing/2014/main" id="{D69FF5F2-1047-418D-8C5A-971EB892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22910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78" name="triplet-text">
            <a:extLst xmlns:a="http://schemas.openxmlformats.org/drawingml/2006/main">
              <a:ext uri="{FF2B5EF4-FFF2-40B4-BE49-F238E27FC236}">
                <a16:creationId xmlns:a16="http://schemas.microsoft.com/office/drawing/2014/main" id="{67291F21-CBB4-4412-B55D-74397F393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238625"/>
            <a:ext cx="1409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79" name="triplet-cell">
            <a:extLst xmlns:a="http://schemas.openxmlformats.org/drawingml/2006/main">
              <a:ext uri="{FF2B5EF4-FFF2-40B4-BE49-F238E27FC236}">
                <a16:creationId xmlns:a16="http://schemas.microsoft.com/office/drawing/2014/main" id="{D3B56F6E-5E9B-4A1B-A344-381DE716F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22910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80" name="triplet-text">
            <a:extLst xmlns:a="http://schemas.openxmlformats.org/drawingml/2006/main">
              <a:ext uri="{FF2B5EF4-FFF2-40B4-BE49-F238E27FC236}">
                <a16:creationId xmlns:a16="http://schemas.microsoft.com/office/drawing/2014/main" id="{86DA0376-9A2D-4ED3-9437-86922493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238625"/>
            <a:ext cx="1409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81" name="triplet-cell">
            <a:extLst xmlns:a="http://schemas.openxmlformats.org/drawingml/2006/main">
              <a:ext uri="{FF2B5EF4-FFF2-40B4-BE49-F238E27FC236}">
                <a16:creationId xmlns:a16="http://schemas.microsoft.com/office/drawing/2014/main" id="{5C2CDD7B-A985-46FA-8666-31A2ECDCC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72440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82" name="triplet-text">
            <a:extLst xmlns:a="http://schemas.openxmlformats.org/drawingml/2006/main">
              <a:ext uri="{FF2B5EF4-FFF2-40B4-BE49-F238E27FC236}">
                <a16:creationId xmlns:a16="http://schemas.microsoft.com/office/drawing/2014/main" id="{DD3D706C-BBC8-4835-9FB0-DA19DC7CA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733925"/>
            <a:ext cx="1409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83" name="triplet-cell">
            <a:extLst xmlns:a="http://schemas.openxmlformats.org/drawingml/2006/main">
              <a:ext uri="{FF2B5EF4-FFF2-40B4-BE49-F238E27FC236}">
                <a16:creationId xmlns:a16="http://schemas.microsoft.com/office/drawing/2014/main" id="{DDE8B60C-A22B-42C5-A1D0-F14CF797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72440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84" name="triplet-text">
            <a:extLst xmlns:a="http://schemas.openxmlformats.org/drawingml/2006/main">
              <a:ext uri="{FF2B5EF4-FFF2-40B4-BE49-F238E27FC236}">
                <a16:creationId xmlns:a16="http://schemas.microsoft.com/office/drawing/2014/main" id="{7E4D9F70-7409-491F-B9E7-329F51813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733925"/>
            <a:ext cx="1409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85" name="triplet-cell">
            <a:extLst xmlns:a="http://schemas.openxmlformats.org/drawingml/2006/main">
              <a:ext uri="{FF2B5EF4-FFF2-40B4-BE49-F238E27FC236}">
                <a16:creationId xmlns:a16="http://schemas.microsoft.com/office/drawing/2014/main" id="{B84BA2B8-A987-4D2D-8D9B-2A321BFA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724400"/>
            <a:ext cx="1409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86" name="triplet-text">
            <a:extLst xmlns:a="http://schemas.openxmlformats.org/drawingml/2006/main">
              <a:ext uri="{FF2B5EF4-FFF2-40B4-BE49-F238E27FC236}">
                <a16:creationId xmlns:a16="http://schemas.microsoft.com/office/drawing/2014/main" id="{1D2122F5-E537-42F8-9698-2542006C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733925"/>
            <a:ext cx="1409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87" name="sparse-note">
            <a:extLst xmlns:a="http://schemas.openxmlformats.org/drawingml/2006/main">
              <a:ext uri="{FF2B5EF4-FFF2-40B4-BE49-F238E27FC236}">
                <a16:creationId xmlns:a16="http://schemas.microsoft.com/office/drawing/2014/main" id="{70E027D4-2D61-4184-A59E-59EFB2E1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314950"/>
            <a:ext cx="5048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0">
            <a:solidFill>
              <a:srgbClr val="EAF6F4"/>
            </a:solidFill>
            <a:prstDash val="solid"/>
          </a:ln>
        </p:spPr>
      </p:sp>
      <p:sp>
        <p:nvSpPr>
          <p:cNvPr id="88" name="sparse-note-text">
            <a:extLst xmlns:a="http://schemas.openxmlformats.org/drawingml/2006/main">
              <a:ext uri="{FF2B5EF4-FFF2-40B4-BE49-F238E27FC236}">
                <a16:creationId xmlns:a16="http://schemas.microsoft.com/office/drawing/2014/main" id="{A4FA523E-B6EB-437D-AD98-C68BA817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353050"/>
            <a:ext cx="4819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Store (row, column, value) for each non-zero entry.</a:t>
            </a:r>
          </a:p>
        </p:txBody>
      </p:sp>
    </p:spTree>
    <p:extLst>
      <p:ext uri="{BB962C8B-B14F-4D97-AF65-F5344CB8AC3E}">
        <p14:creationId xmlns:p14="http://schemas.microsoft.com/office/powerpoint/2010/main" val="182544600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lesson-label">
            <a:extLst xmlns:a="http://schemas.openxmlformats.org/drawingml/2006/main">
              <a:ext uri="{FF2B5EF4-FFF2-40B4-BE49-F238E27FC236}">
                <a16:creationId xmlns:a16="http://schemas.microsoft.com/office/drawing/2014/main" id="{B9CA505D-77CE-4183-8437-089631F2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LECTURES 5–7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E9A04AF-6141-4D23-A5D0-C6FAF79F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Choose the representation that matches the data</a:t>
            </a:r>
          </a:p>
        </p:txBody>
      </p:sp>
      <p:sp>
        <p:nvSpPr>
          <p:cNvPr id="3" name="divider">
            <a:extLst xmlns:a="http://schemas.openxmlformats.org/drawingml/2006/main">
              <a:ext uri="{FF2B5EF4-FFF2-40B4-BE49-F238E27FC236}">
                <a16:creationId xmlns:a16="http://schemas.microsoft.com/office/drawing/2014/main" id="{25AFFC71-625F-4082-9231-026E837A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4" name="divider">
            <a:extLst xmlns:a="http://schemas.openxmlformats.org/drawingml/2006/main">
              <a:ext uri="{FF2B5EF4-FFF2-40B4-BE49-F238E27FC236}">
                <a16:creationId xmlns:a16="http://schemas.microsoft.com/office/drawing/2014/main" id="{9C64A39D-EE15-4BA1-8F7D-0963F380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DE"/>
            </a:solidFill>
            <a:prstDash val="solid"/>
          </a:ln>
        </p:spPr>
      </p:sp>
      <p:sp>
        <p:nvSpPr>
          <p:cNvPr id="5" name="footer-course">
            <a:extLst xmlns:a="http://schemas.openxmlformats.org/drawingml/2006/main">
              <a:ext uri="{FF2B5EF4-FFF2-40B4-BE49-F238E27FC236}">
                <a16:creationId xmlns:a16="http://schemas.microsoft.com/office/drawing/2014/main" id="{340755C2-D779-42D2-8FED-EB640B11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TCS302  •  UNIT I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94610E60-4AB9-4355-8EC7-C0E6690C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5055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66B78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7" name="scenario">
            <a:extLst xmlns:a="http://schemas.openxmlformats.org/drawingml/2006/main">
              <a:ext uri="{FF2B5EF4-FFF2-40B4-BE49-F238E27FC236}">
                <a16:creationId xmlns:a16="http://schemas.microsoft.com/office/drawing/2014/main" id="{CE761786-566F-4B52-A0CC-F4C92B02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33550"/>
            <a:ext cx="571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Need constant-time indexed access</a:t>
            </a:r>
          </a:p>
        </p:txBody>
      </p:sp>
      <p:sp>
        <p:nvSpPr>
          <p:cNvPr id="8" name="choice-arrow">
            <a:extLst xmlns:a="http://schemas.openxmlformats.org/drawingml/2006/main">
              <a:ext uri="{FF2B5EF4-FFF2-40B4-BE49-F238E27FC236}">
                <a16:creationId xmlns:a16="http://schemas.microsoft.com/office/drawing/2014/main" id="{F82203F0-757D-45CC-862C-A2E7107B7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33550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choice-bg">
            <a:extLst xmlns:a="http://schemas.openxmlformats.org/drawingml/2006/main">
              <a:ext uri="{FF2B5EF4-FFF2-40B4-BE49-F238E27FC236}">
                <a16:creationId xmlns:a16="http://schemas.microsoft.com/office/drawing/2014/main" id="{1C576CC9-CB7D-4991-BC75-52C9268F5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81175"/>
            <a:ext cx="3333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0">
            <a:solidFill>
              <a:srgbClr val="EAF6F4"/>
            </a:solidFill>
            <a:prstDash val="solid"/>
          </a:ln>
        </p:spPr>
      </p:sp>
      <p:sp>
        <p:nvSpPr>
          <p:cNvPr id="10" name="choice">
            <a:extLst xmlns:a="http://schemas.openxmlformats.org/drawingml/2006/main">
              <a:ext uri="{FF2B5EF4-FFF2-40B4-BE49-F238E27FC236}">
                <a16:creationId xmlns:a16="http://schemas.microsoft.com/office/drawing/2014/main" id="{E9174744-9811-490F-A4C4-05AC9CE2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00225"/>
            <a:ext cx="302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1D array</a:t>
            </a:r>
          </a:p>
        </p:txBody>
      </p:sp>
      <p:sp>
        <p:nvSpPr>
          <p:cNvPr id="11" name="divider">
            <a:extLst xmlns:a="http://schemas.openxmlformats.org/drawingml/2006/main">
              <a:ext uri="{FF2B5EF4-FFF2-40B4-BE49-F238E27FC236}">
                <a16:creationId xmlns:a16="http://schemas.microsoft.com/office/drawing/2014/main" id="{65C2FBD5-225D-4916-BA59-9B75AD9E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52675"/>
            <a:ext cx="996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EEF1"/>
            </a:solidFill>
            <a:prstDash val="solid"/>
          </a:ln>
        </p:spPr>
      </p:sp>
      <p:sp>
        <p:nvSpPr>
          <p:cNvPr id="12" name="scenario">
            <a:extLst xmlns:a="http://schemas.openxmlformats.org/drawingml/2006/main">
              <a:ext uri="{FF2B5EF4-FFF2-40B4-BE49-F238E27FC236}">
                <a16:creationId xmlns:a16="http://schemas.microsoft.com/office/drawing/2014/main" id="{C66C9D17-F11A-44E6-863E-8AA333897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76500"/>
            <a:ext cx="571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Model a rectangular C table</a:t>
            </a:r>
          </a:p>
        </p:txBody>
      </p:sp>
      <p:sp>
        <p:nvSpPr>
          <p:cNvPr id="13" name="choice-arrow">
            <a:extLst xmlns:a="http://schemas.openxmlformats.org/drawingml/2006/main">
              <a:ext uri="{FF2B5EF4-FFF2-40B4-BE49-F238E27FC236}">
                <a16:creationId xmlns:a16="http://schemas.microsoft.com/office/drawing/2014/main" id="{890D39B0-8AE3-4C4F-8988-C46ABD1D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76500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choice-bg">
            <a:extLst xmlns:a="http://schemas.openxmlformats.org/drawingml/2006/main">
              <a:ext uri="{FF2B5EF4-FFF2-40B4-BE49-F238E27FC236}">
                <a16:creationId xmlns:a16="http://schemas.microsoft.com/office/drawing/2014/main" id="{598C4090-D443-405D-A764-595D3014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24125"/>
            <a:ext cx="3333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0">
            <a:solidFill>
              <a:srgbClr val="EAF6F4"/>
            </a:solidFill>
            <a:prstDash val="solid"/>
          </a:ln>
        </p:spPr>
      </p:sp>
      <p:sp>
        <p:nvSpPr>
          <p:cNvPr id="15" name="choice">
            <a:extLst xmlns:a="http://schemas.openxmlformats.org/drawingml/2006/main">
              <a:ext uri="{FF2B5EF4-FFF2-40B4-BE49-F238E27FC236}">
                <a16:creationId xmlns:a16="http://schemas.microsoft.com/office/drawing/2014/main" id="{1A59CC4C-6796-4052-AD17-216F63FE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543175"/>
            <a:ext cx="302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2D row-major array</a:t>
            </a:r>
          </a:p>
        </p:txBody>
      </p:sp>
      <p:sp>
        <p:nvSpPr>
          <p:cNvPr id="16" name="divider">
            <a:extLst xmlns:a="http://schemas.openxmlformats.org/drawingml/2006/main">
              <a:ext uri="{FF2B5EF4-FFF2-40B4-BE49-F238E27FC236}">
                <a16:creationId xmlns:a16="http://schemas.microsoft.com/office/drawing/2014/main" id="{D0DF67E1-EFAF-40E0-817D-9DC99EC5E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95625"/>
            <a:ext cx="996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EEF1"/>
            </a:solidFill>
            <a:prstDash val="solid"/>
          </a:ln>
        </p:spPr>
      </p:sp>
      <p:sp>
        <p:nvSpPr>
          <p:cNvPr id="17" name="scenario">
            <a:extLst xmlns:a="http://schemas.openxmlformats.org/drawingml/2006/main">
              <a:ext uri="{FF2B5EF4-FFF2-40B4-BE49-F238E27FC236}">
                <a16:creationId xmlns:a16="http://schemas.microsoft.com/office/drawing/2014/main" id="{BBD16C12-CDAA-465E-B4BF-7B34DA26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19450"/>
            <a:ext cx="571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Search often; update rarely</a:t>
            </a:r>
          </a:p>
        </p:txBody>
      </p:sp>
      <p:sp>
        <p:nvSpPr>
          <p:cNvPr id="18" name="choice-arrow">
            <a:extLst xmlns:a="http://schemas.openxmlformats.org/drawingml/2006/main">
              <a:ext uri="{FF2B5EF4-FFF2-40B4-BE49-F238E27FC236}">
                <a16:creationId xmlns:a16="http://schemas.microsoft.com/office/drawing/2014/main" id="{73658E37-6349-423B-83EC-F2240B93A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19450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choice-bg">
            <a:extLst xmlns:a="http://schemas.openxmlformats.org/drawingml/2006/main">
              <a:ext uri="{FF2B5EF4-FFF2-40B4-BE49-F238E27FC236}">
                <a16:creationId xmlns:a16="http://schemas.microsoft.com/office/drawing/2014/main" id="{D2136E15-0F69-42EA-97C4-6381CD762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67075"/>
            <a:ext cx="3333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0">
            <a:solidFill>
              <a:srgbClr val="EAF6F4"/>
            </a:solidFill>
            <a:prstDash val="solid"/>
          </a:ln>
        </p:spPr>
      </p:sp>
      <p:sp>
        <p:nvSpPr>
          <p:cNvPr id="20" name="choice">
            <a:extLst xmlns:a="http://schemas.openxmlformats.org/drawingml/2006/main">
              <a:ext uri="{FF2B5EF4-FFF2-40B4-BE49-F238E27FC236}">
                <a16:creationId xmlns:a16="http://schemas.microsoft.com/office/drawing/2014/main" id="{B424F907-EA55-4F06-98B8-288CF1101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286125"/>
            <a:ext cx="302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ordered array</a:t>
            </a:r>
          </a:p>
        </p:txBody>
      </p:sp>
      <p:sp>
        <p:nvSpPr>
          <p:cNvPr id="21" name="divider">
            <a:extLst xmlns:a="http://schemas.openxmlformats.org/drawingml/2006/main">
              <a:ext uri="{FF2B5EF4-FFF2-40B4-BE49-F238E27FC236}">
                <a16:creationId xmlns:a16="http://schemas.microsoft.com/office/drawing/2014/main" id="{70CEFBC9-D65A-491A-84D4-FE67624F5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38575"/>
            <a:ext cx="996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EEF1"/>
            </a:solidFill>
            <a:prstDash val="solid"/>
          </a:ln>
        </p:spPr>
      </p:sp>
      <p:sp>
        <p:nvSpPr>
          <p:cNvPr id="22" name="scenario">
            <a:extLst xmlns:a="http://schemas.openxmlformats.org/drawingml/2006/main">
              <a:ext uri="{FF2B5EF4-FFF2-40B4-BE49-F238E27FC236}">
                <a16:creationId xmlns:a16="http://schemas.microsoft.com/office/drawing/2014/main" id="{ECA15392-A65E-4442-B7F9-2607B03C6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62400"/>
            <a:ext cx="571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8313F"/>
                </a:solidFill>
                <a:latin typeface="Aptos"/>
                <a:ea typeface="Aptos"/>
                <a:cs typeface="Aptos"/>
              </a:defRPr>
            </a:pPr>
            <a:r>
              <a:rPr sz="2175" b="0">
                <a:solidFill>
                  <a:srgbClr val="18313F"/>
                </a:solidFill>
                <a:latin typeface="Aptos"/>
                <a:ea typeface="Aptos"/>
                <a:cs typeface="Aptos"/>
              </a:rPr>
              <a:t>Most matrix entries are zero</a:t>
            </a:r>
          </a:p>
        </p:txBody>
      </p:sp>
      <p:sp>
        <p:nvSpPr>
          <p:cNvPr id="23" name="choice-arrow">
            <a:extLst xmlns:a="http://schemas.openxmlformats.org/drawingml/2006/main">
              <a:ext uri="{FF2B5EF4-FFF2-40B4-BE49-F238E27FC236}">
                <a16:creationId xmlns:a16="http://schemas.microsoft.com/office/drawing/2014/main" id="{F422AF4D-B934-435E-A0D7-E054A2C99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62400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4" name="choice-bg">
            <a:extLst xmlns:a="http://schemas.openxmlformats.org/drawingml/2006/main">
              <a:ext uri="{FF2B5EF4-FFF2-40B4-BE49-F238E27FC236}">
                <a16:creationId xmlns:a16="http://schemas.microsoft.com/office/drawing/2014/main" id="{EC350021-E60C-4839-96B7-581F5F65E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10025"/>
            <a:ext cx="3333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6E7"/>
          </a:solidFill>
          <a:ln xmlns:a="http://schemas.openxmlformats.org/drawingml/2006/main" w="0">
            <a:solidFill>
              <a:srgbClr val="FFF6E7"/>
            </a:solidFill>
            <a:prstDash val="solid"/>
          </a:ln>
        </p:spPr>
      </p:sp>
      <p:sp>
        <p:nvSpPr>
          <p:cNvPr id="25" name="choice">
            <a:extLst xmlns:a="http://schemas.openxmlformats.org/drawingml/2006/main">
              <a:ext uri="{FF2B5EF4-FFF2-40B4-BE49-F238E27FC236}">
                <a16:creationId xmlns:a16="http://schemas.microsoft.com/office/drawing/2014/main" id="{E670F342-820E-4AB9-BAF0-85DA776C5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29075"/>
            <a:ext cx="302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sparse triplet</a:t>
            </a:r>
          </a:p>
        </p:txBody>
      </p:sp>
      <p:sp>
        <p:nvSpPr>
          <p:cNvPr id="26" name="exit-ticket">
            <a:extLst xmlns:a="http://schemas.openxmlformats.org/drawingml/2006/main">
              <a:ext uri="{FF2B5EF4-FFF2-40B4-BE49-F238E27FC236}">
                <a16:creationId xmlns:a16="http://schemas.microsoft.com/office/drawing/2014/main" id="{D9168C3C-57F1-447A-9FB4-B08426A2A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14900"/>
            <a:ext cx="9963150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F4FF"/>
          </a:solidFill>
          <a:ln xmlns:a="http://schemas.openxmlformats.org/drawingml/2006/main" w="0">
            <a:solidFill>
              <a:srgbClr val="EDF4FF"/>
            </a:solidFill>
            <a:prstDash val="solid"/>
          </a:ln>
        </p:spPr>
      </p:sp>
      <p:sp>
        <p:nvSpPr>
          <p:cNvPr id="27" name="exit-label">
            <a:extLst xmlns:a="http://schemas.openxmlformats.org/drawingml/2006/main">
              <a:ext uri="{FF2B5EF4-FFF2-40B4-BE49-F238E27FC236}">
                <a16:creationId xmlns:a16="http://schemas.microsoft.com/office/drawing/2014/main" id="{9CFDA456-CFE7-46B6-B6B4-82AAEB68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0577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2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2324A"/>
                </a:solidFill>
                <a:latin typeface="Aptos"/>
                <a:ea typeface="Aptos"/>
                <a:cs typeface="Aptos"/>
              </a:rPr>
              <a:t>EXIT TICKET</a:t>
            </a:r>
          </a:p>
        </p:txBody>
      </p:sp>
      <p:sp>
        <p:nvSpPr>
          <p:cNvPr id="28" name="exit-question">
            <a:extLst xmlns:a="http://schemas.openxmlformats.org/drawingml/2006/main">
              <a:ext uri="{FF2B5EF4-FFF2-40B4-BE49-F238E27FC236}">
                <a16:creationId xmlns:a16="http://schemas.microsoft.com/office/drawing/2014/main" id="{8C5D278D-8647-4342-9592-D5BCD8D46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048250"/>
            <a:ext cx="7734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2535"/>
                </a:solidFill>
                <a:latin typeface="Consolas"/>
                <a:ea typeface="Consolas"/>
                <a:cs typeface="Consolas"/>
              </a:defRPr>
            </a:pPr>
            <a:r>
              <a:rPr sz="2175" b="1">
                <a:solidFill>
                  <a:srgbClr val="0B2535"/>
                </a:solidFill>
                <a:latin typeface="Consolas"/>
                <a:ea typeface="Consolas"/>
                <a:cs typeface="Consolas"/>
              </a:rPr>
              <a:t>int B[5][6], Base = 800, w = 4. Find LOC(B[3][4]).</a:t>
            </a:r>
          </a:p>
        </p:txBody>
      </p:sp>
      <p:sp>
        <p:nvSpPr>
          <p:cNvPr id="29" name="exit-instruction">
            <a:extLst xmlns:a="http://schemas.openxmlformats.org/drawingml/2006/main">
              <a:ext uri="{FF2B5EF4-FFF2-40B4-BE49-F238E27FC236}">
                <a16:creationId xmlns:a16="http://schemas.microsoft.com/office/drawing/2014/main" id="{C21BF91B-CC18-48D0-A416-BF8F955B8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292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6B7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66B78"/>
                </a:solidFill>
                <a:latin typeface="Aptos"/>
                <a:ea typeface="Aptos"/>
                <a:cs typeface="Aptos"/>
              </a:rPr>
              <a:t>Show the formula, element offset, byte displacement, and final address.</a:t>
            </a:r>
          </a:p>
        </p:txBody>
      </p:sp>
    </p:spTree>
    <p:extLst>
      <p:ext uri="{BB962C8B-B14F-4D97-AF65-F5344CB8AC3E}">
        <p14:creationId xmlns:p14="http://schemas.microsoft.com/office/powerpoint/2010/main" val="5605618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2026-07-22T05:22:25.6510000Z</dcterms:created>
  <dcterms:modified xsi:type="dcterms:W3CDTF">2026-07-22T05:22:25.6510000Z</dcterms:modified>
</coreProperties>
</file>