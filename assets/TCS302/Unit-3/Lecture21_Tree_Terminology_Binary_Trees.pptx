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1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53" d="100"/>
          <a:sy n="153" d="100"/>
        </p:scale>
        <p:origin x="464" y="1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microsoft.com/office/2016/11/relationships/changesInfo" Target="changesInfos/changesInfo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SC22D012-Manoj Kaushik 2022-PHD-Earth&amp;SpaceScience" userId="78d50035-fc00-4ea2-995b-b881e10649a1" providerId="ADAL" clId="{275C7A75-CDE0-511A-B56E-A781402A3859}"/>
    <pc:docChg chg="custSel modSld">
      <pc:chgData name="SC22D012-Manoj Kaushik 2022-PHD-Earth&amp;SpaceScience" userId="78d50035-fc00-4ea2-995b-b881e10649a1" providerId="ADAL" clId="{275C7A75-CDE0-511A-B56E-A781402A3859}" dt="2026-09-03T09:45:10.483" v="33" actId="478"/>
      <pc:docMkLst>
        <pc:docMk/>
      </pc:docMkLst>
      <pc:sldChg chg="delSp mod">
        <pc:chgData name="SC22D012-Manoj Kaushik 2022-PHD-Earth&amp;SpaceScience" userId="78d50035-fc00-4ea2-995b-b881e10649a1" providerId="ADAL" clId="{275C7A75-CDE0-511A-B56E-A781402A3859}" dt="2026-09-03T09:44:49.110" v="28" actId="478"/>
        <pc:sldMkLst>
          <pc:docMk/>
          <pc:sldMk cId="0" sldId="258"/>
        </pc:sldMkLst>
        <pc:spChg chg="del">
          <ac:chgData name="SC22D012-Manoj Kaushik 2022-PHD-Earth&amp;SpaceScience" userId="78d50035-fc00-4ea2-995b-b881e10649a1" providerId="ADAL" clId="{275C7A75-CDE0-511A-B56E-A781402A3859}" dt="2026-09-03T09:44:49.110" v="28" actId="478"/>
          <ac:spMkLst>
            <pc:docMk/>
            <pc:sldMk cId="0" sldId="258"/>
            <ac:spMk id="29" creationId="{00000000-0000-0000-0000-000000000000}"/>
          </ac:spMkLst>
        </pc:spChg>
        <pc:spChg chg="del">
          <ac:chgData name="SC22D012-Manoj Kaushik 2022-PHD-Earth&amp;SpaceScience" userId="78d50035-fc00-4ea2-995b-b881e10649a1" providerId="ADAL" clId="{275C7A75-CDE0-511A-B56E-A781402A3859}" dt="2026-09-03T09:44:47.871" v="27" actId="478"/>
          <ac:spMkLst>
            <pc:docMk/>
            <pc:sldMk cId="0" sldId="258"/>
            <ac:spMk id="30" creationId="{00000000-0000-0000-0000-000000000000}"/>
          </ac:spMkLst>
        </pc:spChg>
      </pc:sldChg>
      <pc:sldChg chg="delSp mod">
        <pc:chgData name="SC22D012-Manoj Kaushik 2022-PHD-Earth&amp;SpaceScience" userId="78d50035-fc00-4ea2-995b-b881e10649a1" providerId="ADAL" clId="{275C7A75-CDE0-511A-B56E-A781402A3859}" dt="2026-09-03T09:44:55.489" v="30" actId="478"/>
        <pc:sldMkLst>
          <pc:docMk/>
          <pc:sldMk cId="0" sldId="260"/>
        </pc:sldMkLst>
        <pc:spChg chg="del">
          <ac:chgData name="SC22D012-Manoj Kaushik 2022-PHD-Earth&amp;SpaceScience" userId="78d50035-fc00-4ea2-995b-b881e10649a1" providerId="ADAL" clId="{275C7A75-CDE0-511A-B56E-A781402A3859}" dt="2026-09-03T09:44:54.272" v="29" actId="478"/>
          <ac:spMkLst>
            <pc:docMk/>
            <pc:sldMk cId="0" sldId="260"/>
            <ac:spMk id="23" creationId="{00000000-0000-0000-0000-000000000000}"/>
          </ac:spMkLst>
        </pc:spChg>
        <pc:spChg chg="del">
          <ac:chgData name="SC22D012-Manoj Kaushik 2022-PHD-Earth&amp;SpaceScience" userId="78d50035-fc00-4ea2-995b-b881e10649a1" providerId="ADAL" clId="{275C7A75-CDE0-511A-B56E-A781402A3859}" dt="2026-09-03T09:44:55.489" v="30" actId="478"/>
          <ac:spMkLst>
            <pc:docMk/>
            <pc:sldMk cId="0" sldId="260"/>
            <ac:spMk id="24" creationId="{00000000-0000-0000-0000-000000000000}"/>
          </ac:spMkLst>
        </pc:spChg>
      </pc:sldChg>
      <pc:sldChg chg="delSp modSp mod">
        <pc:chgData name="SC22D012-Manoj Kaushik 2022-PHD-Earth&amp;SpaceScience" userId="78d50035-fc00-4ea2-995b-b881e10649a1" providerId="ADAL" clId="{275C7A75-CDE0-511A-B56E-A781402A3859}" dt="2026-09-03T09:45:04.267" v="32" actId="478"/>
        <pc:sldMkLst>
          <pc:docMk/>
          <pc:sldMk cId="0" sldId="263"/>
        </pc:sldMkLst>
        <pc:spChg chg="del mod">
          <ac:chgData name="SC22D012-Manoj Kaushik 2022-PHD-Earth&amp;SpaceScience" userId="78d50035-fc00-4ea2-995b-b881e10649a1" providerId="ADAL" clId="{275C7A75-CDE0-511A-B56E-A781402A3859}" dt="2026-09-03T09:45:03.125" v="31" actId="478"/>
          <ac:spMkLst>
            <pc:docMk/>
            <pc:sldMk cId="0" sldId="263"/>
            <ac:spMk id="14" creationId="{00000000-0000-0000-0000-000000000000}"/>
          </ac:spMkLst>
        </pc:spChg>
        <pc:spChg chg="del mod">
          <ac:chgData name="SC22D012-Manoj Kaushik 2022-PHD-Earth&amp;SpaceScience" userId="78d50035-fc00-4ea2-995b-b881e10649a1" providerId="ADAL" clId="{275C7A75-CDE0-511A-B56E-A781402A3859}" dt="2026-09-03T09:45:04.267" v="32" actId="478"/>
          <ac:spMkLst>
            <pc:docMk/>
            <pc:sldMk cId="0" sldId="263"/>
            <ac:spMk id="15" creationId="{00000000-0000-0000-0000-000000000000}"/>
          </ac:spMkLst>
        </pc:spChg>
      </pc:sldChg>
      <pc:sldChg chg="delSp mod">
        <pc:chgData name="SC22D012-Manoj Kaushik 2022-PHD-Earth&amp;SpaceScience" userId="78d50035-fc00-4ea2-995b-b881e10649a1" providerId="ADAL" clId="{275C7A75-CDE0-511A-B56E-A781402A3859}" dt="2026-09-03T09:45:10.483" v="33" actId="478"/>
        <pc:sldMkLst>
          <pc:docMk/>
          <pc:sldMk cId="0" sldId="264"/>
        </pc:sldMkLst>
        <pc:spChg chg="del">
          <ac:chgData name="SC22D012-Manoj Kaushik 2022-PHD-Earth&amp;SpaceScience" userId="78d50035-fc00-4ea2-995b-b881e10649a1" providerId="ADAL" clId="{275C7A75-CDE0-511A-B56E-A781402A3859}" dt="2026-09-03T09:45:10.483" v="33" actId="478"/>
          <ac:spMkLst>
            <pc:docMk/>
            <pc:sldMk cId="0" sldId="264"/>
            <ac:spMk id="7" creationId="{00000000-0000-0000-0000-000000000000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27692693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Opening lecture of Unit III. Everything through Unit II was linear — one thing after another. Today a structure BRANCHES for the first time. This lecture is vocabulary and shape; real tree code starts in Lecture 22.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linked-list-is-a-degenerate-tree observation is worth dwelling on — it shows trees generalize rather than replace what came before.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ASK answer: B is NOT a leaf (it has children D, E). A is not a leaf either (it has children B, C). Only nodes with zero children qualify — C, D, 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Height and depth are the same number measured from opposite ends: depth counts UP from a node to the root; height (of the whole tree) counts DOWN to the deepest leaf. Easy to confuse — worth a direct comparison.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ASK answer: yes, absolutely — left-only and right-only are different tree shapes with different properties (this matters a great deal once BSTs and traversals arrive in Lectures 23-24).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skewed tree is the linked-list-in-disguise from slide 2, now named properly. This slide's payoff line connects directly to what Lecture 22 will show about array representations.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Verified: preorder gives '- + A * B C D' (prefix), inorder gives 'A + B * C - D' (infix, matching the original expression with no parens needed for this precedence), postorder gives 'A B C * + D -' — IDENTICAL to Lecture 9's postfix conversion result. This is the single strongest callback in the lecture: three traversal orders explain three notations at once.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ASK answer: Lecture 24, Binary Search Trees — ordered data with fast lookup is precisely a BST's purpose. Plants the seed three lectures early.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Exit ticket answer (verified by hand-simulating the same traversal logic as slide 7): tree root '-', left child '*' (children A, '+' whose children are B,C), right child D. Preorder: - * A + B C D. Inorder: A * B + C - D. Postorder: A B C + * D -.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85800"/>
            <a:ext cx="7863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rgbClr val="D4A0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TCS302  •  DATA STRUCTURES WITH C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1097280"/>
            <a:ext cx="7863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Trees: Beyond the Straight Line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40080" y="1874520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Tree Terminology, Binary Trees and Applications</a:t>
            </a:r>
            <a:endParaRPr lang="en-US" sz="1650" dirty="0"/>
          </a:p>
        </p:txBody>
      </p:sp>
      <p:sp>
        <p:nvSpPr>
          <p:cNvPr id="5" name="Text 3"/>
          <p:cNvSpPr/>
          <p:nvPr/>
        </p:nvSpPr>
        <p:spPr>
          <a:xfrm>
            <a:off x="640080" y="2651760"/>
            <a:ext cx="7863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D4A0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 III  •  Lecture 21  (first lecture of Unit III)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 flipH="1">
            <a:off x="3840480" y="3520440"/>
            <a:ext cx="731520" cy="594360"/>
          </a:xfrm>
          <a:prstGeom prst="line">
            <a:avLst/>
          </a:prstGeom>
          <a:noFill/>
          <a:ln w="19050">
            <a:solidFill>
              <a:srgbClr val="8896B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4572000" y="3520440"/>
            <a:ext cx="731520" cy="594360"/>
          </a:xfrm>
          <a:prstGeom prst="line">
            <a:avLst/>
          </a:prstGeom>
          <a:noFill/>
          <a:ln w="19050">
            <a:solidFill>
              <a:srgbClr val="8896B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Shape 6"/>
          <p:cNvSpPr/>
          <p:nvPr/>
        </p:nvSpPr>
        <p:spPr>
          <a:xfrm flipH="1">
            <a:off x="3383280" y="4114800"/>
            <a:ext cx="457200" cy="548640"/>
          </a:xfrm>
          <a:prstGeom prst="line">
            <a:avLst/>
          </a:prstGeom>
          <a:noFill/>
          <a:ln w="19050">
            <a:solidFill>
              <a:srgbClr val="8896B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Shape 7"/>
          <p:cNvSpPr/>
          <p:nvPr/>
        </p:nvSpPr>
        <p:spPr>
          <a:xfrm>
            <a:off x="3840480" y="4114800"/>
            <a:ext cx="365760" cy="548640"/>
          </a:xfrm>
          <a:prstGeom prst="line">
            <a:avLst/>
          </a:prstGeom>
          <a:noFill/>
          <a:ln w="19050">
            <a:solidFill>
              <a:srgbClr val="8896B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Shape 8"/>
          <p:cNvSpPr/>
          <p:nvPr/>
        </p:nvSpPr>
        <p:spPr>
          <a:xfrm>
            <a:off x="4297680" y="3246120"/>
            <a:ext cx="548640" cy="548640"/>
          </a:xfrm>
          <a:prstGeom prst="ellipse">
            <a:avLst/>
          </a:prstGeom>
          <a:solidFill>
            <a:srgbClr val="D4A017"/>
          </a:solidFill>
          <a:ln w="15875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4297680" y="324612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584448" y="3858768"/>
            <a:ext cx="512064" cy="512064"/>
          </a:xfrm>
          <a:prstGeom prst="ellipse">
            <a:avLst/>
          </a:prstGeom>
          <a:solidFill>
            <a:srgbClr val="028090"/>
          </a:solidFill>
          <a:ln w="15875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3584448" y="3858768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5047488" y="3858768"/>
            <a:ext cx="512064" cy="512064"/>
          </a:xfrm>
          <a:prstGeom prst="ellipse">
            <a:avLst/>
          </a:prstGeom>
          <a:solidFill>
            <a:srgbClr val="028090"/>
          </a:solidFill>
          <a:ln w="15875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5047488" y="3858768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163824" y="4443984"/>
            <a:ext cx="438912" cy="438912"/>
          </a:xfrm>
          <a:prstGeom prst="ellipse">
            <a:avLst/>
          </a:prstGeom>
          <a:solidFill>
            <a:srgbClr val="028090"/>
          </a:solidFill>
          <a:ln w="15875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3163824" y="4443984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3986784" y="4443984"/>
            <a:ext cx="438912" cy="438912"/>
          </a:xfrm>
          <a:prstGeom prst="ellipse">
            <a:avLst/>
          </a:prstGeom>
          <a:solidFill>
            <a:srgbClr val="028090"/>
          </a:solidFill>
          <a:ln w="15875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/>
          <p:nvPr/>
        </p:nvSpPr>
        <p:spPr>
          <a:xfrm>
            <a:off x="3986784" y="4443984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01168"/>
            <a:ext cx="5943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LECTURE 21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438912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3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is a tree?</a:t>
            </a:r>
            <a:endParaRPr lang="en-US" sz="2300" dirty="0"/>
          </a:p>
        </p:txBody>
      </p:sp>
      <p:sp>
        <p:nvSpPr>
          <p:cNvPr id="4" name="Text 2"/>
          <p:cNvSpPr/>
          <p:nvPr/>
        </p:nvSpPr>
        <p:spPr>
          <a:xfrm>
            <a:off x="457200" y="484632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TCS302  •  UNIT III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8321040" y="4846320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 flipH="1">
            <a:off x="1188720" y="1737360"/>
            <a:ext cx="731520" cy="731520"/>
          </a:xfrm>
          <a:prstGeom prst="line">
            <a:avLst/>
          </a:prstGeom>
          <a:noFill/>
          <a:ln w="19050">
            <a:solidFill>
              <a:srgbClr val="B9C2D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1920240" y="1737360"/>
            <a:ext cx="0" cy="731520"/>
          </a:xfrm>
          <a:prstGeom prst="line">
            <a:avLst/>
          </a:prstGeom>
          <a:noFill/>
          <a:ln w="19050">
            <a:solidFill>
              <a:srgbClr val="B9C2D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Shape 6"/>
          <p:cNvSpPr/>
          <p:nvPr/>
        </p:nvSpPr>
        <p:spPr>
          <a:xfrm>
            <a:off x="1920240" y="1737360"/>
            <a:ext cx="731520" cy="731520"/>
          </a:xfrm>
          <a:prstGeom prst="line">
            <a:avLst/>
          </a:prstGeom>
          <a:noFill/>
          <a:ln w="19050">
            <a:solidFill>
              <a:srgbClr val="B9C2D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Shape 7"/>
          <p:cNvSpPr/>
          <p:nvPr/>
        </p:nvSpPr>
        <p:spPr>
          <a:xfrm flipH="1">
            <a:off x="822960" y="2468880"/>
            <a:ext cx="365760" cy="731520"/>
          </a:xfrm>
          <a:prstGeom prst="line">
            <a:avLst/>
          </a:prstGeom>
          <a:noFill/>
          <a:ln w="19050">
            <a:solidFill>
              <a:srgbClr val="B9C2D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Shape 8"/>
          <p:cNvSpPr/>
          <p:nvPr/>
        </p:nvSpPr>
        <p:spPr>
          <a:xfrm>
            <a:off x="1188720" y="2468880"/>
            <a:ext cx="365760" cy="731520"/>
          </a:xfrm>
          <a:prstGeom prst="line">
            <a:avLst/>
          </a:prstGeom>
          <a:noFill/>
          <a:ln w="19050">
            <a:solidFill>
              <a:srgbClr val="B9C2D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Shape 9"/>
          <p:cNvSpPr/>
          <p:nvPr/>
        </p:nvSpPr>
        <p:spPr>
          <a:xfrm>
            <a:off x="2651760" y="2468880"/>
            <a:ext cx="0" cy="731520"/>
          </a:xfrm>
          <a:prstGeom prst="line">
            <a:avLst/>
          </a:prstGeom>
          <a:noFill/>
          <a:ln w="19050">
            <a:solidFill>
              <a:srgbClr val="B9C2D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Shape 10"/>
          <p:cNvSpPr/>
          <p:nvPr/>
        </p:nvSpPr>
        <p:spPr>
          <a:xfrm>
            <a:off x="1591056" y="1408176"/>
            <a:ext cx="658368" cy="658368"/>
          </a:xfrm>
          <a:prstGeom prst="ellipse">
            <a:avLst/>
          </a:prstGeom>
          <a:solidFill>
            <a:srgbClr val="D4A017"/>
          </a:solidFill>
          <a:ln w="15875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1591056" y="1408176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root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914400" y="2194560"/>
            <a:ext cx="548640" cy="548640"/>
          </a:xfrm>
          <a:prstGeom prst="ellipse">
            <a:avLst/>
          </a:prstGeom>
          <a:solidFill>
            <a:srgbClr val="028090"/>
          </a:solidFill>
          <a:ln w="15875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914400" y="21945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1645920" y="2194560"/>
            <a:ext cx="548640" cy="548640"/>
          </a:xfrm>
          <a:prstGeom prst="ellipse">
            <a:avLst/>
          </a:prstGeom>
          <a:solidFill>
            <a:srgbClr val="028090"/>
          </a:solidFill>
          <a:ln w="15875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1645920" y="21945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2377440" y="2194560"/>
            <a:ext cx="548640" cy="548640"/>
          </a:xfrm>
          <a:prstGeom prst="ellipse">
            <a:avLst/>
          </a:prstGeom>
          <a:solidFill>
            <a:srgbClr val="028090"/>
          </a:solidFill>
          <a:ln w="15875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/>
          <p:nvPr/>
        </p:nvSpPr>
        <p:spPr>
          <a:xfrm>
            <a:off x="2377440" y="21945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585216" y="2962656"/>
            <a:ext cx="475488" cy="475488"/>
          </a:xfrm>
          <a:prstGeom prst="ellipse">
            <a:avLst/>
          </a:prstGeom>
          <a:solidFill>
            <a:srgbClr val="028090"/>
          </a:solidFill>
          <a:ln w="15875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585216" y="2962656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1316736" y="2962656"/>
            <a:ext cx="475488" cy="475488"/>
          </a:xfrm>
          <a:prstGeom prst="ellipse">
            <a:avLst/>
          </a:prstGeom>
          <a:solidFill>
            <a:srgbClr val="028090"/>
          </a:solidFill>
          <a:ln w="15875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Text 21"/>
          <p:cNvSpPr/>
          <p:nvPr/>
        </p:nvSpPr>
        <p:spPr>
          <a:xfrm>
            <a:off x="1316736" y="2962656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2414016" y="2962656"/>
            <a:ext cx="475488" cy="475488"/>
          </a:xfrm>
          <a:prstGeom prst="ellipse">
            <a:avLst/>
          </a:prstGeom>
          <a:solidFill>
            <a:srgbClr val="028090"/>
          </a:solidFill>
          <a:ln w="15875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Text 23"/>
          <p:cNvSpPr/>
          <p:nvPr/>
        </p:nvSpPr>
        <p:spPr>
          <a:xfrm>
            <a:off x="2414016" y="2962656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365760" y="365760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tree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4023360" y="1280160"/>
            <a:ext cx="4663440" cy="1371600"/>
          </a:xfrm>
          <a:prstGeom prst="roundRect">
            <a:avLst>
              <a:gd name="adj" fmla="val 4667"/>
            </a:avLst>
          </a:prstGeom>
          <a:solidFill>
            <a:srgbClr val="F0F7F7"/>
          </a:solidFill>
          <a:ln w="1270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8" name="Text 26"/>
          <p:cNvSpPr/>
          <p:nvPr/>
        </p:nvSpPr>
        <p:spPr>
          <a:xfrm>
            <a:off x="4187952" y="1353312"/>
            <a:ext cx="4334256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Definition
</a:t>
            </a:r>
            <a:r>
              <a:rPr lang="en-US" sz="12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tree is a set of nodes connected by edges such that: there is exactly ONE root, and every other node has exactly ONE parent — no cycles, everything reachable.</a:t>
            </a:r>
            <a:endParaRPr lang="en-US" sz="1250" dirty="0"/>
          </a:p>
        </p:txBody>
      </p:sp>
      <p:sp>
        <p:nvSpPr>
          <p:cNvPr id="29" name="Text 27"/>
          <p:cNvSpPr/>
          <p:nvPr/>
        </p:nvSpPr>
        <p:spPr>
          <a:xfrm>
            <a:off x="4023360" y="2834640"/>
            <a:ext cx="466344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Contrast with Units I-II: every structure so far was LINEAR — one thing led to at most one next thing.</a:t>
            </a:r>
            <a:endParaRPr lang="en-US" sz="12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tree lets one node lead to SEVERAL next things — it branches.</a:t>
            </a:r>
            <a:endParaRPr lang="en-US" sz="12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linked list is technically a tree where every node has at most one child — the most boring possible tree.</a:t>
            </a:r>
            <a:endParaRPr lang="en-US" sz="12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01168"/>
            <a:ext cx="5943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LECTURE 21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438912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3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Core vocabulary, on one small tree</a:t>
            </a:r>
            <a:endParaRPr lang="en-US" sz="2300" dirty="0"/>
          </a:p>
        </p:txBody>
      </p:sp>
      <p:sp>
        <p:nvSpPr>
          <p:cNvPr id="4" name="Text 2"/>
          <p:cNvSpPr/>
          <p:nvPr/>
        </p:nvSpPr>
        <p:spPr>
          <a:xfrm>
            <a:off x="457200" y="484632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TCS302  •  UNIT III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8321040" y="4846320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 flipH="1">
            <a:off x="1371600" y="1691640"/>
            <a:ext cx="731520" cy="822960"/>
          </a:xfrm>
          <a:prstGeom prst="line">
            <a:avLst/>
          </a:prstGeom>
          <a:noFill/>
          <a:ln w="19050">
            <a:solidFill>
              <a:srgbClr val="B9C2D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2103120" y="1691640"/>
            <a:ext cx="731520" cy="822960"/>
          </a:xfrm>
          <a:prstGeom prst="line">
            <a:avLst/>
          </a:prstGeom>
          <a:noFill/>
          <a:ln w="19050">
            <a:solidFill>
              <a:srgbClr val="B9C2D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Shape 6"/>
          <p:cNvSpPr/>
          <p:nvPr/>
        </p:nvSpPr>
        <p:spPr>
          <a:xfrm flipH="1">
            <a:off x="822960" y="2514600"/>
            <a:ext cx="548640" cy="822960"/>
          </a:xfrm>
          <a:prstGeom prst="line">
            <a:avLst/>
          </a:prstGeom>
          <a:noFill/>
          <a:ln w="19050">
            <a:solidFill>
              <a:srgbClr val="B9C2D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Shape 7"/>
          <p:cNvSpPr/>
          <p:nvPr/>
        </p:nvSpPr>
        <p:spPr>
          <a:xfrm>
            <a:off x="1371600" y="2514600"/>
            <a:ext cx="548640" cy="822960"/>
          </a:xfrm>
          <a:prstGeom prst="line">
            <a:avLst/>
          </a:prstGeom>
          <a:noFill/>
          <a:ln w="19050">
            <a:solidFill>
              <a:srgbClr val="B9C2D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Shape 8"/>
          <p:cNvSpPr/>
          <p:nvPr/>
        </p:nvSpPr>
        <p:spPr>
          <a:xfrm>
            <a:off x="1792224" y="1380744"/>
            <a:ext cx="621792" cy="621792"/>
          </a:xfrm>
          <a:prstGeom prst="ellipse">
            <a:avLst/>
          </a:prstGeom>
          <a:solidFill>
            <a:srgbClr val="D4A017"/>
          </a:solidFill>
          <a:ln w="15875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1792224" y="1380744"/>
            <a:ext cx="62179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1097280" y="2240280"/>
            <a:ext cx="548640" cy="548640"/>
          </a:xfrm>
          <a:prstGeom prst="ellipse">
            <a:avLst/>
          </a:prstGeom>
          <a:solidFill>
            <a:srgbClr val="028090"/>
          </a:solidFill>
          <a:ln w="15875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1097280" y="22402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2560320" y="2240280"/>
            <a:ext cx="548640" cy="548640"/>
          </a:xfrm>
          <a:prstGeom prst="ellipse">
            <a:avLst/>
          </a:prstGeom>
          <a:solidFill>
            <a:srgbClr val="028090"/>
          </a:solidFill>
          <a:ln w="15875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2560320" y="22402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566928" y="3081528"/>
            <a:ext cx="512064" cy="512064"/>
          </a:xfrm>
          <a:prstGeom prst="ellipse">
            <a:avLst/>
          </a:prstGeom>
          <a:solidFill>
            <a:srgbClr val="028090"/>
          </a:solidFill>
          <a:ln w="15875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566928" y="3081528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1664208" y="3081528"/>
            <a:ext cx="512064" cy="512064"/>
          </a:xfrm>
          <a:prstGeom prst="ellipse">
            <a:avLst/>
          </a:prstGeom>
          <a:solidFill>
            <a:srgbClr val="028090"/>
          </a:solidFill>
          <a:ln w="15875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/>
          <p:nvPr/>
        </p:nvSpPr>
        <p:spPr>
          <a:xfrm>
            <a:off x="1664208" y="3081528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1783080" y="1207008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D4A0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</a:t>
            </a: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2606040" y="2880360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LEAF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365760" y="3675888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LEAF</a:t>
            </a: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1463040" y="3675888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LEAF</a:t>
            </a: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4023360" y="1371600"/>
            <a:ext cx="4663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Root:  </a:t>
            </a:r>
            <a:r>
              <a:rPr lang="en-US" sz="115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one node with no parent — A here.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4023360" y="1938528"/>
            <a:ext cx="4663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Parent / Child:  </a:t>
            </a:r>
            <a:r>
              <a:rPr lang="en-US" sz="115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 and C are children of A; A is their parent.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4023360" y="2505456"/>
            <a:ext cx="4663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Siblings:  </a:t>
            </a:r>
            <a:r>
              <a:rPr lang="en-US" sz="115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 and C share the same parent — they are siblings.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4023360" y="3072384"/>
            <a:ext cx="4663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Leaf:  </a:t>
            </a:r>
            <a:r>
              <a:rPr lang="en-US" sz="115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node with NO children — C, D, E here.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4023360" y="3639312"/>
            <a:ext cx="4663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Edge:  </a:t>
            </a:r>
            <a:r>
              <a:rPr lang="en-US" sz="115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connection between a parent and a child.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01168"/>
            <a:ext cx="5943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LECTURE 21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438912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3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Height, depth, and level: the same tree, measured</a:t>
            </a:r>
            <a:endParaRPr lang="en-US" sz="2300" dirty="0"/>
          </a:p>
        </p:txBody>
      </p:sp>
      <p:sp>
        <p:nvSpPr>
          <p:cNvPr id="4" name="Text 2"/>
          <p:cNvSpPr/>
          <p:nvPr/>
        </p:nvSpPr>
        <p:spPr>
          <a:xfrm>
            <a:off x="457200" y="484632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TCS302  •  UNIT III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8321040" y="4846320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 flipH="1">
            <a:off x="1371600" y="1600200"/>
            <a:ext cx="731520" cy="731520"/>
          </a:xfrm>
          <a:prstGeom prst="line">
            <a:avLst/>
          </a:prstGeom>
          <a:noFill/>
          <a:ln w="19050">
            <a:solidFill>
              <a:srgbClr val="B9C2D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2103120" y="1600200"/>
            <a:ext cx="731520" cy="731520"/>
          </a:xfrm>
          <a:prstGeom prst="line">
            <a:avLst/>
          </a:prstGeom>
          <a:noFill/>
          <a:ln w="19050">
            <a:solidFill>
              <a:srgbClr val="B9C2D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Shape 6"/>
          <p:cNvSpPr/>
          <p:nvPr/>
        </p:nvSpPr>
        <p:spPr>
          <a:xfrm flipH="1">
            <a:off x="1005840" y="2331720"/>
            <a:ext cx="365760" cy="731520"/>
          </a:xfrm>
          <a:prstGeom prst="line">
            <a:avLst/>
          </a:prstGeom>
          <a:noFill/>
          <a:ln w="19050">
            <a:solidFill>
              <a:srgbClr val="B9C2D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Shape 7"/>
          <p:cNvSpPr/>
          <p:nvPr/>
        </p:nvSpPr>
        <p:spPr>
          <a:xfrm>
            <a:off x="1371600" y="2331720"/>
            <a:ext cx="365760" cy="731520"/>
          </a:xfrm>
          <a:prstGeom prst="line">
            <a:avLst/>
          </a:prstGeom>
          <a:noFill/>
          <a:ln w="19050">
            <a:solidFill>
              <a:srgbClr val="B9C2D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Shape 8"/>
          <p:cNvSpPr/>
          <p:nvPr/>
        </p:nvSpPr>
        <p:spPr>
          <a:xfrm>
            <a:off x="1005840" y="3063240"/>
            <a:ext cx="0" cy="731520"/>
          </a:xfrm>
          <a:prstGeom prst="line">
            <a:avLst/>
          </a:prstGeom>
          <a:noFill/>
          <a:ln w="19050">
            <a:solidFill>
              <a:srgbClr val="B9C2D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Shape 9"/>
          <p:cNvSpPr/>
          <p:nvPr/>
        </p:nvSpPr>
        <p:spPr>
          <a:xfrm>
            <a:off x="1810512" y="1307592"/>
            <a:ext cx="585216" cy="585216"/>
          </a:xfrm>
          <a:prstGeom prst="ellipse">
            <a:avLst/>
          </a:prstGeom>
          <a:solidFill>
            <a:srgbClr val="D4A017"/>
          </a:solidFill>
          <a:ln w="15875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1810512" y="1307592"/>
            <a:ext cx="58521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1097280" y="2057400"/>
            <a:ext cx="548640" cy="548640"/>
          </a:xfrm>
          <a:prstGeom prst="ellipse">
            <a:avLst/>
          </a:prstGeom>
          <a:solidFill>
            <a:srgbClr val="028090"/>
          </a:solidFill>
          <a:ln w="15875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1097280" y="20574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2560320" y="2057400"/>
            <a:ext cx="548640" cy="548640"/>
          </a:xfrm>
          <a:prstGeom prst="ellipse">
            <a:avLst/>
          </a:prstGeom>
          <a:solidFill>
            <a:srgbClr val="028090"/>
          </a:solidFill>
          <a:ln w="15875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2560320" y="20574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49808" y="2807208"/>
            <a:ext cx="512064" cy="512064"/>
          </a:xfrm>
          <a:prstGeom prst="ellipse">
            <a:avLst/>
          </a:prstGeom>
          <a:solidFill>
            <a:srgbClr val="028090"/>
          </a:solidFill>
          <a:ln w="15875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/>
          <p:nvPr/>
        </p:nvSpPr>
        <p:spPr>
          <a:xfrm>
            <a:off x="749808" y="2807208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1481328" y="2807208"/>
            <a:ext cx="512064" cy="512064"/>
          </a:xfrm>
          <a:prstGeom prst="ellipse">
            <a:avLst/>
          </a:prstGeom>
          <a:solidFill>
            <a:srgbClr val="028090"/>
          </a:solidFill>
          <a:ln w="15875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Text 18"/>
          <p:cNvSpPr/>
          <p:nvPr/>
        </p:nvSpPr>
        <p:spPr>
          <a:xfrm>
            <a:off x="1481328" y="2807208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768096" y="3557016"/>
            <a:ext cx="475488" cy="475488"/>
          </a:xfrm>
          <a:prstGeom prst="ellipse">
            <a:avLst/>
          </a:prstGeom>
          <a:solidFill>
            <a:srgbClr val="028090"/>
          </a:solidFill>
          <a:ln w="15875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Text 20"/>
          <p:cNvSpPr/>
          <p:nvPr/>
        </p:nvSpPr>
        <p:spPr>
          <a:xfrm>
            <a:off x="768096" y="3557016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365760" y="1600200"/>
            <a:ext cx="3383280" cy="0"/>
          </a:xfrm>
          <a:prstGeom prst="line">
            <a:avLst/>
          </a:prstGeom>
          <a:noFill/>
          <a:ln w="9525">
            <a:solidFill>
              <a:srgbClr val="E4E8EE"/>
            </a:solidFill>
            <a:prstDash val="dash"/>
          </a:ln>
        </p:spPr>
        <p:txBody>
          <a:bodyPr/>
          <a:lstStyle/>
          <a:p>
            <a:endParaRPr lang="en-US"/>
          </a:p>
        </p:txBody>
      </p:sp>
      <p:sp>
        <p:nvSpPr>
          <p:cNvPr id="24" name="Shape 22"/>
          <p:cNvSpPr/>
          <p:nvPr/>
        </p:nvSpPr>
        <p:spPr>
          <a:xfrm>
            <a:off x="365760" y="2331720"/>
            <a:ext cx="3383280" cy="0"/>
          </a:xfrm>
          <a:prstGeom prst="line">
            <a:avLst/>
          </a:prstGeom>
          <a:noFill/>
          <a:ln w="9525">
            <a:solidFill>
              <a:srgbClr val="E4E8EE"/>
            </a:solidFill>
            <a:prstDash val="dash"/>
          </a:ln>
        </p:spPr>
        <p:txBody>
          <a:bodyPr/>
          <a:lstStyle/>
          <a:p>
            <a:endParaRPr lang="en-US"/>
          </a:p>
        </p:txBody>
      </p:sp>
      <p:sp>
        <p:nvSpPr>
          <p:cNvPr id="25" name="Shape 23"/>
          <p:cNvSpPr/>
          <p:nvPr/>
        </p:nvSpPr>
        <p:spPr>
          <a:xfrm>
            <a:off x="365760" y="3063240"/>
            <a:ext cx="3383280" cy="0"/>
          </a:xfrm>
          <a:prstGeom prst="line">
            <a:avLst/>
          </a:prstGeom>
          <a:noFill/>
          <a:ln w="9525">
            <a:solidFill>
              <a:srgbClr val="E4E8EE"/>
            </a:solidFill>
            <a:prstDash val="dash"/>
          </a:ln>
        </p:spPr>
        <p:txBody>
          <a:bodyPr/>
          <a:lstStyle/>
          <a:p>
            <a:endParaRPr lang="en-US"/>
          </a:p>
        </p:txBody>
      </p:sp>
      <p:sp>
        <p:nvSpPr>
          <p:cNvPr id="26" name="Shape 24"/>
          <p:cNvSpPr/>
          <p:nvPr/>
        </p:nvSpPr>
        <p:spPr>
          <a:xfrm>
            <a:off x="365760" y="3794760"/>
            <a:ext cx="3383280" cy="0"/>
          </a:xfrm>
          <a:prstGeom prst="line">
            <a:avLst/>
          </a:prstGeom>
          <a:noFill/>
          <a:ln w="9525">
            <a:solidFill>
              <a:srgbClr val="E4E8EE"/>
            </a:solidFill>
            <a:prstDash val="dash"/>
          </a:ln>
        </p:spPr>
        <p:txBody>
          <a:bodyPr/>
          <a:lstStyle/>
          <a:p>
            <a:endParaRPr lang="en-US"/>
          </a:p>
        </p:txBody>
      </p:sp>
      <p:sp>
        <p:nvSpPr>
          <p:cNvPr id="27" name="Shape 25"/>
          <p:cNvSpPr/>
          <p:nvPr/>
        </p:nvSpPr>
        <p:spPr>
          <a:xfrm>
            <a:off x="4023360" y="1234440"/>
            <a:ext cx="4663440" cy="2743200"/>
          </a:xfrm>
          <a:prstGeom prst="roundRect">
            <a:avLst>
              <a:gd name="adj" fmla="val 2333"/>
            </a:avLst>
          </a:prstGeom>
          <a:solidFill>
            <a:srgbClr val="F0F7F7"/>
          </a:solidFill>
          <a:ln w="1270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8" name="Text 26"/>
          <p:cNvSpPr/>
          <p:nvPr/>
        </p:nvSpPr>
        <p:spPr>
          <a:xfrm>
            <a:off x="4187952" y="1307592"/>
            <a:ext cx="4334256" cy="2596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Level: how many edges from the ROOT (A is level 0, F is level 3).</a:t>
            </a:r>
            <a:endParaRPr lang="en-US" sz="1250" dirty="0"/>
          </a:p>
          <a:p>
            <a:pPr marL="0" indent="0">
              <a:buNone/>
            </a:pPr>
            <a:endParaRPr lang="en-US" sz="1250" dirty="0"/>
          </a:p>
          <a:p>
            <a:pPr marL="0" indent="0">
              <a:buNone/>
            </a:pPr>
            <a:r>
              <a:rPr lang="en-US" sz="125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Depth of a node: same idea, its own distance from the root.</a:t>
            </a:r>
            <a:endParaRPr lang="en-US" sz="1250" dirty="0"/>
          </a:p>
          <a:p>
            <a:pPr marL="0" indent="0">
              <a:buNone/>
            </a:pPr>
            <a:endParaRPr lang="en-US" sz="1250" dirty="0"/>
          </a:p>
          <a:p>
            <a:pPr marL="0" indent="0">
              <a:buNone/>
            </a:pPr>
            <a:r>
              <a:rPr lang="en-US" sz="125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Height of the TREE: the depth of its deepest leaf — here, height = 3 (path A-B-D-F).</a:t>
            </a:r>
            <a:endParaRPr lang="en-US" sz="12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01168"/>
            <a:ext cx="5943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LECTURE 21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438912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3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Binary tree: at most TWO children, left and right</a:t>
            </a:r>
            <a:endParaRPr lang="en-US" sz="2300" dirty="0"/>
          </a:p>
        </p:txBody>
      </p:sp>
      <p:sp>
        <p:nvSpPr>
          <p:cNvPr id="4" name="Text 2"/>
          <p:cNvSpPr/>
          <p:nvPr/>
        </p:nvSpPr>
        <p:spPr>
          <a:xfrm>
            <a:off x="457200" y="484632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TCS302  •  UNIT III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8321040" y="4846320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 flipH="1">
            <a:off x="1188720" y="1691640"/>
            <a:ext cx="822960" cy="822960"/>
          </a:xfrm>
          <a:prstGeom prst="line">
            <a:avLst/>
          </a:prstGeom>
          <a:noFill/>
          <a:ln w="19050">
            <a:solidFill>
              <a:srgbClr val="B9C2D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2011680" y="1691640"/>
            <a:ext cx="822960" cy="822960"/>
          </a:xfrm>
          <a:prstGeom prst="line">
            <a:avLst/>
          </a:prstGeom>
          <a:noFill/>
          <a:ln w="19050">
            <a:solidFill>
              <a:srgbClr val="B9C2D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Shape 6"/>
          <p:cNvSpPr/>
          <p:nvPr/>
        </p:nvSpPr>
        <p:spPr>
          <a:xfrm flipH="1">
            <a:off x="731520" y="2514600"/>
            <a:ext cx="457200" cy="822960"/>
          </a:xfrm>
          <a:prstGeom prst="line">
            <a:avLst/>
          </a:prstGeom>
          <a:noFill/>
          <a:ln w="19050">
            <a:solidFill>
              <a:srgbClr val="B9C2D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Shape 7"/>
          <p:cNvSpPr/>
          <p:nvPr/>
        </p:nvSpPr>
        <p:spPr>
          <a:xfrm>
            <a:off x="1188720" y="2514600"/>
            <a:ext cx="457200" cy="822960"/>
          </a:xfrm>
          <a:prstGeom prst="line">
            <a:avLst/>
          </a:prstGeom>
          <a:noFill/>
          <a:ln w="19050">
            <a:solidFill>
              <a:srgbClr val="B9C2D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Shape 8"/>
          <p:cNvSpPr/>
          <p:nvPr/>
        </p:nvSpPr>
        <p:spPr>
          <a:xfrm>
            <a:off x="1700784" y="1380744"/>
            <a:ext cx="621792" cy="621792"/>
          </a:xfrm>
          <a:prstGeom prst="ellipse">
            <a:avLst/>
          </a:prstGeom>
          <a:solidFill>
            <a:srgbClr val="D4A017"/>
          </a:solidFill>
          <a:ln w="15875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1700784" y="1380744"/>
            <a:ext cx="62179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914400" y="2240280"/>
            <a:ext cx="548640" cy="548640"/>
          </a:xfrm>
          <a:prstGeom prst="ellipse">
            <a:avLst/>
          </a:prstGeom>
          <a:solidFill>
            <a:srgbClr val="028090"/>
          </a:solidFill>
          <a:ln w="15875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914400" y="22402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2560320" y="2240280"/>
            <a:ext cx="548640" cy="548640"/>
          </a:xfrm>
          <a:prstGeom prst="ellipse">
            <a:avLst/>
          </a:prstGeom>
          <a:solidFill>
            <a:srgbClr val="028090"/>
          </a:solidFill>
          <a:ln w="15875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2560320" y="22402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475488" y="3081528"/>
            <a:ext cx="512064" cy="512064"/>
          </a:xfrm>
          <a:prstGeom prst="ellipse">
            <a:avLst/>
          </a:prstGeom>
          <a:solidFill>
            <a:srgbClr val="028090"/>
          </a:solidFill>
          <a:ln w="15875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475488" y="3081528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1389888" y="3081528"/>
            <a:ext cx="512064" cy="512064"/>
          </a:xfrm>
          <a:prstGeom prst="ellipse">
            <a:avLst/>
          </a:prstGeom>
          <a:solidFill>
            <a:srgbClr val="028090"/>
          </a:solidFill>
          <a:ln w="15875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/>
          <p:nvPr/>
        </p:nvSpPr>
        <p:spPr>
          <a:xfrm>
            <a:off x="1389888" y="3081528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548640" y="2834640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left</a:t>
            </a: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2606040" y="2834640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right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4023360" y="1371600"/>
            <a:ext cx="466344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node has at most 2 children — conventionally LEFT and RIGHT, and the two are DIFFERENT positions (a node with only a right child is not the same shape as one with only a left child).</a:t>
            </a:r>
            <a:endParaRPr lang="en-US" sz="13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general tree allows any number of children per node; binary is a specific, stricter case.</a:t>
            </a:r>
            <a:endParaRPr lang="en-US" sz="13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"Binary" is doing real work in that name — not just "a small tree."</a:t>
            </a:r>
            <a:endParaRPr lang="en-US" sz="13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01168"/>
            <a:ext cx="5943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LECTURE 21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438912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3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Shapes worth naming: full, complete, skewed</a:t>
            </a:r>
            <a:endParaRPr lang="en-US" sz="2300" dirty="0"/>
          </a:p>
        </p:txBody>
      </p:sp>
      <p:sp>
        <p:nvSpPr>
          <p:cNvPr id="4" name="Text 2"/>
          <p:cNvSpPr/>
          <p:nvPr/>
        </p:nvSpPr>
        <p:spPr>
          <a:xfrm>
            <a:off x="457200" y="484632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TCS302  •  UNIT III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8321040" y="4846320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 flipH="1">
            <a:off x="914400" y="1645920"/>
            <a:ext cx="457200" cy="548640"/>
          </a:xfrm>
          <a:prstGeom prst="line">
            <a:avLst/>
          </a:prstGeom>
          <a:noFill/>
          <a:ln w="19050">
            <a:solidFill>
              <a:srgbClr val="B9C2D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1371600" y="1645920"/>
            <a:ext cx="457200" cy="548640"/>
          </a:xfrm>
          <a:prstGeom prst="line">
            <a:avLst/>
          </a:prstGeom>
          <a:noFill/>
          <a:ln w="19050">
            <a:solidFill>
              <a:srgbClr val="B9C2D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Shape 6"/>
          <p:cNvSpPr/>
          <p:nvPr/>
        </p:nvSpPr>
        <p:spPr>
          <a:xfrm flipH="1">
            <a:off x="685800" y="2194560"/>
            <a:ext cx="228600" cy="548640"/>
          </a:xfrm>
          <a:prstGeom prst="line">
            <a:avLst/>
          </a:prstGeom>
          <a:noFill/>
          <a:ln w="19050">
            <a:solidFill>
              <a:srgbClr val="B9C2D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Shape 7"/>
          <p:cNvSpPr/>
          <p:nvPr/>
        </p:nvSpPr>
        <p:spPr>
          <a:xfrm>
            <a:off x="914400" y="2194560"/>
            <a:ext cx="228600" cy="548640"/>
          </a:xfrm>
          <a:prstGeom prst="line">
            <a:avLst/>
          </a:prstGeom>
          <a:noFill/>
          <a:ln w="19050">
            <a:solidFill>
              <a:srgbClr val="B9C2D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Shape 8"/>
          <p:cNvSpPr/>
          <p:nvPr/>
        </p:nvSpPr>
        <p:spPr>
          <a:xfrm flipH="1">
            <a:off x="1600200" y="2194560"/>
            <a:ext cx="228600" cy="548640"/>
          </a:xfrm>
          <a:prstGeom prst="line">
            <a:avLst/>
          </a:prstGeom>
          <a:noFill/>
          <a:ln w="19050">
            <a:solidFill>
              <a:srgbClr val="B9C2D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Shape 9"/>
          <p:cNvSpPr/>
          <p:nvPr/>
        </p:nvSpPr>
        <p:spPr>
          <a:xfrm>
            <a:off x="1828800" y="2194560"/>
            <a:ext cx="228600" cy="548640"/>
          </a:xfrm>
          <a:prstGeom prst="line">
            <a:avLst/>
          </a:prstGeom>
          <a:noFill/>
          <a:ln w="19050">
            <a:solidFill>
              <a:srgbClr val="B9C2D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Shape 10"/>
          <p:cNvSpPr/>
          <p:nvPr/>
        </p:nvSpPr>
        <p:spPr>
          <a:xfrm>
            <a:off x="1170432" y="1444752"/>
            <a:ext cx="402336" cy="402336"/>
          </a:xfrm>
          <a:prstGeom prst="ellipse">
            <a:avLst/>
          </a:prstGeom>
          <a:solidFill>
            <a:srgbClr val="D4A017"/>
          </a:solidFill>
          <a:ln w="15875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1170432" y="144475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731520" y="2011680"/>
            <a:ext cx="365760" cy="365760"/>
          </a:xfrm>
          <a:prstGeom prst="ellipse">
            <a:avLst/>
          </a:prstGeom>
          <a:solidFill>
            <a:srgbClr val="028090"/>
          </a:solidFill>
          <a:ln w="15875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731520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1645920" y="2011680"/>
            <a:ext cx="365760" cy="365760"/>
          </a:xfrm>
          <a:prstGeom prst="ellipse">
            <a:avLst/>
          </a:prstGeom>
          <a:solidFill>
            <a:srgbClr val="028090"/>
          </a:solidFill>
          <a:ln w="15875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1645920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521208" y="2578608"/>
            <a:ext cx="329184" cy="329184"/>
          </a:xfrm>
          <a:prstGeom prst="ellipse">
            <a:avLst/>
          </a:prstGeom>
          <a:solidFill>
            <a:srgbClr val="028090"/>
          </a:solidFill>
          <a:ln w="15875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/>
          <p:nvPr/>
        </p:nvSpPr>
        <p:spPr>
          <a:xfrm>
            <a:off x="521208" y="257860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978408" y="2578608"/>
            <a:ext cx="329184" cy="329184"/>
          </a:xfrm>
          <a:prstGeom prst="ellipse">
            <a:avLst/>
          </a:prstGeom>
          <a:solidFill>
            <a:srgbClr val="028090"/>
          </a:solidFill>
          <a:ln w="15875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978408" y="257860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1435608" y="2578608"/>
            <a:ext cx="329184" cy="329184"/>
          </a:xfrm>
          <a:prstGeom prst="ellipse">
            <a:avLst/>
          </a:prstGeom>
          <a:solidFill>
            <a:srgbClr val="028090"/>
          </a:solidFill>
          <a:ln w="15875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Text 21"/>
          <p:cNvSpPr/>
          <p:nvPr/>
        </p:nvSpPr>
        <p:spPr>
          <a:xfrm>
            <a:off x="1435608" y="257860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1892808" y="2578608"/>
            <a:ext cx="329184" cy="329184"/>
          </a:xfrm>
          <a:prstGeom prst="ellipse">
            <a:avLst/>
          </a:prstGeom>
          <a:solidFill>
            <a:srgbClr val="028090"/>
          </a:solidFill>
          <a:ln w="15875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Text 23"/>
          <p:cNvSpPr/>
          <p:nvPr/>
        </p:nvSpPr>
        <p:spPr>
          <a:xfrm>
            <a:off x="1892808" y="257860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274320" y="3063240"/>
            <a:ext cx="2194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D4A0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</a:t>
            </a:r>
            <a:endParaRPr lang="en-US" sz="950" dirty="0"/>
          </a:p>
        </p:txBody>
      </p:sp>
      <p:sp>
        <p:nvSpPr>
          <p:cNvPr id="27" name="Text 25"/>
          <p:cNvSpPr/>
          <p:nvPr/>
        </p:nvSpPr>
        <p:spPr>
          <a:xfrm>
            <a:off x="91440" y="3337560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node has 0 or 2 children</a:t>
            </a:r>
            <a:endParaRPr lang="en-US" sz="950" dirty="0"/>
          </a:p>
        </p:txBody>
      </p:sp>
      <p:sp>
        <p:nvSpPr>
          <p:cNvPr id="28" name="Shape 26"/>
          <p:cNvSpPr/>
          <p:nvPr/>
        </p:nvSpPr>
        <p:spPr>
          <a:xfrm flipH="1">
            <a:off x="4114800" y="1645920"/>
            <a:ext cx="457200" cy="548640"/>
          </a:xfrm>
          <a:prstGeom prst="line">
            <a:avLst/>
          </a:prstGeom>
          <a:noFill/>
          <a:ln w="19050">
            <a:solidFill>
              <a:srgbClr val="B9C2D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9" name="Shape 27"/>
          <p:cNvSpPr/>
          <p:nvPr/>
        </p:nvSpPr>
        <p:spPr>
          <a:xfrm>
            <a:off x="4572000" y="1645920"/>
            <a:ext cx="457200" cy="548640"/>
          </a:xfrm>
          <a:prstGeom prst="line">
            <a:avLst/>
          </a:prstGeom>
          <a:noFill/>
          <a:ln w="19050">
            <a:solidFill>
              <a:srgbClr val="B9C2D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0" name="Shape 28"/>
          <p:cNvSpPr/>
          <p:nvPr/>
        </p:nvSpPr>
        <p:spPr>
          <a:xfrm flipH="1">
            <a:off x="3886200" y="2194560"/>
            <a:ext cx="228600" cy="548640"/>
          </a:xfrm>
          <a:prstGeom prst="line">
            <a:avLst/>
          </a:prstGeom>
          <a:noFill/>
          <a:ln w="19050">
            <a:solidFill>
              <a:srgbClr val="B9C2D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1" name="Shape 29"/>
          <p:cNvSpPr/>
          <p:nvPr/>
        </p:nvSpPr>
        <p:spPr>
          <a:xfrm>
            <a:off x="4114800" y="2194560"/>
            <a:ext cx="228600" cy="548640"/>
          </a:xfrm>
          <a:prstGeom prst="line">
            <a:avLst/>
          </a:prstGeom>
          <a:noFill/>
          <a:ln w="19050">
            <a:solidFill>
              <a:srgbClr val="B9C2D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2" name="Shape 30"/>
          <p:cNvSpPr/>
          <p:nvPr/>
        </p:nvSpPr>
        <p:spPr>
          <a:xfrm flipH="1">
            <a:off x="4800600" y="2194560"/>
            <a:ext cx="228600" cy="548640"/>
          </a:xfrm>
          <a:prstGeom prst="line">
            <a:avLst/>
          </a:prstGeom>
          <a:noFill/>
          <a:ln w="19050">
            <a:solidFill>
              <a:srgbClr val="B9C2D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3" name="Shape 31"/>
          <p:cNvSpPr/>
          <p:nvPr/>
        </p:nvSpPr>
        <p:spPr>
          <a:xfrm>
            <a:off x="4370832" y="1444752"/>
            <a:ext cx="402336" cy="402336"/>
          </a:xfrm>
          <a:prstGeom prst="ellipse">
            <a:avLst/>
          </a:prstGeom>
          <a:solidFill>
            <a:srgbClr val="D4A017"/>
          </a:solidFill>
          <a:ln w="15875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4" name="Text 32"/>
          <p:cNvSpPr/>
          <p:nvPr/>
        </p:nvSpPr>
        <p:spPr>
          <a:xfrm>
            <a:off x="4370832" y="144475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3931920" y="2011680"/>
            <a:ext cx="365760" cy="365760"/>
          </a:xfrm>
          <a:prstGeom prst="ellipse">
            <a:avLst/>
          </a:prstGeom>
          <a:solidFill>
            <a:srgbClr val="028090"/>
          </a:solidFill>
          <a:ln w="15875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6" name="Text 34"/>
          <p:cNvSpPr/>
          <p:nvPr/>
        </p:nvSpPr>
        <p:spPr>
          <a:xfrm>
            <a:off x="3931920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endParaRPr lang="en-US" sz="1300" dirty="0"/>
          </a:p>
        </p:txBody>
      </p:sp>
      <p:sp>
        <p:nvSpPr>
          <p:cNvPr id="37" name="Shape 35"/>
          <p:cNvSpPr/>
          <p:nvPr/>
        </p:nvSpPr>
        <p:spPr>
          <a:xfrm>
            <a:off x="4846320" y="2011680"/>
            <a:ext cx="365760" cy="365760"/>
          </a:xfrm>
          <a:prstGeom prst="ellipse">
            <a:avLst/>
          </a:prstGeom>
          <a:solidFill>
            <a:srgbClr val="028090"/>
          </a:solidFill>
          <a:ln w="15875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8" name="Text 36"/>
          <p:cNvSpPr/>
          <p:nvPr/>
        </p:nvSpPr>
        <p:spPr>
          <a:xfrm>
            <a:off x="4846320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endParaRPr lang="en-US" sz="1300" dirty="0"/>
          </a:p>
        </p:txBody>
      </p:sp>
      <p:sp>
        <p:nvSpPr>
          <p:cNvPr id="39" name="Shape 37"/>
          <p:cNvSpPr/>
          <p:nvPr/>
        </p:nvSpPr>
        <p:spPr>
          <a:xfrm>
            <a:off x="3721608" y="2578608"/>
            <a:ext cx="329184" cy="329184"/>
          </a:xfrm>
          <a:prstGeom prst="ellipse">
            <a:avLst/>
          </a:prstGeom>
          <a:solidFill>
            <a:srgbClr val="028090"/>
          </a:solidFill>
          <a:ln w="15875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0" name="Text 38"/>
          <p:cNvSpPr/>
          <p:nvPr/>
        </p:nvSpPr>
        <p:spPr>
          <a:xfrm>
            <a:off x="3721608" y="257860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endParaRPr lang="en-US" sz="1300" dirty="0"/>
          </a:p>
        </p:txBody>
      </p:sp>
      <p:sp>
        <p:nvSpPr>
          <p:cNvPr id="41" name="Shape 39"/>
          <p:cNvSpPr/>
          <p:nvPr/>
        </p:nvSpPr>
        <p:spPr>
          <a:xfrm>
            <a:off x="4178808" y="2578608"/>
            <a:ext cx="329184" cy="329184"/>
          </a:xfrm>
          <a:prstGeom prst="ellipse">
            <a:avLst/>
          </a:prstGeom>
          <a:solidFill>
            <a:srgbClr val="028090"/>
          </a:solidFill>
          <a:ln w="15875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2" name="Text 40"/>
          <p:cNvSpPr/>
          <p:nvPr/>
        </p:nvSpPr>
        <p:spPr>
          <a:xfrm>
            <a:off x="4178808" y="257860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endParaRPr lang="en-US" sz="1300" dirty="0"/>
          </a:p>
        </p:txBody>
      </p:sp>
      <p:sp>
        <p:nvSpPr>
          <p:cNvPr id="43" name="Shape 41"/>
          <p:cNvSpPr/>
          <p:nvPr/>
        </p:nvSpPr>
        <p:spPr>
          <a:xfrm>
            <a:off x="4636008" y="2578608"/>
            <a:ext cx="329184" cy="329184"/>
          </a:xfrm>
          <a:prstGeom prst="ellipse">
            <a:avLst/>
          </a:prstGeom>
          <a:solidFill>
            <a:srgbClr val="028090"/>
          </a:solidFill>
          <a:ln w="15875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4" name="Text 42"/>
          <p:cNvSpPr/>
          <p:nvPr/>
        </p:nvSpPr>
        <p:spPr>
          <a:xfrm>
            <a:off x="4636008" y="257860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endParaRPr lang="en-US" sz="1300" dirty="0"/>
          </a:p>
        </p:txBody>
      </p:sp>
      <p:sp>
        <p:nvSpPr>
          <p:cNvPr id="45" name="Text 43"/>
          <p:cNvSpPr/>
          <p:nvPr/>
        </p:nvSpPr>
        <p:spPr>
          <a:xfrm>
            <a:off x="3474720" y="3063240"/>
            <a:ext cx="2194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D4A0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COMPLETE</a:t>
            </a:r>
            <a:endParaRPr lang="en-US" sz="950" dirty="0"/>
          </a:p>
        </p:txBody>
      </p:sp>
      <p:sp>
        <p:nvSpPr>
          <p:cNvPr id="46" name="Text 44"/>
          <p:cNvSpPr/>
          <p:nvPr/>
        </p:nvSpPr>
        <p:spPr>
          <a:xfrm>
            <a:off x="3291840" y="3337560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level full, except</a:t>
            </a:r>
            <a:endParaRPr lang="en-US" sz="950" dirty="0"/>
          </a:p>
          <a:p>
            <a:pPr marL="0" indent="0" algn="ctr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last, filled left to right</a:t>
            </a:r>
            <a:endParaRPr lang="en-US" sz="950" dirty="0"/>
          </a:p>
        </p:txBody>
      </p:sp>
      <p:sp>
        <p:nvSpPr>
          <p:cNvPr id="47" name="Shape 45"/>
          <p:cNvSpPr/>
          <p:nvPr/>
        </p:nvSpPr>
        <p:spPr>
          <a:xfrm>
            <a:off x="7315200" y="1645920"/>
            <a:ext cx="457200" cy="548640"/>
          </a:xfrm>
          <a:prstGeom prst="line">
            <a:avLst/>
          </a:prstGeom>
          <a:noFill/>
          <a:ln w="19050">
            <a:solidFill>
              <a:srgbClr val="B9C2D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8" name="Shape 46"/>
          <p:cNvSpPr/>
          <p:nvPr/>
        </p:nvSpPr>
        <p:spPr>
          <a:xfrm>
            <a:off x="7772400" y="2194560"/>
            <a:ext cx="457200" cy="548640"/>
          </a:xfrm>
          <a:prstGeom prst="line">
            <a:avLst/>
          </a:prstGeom>
          <a:noFill/>
          <a:ln w="19050">
            <a:solidFill>
              <a:srgbClr val="B9C2D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9" name="Shape 47"/>
          <p:cNvSpPr/>
          <p:nvPr/>
        </p:nvSpPr>
        <p:spPr>
          <a:xfrm>
            <a:off x="7114032" y="1444752"/>
            <a:ext cx="402336" cy="402336"/>
          </a:xfrm>
          <a:prstGeom prst="ellipse">
            <a:avLst/>
          </a:prstGeom>
          <a:solidFill>
            <a:srgbClr val="D4A017"/>
          </a:solidFill>
          <a:ln w="15875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0" name="Text 48"/>
          <p:cNvSpPr/>
          <p:nvPr/>
        </p:nvSpPr>
        <p:spPr>
          <a:xfrm>
            <a:off x="7114032" y="144475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endParaRPr lang="en-US" sz="1300" dirty="0"/>
          </a:p>
        </p:txBody>
      </p:sp>
      <p:sp>
        <p:nvSpPr>
          <p:cNvPr id="51" name="Shape 49"/>
          <p:cNvSpPr/>
          <p:nvPr/>
        </p:nvSpPr>
        <p:spPr>
          <a:xfrm>
            <a:off x="7589520" y="2011680"/>
            <a:ext cx="365760" cy="365760"/>
          </a:xfrm>
          <a:prstGeom prst="ellipse">
            <a:avLst/>
          </a:prstGeom>
          <a:solidFill>
            <a:srgbClr val="028090"/>
          </a:solidFill>
          <a:ln w="15875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2" name="Text 50"/>
          <p:cNvSpPr/>
          <p:nvPr/>
        </p:nvSpPr>
        <p:spPr>
          <a:xfrm>
            <a:off x="7589520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endParaRPr lang="en-US" sz="1300" dirty="0"/>
          </a:p>
        </p:txBody>
      </p:sp>
      <p:sp>
        <p:nvSpPr>
          <p:cNvPr id="53" name="Shape 51"/>
          <p:cNvSpPr/>
          <p:nvPr/>
        </p:nvSpPr>
        <p:spPr>
          <a:xfrm>
            <a:off x="8065008" y="2578608"/>
            <a:ext cx="329184" cy="329184"/>
          </a:xfrm>
          <a:prstGeom prst="ellipse">
            <a:avLst/>
          </a:prstGeom>
          <a:solidFill>
            <a:srgbClr val="028090"/>
          </a:solidFill>
          <a:ln w="15875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4" name="Text 52"/>
          <p:cNvSpPr/>
          <p:nvPr/>
        </p:nvSpPr>
        <p:spPr>
          <a:xfrm>
            <a:off x="8065008" y="257860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endParaRPr lang="en-US" sz="1300" dirty="0"/>
          </a:p>
        </p:txBody>
      </p:sp>
      <p:sp>
        <p:nvSpPr>
          <p:cNvPr id="55" name="Text 53"/>
          <p:cNvSpPr/>
          <p:nvPr/>
        </p:nvSpPr>
        <p:spPr>
          <a:xfrm>
            <a:off x="6858000" y="3063240"/>
            <a:ext cx="2194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D4A0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SKEWED</a:t>
            </a:r>
            <a:endParaRPr lang="en-US" sz="950" dirty="0"/>
          </a:p>
        </p:txBody>
      </p:sp>
      <p:sp>
        <p:nvSpPr>
          <p:cNvPr id="56" name="Text 54"/>
          <p:cNvSpPr/>
          <p:nvPr/>
        </p:nvSpPr>
        <p:spPr>
          <a:xfrm>
            <a:off x="6675120" y="333756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node has only</a:t>
            </a:r>
            <a:endParaRPr lang="en-US" sz="950" dirty="0"/>
          </a:p>
          <a:p>
            <a:pPr marL="0" indent="0" algn="ctr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child — a disguised list</a:t>
            </a:r>
            <a:endParaRPr lang="en-US" sz="950" dirty="0"/>
          </a:p>
        </p:txBody>
      </p:sp>
      <p:sp>
        <p:nvSpPr>
          <p:cNvPr id="57" name="Shape 55"/>
          <p:cNvSpPr/>
          <p:nvPr/>
        </p:nvSpPr>
        <p:spPr>
          <a:xfrm>
            <a:off x="457200" y="4023360"/>
            <a:ext cx="8229600" cy="777240"/>
          </a:xfrm>
          <a:prstGeom prst="roundRect">
            <a:avLst>
              <a:gd name="adj" fmla="val 8235"/>
            </a:avLst>
          </a:prstGeom>
          <a:solidFill>
            <a:srgbClr val="FBF5E6"/>
          </a:solidFill>
          <a:ln w="12700">
            <a:solidFill>
              <a:srgbClr val="D4A01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8" name="Text 56"/>
          <p:cNvSpPr/>
          <p:nvPr/>
        </p:nvSpPr>
        <p:spPr>
          <a:xfrm>
            <a:off x="621792" y="4096512"/>
            <a:ext cx="7900416" cy="6309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this matters: Lecture 22's array representation is efficient for COMPLETE trees and wasteful for SKEWED ones — shape drives implementation choice.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01168"/>
            <a:ext cx="5943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LECTURE 21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438912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3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Application: expression trees (a Lecture 9 callback)</a:t>
            </a:r>
            <a:endParaRPr lang="en-US" sz="2300" dirty="0"/>
          </a:p>
        </p:txBody>
      </p:sp>
      <p:sp>
        <p:nvSpPr>
          <p:cNvPr id="4" name="Text 2"/>
          <p:cNvSpPr/>
          <p:nvPr/>
        </p:nvSpPr>
        <p:spPr>
          <a:xfrm>
            <a:off x="457200" y="484632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TCS302  •  UNIT III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8321040" y="4846320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 flipH="1">
            <a:off x="1371600" y="1554480"/>
            <a:ext cx="914400" cy="640080"/>
          </a:xfrm>
          <a:prstGeom prst="line">
            <a:avLst/>
          </a:prstGeom>
          <a:noFill/>
          <a:ln w="19050">
            <a:solidFill>
              <a:srgbClr val="B9C2D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2286000" y="1554480"/>
            <a:ext cx="914400" cy="640080"/>
          </a:xfrm>
          <a:prstGeom prst="line">
            <a:avLst/>
          </a:prstGeom>
          <a:noFill/>
          <a:ln w="19050">
            <a:solidFill>
              <a:srgbClr val="B9C2D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Shape 6"/>
          <p:cNvSpPr/>
          <p:nvPr/>
        </p:nvSpPr>
        <p:spPr>
          <a:xfrm flipH="1">
            <a:off x="914400" y="2194560"/>
            <a:ext cx="457200" cy="640080"/>
          </a:xfrm>
          <a:prstGeom prst="line">
            <a:avLst/>
          </a:prstGeom>
          <a:noFill/>
          <a:ln w="19050">
            <a:solidFill>
              <a:srgbClr val="B9C2D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Shape 7"/>
          <p:cNvSpPr/>
          <p:nvPr/>
        </p:nvSpPr>
        <p:spPr>
          <a:xfrm>
            <a:off x="1371600" y="2194560"/>
            <a:ext cx="457200" cy="640080"/>
          </a:xfrm>
          <a:prstGeom prst="line">
            <a:avLst/>
          </a:prstGeom>
          <a:noFill/>
          <a:ln w="19050">
            <a:solidFill>
              <a:srgbClr val="B9C2D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Shape 8"/>
          <p:cNvSpPr/>
          <p:nvPr/>
        </p:nvSpPr>
        <p:spPr>
          <a:xfrm flipH="1">
            <a:off x="1463040" y="2834640"/>
            <a:ext cx="365760" cy="640080"/>
          </a:xfrm>
          <a:prstGeom prst="line">
            <a:avLst/>
          </a:prstGeom>
          <a:noFill/>
          <a:ln w="19050">
            <a:solidFill>
              <a:srgbClr val="B9C2D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Shape 9"/>
          <p:cNvSpPr/>
          <p:nvPr/>
        </p:nvSpPr>
        <p:spPr>
          <a:xfrm>
            <a:off x="1828800" y="2834640"/>
            <a:ext cx="365760" cy="640080"/>
          </a:xfrm>
          <a:prstGeom prst="line">
            <a:avLst/>
          </a:prstGeom>
          <a:noFill/>
          <a:ln w="19050">
            <a:solidFill>
              <a:srgbClr val="B9C2D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Shape 10"/>
          <p:cNvSpPr/>
          <p:nvPr/>
        </p:nvSpPr>
        <p:spPr>
          <a:xfrm>
            <a:off x="2011680" y="1280160"/>
            <a:ext cx="548640" cy="548640"/>
          </a:xfrm>
          <a:prstGeom prst="ellipse">
            <a:avLst/>
          </a:prstGeom>
          <a:solidFill>
            <a:srgbClr val="D4A017"/>
          </a:solidFill>
          <a:ln w="15875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2011680" y="12801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1115568" y="1938528"/>
            <a:ext cx="512064" cy="512064"/>
          </a:xfrm>
          <a:prstGeom prst="ellipse">
            <a:avLst/>
          </a:prstGeom>
          <a:solidFill>
            <a:srgbClr val="028090"/>
          </a:solidFill>
          <a:ln w="15875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1115568" y="1938528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2944368" y="1938528"/>
            <a:ext cx="512064" cy="512064"/>
          </a:xfrm>
          <a:prstGeom prst="ellipse">
            <a:avLst/>
          </a:prstGeom>
          <a:solidFill>
            <a:srgbClr val="028090"/>
          </a:solidFill>
          <a:ln w="15875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2944368" y="1938528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676656" y="2596896"/>
            <a:ext cx="475488" cy="475488"/>
          </a:xfrm>
          <a:prstGeom prst="ellipse">
            <a:avLst/>
          </a:prstGeom>
          <a:solidFill>
            <a:srgbClr val="028090"/>
          </a:solidFill>
          <a:ln w="15875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/>
          <p:nvPr/>
        </p:nvSpPr>
        <p:spPr>
          <a:xfrm>
            <a:off x="676656" y="2596896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1591056" y="2596896"/>
            <a:ext cx="475488" cy="475488"/>
          </a:xfrm>
          <a:prstGeom prst="ellipse">
            <a:avLst/>
          </a:prstGeom>
          <a:solidFill>
            <a:srgbClr val="028090"/>
          </a:solidFill>
          <a:ln w="15875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1591056" y="2596896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*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1243584" y="3255264"/>
            <a:ext cx="438912" cy="438912"/>
          </a:xfrm>
          <a:prstGeom prst="ellipse">
            <a:avLst/>
          </a:prstGeom>
          <a:solidFill>
            <a:srgbClr val="028090"/>
          </a:solidFill>
          <a:ln w="15875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Text 21"/>
          <p:cNvSpPr/>
          <p:nvPr/>
        </p:nvSpPr>
        <p:spPr>
          <a:xfrm>
            <a:off x="1243584" y="3255264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1975104" y="3255264"/>
            <a:ext cx="438912" cy="438912"/>
          </a:xfrm>
          <a:prstGeom prst="ellipse">
            <a:avLst/>
          </a:prstGeom>
          <a:solidFill>
            <a:srgbClr val="028090"/>
          </a:solidFill>
          <a:ln w="15875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Text 23"/>
          <p:cNvSpPr/>
          <p:nvPr/>
        </p:nvSpPr>
        <p:spPr>
          <a:xfrm>
            <a:off x="1975104" y="3255264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365760" y="3840480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6B72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for  A + B × C − D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4663440" y="1417320"/>
            <a:ext cx="4023360" cy="685800"/>
          </a:xfrm>
          <a:prstGeom prst="roundRect">
            <a:avLst>
              <a:gd name="adj" fmla="val 9333"/>
            </a:avLst>
          </a:prstGeom>
          <a:solidFill>
            <a:srgbClr val="F0F7F7"/>
          </a:solidFill>
          <a:ln w="1270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8" name="Text 26"/>
          <p:cNvSpPr/>
          <p:nvPr/>
        </p:nvSpPr>
        <p:spPr>
          <a:xfrm>
            <a:off x="4828032" y="1490472"/>
            <a:ext cx="3694176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Preorder = prefix
</a:t>
            </a:r>
            <a:r>
              <a:rPr lang="en-US" sz="1250" b="1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 + A * B C D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4663440" y="2240280"/>
            <a:ext cx="4023360" cy="685800"/>
          </a:xfrm>
          <a:prstGeom prst="roundRect">
            <a:avLst>
              <a:gd name="adj" fmla="val 9333"/>
            </a:avLst>
          </a:prstGeom>
          <a:solidFill>
            <a:srgbClr val="F0F7F7"/>
          </a:solidFill>
          <a:ln w="1270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0" name="Text 28"/>
          <p:cNvSpPr/>
          <p:nvPr/>
        </p:nvSpPr>
        <p:spPr>
          <a:xfrm>
            <a:off x="4828032" y="2313432"/>
            <a:ext cx="3694176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Inorder = infix
</a:t>
            </a:r>
            <a:r>
              <a:rPr lang="en-US" sz="1250" b="1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 + B * C - D</a:t>
            </a:r>
            <a:endParaRPr lang="en-US" sz="1150" dirty="0"/>
          </a:p>
        </p:txBody>
      </p:sp>
      <p:sp>
        <p:nvSpPr>
          <p:cNvPr id="31" name="Shape 29"/>
          <p:cNvSpPr/>
          <p:nvPr/>
        </p:nvSpPr>
        <p:spPr>
          <a:xfrm>
            <a:off x="4663440" y="3063240"/>
            <a:ext cx="4023360" cy="685800"/>
          </a:xfrm>
          <a:prstGeom prst="roundRect">
            <a:avLst>
              <a:gd name="adj" fmla="val 9333"/>
            </a:avLst>
          </a:prstGeom>
          <a:solidFill>
            <a:srgbClr val="FBF5E6"/>
          </a:solidFill>
          <a:ln w="12700">
            <a:solidFill>
              <a:srgbClr val="D4A01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2" name="Text 30"/>
          <p:cNvSpPr/>
          <p:nvPr/>
        </p:nvSpPr>
        <p:spPr>
          <a:xfrm>
            <a:off x="4828032" y="3136392"/>
            <a:ext cx="3694176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D4A0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Postorder = postfix
</a:t>
            </a:r>
            <a:r>
              <a:rPr lang="en-US" sz="1250" b="1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 B C * + D -</a:t>
            </a:r>
            <a:endParaRPr lang="en-US" sz="1150" dirty="0"/>
          </a:p>
        </p:txBody>
      </p:sp>
      <p:sp>
        <p:nvSpPr>
          <p:cNvPr id="33" name="Text 31"/>
          <p:cNvSpPr/>
          <p:nvPr/>
        </p:nvSpPr>
        <p:spPr>
          <a:xfrm>
            <a:off x="4663440" y="3977640"/>
            <a:ext cx="4023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Postorder output EXACTLY matches Lecture 9's worked answer for this expression — postfix was never a separate trick, just one walk of this tree.</a:t>
            </a:r>
            <a:endParaRPr lang="en-US" sz="10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01168"/>
            <a:ext cx="5943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LECTURE 21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438912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3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Trees are everywhere hierarchy matters</a:t>
            </a:r>
            <a:endParaRPr lang="en-US" sz="2300" dirty="0"/>
          </a:p>
        </p:txBody>
      </p:sp>
      <p:sp>
        <p:nvSpPr>
          <p:cNvPr id="4" name="Text 2"/>
          <p:cNvSpPr/>
          <p:nvPr/>
        </p:nvSpPr>
        <p:spPr>
          <a:xfrm>
            <a:off x="457200" y="484632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TCS302  •  UNIT III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8321040" y="4846320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457200" y="1280160"/>
            <a:ext cx="4023360" cy="1325880"/>
          </a:xfrm>
          <a:prstGeom prst="roundRect">
            <a:avLst>
              <a:gd name="adj" fmla="val 4828"/>
            </a:avLst>
          </a:prstGeom>
          <a:solidFill>
            <a:srgbClr val="F0F7F7"/>
          </a:solidFill>
          <a:ln w="1270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621792" y="1353312"/>
            <a:ext cx="3694176" cy="11795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File systems
</a:t>
            </a:r>
            <a:r>
              <a:rPr lang="en-US" sz="12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Folders contain files and other folders — a tree, root is the drive/root directory.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4663440" y="1280160"/>
            <a:ext cx="4023360" cy="1325880"/>
          </a:xfrm>
          <a:prstGeom prst="roundRect">
            <a:avLst>
              <a:gd name="adj" fmla="val 4828"/>
            </a:avLst>
          </a:prstGeom>
          <a:solidFill>
            <a:srgbClr val="F0F7F7"/>
          </a:solidFill>
          <a:ln w="1270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4828032" y="1353312"/>
            <a:ext cx="3694176" cy="11795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Decision trees
</a:t>
            </a:r>
            <a:r>
              <a:rPr lang="en-US" sz="12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internal node is a yes/no question; each leaf is a final decision.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457200" y="2788920"/>
            <a:ext cx="4023360" cy="1325880"/>
          </a:xfrm>
          <a:prstGeom prst="roundRect">
            <a:avLst>
              <a:gd name="adj" fmla="val 4828"/>
            </a:avLst>
          </a:prstGeom>
          <a:solidFill>
            <a:srgbClr val="FBF5E6"/>
          </a:solidFill>
          <a:ln w="12700">
            <a:solidFill>
              <a:srgbClr val="D4A01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621792" y="2862072"/>
            <a:ext cx="3694176" cy="11795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D4A0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Huffman coding (L26)
</a:t>
            </a:r>
            <a:r>
              <a:rPr lang="en-US" sz="12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Builds a tree bottom-up from character frequencies to create optimal codes.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4663440" y="2788920"/>
            <a:ext cx="4023360" cy="1325880"/>
          </a:xfrm>
          <a:prstGeom prst="roundRect">
            <a:avLst>
              <a:gd name="adj" fmla="val 4828"/>
            </a:avLst>
          </a:prstGeom>
          <a:solidFill>
            <a:srgbClr val="FBF5E6"/>
          </a:solidFill>
          <a:ln w="12700">
            <a:solidFill>
              <a:srgbClr val="D4A01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4828032" y="2862072"/>
            <a:ext cx="3694176" cy="11795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D4A0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Binary search trees (L24)
</a:t>
            </a:r>
            <a:r>
              <a:rPr lang="en-US" sz="12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Keeps data ordered so searching is faster than a linear scan.</a:t>
            </a:r>
            <a:endParaRPr lang="en-US" sz="12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4A0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LECTURE 21  •  SUMMARY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713232"/>
            <a:ext cx="7863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vocabulary for everything ahead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640080" y="1325880"/>
            <a:ext cx="7863840" cy="2423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tree: one root, every other node has exactly one parent, no cycles. A linked list is the most boring possible tree.</a:t>
            </a:r>
            <a:endParaRPr lang="en-US" sz="12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Vocabulary that will not be re-explained: root, parent/child, sibling, leaf, edge, height, depth, level, subtree.</a:t>
            </a:r>
            <a:endParaRPr lang="en-US" sz="12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Binary tree: at most 2 children, left and right are distinct positions — not just "any small tree."</a:t>
            </a:r>
            <a:endParaRPr lang="en-US" sz="12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Shape matters: full, complete, and skewed trees behave very differently once Lecture 22 picks a representation.</a:t>
            </a:r>
            <a:endParaRPr lang="en-US" sz="12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Expression trees: preorder/inorder/postorder ARE prefix/infix/postfix — Lecture 9's postfix was always just one tree walk.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40080" y="3886200"/>
            <a:ext cx="7863840" cy="914400"/>
          </a:xfrm>
          <a:prstGeom prst="roundRect">
            <a:avLst>
              <a:gd name="adj" fmla="val 7000"/>
            </a:avLst>
          </a:prstGeom>
          <a:solidFill>
            <a:srgbClr val="2A3575"/>
          </a:solidFill>
          <a:ln w="12700">
            <a:solidFill>
              <a:srgbClr val="D4A01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868680" y="3977640"/>
            <a:ext cx="7406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D4A0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EXIT TICKET   </a:t>
            </a: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Draw the expression tree for A * (B + C) - D. Give its preorder, inorder, and postorder traversals.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</TotalTime>
  <Words>1220</Words>
  <Application>Microsoft Macintosh PowerPoint</Application>
  <PresentationFormat>On-screen Show (16:9)</PresentationFormat>
  <Paragraphs>129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4" baseType="lpstr">
      <vt:lpstr>Arial</vt:lpstr>
      <vt:lpstr>Calibri</vt:lpstr>
      <vt:lpstr>Cambria</vt:lpstr>
      <vt:lpstr>Courier New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SC22D012-Manoj Kaushik 2022-PHD-Earth&amp;SpaceScience</cp:lastModifiedBy>
  <cp:revision>1</cp:revision>
  <dcterms:created xsi:type="dcterms:W3CDTF">2026-09-01T06:04:51Z</dcterms:created>
  <dcterms:modified xsi:type="dcterms:W3CDTF">2026-09-03T09:45:11Z</dcterms:modified>
</cp:coreProperties>
</file>