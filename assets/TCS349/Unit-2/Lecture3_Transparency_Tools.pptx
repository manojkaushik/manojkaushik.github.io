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594360"/>
            <a:ext cx="73152" cy="51206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62179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13232" y="106070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2, Lecture 3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13232" y="1554480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Transparency Tools: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Cards, Datasheets &amp; Audit Logs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2788920"/>
            <a:ext cx="6217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templates and records that turn transparency from a principle into a practice - what to document, for a model, its data, and the system as a whole.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13232" y="470916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Dr. Manoj Kaushik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Assistant Professor, Department of CSE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Graphic Era Hill University, Bhimtal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60920" y="868680"/>
            <a:ext cx="2194560" cy="2331720"/>
          </a:xfrm>
          <a:prstGeom prst="roundRect">
            <a:avLst>
              <a:gd name="adj" fmla="val 5000"/>
            </a:avLst>
          </a:prstGeom>
          <a:solidFill>
            <a:srgbClr val="EEF5FF"/>
          </a:solidFill>
          <a:ln w="12700">
            <a:solidFill>
              <a:srgbClr val="EEF5FF"/>
            </a:solidFill>
            <a:prstDash val="solid"/>
          </a:ln>
        </p:spPr>
      </p:sp>
      <p:pic>
        <p:nvPicPr>
          <p:cNvPr id="10" name="Image 0" descr="/home/claude/work5/icon5_model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580" y="1143000"/>
            <a:ext cx="777240" cy="7772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470648" y="210312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Cards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9692640" y="868680"/>
            <a:ext cx="2194560" cy="2331720"/>
          </a:xfrm>
          <a:prstGeom prst="roundRect">
            <a:avLst>
              <a:gd name="adj" fmla="val 5000"/>
            </a:avLst>
          </a:prstGeom>
          <a:solidFill>
            <a:srgbClr val="F3F8FF"/>
          </a:solidFill>
          <a:ln w="12700">
            <a:solidFill>
              <a:srgbClr val="EEF5FF"/>
            </a:solidFill>
            <a:prstDash val="solid"/>
          </a:ln>
        </p:spPr>
      </p:sp>
      <p:pic>
        <p:nvPicPr>
          <p:cNvPr id="13" name="Image 1" descr="/home/claude/work5/icon5_datashe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1300" y="1143000"/>
            <a:ext cx="777240" cy="7772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802368" y="210312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Datasheets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7360920" y="3337560"/>
            <a:ext cx="2194560" cy="2331720"/>
          </a:xfrm>
          <a:prstGeom prst="roundRect">
            <a:avLst>
              <a:gd name="adj" fmla="val 5000"/>
            </a:avLst>
          </a:prstGeom>
          <a:solidFill>
            <a:srgbClr val="EEF5FF"/>
          </a:solidFill>
          <a:ln w="12700">
            <a:solidFill>
              <a:srgbClr val="EEF5FF"/>
            </a:solidFill>
            <a:prstDash val="solid"/>
          </a:ln>
        </p:spPr>
      </p:sp>
      <p:pic>
        <p:nvPicPr>
          <p:cNvPr id="16" name="Image 2" descr="/home/claude/work5/icon5_systemc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9580" y="3611880"/>
            <a:ext cx="777240" cy="7772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470648" y="457200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Cards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9692640" y="3337560"/>
            <a:ext cx="2194560" cy="2331720"/>
          </a:xfrm>
          <a:prstGeom prst="roundRect">
            <a:avLst>
              <a:gd name="adj" fmla="val 5000"/>
            </a:avLst>
          </a:prstGeom>
          <a:solidFill>
            <a:srgbClr val="F3F8FF"/>
          </a:solidFill>
          <a:ln w="12700">
            <a:solidFill>
              <a:srgbClr val="EEF5FF"/>
            </a:solidFill>
            <a:prstDash val="solid"/>
          </a:ln>
        </p:spPr>
      </p:sp>
      <p:pic>
        <p:nvPicPr>
          <p:cNvPr id="19" name="Image 3" descr="/home/claude/work5/icon5_auditlo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1300" y="3611880"/>
            <a:ext cx="777240" cy="7772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802368" y="457200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Audit Logs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are we?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Lecture 11 established what transparency means, why it matters, and the ideas of traceability and communicated limitations.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Today we study the concrete tools used to deliver transparency in practice: model cards, datasheets, system cards, documentation and audit logs.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Lecture 13 (Next): Accountability in AI - roles, responsibility, human oversight and escalation mechanisms.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These tools are also what this unit's self-learning activity, a transparency and privacy checklist, will be built from.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Lecture Outcomes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Describe the purpose and typical structure of a model card.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Describe the purpose and typical structure of a datasheet for datasets.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Differentiate a model card, a datasheet and a system card.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Explain what an audit log should capture and why it matters.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Recap: From Principles to Tools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Lecture 11 defined transparency, traceability and the need to communicate limitations.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These ideas remain abstract until they are captured in a standard, repeatable document or record.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Transparency tools are how an organisation turns a principle into evidence that can be checked.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Today's templates are the practical output of Lecture 11's concepts.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What Is a Model Card?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model card is a short, standardised document describing an AI model - what it does, how it was built, and where it should and should not be used.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was introduced to give consumers of a model the information needed to decide whether it fits their use case.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cards are usually one to two pages long, written for a mixed technical and non-technical audience.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Publishing a model card is one of the most common ways organisations demonstrate transparency in practice.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Model Card - Typical Sections</a:t>
            </a:r>
            <a:endParaRPr lang="en-US" sz="2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972800" cy="4389120"/>
        </p:xfrm>
        <a:graphic>
          <a:graphicData uri="http://schemas.openxmlformats.org/drawingml/2006/table">
            <a:tbl>
              <a:tblPr/>
              <a:tblGrid>
                <a:gridCol w="3017520"/>
                <a:gridCol w="7955280"/>
              </a:tblGrid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Section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What It Contains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Model Details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Owner, version, date, model type and intended purpose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Intended Use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Primary use cases and users the model was designed for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Performance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Accuracy and fairness metrics, including subgroup-wise results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Limitations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Known weaknesses, out-of-scope uses and edge cases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Ethical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Considerations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Risks identified and mitigations applied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Model Card - Worked Mini-Example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Details: Loan-approval classifier, version 2.1, trained March 2026.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Intended Use: Screening personal loan applications for a retail bank; not intended for business or mortgage loans.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Performance: Overall accuracy 84%; TPR 80% for Group A versus 50% for Group B - flagged as a known limitation.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Limitations: Lower recall for Group B applicants; not validated on applicants under 21.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What Is a Datasheet for Datasets?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datasheet documents a dataset the same way a model card documents a model - its origin, composition and appropriate uses.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answers a simple question: can I trust this data enough to build or evaluate a model on it?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Datasheets borrow their name from the idea that electronics components ship with a datasheet - datasets deserve the same discipline.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dataset without a datasheet is difficult to audit for bias, consent or representativeness later.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 Datasheet - Typical Sections</a:t>
            </a:r>
            <a:endParaRPr lang="en-US" sz="2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972800" cy="4389120"/>
        </p:xfrm>
        <a:graphic>
          <a:graphicData uri="http://schemas.openxmlformats.org/drawingml/2006/table">
            <a:tbl>
              <a:tblPr/>
              <a:tblGrid>
                <a:gridCol w="3017520"/>
                <a:gridCol w="7955280"/>
              </a:tblGrid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Section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What It Contains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Motivation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Why the dataset was created and by whom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Composition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What the data represents, and who or what it covers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Collection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Process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How and when the data was gathered, and any consent obtained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Preprocessing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Cleaning, labelling or transformations applied before use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Recommended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Uses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Appropriate uses, and any uses the creators advise against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7. What Is a System Card?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system card documents an entire AI-powered product or service, not just one underlying model.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 products often combine multiple models, business rules and human review steps - a system card captures the whole pipeline.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typically covers how the system is monitored, updated and governed after deployment, not only how it was built.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cards are the natural documentation layer for the trustworthy AI lifecycle introduced in Lecture 10.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8. Model Card vs Datasheet vs System Card</a:t>
            </a:r>
            <a:endParaRPr lang="en-US" sz="2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600200"/>
          <a:ext cx="11430000" cy="4389120"/>
        </p:xfrm>
        <a:graphic>
          <a:graphicData uri="http://schemas.openxmlformats.org/drawingml/2006/table">
            <a:tbl>
              <a:tblPr/>
              <a:tblGrid>
                <a:gridCol w="1828800"/>
                <a:gridCol w="3108960"/>
                <a:gridCol w="2834640"/>
                <a:gridCol w="3657600"/>
              </a:tblGrid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Dimension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Model Card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Datasheet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System Card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Documents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One trained model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One dataset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The full product or service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Typical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Author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ML engineer or data scientist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Data collection team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Product or governance team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F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Key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Question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Should I use this model, and how?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Can I trust this data?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How does the system behave, and how is it governed?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9. Documentation Beyond Cards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 documents: capture the reasoning behind key architectural and data decisions before a system is built.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Risk assessments: formally identify and rate potential harms before deployment, alongside planned mitigations.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Change logs: record what changed between versions of a model or system, and why.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Together with cards and datasheets, these form a full documentation trail across a system's life.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10. What Is an Audit Log?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audit log is a running record of events in an AI system - inputs, outputs, model version and key decisions - stored as they occur.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mechanism that makes the traceability introduced in Lecture 11 actually verifiable.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Audit logs are typically append-only, meaning past entries cannot be silently edited or deleted.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Without an audit log, a "we can explain this decision" claim usually cannot be checked after the fact.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11. Audit Log - What It Should Capture</a:t>
            </a:r>
            <a:endParaRPr lang="en-US" sz="2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00200"/>
          <a:ext cx="10515600" cy="4389120"/>
        </p:xfrm>
        <a:graphic>
          <a:graphicData uri="http://schemas.openxmlformats.org/drawingml/2006/table">
            <a:tbl>
              <a:tblPr/>
              <a:tblGrid>
                <a:gridCol w="3200400"/>
                <a:gridCol w="7315200"/>
              </a:tblGrid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Field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Example Value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Timestamp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2026-03-14 10:42:17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Model Version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loan-classifier v2.1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Input Reference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Application ID 48213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Output / Decision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Rejected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Reviewer (if any)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Escalated to human reviewer R. Sharma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12. Putting It Together - Documentation Across the Lifecycle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 stage: design documents and early risk assessments.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stage: datasheets for every dataset used in training or evaluation.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Development and testing: model cards summarising performance and limitations.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Deployment and monitoring: system cards and audit logs that stay current for as long as the system is live.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13. Common Pitfalls in Transparency Documentation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Writing a model card once at launch and never updating it as the model is retrained.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Omitting subgroup-wise performance results, hiding the exact disparities Unit I taught you to detect.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Using audit logs that can be edited after the fact, undermining their value as evidence.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Writing documentation only for engineers, leaving other stakeholders unable to understand it.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Mini Classroom Activity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 groups of 3-4 students.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Choose the AI system your group discussed in the Lecture 10 activity.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Draft a one-page outline for its model card, using the five sections from this lecture.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Identify one field your system's audit log should capture that a generic template might miss.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Each group shares one section of their outline in 1 minute.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Recap and Exit Questions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cards document a model, datasheets document a dataset, and system cards document the full product.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Audit logs make traceability verifiable by recording events as they happen, without later edits.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Name two sections you would expect to find in a model card.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Why might a dataset need a datasheet even if the model built on it has a model card?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What makes an audit log trustworthy as evidence?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Next Lecture: Accountability in AI - roles, responsibility, human oversight and escalation mechanisms.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2026-08-10T06:47:35Z</dcterms:created>
  <dcterms:modified xsi:type="dcterms:W3CDTF">2026-08-10T06:47:35Z</dcterms:modified>
</cp:coreProperties>
</file>