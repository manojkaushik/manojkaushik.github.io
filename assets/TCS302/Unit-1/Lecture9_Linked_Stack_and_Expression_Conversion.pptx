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3" d="100"/>
          <a:sy n="153" d="100"/>
        </p:scale>
        <p:origin x="4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22D012-Manoj Kaushik 2022-PHD-Earth&amp;SpaceScience" userId="78d50035-fc00-4ea2-995b-b881e10649a1" providerId="ADAL" clId="{29B47332-549A-4FC0-A3ED-D31212E60846}"/>
    <pc:docChg chg="undo custSel modSld">
      <pc:chgData name="SC22D012-Manoj Kaushik 2022-PHD-Earth&amp;SpaceScience" userId="78d50035-fc00-4ea2-995b-b881e10649a1" providerId="ADAL" clId="{29B47332-549A-4FC0-A3ED-D31212E60846}" dt="2026-07-27T01:55:16.367" v="19" actId="403"/>
      <pc:docMkLst>
        <pc:docMk/>
      </pc:docMkLst>
      <pc:sldChg chg="modSp mod">
        <pc:chgData name="SC22D012-Manoj Kaushik 2022-PHD-Earth&amp;SpaceScience" userId="78d50035-fc00-4ea2-995b-b881e10649a1" providerId="ADAL" clId="{29B47332-549A-4FC0-A3ED-D31212E60846}" dt="2026-07-27T01:47:50.159" v="7" actId="403"/>
        <pc:sldMkLst>
          <pc:docMk/>
          <pc:sldMk cId="0" sldId="257"/>
        </pc:sldMkLst>
        <pc:spChg chg="mod">
          <ac:chgData name="SC22D012-Manoj Kaushik 2022-PHD-Earth&amp;SpaceScience" userId="78d50035-fc00-4ea2-995b-b881e10649a1" providerId="ADAL" clId="{29B47332-549A-4FC0-A3ED-D31212E60846}" dt="2026-07-27T01:47:44.742" v="5" actId="403"/>
          <ac:spMkLst>
            <pc:docMk/>
            <pc:sldMk cId="0" sldId="257"/>
            <ac:spMk id="7" creationId="{00000000-0000-0000-0000-000000000000}"/>
          </ac:spMkLst>
        </pc:spChg>
        <pc:spChg chg="mod">
          <ac:chgData name="SC22D012-Manoj Kaushik 2022-PHD-Earth&amp;SpaceScience" userId="78d50035-fc00-4ea2-995b-b881e10649a1" providerId="ADAL" clId="{29B47332-549A-4FC0-A3ED-D31212E60846}" dt="2026-07-27T01:47:50.159" v="7" actId="403"/>
          <ac:spMkLst>
            <pc:docMk/>
            <pc:sldMk cId="0" sldId="257"/>
            <ac:spMk id="9" creationId="{00000000-0000-0000-0000-000000000000}"/>
          </ac:spMkLst>
        </pc:spChg>
        <pc:spChg chg="mod">
          <ac:chgData name="SC22D012-Manoj Kaushik 2022-PHD-Earth&amp;SpaceScience" userId="78d50035-fc00-4ea2-995b-b881e10649a1" providerId="ADAL" clId="{29B47332-549A-4FC0-A3ED-D31212E60846}" dt="2026-07-27T01:47:38.918" v="3" actId="403"/>
          <ac:spMkLst>
            <pc:docMk/>
            <pc:sldMk cId="0" sldId="257"/>
            <ac:spMk id="10" creationId="{00000000-0000-0000-0000-000000000000}"/>
          </ac:spMkLst>
        </pc:spChg>
      </pc:sldChg>
      <pc:sldChg chg="modSp mod">
        <pc:chgData name="SC22D012-Manoj Kaushik 2022-PHD-Earth&amp;SpaceScience" userId="78d50035-fc00-4ea2-995b-b881e10649a1" providerId="ADAL" clId="{29B47332-549A-4FC0-A3ED-D31212E60846}" dt="2026-07-27T01:47:26.859" v="1" actId="403"/>
        <pc:sldMkLst>
          <pc:docMk/>
          <pc:sldMk cId="0" sldId="258"/>
        </pc:sldMkLst>
        <pc:spChg chg="mod">
          <ac:chgData name="SC22D012-Manoj Kaushik 2022-PHD-Earth&amp;SpaceScience" userId="78d50035-fc00-4ea2-995b-b881e10649a1" providerId="ADAL" clId="{29B47332-549A-4FC0-A3ED-D31212E60846}" dt="2026-07-27T01:47:26.859" v="1" actId="403"/>
          <ac:spMkLst>
            <pc:docMk/>
            <pc:sldMk cId="0" sldId="258"/>
            <ac:spMk id="8" creationId="{00000000-0000-0000-0000-000000000000}"/>
          </ac:spMkLst>
        </pc:spChg>
      </pc:sldChg>
      <pc:sldChg chg="modSp mod">
        <pc:chgData name="SC22D012-Manoj Kaushik 2022-PHD-Earth&amp;SpaceScience" userId="78d50035-fc00-4ea2-995b-b881e10649a1" providerId="ADAL" clId="{29B47332-549A-4FC0-A3ED-D31212E60846}" dt="2026-07-27T01:53:19.783" v="18" actId="14100"/>
        <pc:sldMkLst>
          <pc:docMk/>
          <pc:sldMk cId="0" sldId="259"/>
        </pc:sldMkLst>
        <pc:spChg chg="mod">
          <ac:chgData name="SC22D012-Manoj Kaushik 2022-PHD-Earth&amp;SpaceScience" userId="78d50035-fc00-4ea2-995b-b881e10649a1" providerId="ADAL" clId="{29B47332-549A-4FC0-A3ED-D31212E60846}" dt="2026-07-27T01:53:19.783" v="18" actId="14100"/>
          <ac:spMkLst>
            <pc:docMk/>
            <pc:sldMk cId="0" sldId="259"/>
            <ac:spMk id="6" creationId="{00000000-0000-0000-0000-000000000000}"/>
          </ac:spMkLst>
        </pc:spChg>
        <pc:spChg chg="mod">
          <ac:chgData name="SC22D012-Manoj Kaushik 2022-PHD-Earth&amp;SpaceScience" userId="78d50035-fc00-4ea2-995b-b881e10649a1" providerId="ADAL" clId="{29B47332-549A-4FC0-A3ED-D31212E60846}" dt="2026-07-27T01:49:13.421" v="9" actId="403"/>
          <ac:spMkLst>
            <pc:docMk/>
            <pc:sldMk cId="0" sldId="259"/>
            <ac:spMk id="9" creationId="{00000000-0000-0000-0000-000000000000}"/>
          </ac:spMkLst>
        </pc:spChg>
      </pc:sldChg>
      <pc:sldChg chg="modSp mod">
        <pc:chgData name="SC22D012-Manoj Kaushik 2022-PHD-Earth&amp;SpaceScience" userId="78d50035-fc00-4ea2-995b-b881e10649a1" providerId="ADAL" clId="{29B47332-549A-4FC0-A3ED-D31212E60846}" dt="2026-07-27T01:55:16.367" v="19" actId="403"/>
        <pc:sldMkLst>
          <pc:docMk/>
          <pc:sldMk cId="0" sldId="260"/>
        </pc:sldMkLst>
        <pc:spChg chg="mod">
          <ac:chgData name="SC22D012-Manoj Kaushik 2022-PHD-Earth&amp;SpaceScience" userId="78d50035-fc00-4ea2-995b-b881e10649a1" providerId="ADAL" clId="{29B47332-549A-4FC0-A3ED-D31212E60846}" dt="2026-07-27T01:55:16.367" v="19" actId="403"/>
          <ac:spMkLst>
            <pc:docMk/>
            <pc:sldMk cId="0" sldId="260"/>
            <ac:spMk id="12" creationId="{00000000-0000-0000-0000-000000000000}"/>
          </ac:spMkLst>
        </pc:spChg>
      </pc:sldChg>
      <pc:sldChg chg="modSp mod">
        <pc:chgData name="SC22D012-Manoj Kaushik 2022-PHD-Earth&amp;SpaceScience" userId="78d50035-fc00-4ea2-995b-b881e10649a1" providerId="ADAL" clId="{29B47332-549A-4FC0-A3ED-D31212E60846}" dt="2026-07-27T01:51:26.433" v="16" actId="403"/>
        <pc:sldMkLst>
          <pc:docMk/>
          <pc:sldMk cId="0" sldId="261"/>
        </pc:sldMkLst>
        <pc:spChg chg="mod">
          <ac:chgData name="SC22D012-Manoj Kaushik 2022-PHD-Earth&amp;SpaceScience" userId="78d50035-fc00-4ea2-995b-b881e10649a1" providerId="ADAL" clId="{29B47332-549A-4FC0-A3ED-D31212E60846}" dt="2026-07-27T01:51:19.819" v="13" actId="403"/>
          <ac:spMkLst>
            <pc:docMk/>
            <pc:sldMk cId="0" sldId="261"/>
            <ac:spMk id="10" creationId="{00000000-0000-0000-0000-000000000000}"/>
          </ac:spMkLst>
        </pc:spChg>
        <pc:spChg chg="mod">
          <ac:chgData name="SC22D012-Manoj Kaushik 2022-PHD-Earth&amp;SpaceScience" userId="78d50035-fc00-4ea2-995b-b881e10649a1" providerId="ADAL" clId="{29B47332-549A-4FC0-A3ED-D31212E60846}" dt="2026-07-27T01:51:26.433" v="16" actId="403"/>
          <ac:spMkLst>
            <pc:docMk/>
            <pc:sldMk cId="0" sldId="261"/>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2059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Lecture 8: the array stack was complete but fixed in capacity. Today the same interface is rebuilt on linked nodes, then the stack is put to work converting expressions. Stress that only the representation changes; the ADT contract stays identical.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ASK: stackIsFull disappears; the NULL check on malloc inside stackPush replaces it. Connect explicitly to the ADT slide of Lecture 2: behaviour fixed, storage free to change.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self-referential pointer: it stores an address, so the compiler does not need the complete type yet. The size counter is a design choice that makes stackSize O(1) instead of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diff this slide against Lecture 8 slide 3 themselves. Identical signatures are the payoff of designing through an ADT.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answer: walk the chain and count nodes — O(n). The counter trades one word of memory for constant-time size.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sizeof *node is safer than sizeof(Node): it stays correct if the pointer's type ever changes. Dry-run a push onto an empty stack: node-&gt;next receives NULL, which is exactly right.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answer: the node's bytes leak; a long-running loop of push/pop slowly exhausts the heap until malloc starts returning NULL. Lab evaluations deduct marks for popping without free.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pop on the previous slide: identical guard, identical read, but no unlink and no free. Peek and pop read the same node.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traversals, two purposes: clear destroys as it walks, display only reads. Ask why clear cannot simply set top = NULL like the array version — the nodes would leak.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call the top value before each state is revealed. ASK answer: the node storing 20; the freed node's address must never be used again.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predict all five output lines before running. The unchanged driver is the strongest possible demonstration of the ADT idea.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per-element overhead is the price of flexibility. Ask which representation suits an embedded controller with 2 KB of RAM, and which suits a compiler's expression stack.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answer: precedence — * binds tighter than +. Postfix and prefix encode that order structurally, which is why compilers evaluate postfix. Precedence used here: ^ highest (right-associative), then * and /, then + and - (both left-associative).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is the heart of the algorithm — spend the most time there. For right-associative ^, equal precedence does NOT pop, which is why a ^ b ^ c becomes a b c ^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minus step is the whole lesson: * pops because 2 ≥ 1, then + pops because 1 ≥ 1 and − is left-associative. Final answer: A B C * + D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associativity flip in step 2 exists because reversing the string reverses operand order for equal-precedence chains. Verify the final prefix by expanding it back to infix on the board.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answers — postfix: A B + C * D E / − ; prefix: − * + A B C / D E. Give two minutes of silent work, then trace on the board. Preview Lecture 10 so students see the postfix output being consumed next time.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822960"/>
            <a:ext cx="7863840" cy="320040"/>
          </a:xfrm>
          <a:prstGeom prst="rect">
            <a:avLst/>
          </a:prstGeom>
          <a:noFill/>
          <a:ln/>
        </p:spPr>
        <p:txBody>
          <a:bodyPr wrap="square" lIns="0" tIns="0" rIns="0" bIns="0" rtlCol="0" anchor="ctr"/>
          <a:lstStyle/>
          <a:p>
            <a:pPr marL="0" indent="0">
              <a:buNone/>
            </a:pPr>
            <a:r>
              <a:rPr lang="en-US" sz="1300" b="1" kern="0" spc="200" dirty="0">
                <a:solidFill>
                  <a:srgbClr val="D4A017"/>
                </a:solidFill>
                <a:latin typeface="Calibri" pitchFamily="34" charset="0"/>
                <a:ea typeface="Calibri" pitchFamily="34" charset="-122"/>
                <a:cs typeface="Calibri" pitchFamily="34" charset="-120"/>
              </a:rPr>
              <a:t>TCS302  •  DATA STRUCTURES WITH C</a:t>
            </a:r>
            <a:endParaRPr lang="en-US" sz="1300" dirty="0"/>
          </a:p>
        </p:txBody>
      </p:sp>
      <p:sp>
        <p:nvSpPr>
          <p:cNvPr id="3" name="Text 1"/>
          <p:cNvSpPr/>
          <p:nvPr/>
        </p:nvSpPr>
        <p:spPr>
          <a:xfrm>
            <a:off x="640080" y="1234440"/>
            <a:ext cx="7863840" cy="7772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Linked Stacks in C</a:t>
            </a:r>
            <a:endParaRPr lang="en-US" sz="4000" dirty="0"/>
          </a:p>
        </p:txBody>
      </p:sp>
      <p:sp>
        <p:nvSpPr>
          <p:cNvPr id="4" name="Text 2"/>
          <p:cNvSpPr/>
          <p:nvPr/>
        </p:nvSpPr>
        <p:spPr>
          <a:xfrm>
            <a:off x="640080" y="2011680"/>
            <a:ext cx="7863840" cy="41148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Dynamic Representation &amp; Expression Conversion</a:t>
            </a:r>
            <a:endParaRPr lang="en-US" sz="1800" dirty="0"/>
          </a:p>
        </p:txBody>
      </p:sp>
      <p:sp>
        <p:nvSpPr>
          <p:cNvPr id="5" name="Text 3"/>
          <p:cNvSpPr/>
          <p:nvPr/>
        </p:nvSpPr>
        <p:spPr>
          <a:xfrm>
            <a:off x="640080" y="2788920"/>
            <a:ext cx="7863840" cy="320040"/>
          </a:xfrm>
          <a:prstGeom prst="rect">
            <a:avLst/>
          </a:prstGeom>
          <a:noFill/>
          <a:ln/>
        </p:spPr>
        <p:txBody>
          <a:bodyPr wrap="square" lIns="0" tIns="0" rIns="0" bIns="0" rtlCol="0" anchor="ctr"/>
          <a:lstStyle/>
          <a:p>
            <a:pPr marL="0" indent="0">
              <a:buNone/>
            </a:pPr>
            <a:r>
              <a:rPr lang="en-US" sz="1500" b="1" dirty="0">
                <a:solidFill>
                  <a:srgbClr val="D4A017"/>
                </a:solidFill>
                <a:latin typeface="Calibri" pitchFamily="34" charset="0"/>
                <a:ea typeface="Calibri" pitchFamily="34" charset="-122"/>
                <a:cs typeface="Calibri" pitchFamily="34" charset="-120"/>
              </a:rPr>
              <a:t>Unit I  •  Lecture 9</a:t>
            </a:r>
            <a:endParaRPr lang="en-US" sz="1500" dirty="0"/>
          </a:p>
        </p:txBody>
      </p:sp>
      <p:sp>
        <p:nvSpPr>
          <p:cNvPr id="6" name="Text 4"/>
          <p:cNvSpPr/>
          <p:nvPr/>
        </p:nvSpPr>
        <p:spPr>
          <a:xfrm>
            <a:off x="640080" y="3200400"/>
            <a:ext cx="7863840" cy="32004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init • isEmpty • size • push • pop • peek • clear • display  +  infix → postfix / prefix</a:t>
            </a:r>
            <a:endParaRPr lang="en-US" sz="1300" dirty="0"/>
          </a:p>
        </p:txBody>
      </p:sp>
      <p:sp>
        <p:nvSpPr>
          <p:cNvPr id="7" name="Shape 5"/>
          <p:cNvSpPr/>
          <p:nvPr/>
        </p:nvSpPr>
        <p:spPr>
          <a:xfrm>
            <a:off x="640080" y="3977640"/>
            <a:ext cx="914400" cy="457200"/>
          </a:xfrm>
          <a:prstGeom prst="rect">
            <a:avLst/>
          </a:prstGeom>
          <a:solidFill>
            <a:srgbClr val="D4A017"/>
          </a:solidFill>
          <a:ln w="12700">
            <a:solidFill>
              <a:srgbClr val="FFFFFF"/>
            </a:solidFill>
            <a:prstDash val="solid"/>
          </a:ln>
        </p:spPr>
        <p:txBody>
          <a:bodyPr/>
          <a:lstStyle/>
          <a:p>
            <a:endParaRPr lang="en-IN"/>
          </a:p>
        </p:txBody>
      </p:sp>
      <p:sp>
        <p:nvSpPr>
          <p:cNvPr id="8" name="Text 6"/>
          <p:cNvSpPr/>
          <p:nvPr/>
        </p:nvSpPr>
        <p:spPr>
          <a:xfrm>
            <a:off x="640080" y="3977640"/>
            <a:ext cx="914400" cy="457200"/>
          </a:xfrm>
          <a:prstGeom prst="rect">
            <a:avLst/>
          </a:prstGeom>
          <a:noFill/>
          <a:ln/>
        </p:spPr>
        <p:txBody>
          <a:bodyPr wrap="square" lIns="0" tIns="0" rIns="0" bIns="0" rtlCol="0" anchor="ctr"/>
          <a:lstStyle/>
          <a:p>
            <a:pPr marL="0" indent="0" algn="ctr">
              <a:buNone/>
            </a:pPr>
            <a:r>
              <a:rPr lang="en-US" sz="1400" b="1" dirty="0">
                <a:solidFill>
                  <a:srgbClr val="1E2761"/>
                </a:solidFill>
                <a:latin typeface="Courier New" pitchFamily="34" charset="0"/>
                <a:ea typeface="Courier New" pitchFamily="34" charset="-122"/>
                <a:cs typeface="Courier New" pitchFamily="34" charset="-120"/>
              </a:rPr>
              <a:t>30</a:t>
            </a:r>
            <a:endParaRPr lang="en-US" sz="1400" dirty="0"/>
          </a:p>
        </p:txBody>
      </p:sp>
      <p:sp>
        <p:nvSpPr>
          <p:cNvPr id="9" name="Shape 7"/>
          <p:cNvSpPr/>
          <p:nvPr/>
        </p:nvSpPr>
        <p:spPr>
          <a:xfrm>
            <a:off x="1554480" y="3977640"/>
            <a:ext cx="320040" cy="457200"/>
          </a:xfrm>
          <a:prstGeom prst="rect">
            <a:avLst/>
          </a:prstGeom>
          <a:solidFill>
            <a:srgbClr val="2A3575"/>
          </a:solidFill>
          <a:ln w="12700">
            <a:solidFill>
              <a:srgbClr val="FFFFFF"/>
            </a:solidFill>
            <a:prstDash val="solid"/>
          </a:ln>
        </p:spPr>
        <p:txBody>
          <a:bodyPr/>
          <a:lstStyle/>
          <a:p>
            <a:endParaRPr lang="en-IN"/>
          </a:p>
        </p:txBody>
      </p:sp>
      <p:sp>
        <p:nvSpPr>
          <p:cNvPr id="10" name="Text 8"/>
          <p:cNvSpPr/>
          <p:nvPr/>
        </p:nvSpPr>
        <p:spPr>
          <a:xfrm>
            <a:off x="1874520" y="3977640"/>
            <a:ext cx="640080" cy="457200"/>
          </a:xfrm>
          <a:prstGeom prst="rect">
            <a:avLst/>
          </a:prstGeom>
          <a:noFill/>
          <a:ln/>
        </p:spPr>
        <p:txBody>
          <a:bodyPr wrap="square" lIns="0" tIns="0" rIns="0" bIns="0" rtlCol="0" anchor="ctr"/>
          <a:lstStyle/>
          <a:p>
            <a:pPr marL="0" indent="0" algn="ctr">
              <a:buNone/>
            </a:pPr>
            <a:r>
              <a:rPr lang="en-US" sz="1800" dirty="0">
                <a:solidFill>
                  <a:srgbClr val="D4A017"/>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514600" y="3977640"/>
            <a:ext cx="914400" cy="457200"/>
          </a:xfrm>
          <a:prstGeom prst="rect">
            <a:avLst/>
          </a:prstGeom>
          <a:solidFill>
            <a:srgbClr val="028090"/>
          </a:solidFill>
          <a:ln w="12700">
            <a:solidFill>
              <a:srgbClr val="FFFFFF"/>
            </a:solidFill>
            <a:prstDash val="solid"/>
          </a:ln>
        </p:spPr>
        <p:txBody>
          <a:bodyPr/>
          <a:lstStyle/>
          <a:p>
            <a:endParaRPr lang="en-IN"/>
          </a:p>
        </p:txBody>
      </p:sp>
      <p:sp>
        <p:nvSpPr>
          <p:cNvPr id="12" name="Text 10"/>
          <p:cNvSpPr/>
          <p:nvPr/>
        </p:nvSpPr>
        <p:spPr>
          <a:xfrm>
            <a:off x="2514600" y="3977640"/>
            <a:ext cx="914400" cy="457200"/>
          </a:xfrm>
          <a:prstGeom prst="rect">
            <a:avLst/>
          </a:prstGeom>
          <a:noFill/>
          <a:ln/>
        </p:spPr>
        <p:txBody>
          <a:bodyPr wrap="square" lIns="0" tIns="0" rIns="0" bIns="0" rtlCol="0" anchor="ctr"/>
          <a:lstStyle/>
          <a:p>
            <a:pPr marL="0" indent="0" algn="ctr">
              <a:buNone/>
            </a:pPr>
            <a:r>
              <a:rPr lang="en-US" sz="1400" b="1" dirty="0">
                <a:solidFill>
                  <a:srgbClr val="1E2761"/>
                </a:solidFill>
                <a:latin typeface="Courier New" pitchFamily="34" charset="0"/>
                <a:ea typeface="Courier New" pitchFamily="34" charset="-122"/>
                <a:cs typeface="Courier New" pitchFamily="34" charset="-120"/>
              </a:rPr>
              <a:t>20</a:t>
            </a:r>
            <a:endParaRPr lang="en-US" sz="1400" dirty="0"/>
          </a:p>
        </p:txBody>
      </p:sp>
      <p:sp>
        <p:nvSpPr>
          <p:cNvPr id="13" name="Shape 11"/>
          <p:cNvSpPr/>
          <p:nvPr/>
        </p:nvSpPr>
        <p:spPr>
          <a:xfrm>
            <a:off x="3429000" y="3977640"/>
            <a:ext cx="320040" cy="457200"/>
          </a:xfrm>
          <a:prstGeom prst="rect">
            <a:avLst/>
          </a:prstGeom>
          <a:solidFill>
            <a:srgbClr val="2A3575"/>
          </a:solidFill>
          <a:ln w="12700">
            <a:solidFill>
              <a:srgbClr val="FFFFFF"/>
            </a:solidFill>
            <a:prstDash val="solid"/>
          </a:ln>
        </p:spPr>
        <p:txBody>
          <a:bodyPr/>
          <a:lstStyle/>
          <a:p>
            <a:endParaRPr lang="en-IN"/>
          </a:p>
        </p:txBody>
      </p:sp>
      <p:sp>
        <p:nvSpPr>
          <p:cNvPr id="14" name="Text 12"/>
          <p:cNvSpPr/>
          <p:nvPr/>
        </p:nvSpPr>
        <p:spPr>
          <a:xfrm>
            <a:off x="3749040" y="3977640"/>
            <a:ext cx="640080" cy="457200"/>
          </a:xfrm>
          <a:prstGeom prst="rect">
            <a:avLst/>
          </a:prstGeom>
          <a:noFill/>
          <a:ln/>
        </p:spPr>
        <p:txBody>
          <a:bodyPr wrap="square" lIns="0" tIns="0" rIns="0" bIns="0" rtlCol="0" anchor="ctr"/>
          <a:lstStyle/>
          <a:p>
            <a:pPr marL="0" indent="0" algn="ctr">
              <a:buNone/>
            </a:pPr>
            <a:r>
              <a:rPr lang="en-US" sz="1800" dirty="0">
                <a:solidFill>
                  <a:srgbClr val="D4A017"/>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4389120" y="3977640"/>
            <a:ext cx="914400" cy="457200"/>
          </a:xfrm>
          <a:prstGeom prst="rect">
            <a:avLst/>
          </a:prstGeom>
          <a:solidFill>
            <a:srgbClr val="028090"/>
          </a:solidFill>
          <a:ln w="12700">
            <a:solidFill>
              <a:srgbClr val="FFFFFF"/>
            </a:solidFill>
            <a:prstDash val="solid"/>
          </a:ln>
        </p:spPr>
        <p:txBody>
          <a:bodyPr/>
          <a:lstStyle/>
          <a:p>
            <a:endParaRPr lang="en-IN"/>
          </a:p>
        </p:txBody>
      </p:sp>
      <p:sp>
        <p:nvSpPr>
          <p:cNvPr id="16" name="Text 14"/>
          <p:cNvSpPr/>
          <p:nvPr/>
        </p:nvSpPr>
        <p:spPr>
          <a:xfrm>
            <a:off x="4389120" y="3977640"/>
            <a:ext cx="914400" cy="457200"/>
          </a:xfrm>
          <a:prstGeom prst="rect">
            <a:avLst/>
          </a:prstGeom>
          <a:noFill/>
          <a:ln/>
        </p:spPr>
        <p:txBody>
          <a:bodyPr wrap="square" lIns="0" tIns="0" rIns="0" bIns="0" rtlCol="0" anchor="ctr"/>
          <a:lstStyle/>
          <a:p>
            <a:pPr marL="0" indent="0" algn="ctr">
              <a:buNone/>
            </a:pPr>
            <a:r>
              <a:rPr lang="en-US" sz="1400" b="1" dirty="0">
                <a:solidFill>
                  <a:srgbClr val="1E2761"/>
                </a:solidFill>
                <a:latin typeface="Courier New" pitchFamily="34" charset="0"/>
                <a:ea typeface="Courier New" pitchFamily="34" charset="-122"/>
                <a:cs typeface="Courier New" pitchFamily="34" charset="-120"/>
              </a:rPr>
              <a:t>10</a:t>
            </a:r>
            <a:endParaRPr lang="en-US" sz="1400" dirty="0"/>
          </a:p>
        </p:txBody>
      </p:sp>
      <p:sp>
        <p:nvSpPr>
          <p:cNvPr id="17" name="Shape 15"/>
          <p:cNvSpPr/>
          <p:nvPr/>
        </p:nvSpPr>
        <p:spPr>
          <a:xfrm>
            <a:off x="5303520" y="3977640"/>
            <a:ext cx="320040" cy="457200"/>
          </a:xfrm>
          <a:prstGeom prst="rect">
            <a:avLst/>
          </a:prstGeom>
          <a:solidFill>
            <a:srgbClr val="2A3575"/>
          </a:solidFill>
          <a:ln w="12700">
            <a:solidFill>
              <a:srgbClr val="FFFFFF"/>
            </a:solidFill>
            <a:prstDash val="solid"/>
          </a:ln>
        </p:spPr>
        <p:txBody>
          <a:bodyPr/>
          <a:lstStyle/>
          <a:p>
            <a:endParaRPr lang="en-IN"/>
          </a:p>
        </p:txBody>
      </p:sp>
      <p:sp>
        <p:nvSpPr>
          <p:cNvPr id="18" name="Text 16"/>
          <p:cNvSpPr/>
          <p:nvPr/>
        </p:nvSpPr>
        <p:spPr>
          <a:xfrm>
            <a:off x="6263640" y="3977640"/>
            <a:ext cx="1463040" cy="457200"/>
          </a:xfrm>
          <a:prstGeom prst="rect">
            <a:avLst/>
          </a:prstGeom>
          <a:noFill/>
          <a:ln/>
        </p:spPr>
        <p:txBody>
          <a:bodyPr wrap="square" lIns="0" tIns="0" rIns="0" bIns="0" rtlCol="0" anchor="ctr"/>
          <a:lstStyle/>
          <a:p>
            <a:pPr marL="0" indent="0">
              <a:buNone/>
            </a:pPr>
            <a:r>
              <a:rPr lang="en-US" sz="1400" b="1" dirty="0">
                <a:solidFill>
                  <a:srgbClr val="CADCFC"/>
                </a:solidFill>
                <a:latin typeface="Courier New" pitchFamily="34" charset="0"/>
                <a:ea typeface="Courier New" pitchFamily="34" charset="-122"/>
                <a:cs typeface="Courier New" pitchFamily="34" charset="-120"/>
              </a:rPr>
              <a:t>→ NULL</a:t>
            </a:r>
            <a:endParaRPr lang="en-US" sz="1400" dirty="0"/>
          </a:p>
        </p:txBody>
      </p:sp>
      <p:sp>
        <p:nvSpPr>
          <p:cNvPr id="19" name="Text 17"/>
          <p:cNvSpPr/>
          <p:nvPr/>
        </p:nvSpPr>
        <p:spPr>
          <a:xfrm>
            <a:off x="640080" y="3657600"/>
            <a:ext cx="914400" cy="274320"/>
          </a:xfrm>
          <a:prstGeom prst="rect">
            <a:avLst/>
          </a:prstGeom>
          <a:noFill/>
          <a:ln/>
        </p:spPr>
        <p:txBody>
          <a:bodyPr wrap="square" lIns="0" tIns="0" rIns="0" bIns="0" rtlCol="0" anchor="ctr"/>
          <a:lstStyle/>
          <a:p>
            <a:pPr marL="0" indent="0" algn="ctr">
              <a:buNone/>
            </a:pPr>
            <a:r>
              <a:rPr lang="en-US" sz="1200" b="1" dirty="0">
                <a:solidFill>
                  <a:srgbClr val="D4A017"/>
                </a:solidFill>
                <a:latin typeface="Courier New" pitchFamily="34" charset="0"/>
                <a:ea typeface="Courier New" pitchFamily="34" charset="-122"/>
                <a:cs typeface="Courier New" pitchFamily="34" charset="-120"/>
              </a:rPr>
              <a:t>top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Why replace the array with linked nodes?</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02</a:t>
            </a:r>
            <a:endParaRPr lang="en-US" sz="900" dirty="0"/>
          </a:p>
        </p:txBody>
      </p:sp>
      <p:sp>
        <p:nvSpPr>
          <p:cNvPr id="6" name="Shape 4"/>
          <p:cNvSpPr/>
          <p:nvPr/>
        </p:nvSpPr>
        <p:spPr>
          <a:xfrm>
            <a:off x="457200" y="1188720"/>
            <a:ext cx="4023360" cy="1371600"/>
          </a:xfrm>
          <a:prstGeom prst="roundRect">
            <a:avLst>
              <a:gd name="adj" fmla="val 4667"/>
            </a:avLst>
          </a:prstGeom>
          <a:solidFill>
            <a:srgbClr val="F0F7F7"/>
          </a:solidFill>
          <a:ln w="12700">
            <a:solidFill>
              <a:srgbClr val="1E2761"/>
            </a:solidFill>
            <a:prstDash val="solid"/>
          </a:ln>
        </p:spPr>
        <p:txBody>
          <a:bodyPr/>
          <a:lstStyle/>
          <a:p>
            <a:endParaRPr lang="en-IN"/>
          </a:p>
        </p:txBody>
      </p:sp>
      <p:sp>
        <p:nvSpPr>
          <p:cNvPr id="7" name="Text 5"/>
          <p:cNvSpPr/>
          <p:nvPr/>
        </p:nvSpPr>
        <p:spPr>
          <a:xfrm>
            <a:off x="621792" y="1261872"/>
            <a:ext cx="3694176" cy="1225296"/>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Array stack (Lecture 8)
</a:t>
            </a:r>
            <a:r>
              <a:rPr lang="en-US" sz="1600" dirty="0">
                <a:solidFill>
                  <a:srgbClr val="2B2B2B"/>
                </a:solidFill>
                <a:latin typeface="Calibri" pitchFamily="34" charset="0"/>
                <a:ea typeface="Calibri" pitchFamily="34" charset="-122"/>
                <a:cs typeface="Calibri" pitchFamily="34" charset="-120"/>
              </a:rPr>
              <a:t>Capacity fixed by STACK_CAPACITY at compile time. Push fails once the array is full, even if memory is free.</a:t>
            </a:r>
            <a:endParaRPr lang="en-US" sz="1600" dirty="0"/>
          </a:p>
        </p:txBody>
      </p:sp>
      <p:sp>
        <p:nvSpPr>
          <p:cNvPr id="8" name="Shape 6"/>
          <p:cNvSpPr/>
          <p:nvPr/>
        </p:nvSpPr>
        <p:spPr>
          <a:xfrm>
            <a:off x="4663440" y="1188720"/>
            <a:ext cx="4023360" cy="1371600"/>
          </a:xfrm>
          <a:prstGeom prst="roundRect">
            <a:avLst>
              <a:gd name="adj" fmla="val 4667"/>
            </a:avLst>
          </a:prstGeom>
          <a:solidFill>
            <a:srgbClr val="FBF5E6"/>
          </a:solidFill>
          <a:ln w="12700">
            <a:solidFill>
              <a:srgbClr val="D4A017"/>
            </a:solidFill>
            <a:prstDash val="solid"/>
          </a:ln>
        </p:spPr>
        <p:txBody>
          <a:bodyPr/>
          <a:lstStyle/>
          <a:p>
            <a:endParaRPr lang="en-IN"/>
          </a:p>
        </p:txBody>
      </p:sp>
      <p:sp>
        <p:nvSpPr>
          <p:cNvPr id="9" name="Text 7"/>
          <p:cNvSpPr/>
          <p:nvPr/>
        </p:nvSpPr>
        <p:spPr>
          <a:xfrm>
            <a:off x="4828032" y="1261872"/>
            <a:ext cx="3694176" cy="1225296"/>
          </a:xfrm>
          <a:prstGeom prst="rect">
            <a:avLst/>
          </a:prstGeom>
          <a:noFill/>
          <a:ln/>
        </p:spPr>
        <p:txBody>
          <a:bodyPr wrap="square" lIns="0" tIns="0" rIns="0" bIns="0" rtlCol="0" anchor="ctr"/>
          <a:lstStyle/>
          <a:p>
            <a:pPr marL="0" indent="0">
              <a:buNone/>
            </a:pPr>
            <a:r>
              <a:rPr lang="en-US" sz="1600" b="1" dirty="0">
                <a:solidFill>
                  <a:srgbClr val="D4A017"/>
                </a:solidFill>
                <a:latin typeface="Calibri" pitchFamily="34" charset="0"/>
                <a:ea typeface="Calibri" pitchFamily="34" charset="-122"/>
                <a:cs typeface="Calibri" pitchFamily="34" charset="-120"/>
              </a:rPr>
              <a:t>Linked stack (today)
</a:t>
            </a:r>
            <a:r>
              <a:rPr lang="en-US" sz="1600" dirty="0">
                <a:solidFill>
                  <a:srgbClr val="2B2B2B"/>
                </a:solidFill>
                <a:latin typeface="Calibri" pitchFamily="34" charset="0"/>
                <a:ea typeface="Calibri" pitchFamily="34" charset="-122"/>
                <a:cs typeface="Calibri" pitchFamily="34" charset="-120"/>
              </a:rPr>
              <a:t>One node per element, created with malloc at push and released with free at pop. The stack grows and shrinks at run time.</a:t>
            </a:r>
            <a:endParaRPr lang="en-US" sz="1600" dirty="0"/>
          </a:p>
        </p:txBody>
      </p:sp>
      <p:sp>
        <p:nvSpPr>
          <p:cNvPr id="10" name="Text 8"/>
          <p:cNvSpPr/>
          <p:nvPr/>
        </p:nvSpPr>
        <p:spPr>
          <a:xfrm>
            <a:off x="457200" y="2788920"/>
            <a:ext cx="822960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Same interface, new representation — the ADT promise from Lecture 2.</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No isFull( ): the only limit is heap memory, reported by malloc returning NULL.</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Every operation still runs in O(1), except display and clear which visit each node once.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Two structs describe the whole stack</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03</a:t>
            </a:r>
            <a:endParaRPr lang="en-US" sz="900" dirty="0"/>
          </a:p>
        </p:txBody>
      </p:sp>
      <p:sp>
        <p:nvSpPr>
          <p:cNvPr id="6" name="Shape 4"/>
          <p:cNvSpPr/>
          <p:nvPr/>
        </p:nvSpPr>
        <p:spPr>
          <a:xfrm>
            <a:off x="457200" y="1188720"/>
            <a:ext cx="4480560" cy="3429000"/>
          </a:xfrm>
          <a:prstGeom prst="roundRect">
            <a:avLst>
              <a:gd name="adj" fmla="val 1867"/>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594360" y="1280160"/>
            <a:ext cx="4206240" cy="3246120"/>
          </a:xfrm>
          <a:prstGeom prst="rect">
            <a:avLst/>
          </a:prstGeom>
          <a:noFill/>
          <a:ln/>
        </p:spPr>
        <p:txBody>
          <a:bodyPr wrap="square" lIns="0" tIns="0" rIns="0" bIns="0" rtlCol="0" anchor="t"/>
          <a:lstStyle/>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#include &lt;stdio.h&gt;</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#include &lt;stdbool.h&gt;</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#include &lt;stddef.h&gt;</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#include &lt;stdlib.h&gt;</a:t>
            </a:r>
            <a:endParaRPr lang="en-US" sz="1250" dirty="0"/>
          </a:p>
          <a:p>
            <a:pPr marL="0" indent="0">
              <a:lnSpc>
                <a:spcPct val="100000"/>
              </a:lnSpc>
              <a:buNone/>
            </a:pP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typedef struct Node {</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int          value;</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struct Node *next;</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Node;</a:t>
            </a:r>
            <a:endParaRPr lang="en-US" sz="1250" dirty="0"/>
          </a:p>
          <a:p>
            <a:pPr marL="0" indent="0">
              <a:lnSpc>
                <a:spcPct val="100000"/>
              </a:lnSpc>
              <a:buNone/>
            </a:pP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typedef struct {</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Node   *top;</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size_t  size;</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Stack;</a:t>
            </a:r>
            <a:endParaRPr lang="en-US" sz="1250" dirty="0"/>
          </a:p>
        </p:txBody>
      </p:sp>
      <p:sp>
        <p:nvSpPr>
          <p:cNvPr id="8" name="Text 6"/>
          <p:cNvSpPr/>
          <p:nvPr/>
        </p:nvSpPr>
        <p:spPr>
          <a:xfrm>
            <a:off x="5212080" y="1280160"/>
            <a:ext cx="347472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Node holds one value and the link to the node below it.</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struct Node *next is legal inside the struct because the tag names the type being defined.</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Stack keeps two facts: the top pointer and a running size counter.</a:t>
            </a:r>
            <a:endParaRPr lang="en-US" sz="1600" dirty="0"/>
          </a:p>
          <a:p>
            <a:pPr marL="342900" indent="-342900">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stdlib.h is new — it declares malloc and free.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The interface is unchanged from Lecture 8</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04</a:t>
            </a:r>
            <a:endParaRPr lang="en-US" sz="900" dirty="0"/>
          </a:p>
        </p:txBody>
      </p:sp>
      <p:sp>
        <p:nvSpPr>
          <p:cNvPr id="6" name="Shape 4"/>
          <p:cNvSpPr/>
          <p:nvPr/>
        </p:nvSpPr>
        <p:spPr>
          <a:xfrm>
            <a:off x="457200" y="1188720"/>
            <a:ext cx="5029200" cy="3063240"/>
          </a:xfrm>
          <a:prstGeom prst="roundRect">
            <a:avLst>
              <a:gd name="adj" fmla="val 2090"/>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594360" y="1280160"/>
            <a:ext cx="4754880" cy="2880360"/>
          </a:xfrm>
          <a:prstGeom prst="rect">
            <a:avLst/>
          </a:prstGeom>
          <a:noFill/>
          <a:ln/>
        </p:spPr>
        <p:txBody>
          <a:bodyPr wrap="square" lIns="0" tIns="0" rIns="0" bIns="0" rtlCol="0" anchor="t"/>
          <a:lstStyle/>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void   stackInit(Stack *s);</a:t>
            </a:r>
            <a:endParaRPr lang="en-US" sz="1300" dirty="0"/>
          </a:p>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bool   stackIsEmpty(const Stack *s);</a:t>
            </a:r>
            <a:endParaRPr lang="en-US" sz="1300" dirty="0"/>
          </a:p>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size_t stackSize(const Stack *s);</a:t>
            </a:r>
            <a:endParaRPr lang="en-US" sz="1300" dirty="0"/>
          </a:p>
          <a:p>
            <a:pPr marL="0" indent="0">
              <a:lnSpc>
                <a:spcPct val="100000"/>
              </a:lnSpc>
              <a:buNone/>
            </a:pPr>
            <a:endParaRPr lang="en-US" sz="1300" dirty="0"/>
          </a:p>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bool stackPush(Stack *s, int value);</a:t>
            </a:r>
            <a:endParaRPr lang="en-US" sz="1300" dirty="0"/>
          </a:p>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bool stackPop(Stack *s, int *outValue);</a:t>
            </a:r>
            <a:endParaRPr lang="en-US" sz="1300" dirty="0"/>
          </a:p>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bool stackPeek(const Stack *s,</a:t>
            </a:r>
            <a:endParaRPr lang="en-US" sz="1300" dirty="0"/>
          </a:p>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               int *outValue);</a:t>
            </a:r>
            <a:endParaRPr lang="en-US" sz="1300" dirty="0"/>
          </a:p>
          <a:p>
            <a:pPr marL="0" indent="0">
              <a:lnSpc>
                <a:spcPct val="100000"/>
              </a:lnSpc>
              <a:buNone/>
            </a:pPr>
            <a:endParaRPr lang="en-US" sz="1300" dirty="0"/>
          </a:p>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void stackClear(Stack *s);</a:t>
            </a:r>
            <a:endParaRPr lang="en-US" sz="1300" dirty="0"/>
          </a:p>
          <a:p>
            <a:pPr marL="0" indent="0">
              <a:lnSpc>
                <a:spcPct val="100000"/>
              </a:lnSpc>
              <a:buNone/>
            </a:pPr>
            <a:r>
              <a:rPr lang="en-US" sz="1300" dirty="0">
                <a:solidFill>
                  <a:srgbClr val="E8F1F2"/>
                </a:solidFill>
                <a:latin typeface="Courier New" pitchFamily="34" charset="0"/>
                <a:ea typeface="Courier New" pitchFamily="34" charset="-122"/>
                <a:cs typeface="Courier New" pitchFamily="34" charset="-120"/>
              </a:rPr>
              <a:t>void stackDisplay(const Stack *s);</a:t>
            </a:r>
            <a:endParaRPr lang="en-US" sz="1300" dirty="0"/>
          </a:p>
        </p:txBody>
      </p:sp>
      <p:sp>
        <p:nvSpPr>
          <p:cNvPr id="8" name="Shape 6"/>
          <p:cNvSpPr/>
          <p:nvPr/>
        </p:nvSpPr>
        <p:spPr>
          <a:xfrm>
            <a:off x="5715000" y="1280160"/>
            <a:ext cx="2971800" cy="2834640"/>
          </a:xfrm>
          <a:prstGeom prst="roundRect">
            <a:avLst>
              <a:gd name="adj" fmla="val 2258"/>
            </a:avLst>
          </a:prstGeom>
          <a:solidFill>
            <a:srgbClr val="F0F7F7"/>
          </a:solidFill>
          <a:ln w="12700">
            <a:solidFill>
              <a:srgbClr val="028090"/>
            </a:solidFill>
            <a:prstDash val="solid"/>
          </a:ln>
        </p:spPr>
        <p:txBody>
          <a:bodyPr/>
          <a:lstStyle/>
          <a:p>
            <a:endParaRPr lang="en-IN"/>
          </a:p>
        </p:txBody>
      </p:sp>
      <p:sp>
        <p:nvSpPr>
          <p:cNvPr id="9" name="Text 7"/>
          <p:cNvSpPr/>
          <p:nvPr/>
        </p:nvSpPr>
        <p:spPr>
          <a:xfrm>
            <a:off x="5879592" y="1353312"/>
            <a:ext cx="2642616" cy="2688336"/>
          </a:xfrm>
          <a:prstGeom prst="rect">
            <a:avLst/>
          </a:prstGeom>
          <a:noFill/>
          <a:ln/>
        </p:spPr>
        <p:txBody>
          <a:bodyPr wrap="square" lIns="0" tIns="0" rIns="0" bIns="0"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What changed?
</a:t>
            </a:r>
            <a:r>
              <a:rPr lang="en-US" sz="1600" dirty="0">
                <a:solidFill>
                  <a:srgbClr val="2B2B2B"/>
                </a:solidFill>
                <a:latin typeface="Calibri" pitchFamily="34" charset="0"/>
                <a:ea typeface="Calibri" pitchFamily="34" charset="-122"/>
                <a:cs typeface="Calibri" pitchFamily="34" charset="-120"/>
              </a:rPr>
              <a:t>Only one prototype is gone: stackIsFull.</a:t>
            </a:r>
            <a:endParaRPr lang="en-US" sz="1600" dirty="0"/>
          </a:p>
          <a:p>
            <a:pPr marL="0" indent="0">
              <a:buNone/>
            </a:pPr>
            <a:endParaRPr lang="en-US" sz="1600" dirty="0"/>
          </a:p>
          <a:p>
            <a:pPr marL="0" indent="0">
              <a:buNone/>
            </a:pPr>
            <a:r>
              <a:rPr lang="en-US" sz="1600" dirty="0">
                <a:solidFill>
                  <a:srgbClr val="2B2B2B"/>
                </a:solidFill>
                <a:latin typeface="Calibri" pitchFamily="34" charset="0"/>
                <a:ea typeface="Calibri" pitchFamily="34" charset="-122"/>
                <a:cs typeface="Calibri" pitchFamily="34" charset="-120"/>
              </a:rPr>
              <a:t>Every other signature is identical, so Lecture 8's main( ) still compiles against this stack.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stackInit, stackIsEmpty and stackSize</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05</a:t>
            </a:r>
            <a:endParaRPr lang="en-US" sz="900" dirty="0"/>
          </a:p>
        </p:txBody>
      </p:sp>
      <p:sp>
        <p:nvSpPr>
          <p:cNvPr id="6" name="Shape 4"/>
          <p:cNvSpPr/>
          <p:nvPr/>
        </p:nvSpPr>
        <p:spPr>
          <a:xfrm>
            <a:off x="457200" y="1188720"/>
            <a:ext cx="4023360" cy="1234440"/>
          </a:xfrm>
          <a:prstGeom prst="roundRect">
            <a:avLst>
              <a:gd name="adj" fmla="val 5185"/>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594360" y="1280160"/>
            <a:ext cx="3749040" cy="1051560"/>
          </a:xfrm>
          <a:prstGeom prst="rect">
            <a:avLst/>
          </a:prstGeom>
          <a:noFill/>
          <a:ln/>
        </p:spPr>
        <p:txBody>
          <a:bodyPr wrap="square" lIns="0" tIns="0" rIns="0" bIns="0" rtlCol="0" anchor="t"/>
          <a:lstStyle/>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void stackInit(Stack *s) {</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s-&gt;top  = NULL;</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s-&gt;size = 0;</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a:t>
            </a:r>
            <a:endParaRPr lang="en-US" sz="1250" dirty="0"/>
          </a:p>
        </p:txBody>
      </p:sp>
      <p:sp>
        <p:nvSpPr>
          <p:cNvPr id="8" name="Shape 6"/>
          <p:cNvSpPr/>
          <p:nvPr/>
        </p:nvSpPr>
        <p:spPr>
          <a:xfrm>
            <a:off x="457200" y="2560320"/>
            <a:ext cx="4023360" cy="960120"/>
          </a:xfrm>
          <a:prstGeom prst="roundRect">
            <a:avLst>
              <a:gd name="adj" fmla="val 6667"/>
            </a:avLst>
          </a:prstGeom>
          <a:solidFill>
            <a:srgbClr val="16213E"/>
          </a:solidFill>
          <a:ln w="12700">
            <a:solidFill>
              <a:srgbClr val="16213E"/>
            </a:solidFill>
            <a:prstDash val="solid"/>
          </a:ln>
        </p:spPr>
        <p:txBody>
          <a:bodyPr/>
          <a:lstStyle/>
          <a:p>
            <a:endParaRPr lang="en-IN"/>
          </a:p>
        </p:txBody>
      </p:sp>
      <p:sp>
        <p:nvSpPr>
          <p:cNvPr id="9" name="Text 7"/>
          <p:cNvSpPr/>
          <p:nvPr/>
        </p:nvSpPr>
        <p:spPr>
          <a:xfrm>
            <a:off x="594360" y="2651760"/>
            <a:ext cx="3749040" cy="777240"/>
          </a:xfrm>
          <a:prstGeom prst="rect">
            <a:avLst/>
          </a:prstGeom>
          <a:noFill/>
          <a:ln/>
        </p:spPr>
        <p:txBody>
          <a:bodyPr wrap="square" lIns="0" tIns="0" rIns="0" bIns="0" rtlCol="0" anchor="t"/>
          <a:lstStyle/>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bool stackIsEmpty(const Stack *s) {</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return s-&gt;top == NULL;</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457200" y="3657600"/>
            <a:ext cx="4023360" cy="960120"/>
          </a:xfrm>
          <a:prstGeom prst="roundRect">
            <a:avLst>
              <a:gd name="adj" fmla="val 6667"/>
            </a:avLst>
          </a:prstGeom>
          <a:solidFill>
            <a:srgbClr val="16213E"/>
          </a:solidFill>
          <a:ln w="12700">
            <a:solidFill>
              <a:srgbClr val="16213E"/>
            </a:solidFill>
            <a:prstDash val="solid"/>
          </a:ln>
        </p:spPr>
        <p:txBody>
          <a:bodyPr/>
          <a:lstStyle/>
          <a:p>
            <a:endParaRPr lang="en-IN"/>
          </a:p>
        </p:txBody>
      </p:sp>
      <p:sp>
        <p:nvSpPr>
          <p:cNvPr id="11" name="Text 9"/>
          <p:cNvSpPr/>
          <p:nvPr/>
        </p:nvSpPr>
        <p:spPr>
          <a:xfrm>
            <a:off x="594360" y="3749040"/>
            <a:ext cx="3749040" cy="777240"/>
          </a:xfrm>
          <a:prstGeom prst="rect">
            <a:avLst/>
          </a:prstGeom>
          <a:noFill/>
          <a:ln/>
        </p:spPr>
        <p:txBody>
          <a:bodyPr wrap="square" lIns="0" tIns="0" rIns="0" bIns="0" rtlCol="0" anchor="t"/>
          <a:lstStyle/>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size_t stackSize(const Stack *s) {</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return s-&gt;size;</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a:t>
            </a:r>
            <a:endParaRPr lang="en-US" sz="1250" dirty="0"/>
          </a:p>
        </p:txBody>
      </p:sp>
      <p:sp>
        <p:nvSpPr>
          <p:cNvPr id="12" name="Text 10"/>
          <p:cNvSpPr/>
          <p:nvPr/>
        </p:nvSpPr>
        <p:spPr>
          <a:xfrm>
            <a:off x="4754880" y="1371600"/>
            <a:ext cx="3931920" cy="2377440"/>
          </a:xfrm>
          <a:prstGeom prst="rect">
            <a:avLst/>
          </a:prstGeom>
          <a:noFill/>
          <a:ln/>
        </p:spPr>
        <p:txBody>
          <a:bodyPr wrap="square" lIns="0" tIns="0" rIns="0" bIns="0" rtlCol="0" anchor="t"/>
          <a:lstStyle/>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NULL is the empty sentinel — the linked answer to top = -1.</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size is maintained by push and pop, so reading it costs O(1).</a:t>
            </a:r>
            <a:endParaRPr lang="en-US" dirty="0"/>
          </a:p>
          <a:p>
            <a:pPr marL="342900" indent="-342900">
              <a:spcAft>
                <a:spcPts val="800"/>
              </a:spcAft>
              <a:buSzPct val="100000"/>
              <a:buChar char="•"/>
            </a:pPr>
            <a:r>
              <a:rPr lang="en-US" dirty="0">
                <a:solidFill>
                  <a:srgbClr val="2B2B2B"/>
                </a:solidFill>
                <a:latin typeface="Calibri" pitchFamily="34" charset="0"/>
                <a:ea typeface="Calibri" pitchFamily="34" charset="-122"/>
                <a:cs typeface="Calibri" pitchFamily="34" charset="-120"/>
              </a:rPr>
              <a:t>const marks the two query functions as read-only, exactly as in Lecture 8.</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stackPush links the new node in front</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06</a:t>
            </a:r>
            <a:endParaRPr lang="en-US" sz="900" dirty="0"/>
          </a:p>
        </p:txBody>
      </p:sp>
      <p:sp>
        <p:nvSpPr>
          <p:cNvPr id="6" name="Shape 4"/>
          <p:cNvSpPr/>
          <p:nvPr/>
        </p:nvSpPr>
        <p:spPr>
          <a:xfrm>
            <a:off x="457200" y="1188720"/>
            <a:ext cx="4937760" cy="3246120"/>
          </a:xfrm>
          <a:prstGeom prst="roundRect">
            <a:avLst>
              <a:gd name="adj" fmla="val 1972"/>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594360" y="1280160"/>
            <a:ext cx="4663440" cy="3063240"/>
          </a:xfrm>
          <a:prstGeom prst="rect">
            <a:avLst/>
          </a:prstGeom>
          <a:noFill/>
          <a:ln/>
        </p:spPr>
        <p:txBody>
          <a:bodyPr wrap="square" lIns="0" tIns="0" rIns="0" bIns="0" rtlCol="0" anchor="t"/>
          <a:lstStyle/>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bool stackPush(Stack *s, int value)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Node *node = malloc(sizeof *node);</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if (node == NULL)</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return false;      /* heap full */</a:t>
            </a:r>
            <a:endParaRPr lang="en-US" sz="1200" dirty="0"/>
          </a:p>
          <a:p>
            <a:pPr marL="0" indent="0">
              <a:lnSpc>
                <a:spcPct val="100000"/>
              </a:lnSpc>
              <a:buNone/>
            </a:pP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node-&gt;value = value;</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node-&gt;next  = s-&gt;top;  /* link first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s-&gt;top      = node;    /* then move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s-&gt;size    += 1;</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return true;</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a:t>
            </a:r>
            <a:endParaRPr lang="en-US" sz="1200" dirty="0"/>
          </a:p>
        </p:txBody>
      </p:sp>
      <p:sp>
        <p:nvSpPr>
          <p:cNvPr id="8" name="Text 6"/>
          <p:cNvSpPr/>
          <p:nvPr/>
        </p:nvSpPr>
        <p:spPr>
          <a:xfrm>
            <a:off x="5623560" y="1280160"/>
            <a:ext cx="306324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Order of the two pointer writes</a:t>
            </a:r>
            <a:endParaRPr lang="en-US" sz="1300" dirty="0"/>
          </a:p>
        </p:txBody>
      </p:sp>
      <p:sp>
        <p:nvSpPr>
          <p:cNvPr id="9" name="Shape 7"/>
          <p:cNvSpPr/>
          <p:nvPr/>
        </p:nvSpPr>
        <p:spPr>
          <a:xfrm>
            <a:off x="5623560" y="1645920"/>
            <a:ext cx="1051560" cy="457200"/>
          </a:xfrm>
          <a:prstGeom prst="rect">
            <a:avLst/>
          </a:prstGeom>
          <a:solidFill>
            <a:srgbClr val="D4A017"/>
          </a:solidFill>
          <a:ln w="12700">
            <a:solidFill>
              <a:srgbClr val="1E2761"/>
            </a:solidFill>
            <a:prstDash val="solid"/>
          </a:ln>
        </p:spPr>
        <p:txBody>
          <a:bodyPr/>
          <a:lstStyle/>
          <a:p>
            <a:endParaRPr lang="en-IN"/>
          </a:p>
        </p:txBody>
      </p:sp>
      <p:sp>
        <p:nvSpPr>
          <p:cNvPr id="10" name="Text 8"/>
          <p:cNvSpPr/>
          <p:nvPr/>
        </p:nvSpPr>
        <p:spPr>
          <a:xfrm>
            <a:off x="5623560" y="1645920"/>
            <a:ext cx="105156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ourier New" pitchFamily="34" charset="0"/>
                <a:ea typeface="Courier New" pitchFamily="34" charset="-122"/>
                <a:cs typeface="Courier New" pitchFamily="34" charset="-120"/>
              </a:rPr>
              <a:t>node</a:t>
            </a:r>
            <a:endParaRPr lang="en-US" sz="1600" dirty="0"/>
          </a:p>
        </p:txBody>
      </p:sp>
      <p:sp>
        <p:nvSpPr>
          <p:cNvPr id="11" name="Text 9"/>
          <p:cNvSpPr/>
          <p:nvPr/>
        </p:nvSpPr>
        <p:spPr>
          <a:xfrm>
            <a:off x="6675120" y="1645920"/>
            <a:ext cx="457200" cy="457200"/>
          </a:xfrm>
          <a:prstGeom prst="rect">
            <a:avLst/>
          </a:prstGeom>
          <a:noFill/>
          <a:ln/>
        </p:spPr>
        <p:txBody>
          <a:bodyPr wrap="square" lIns="0" tIns="0" rIns="0" bIns="0" rtlCol="0" anchor="ctr"/>
          <a:lstStyle/>
          <a:p>
            <a:pPr marL="0" indent="0" algn="ctr">
              <a:buNone/>
            </a:pPr>
            <a:r>
              <a:rPr lang="en-US" sz="1800" dirty="0">
                <a:solidFill>
                  <a:srgbClr val="028090"/>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7132320" y="1645920"/>
            <a:ext cx="1371600" cy="457200"/>
          </a:xfrm>
          <a:prstGeom prst="rect">
            <a:avLst/>
          </a:prstGeom>
          <a:solidFill>
            <a:srgbClr val="028090"/>
          </a:solidFill>
          <a:ln w="12700">
            <a:solidFill>
              <a:srgbClr val="1E2761"/>
            </a:solidFill>
            <a:prstDash val="solid"/>
          </a:ln>
        </p:spPr>
        <p:txBody>
          <a:bodyPr/>
          <a:lstStyle/>
          <a:p>
            <a:endParaRPr lang="en-IN"/>
          </a:p>
        </p:txBody>
      </p:sp>
      <p:sp>
        <p:nvSpPr>
          <p:cNvPr id="13" name="Text 11"/>
          <p:cNvSpPr/>
          <p:nvPr/>
        </p:nvSpPr>
        <p:spPr>
          <a:xfrm>
            <a:off x="7132320" y="1645920"/>
            <a:ext cx="137160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Courier New" pitchFamily="34" charset="0"/>
                <a:ea typeface="Courier New" pitchFamily="34" charset="-122"/>
                <a:cs typeface="Courier New" pitchFamily="34" charset="-120"/>
              </a:rPr>
              <a:t>old top</a:t>
            </a:r>
            <a:endParaRPr lang="en-US" sz="1600" dirty="0"/>
          </a:p>
        </p:txBody>
      </p:sp>
      <p:sp>
        <p:nvSpPr>
          <p:cNvPr id="14" name="Shape 12"/>
          <p:cNvSpPr/>
          <p:nvPr/>
        </p:nvSpPr>
        <p:spPr>
          <a:xfrm>
            <a:off x="5623560" y="2331720"/>
            <a:ext cx="3063240" cy="1463040"/>
          </a:xfrm>
          <a:prstGeom prst="roundRect">
            <a:avLst>
              <a:gd name="adj" fmla="val 4375"/>
            </a:avLst>
          </a:prstGeom>
          <a:solidFill>
            <a:srgbClr val="FBF5E6"/>
          </a:solidFill>
          <a:ln w="12700">
            <a:solidFill>
              <a:srgbClr val="D4A017"/>
            </a:solidFill>
            <a:prstDash val="solid"/>
          </a:ln>
        </p:spPr>
        <p:txBody>
          <a:bodyPr/>
          <a:lstStyle/>
          <a:p>
            <a:endParaRPr lang="en-IN"/>
          </a:p>
        </p:txBody>
      </p:sp>
      <p:sp>
        <p:nvSpPr>
          <p:cNvPr id="15" name="Text 13"/>
          <p:cNvSpPr/>
          <p:nvPr/>
        </p:nvSpPr>
        <p:spPr>
          <a:xfrm>
            <a:off x="5788152" y="2404872"/>
            <a:ext cx="2734056" cy="1316736"/>
          </a:xfrm>
          <a:prstGeom prst="rect">
            <a:avLst/>
          </a:prstGeom>
          <a:noFill/>
          <a:ln/>
        </p:spPr>
        <p:txBody>
          <a:bodyPr wrap="square" lIns="0" tIns="0" rIns="0" bIns="0" rtlCol="0" anchor="ctr"/>
          <a:lstStyle/>
          <a:p>
            <a:pPr marL="0" indent="0">
              <a:buNone/>
            </a:pPr>
            <a:r>
              <a:rPr lang="en-US" sz="1250" b="1" dirty="0">
                <a:solidFill>
                  <a:srgbClr val="D4A017"/>
                </a:solidFill>
                <a:latin typeface="Calibri" pitchFamily="34" charset="0"/>
                <a:ea typeface="Calibri" pitchFamily="34" charset="-122"/>
                <a:cs typeface="Calibri" pitchFamily="34" charset="-120"/>
              </a:rPr>
              <a:t>Classic exam trap
</a:t>
            </a:r>
            <a:r>
              <a:rPr lang="en-US" sz="1200" dirty="0">
                <a:solidFill>
                  <a:srgbClr val="2B2B2B"/>
                </a:solidFill>
                <a:latin typeface="Calibri" pitchFamily="34" charset="0"/>
                <a:ea typeface="Calibri" pitchFamily="34" charset="-122"/>
                <a:cs typeface="Calibri" pitchFamily="34" charset="-120"/>
              </a:rPr>
              <a:t>Writing s-&gt;top = node before node-&gt;next = s-&gt;top loses the entire old chain — link first, then move top.</a:t>
            </a:r>
            <a:endParaRPr lang="en-US" sz="1250" dirty="0"/>
          </a:p>
        </p:txBody>
      </p:sp>
      <p:sp>
        <p:nvSpPr>
          <p:cNvPr id="16" name="Text 14"/>
          <p:cNvSpPr/>
          <p:nvPr/>
        </p:nvSpPr>
        <p:spPr>
          <a:xfrm>
            <a:off x="5623560" y="3977640"/>
            <a:ext cx="3063240" cy="64008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No overflow check — malloc's NULL result is the only capacity limit.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stackPop unlinks, reports, and frees</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07</a:t>
            </a:r>
            <a:endParaRPr lang="en-US" sz="900" dirty="0"/>
          </a:p>
        </p:txBody>
      </p:sp>
      <p:sp>
        <p:nvSpPr>
          <p:cNvPr id="6" name="Shape 4"/>
          <p:cNvSpPr/>
          <p:nvPr/>
        </p:nvSpPr>
        <p:spPr>
          <a:xfrm>
            <a:off x="457200" y="1188720"/>
            <a:ext cx="4937760" cy="3246120"/>
          </a:xfrm>
          <a:prstGeom prst="roundRect">
            <a:avLst>
              <a:gd name="adj" fmla="val 1972"/>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594360" y="1280160"/>
            <a:ext cx="4663440" cy="3063240"/>
          </a:xfrm>
          <a:prstGeom prst="rect">
            <a:avLst/>
          </a:prstGeom>
          <a:noFill/>
          <a:ln/>
        </p:spPr>
        <p:txBody>
          <a:bodyPr wrap="square" lIns="0" tIns="0" rIns="0" bIns="0" rtlCol="0" anchor="t"/>
          <a:lstStyle/>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bool stackPop(Stack *s, int *outValue)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if (stackIsEmpty(s) || outValue == NULL)</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return false;      /* underflow */</a:t>
            </a:r>
            <a:endParaRPr lang="en-US" sz="1200" dirty="0"/>
          </a:p>
          <a:p>
            <a:pPr marL="0" indent="0">
              <a:lnSpc>
                <a:spcPct val="100000"/>
              </a:lnSpc>
              <a:buNone/>
            </a:pP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Node *node = s-&gt;top;   /* keep hold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*outValue  = node-&gt;value;</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s-&gt;top     = node-&gt;next;</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free(node);            /* release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s-&gt;size   -= 1;</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return true;</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a:t>
            </a:r>
            <a:endParaRPr lang="en-US" sz="1200" dirty="0"/>
          </a:p>
        </p:txBody>
      </p:sp>
      <p:sp>
        <p:nvSpPr>
          <p:cNvPr id="8" name="Text 6"/>
          <p:cNvSpPr/>
          <p:nvPr/>
        </p:nvSpPr>
        <p:spPr>
          <a:xfrm>
            <a:off x="5623560" y="1325880"/>
            <a:ext cx="3063240" cy="26517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Keep a copy of the old top before moving the pointer — otherwise the node becomes unreachable and can never be freed.</a:t>
            </a:r>
            <a:endParaRPr lang="en-US" sz="1250" dirty="0"/>
          </a:p>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free(node) returns the memory; skipping it leaks one node per pop.</a:t>
            </a:r>
            <a:endParaRPr lang="en-US" sz="1250" dirty="0"/>
          </a:p>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The outValue NULL guard matches the Lecture 8 reference file.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stackPeek reads through the top pointer</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08</a:t>
            </a:r>
            <a:endParaRPr lang="en-US" sz="900" dirty="0"/>
          </a:p>
        </p:txBody>
      </p:sp>
      <p:sp>
        <p:nvSpPr>
          <p:cNvPr id="6" name="Shape 4"/>
          <p:cNvSpPr/>
          <p:nvPr/>
        </p:nvSpPr>
        <p:spPr>
          <a:xfrm>
            <a:off x="457200" y="1188720"/>
            <a:ext cx="4937760" cy="2377440"/>
          </a:xfrm>
          <a:prstGeom prst="roundRect">
            <a:avLst>
              <a:gd name="adj" fmla="val 2692"/>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594360" y="1280160"/>
            <a:ext cx="4663440" cy="2194560"/>
          </a:xfrm>
          <a:prstGeom prst="rect">
            <a:avLst/>
          </a:prstGeom>
          <a:noFill/>
          <a:ln/>
        </p:spPr>
        <p:txBody>
          <a:bodyPr wrap="square" lIns="0" tIns="0" rIns="0" bIns="0" rtlCol="0" anchor="t"/>
          <a:lstStyle/>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bool stackPeek(const Stack *s,</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int *outValue) {</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if (stackIsEmpty(s) || outValue == NULL)</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return false;</a:t>
            </a:r>
            <a:endParaRPr lang="en-US" sz="1250" dirty="0"/>
          </a:p>
          <a:p>
            <a:pPr marL="0" indent="0">
              <a:lnSpc>
                <a:spcPct val="100000"/>
              </a:lnSpc>
              <a:buNone/>
            </a:pP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*outValue = s-&gt;top-&gt;value;</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    return true;</a:t>
            </a:r>
            <a:endParaRPr lang="en-US" sz="1250" dirty="0"/>
          </a:p>
          <a:p>
            <a:pPr marL="0" indent="0">
              <a:lnSpc>
                <a:spcPct val="100000"/>
              </a:lnSpc>
              <a:buNone/>
            </a:pPr>
            <a:r>
              <a:rPr lang="en-US" sz="1250" dirty="0">
                <a:solidFill>
                  <a:srgbClr val="E8F1F2"/>
                </a:solidFill>
                <a:latin typeface="Courier New" pitchFamily="34" charset="0"/>
                <a:ea typeface="Courier New" pitchFamily="34" charset="-122"/>
                <a:cs typeface="Courier New" pitchFamily="34" charset="-120"/>
              </a:rPr>
              <a:t>}</a:t>
            </a:r>
            <a:endParaRPr lang="en-US" sz="1250" dirty="0"/>
          </a:p>
        </p:txBody>
      </p:sp>
      <p:sp>
        <p:nvSpPr>
          <p:cNvPr id="8" name="Shape 6"/>
          <p:cNvSpPr/>
          <p:nvPr/>
        </p:nvSpPr>
        <p:spPr>
          <a:xfrm>
            <a:off x="457200" y="3749040"/>
            <a:ext cx="4937760" cy="914400"/>
          </a:xfrm>
          <a:prstGeom prst="roundRect">
            <a:avLst>
              <a:gd name="adj" fmla="val 7000"/>
            </a:avLst>
          </a:prstGeom>
          <a:solidFill>
            <a:srgbClr val="F0F7F7"/>
          </a:solidFill>
          <a:ln w="12700">
            <a:solidFill>
              <a:srgbClr val="028090"/>
            </a:solidFill>
            <a:prstDash val="solid"/>
          </a:ln>
        </p:spPr>
        <p:txBody>
          <a:bodyPr/>
          <a:lstStyle/>
          <a:p>
            <a:endParaRPr lang="en-IN"/>
          </a:p>
        </p:txBody>
      </p:sp>
      <p:sp>
        <p:nvSpPr>
          <p:cNvPr id="9" name="Text 7"/>
          <p:cNvSpPr/>
          <p:nvPr/>
        </p:nvSpPr>
        <p:spPr>
          <a:xfrm>
            <a:off x="621792" y="3822192"/>
            <a:ext cx="4608576" cy="768096"/>
          </a:xfrm>
          <a:prstGeom prst="rect">
            <a:avLst/>
          </a:prstGeom>
          <a:noFill/>
          <a:ln/>
        </p:spPr>
        <p:txBody>
          <a:bodyPr wrap="square" lIns="0" tIns="0" rIns="0" bIns="0"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s-&gt;top-&gt;value, read left to right
</a:t>
            </a:r>
            <a:r>
              <a:rPr lang="en-US" sz="1200" dirty="0">
                <a:solidFill>
                  <a:srgbClr val="2B2B2B"/>
                </a:solidFill>
                <a:latin typeface="Calibri" pitchFamily="34" charset="0"/>
                <a:ea typeface="Calibri" pitchFamily="34" charset="-122"/>
                <a:cs typeface="Calibri" pitchFamily="34" charset="-120"/>
              </a:rPr>
              <a:t>follow top to the first node, then take its value field — two -&gt; hops, no loop.</a:t>
            </a:r>
            <a:endParaRPr lang="en-US" sz="1250" dirty="0"/>
          </a:p>
        </p:txBody>
      </p:sp>
      <p:sp>
        <p:nvSpPr>
          <p:cNvPr id="10" name="Text 8"/>
          <p:cNvSpPr/>
          <p:nvPr/>
        </p:nvSpPr>
        <p:spPr>
          <a:xfrm>
            <a:off x="5623560" y="1325880"/>
            <a:ext cx="306324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No node is created or freed — peek allocates nothing.</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top does not move; the stack is unchanged.</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const Stack *s lets the compiler enforce that promise.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stackClear and stackDisplay walk the chain</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09</a:t>
            </a:r>
            <a:endParaRPr lang="en-US" sz="900" dirty="0"/>
          </a:p>
        </p:txBody>
      </p:sp>
      <p:sp>
        <p:nvSpPr>
          <p:cNvPr id="6" name="Shape 4"/>
          <p:cNvSpPr/>
          <p:nvPr/>
        </p:nvSpPr>
        <p:spPr>
          <a:xfrm>
            <a:off x="457200" y="1188720"/>
            <a:ext cx="4160520" cy="3017520"/>
          </a:xfrm>
          <a:prstGeom prst="roundRect">
            <a:avLst>
              <a:gd name="adj" fmla="val 2121"/>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594360" y="1280160"/>
            <a:ext cx="3886200" cy="2834640"/>
          </a:xfrm>
          <a:prstGeom prst="rect">
            <a:avLst/>
          </a:prstGeom>
          <a:noFill/>
          <a:ln/>
        </p:spPr>
        <p:txBody>
          <a:bodyPr wrap="square" lIns="0" tIns="0" rIns="0" bIns="0" rtlCol="0" anchor="t"/>
          <a:lstStyle/>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void stackClear(Stack *s)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Node *node = s-&gt;top;</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while (node != NULL)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Node *next = node-&gt;next;</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free(node);</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node = next;</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s-&gt;top  = NULL;</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    s-&gt;size = 0;</a:t>
            </a:r>
            <a:endParaRPr lang="en-US" sz="1200" dirty="0"/>
          </a:p>
          <a:p>
            <a:pPr marL="0" indent="0">
              <a:lnSpc>
                <a:spcPct val="100000"/>
              </a:lnSpc>
              <a:buNone/>
            </a:pPr>
            <a:r>
              <a:rPr lang="en-US" sz="1200" dirty="0">
                <a:solidFill>
                  <a:srgbClr val="E8F1F2"/>
                </a:solidFill>
                <a:latin typeface="Courier New" pitchFamily="34" charset="0"/>
                <a:ea typeface="Courier New" pitchFamily="34" charset="-122"/>
                <a:cs typeface="Courier New" pitchFamily="34" charset="-120"/>
              </a:rPr>
              <a:t>}</a:t>
            </a:r>
            <a:endParaRPr lang="en-US" sz="1200" dirty="0"/>
          </a:p>
        </p:txBody>
      </p:sp>
      <p:sp>
        <p:nvSpPr>
          <p:cNvPr id="8" name="Shape 6"/>
          <p:cNvSpPr/>
          <p:nvPr/>
        </p:nvSpPr>
        <p:spPr>
          <a:xfrm>
            <a:off x="4754880" y="1188720"/>
            <a:ext cx="3931920" cy="3017520"/>
          </a:xfrm>
          <a:prstGeom prst="roundRect">
            <a:avLst>
              <a:gd name="adj" fmla="val 2121"/>
            </a:avLst>
          </a:prstGeom>
          <a:solidFill>
            <a:srgbClr val="16213E"/>
          </a:solidFill>
          <a:ln w="12700">
            <a:solidFill>
              <a:srgbClr val="16213E"/>
            </a:solidFill>
            <a:prstDash val="solid"/>
          </a:ln>
        </p:spPr>
        <p:txBody>
          <a:bodyPr/>
          <a:lstStyle/>
          <a:p>
            <a:endParaRPr lang="en-IN"/>
          </a:p>
        </p:txBody>
      </p:sp>
      <p:sp>
        <p:nvSpPr>
          <p:cNvPr id="9" name="Text 7"/>
          <p:cNvSpPr/>
          <p:nvPr/>
        </p:nvSpPr>
        <p:spPr>
          <a:xfrm>
            <a:off x="4892040" y="1280160"/>
            <a:ext cx="3657600" cy="2834640"/>
          </a:xfrm>
          <a:prstGeom prst="rect">
            <a:avLst/>
          </a:prstGeom>
          <a:noFill/>
          <a:ln/>
        </p:spPr>
        <p:txBody>
          <a:bodyPr wrap="square" lIns="0" tIns="0" rIns="0" bIns="0" rtlCol="0" anchor="t"/>
          <a:lstStyle/>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void stackDisplay(const Stack *s) {</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if (stackIsEmpty(s)) {</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printf("[empty]\n");</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return;</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printf("TOP -&gt; ");</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for (const Node *n = s-&gt;top;</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n != NULL; n = n-&gt;next)</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printf("%d ", n-&gt;value);</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    printf("\n");</a:t>
            </a:r>
            <a:endParaRPr lang="en-US" sz="1150" dirty="0"/>
          </a:p>
          <a:p>
            <a:pPr marL="0" indent="0">
              <a:lnSpc>
                <a:spcPct val="100000"/>
              </a:lnSpc>
              <a:buNone/>
            </a:pPr>
            <a:r>
              <a:rPr lang="en-US" sz="1150" dirty="0">
                <a:solidFill>
                  <a:srgbClr val="E8F1F2"/>
                </a:solidFill>
                <a:latin typeface="Courier New" pitchFamily="34" charset="0"/>
                <a:ea typeface="Courier New" pitchFamily="34" charset="-122"/>
                <a:cs typeface="Courier New" pitchFamily="34" charset="-120"/>
              </a:rPr>
              <a:t>}</a:t>
            </a:r>
            <a:endParaRPr lang="en-US" sz="1150" dirty="0"/>
          </a:p>
        </p:txBody>
      </p:sp>
      <p:sp>
        <p:nvSpPr>
          <p:cNvPr id="10" name="Text 8"/>
          <p:cNvSpPr/>
          <p:nvPr/>
        </p:nvSpPr>
        <p:spPr>
          <a:xfrm>
            <a:off x="457200" y="4343400"/>
            <a:ext cx="8229600" cy="502920"/>
          </a:xfrm>
          <a:prstGeom prst="rect">
            <a:avLst/>
          </a:prstGeom>
          <a:noFill/>
          <a:ln/>
        </p:spPr>
        <p:txBody>
          <a:bodyPr wrap="square" lIns="0" tIns="0" rIns="0" bIns="0"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Save next before free — </a:t>
            </a:r>
            <a:r>
              <a:rPr lang="en-US" sz="1250" dirty="0">
                <a:solidFill>
                  <a:srgbClr val="2B2B2B"/>
                </a:solidFill>
                <a:latin typeface="Calibri" pitchFamily="34" charset="0"/>
                <a:ea typeface="Calibri" pitchFamily="34" charset="-122"/>
                <a:cs typeface="Calibri" pitchFamily="34" charset="-120"/>
              </a:rPr>
              <a:t>a freed node must not be read again.  Display uses its own walking pointer n and never moves top.  Unlike the array version, clear must visit every node: 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Trace: three pushes and one pop</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457200" y="1234440"/>
            <a:ext cx="1600200" cy="274320"/>
          </a:xfrm>
          <a:prstGeom prst="rect">
            <a:avLst/>
          </a:prstGeom>
          <a:noFill/>
          <a:ln/>
        </p:spPr>
        <p:txBody>
          <a:bodyPr wrap="square" lIns="0" tIns="0" rIns="0" bIns="0" rtlCol="0" anchor="ctr"/>
          <a:lstStyle/>
          <a:p>
            <a:pPr marL="0" indent="0" algn="ctr">
              <a:buNone/>
            </a:pPr>
            <a:r>
              <a:rPr lang="en-US" sz="1150" b="1" dirty="0">
                <a:solidFill>
                  <a:srgbClr val="1E2761"/>
                </a:solidFill>
                <a:latin typeface="Courier New" pitchFamily="34" charset="0"/>
                <a:ea typeface="Courier New" pitchFamily="34" charset="-122"/>
                <a:cs typeface="Courier New" pitchFamily="34" charset="-120"/>
              </a:rPr>
              <a:t>stackInit</a:t>
            </a:r>
            <a:endParaRPr lang="en-US" sz="1150" dirty="0"/>
          </a:p>
        </p:txBody>
      </p:sp>
      <p:sp>
        <p:nvSpPr>
          <p:cNvPr id="7" name="Text 5"/>
          <p:cNvSpPr/>
          <p:nvPr/>
        </p:nvSpPr>
        <p:spPr>
          <a:xfrm>
            <a:off x="713232" y="1645920"/>
            <a:ext cx="1097280" cy="457200"/>
          </a:xfrm>
          <a:prstGeom prst="rect">
            <a:avLst/>
          </a:prstGeom>
          <a:noFill/>
          <a:ln/>
        </p:spPr>
        <p:txBody>
          <a:bodyPr wrap="square" lIns="0" tIns="0" rIns="0" bIns="0" rtlCol="0" anchor="ctr"/>
          <a:lstStyle/>
          <a:p>
            <a:pPr marL="0" indent="0" algn="ctr">
              <a:buNone/>
            </a:pPr>
            <a:r>
              <a:rPr lang="en-US" sz="1200" dirty="0">
                <a:solidFill>
                  <a:srgbClr val="6B7280"/>
                </a:solidFill>
                <a:latin typeface="Courier New" pitchFamily="34" charset="0"/>
                <a:ea typeface="Courier New" pitchFamily="34" charset="-122"/>
                <a:cs typeface="Courier New" pitchFamily="34" charset="-120"/>
              </a:rPr>
              <a:t>NULL</a:t>
            </a:r>
            <a:endParaRPr lang="en-US" sz="1200" dirty="0"/>
          </a:p>
        </p:txBody>
      </p:sp>
      <p:sp>
        <p:nvSpPr>
          <p:cNvPr id="8" name="Text 6"/>
          <p:cNvSpPr/>
          <p:nvPr/>
        </p:nvSpPr>
        <p:spPr>
          <a:xfrm>
            <a:off x="457200" y="3794760"/>
            <a:ext cx="160020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top = NULL</a:t>
            </a:r>
            <a:endParaRPr lang="en-US" sz="1050" dirty="0"/>
          </a:p>
        </p:txBody>
      </p:sp>
      <p:sp>
        <p:nvSpPr>
          <p:cNvPr id="9" name="Text 7"/>
          <p:cNvSpPr/>
          <p:nvPr/>
        </p:nvSpPr>
        <p:spPr>
          <a:xfrm>
            <a:off x="2194560" y="1234440"/>
            <a:ext cx="1600200" cy="274320"/>
          </a:xfrm>
          <a:prstGeom prst="rect">
            <a:avLst/>
          </a:prstGeom>
          <a:noFill/>
          <a:ln/>
        </p:spPr>
        <p:txBody>
          <a:bodyPr wrap="square" lIns="0" tIns="0" rIns="0" bIns="0" rtlCol="0" anchor="ctr"/>
          <a:lstStyle/>
          <a:p>
            <a:pPr marL="0" indent="0" algn="ctr">
              <a:buNone/>
            </a:pPr>
            <a:r>
              <a:rPr lang="en-US" sz="1150" b="1" dirty="0">
                <a:solidFill>
                  <a:srgbClr val="1E2761"/>
                </a:solidFill>
                <a:latin typeface="Courier New" pitchFamily="34" charset="0"/>
                <a:ea typeface="Courier New" pitchFamily="34" charset="-122"/>
                <a:cs typeface="Courier New" pitchFamily="34" charset="-120"/>
              </a:rPr>
              <a:t>push(10)</a:t>
            </a:r>
            <a:endParaRPr lang="en-US" sz="1150" dirty="0"/>
          </a:p>
        </p:txBody>
      </p:sp>
      <p:sp>
        <p:nvSpPr>
          <p:cNvPr id="10" name="Shape 8"/>
          <p:cNvSpPr/>
          <p:nvPr/>
        </p:nvSpPr>
        <p:spPr>
          <a:xfrm>
            <a:off x="2450592" y="1600200"/>
            <a:ext cx="1097280" cy="475488"/>
          </a:xfrm>
          <a:prstGeom prst="rect">
            <a:avLst/>
          </a:prstGeom>
          <a:solidFill>
            <a:srgbClr val="D4A017"/>
          </a:solidFill>
          <a:ln w="12700">
            <a:solidFill>
              <a:srgbClr val="1E2761"/>
            </a:solidFill>
            <a:prstDash val="solid"/>
          </a:ln>
        </p:spPr>
        <p:txBody>
          <a:bodyPr/>
          <a:lstStyle/>
          <a:p>
            <a:endParaRPr lang="en-IN"/>
          </a:p>
        </p:txBody>
      </p:sp>
      <p:sp>
        <p:nvSpPr>
          <p:cNvPr id="11" name="Text 9"/>
          <p:cNvSpPr/>
          <p:nvPr/>
        </p:nvSpPr>
        <p:spPr>
          <a:xfrm>
            <a:off x="2450592" y="1600200"/>
            <a:ext cx="1097280" cy="475488"/>
          </a:xfrm>
          <a:prstGeom prst="rect">
            <a:avLst/>
          </a:prstGeom>
          <a:noFill/>
          <a:ln/>
        </p:spPr>
        <p:txBody>
          <a:bodyPr wrap="square" lIns="0" tIns="0" rIns="0" bIns="0" rtlCol="0" anchor="ctr"/>
          <a:lstStyle/>
          <a:p>
            <a:pPr marL="0" indent="0" algn="ctr">
              <a:buNone/>
            </a:pPr>
            <a:r>
              <a:rPr lang="en-US" sz="1300" b="1" dirty="0">
                <a:solidFill>
                  <a:srgbClr val="1E2761"/>
                </a:solidFill>
                <a:latin typeface="Courier New" pitchFamily="34" charset="0"/>
                <a:ea typeface="Courier New" pitchFamily="34" charset="-122"/>
                <a:cs typeface="Courier New" pitchFamily="34" charset="-120"/>
              </a:rPr>
              <a:t>10</a:t>
            </a:r>
            <a:endParaRPr lang="en-US" sz="1300" dirty="0"/>
          </a:p>
        </p:txBody>
      </p:sp>
      <p:sp>
        <p:nvSpPr>
          <p:cNvPr id="12" name="Text 10"/>
          <p:cNvSpPr/>
          <p:nvPr/>
        </p:nvSpPr>
        <p:spPr>
          <a:xfrm>
            <a:off x="2450592" y="2167128"/>
            <a:ext cx="109728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Courier New" pitchFamily="34" charset="0"/>
                <a:ea typeface="Courier New" pitchFamily="34" charset="-122"/>
                <a:cs typeface="Courier New" pitchFamily="34" charset="-120"/>
              </a:rPr>
              <a:t>NULL</a:t>
            </a:r>
            <a:endParaRPr lang="en-US" sz="1050" dirty="0"/>
          </a:p>
        </p:txBody>
      </p:sp>
      <p:sp>
        <p:nvSpPr>
          <p:cNvPr id="13" name="Text 11"/>
          <p:cNvSpPr/>
          <p:nvPr/>
        </p:nvSpPr>
        <p:spPr>
          <a:xfrm>
            <a:off x="2194560" y="3794760"/>
            <a:ext cx="160020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size 1</a:t>
            </a:r>
            <a:endParaRPr lang="en-US" sz="1050" dirty="0"/>
          </a:p>
        </p:txBody>
      </p:sp>
      <p:sp>
        <p:nvSpPr>
          <p:cNvPr id="14" name="Text 12"/>
          <p:cNvSpPr/>
          <p:nvPr/>
        </p:nvSpPr>
        <p:spPr>
          <a:xfrm>
            <a:off x="3931920" y="1234440"/>
            <a:ext cx="1600200" cy="274320"/>
          </a:xfrm>
          <a:prstGeom prst="rect">
            <a:avLst/>
          </a:prstGeom>
          <a:noFill/>
          <a:ln/>
        </p:spPr>
        <p:txBody>
          <a:bodyPr wrap="square" lIns="0" tIns="0" rIns="0" bIns="0" rtlCol="0" anchor="ctr"/>
          <a:lstStyle/>
          <a:p>
            <a:pPr marL="0" indent="0" algn="ctr">
              <a:buNone/>
            </a:pPr>
            <a:r>
              <a:rPr lang="en-US" sz="1150" b="1" dirty="0">
                <a:solidFill>
                  <a:srgbClr val="1E2761"/>
                </a:solidFill>
                <a:latin typeface="Courier New" pitchFamily="34" charset="0"/>
                <a:ea typeface="Courier New" pitchFamily="34" charset="-122"/>
                <a:cs typeface="Courier New" pitchFamily="34" charset="-120"/>
              </a:rPr>
              <a:t>push(20)</a:t>
            </a:r>
            <a:endParaRPr lang="en-US" sz="1150" dirty="0"/>
          </a:p>
        </p:txBody>
      </p:sp>
      <p:sp>
        <p:nvSpPr>
          <p:cNvPr id="15" name="Shape 13"/>
          <p:cNvSpPr/>
          <p:nvPr/>
        </p:nvSpPr>
        <p:spPr>
          <a:xfrm>
            <a:off x="4187952" y="1600200"/>
            <a:ext cx="1097280" cy="475488"/>
          </a:xfrm>
          <a:prstGeom prst="rect">
            <a:avLst/>
          </a:prstGeom>
          <a:solidFill>
            <a:srgbClr val="D4A017"/>
          </a:solidFill>
          <a:ln w="12700">
            <a:solidFill>
              <a:srgbClr val="1E2761"/>
            </a:solidFill>
            <a:prstDash val="solid"/>
          </a:ln>
        </p:spPr>
        <p:txBody>
          <a:bodyPr/>
          <a:lstStyle/>
          <a:p>
            <a:endParaRPr lang="en-IN"/>
          </a:p>
        </p:txBody>
      </p:sp>
      <p:sp>
        <p:nvSpPr>
          <p:cNvPr id="16" name="Text 14"/>
          <p:cNvSpPr/>
          <p:nvPr/>
        </p:nvSpPr>
        <p:spPr>
          <a:xfrm>
            <a:off x="4187952" y="1600200"/>
            <a:ext cx="1097280" cy="475488"/>
          </a:xfrm>
          <a:prstGeom prst="rect">
            <a:avLst/>
          </a:prstGeom>
          <a:noFill/>
          <a:ln/>
        </p:spPr>
        <p:txBody>
          <a:bodyPr wrap="square" lIns="0" tIns="0" rIns="0" bIns="0" rtlCol="0" anchor="ctr"/>
          <a:lstStyle/>
          <a:p>
            <a:pPr marL="0" indent="0" algn="ctr">
              <a:buNone/>
            </a:pPr>
            <a:r>
              <a:rPr lang="en-US" sz="1300" b="1" dirty="0">
                <a:solidFill>
                  <a:srgbClr val="1E2761"/>
                </a:solidFill>
                <a:latin typeface="Courier New" pitchFamily="34" charset="0"/>
                <a:ea typeface="Courier New" pitchFamily="34" charset="-122"/>
                <a:cs typeface="Courier New" pitchFamily="34" charset="-120"/>
              </a:rPr>
              <a:t>20</a:t>
            </a:r>
            <a:endParaRPr lang="en-US" sz="1300" dirty="0"/>
          </a:p>
        </p:txBody>
      </p:sp>
      <p:sp>
        <p:nvSpPr>
          <p:cNvPr id="17" name="Text 15"/>
          <p:cNvSpPr/>
          <p:nvPr/>
        </p:nvSpPr>
        <p:spPr>
          <a:xfrm>
            <a:off x="4187952" y="1984248"/>
            <a:ext cx="109728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4187952" y="2167128"/>
            <a:ext cx="1097280" cy="475488"/>
          </a:xfrm>
          <a:prstGeom prst="rect">
            <a:avLst/>
          </a:prstGeom>
          <a:solidFill>
            <a:srgbClr val="028090"/>
          </a:solidFill>
          <a:ln w="12700">
            <a:solidFill>
              <a:srgbClr val="1E2761"/>
            </a:solidFill>
            <a:prstDash val="solid"/>
          </a:ln>
        </p:spPr>
        <p:txBody>
          <a:bodyPr/>
          <a:lstStyle/>
          <a:p>
            <a:endParaRPr lang="en-IN"/>
          </a:p>
        </p:txBody>
      </p:sp>
      <p:sp>
        <p:nvSpPr>
          <p:cNvPr id="19" name="Text 17"/>
          <p:cNvSpPr/>
          <p:nvPr/>
        </p:nvSpPr>
        <p:spPr>
          <a:xfrm>
            <a:off x="4187952" y="2167128"/>
            <a:ext cx="10972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10</a:t>
            </a:r>
            <a:endParaRPr lang="en-US" sz="1300" dirty="0"/>
          </a:p>
        </p:txBody>
      </p:sp>
      <p:sp>
        <p:nvSpPr>
          <p:cNvPr id="20" name="Text 18"/>
          <p:cNvSpPr/>
          <p:nvPr/>
        </p:nvSpPr>
        <p:spPr>
          <a:xfrm>
            <a:off x="4187952" y="2734056"/>
            <a:ext cx="109728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Courier New" pitchFamily="34" charset="0"/>
                <a:ea typeface="Courier New" pitchFamily="34" charset="-122"/>
                <a:cs typeface="Courier New" pitchFamily="34" charset="-120"/>
              </a:rPr>
              <a:t>NULL</a:t>
            </a:r>
            <a:endParaRPr lang="en-US" sz="1050" dirty="0"/>
          </a:p>
        </p:txBody>
      </p:sp>
      <p:sp>
        <p:nvSpPr>
          <p:cNvPr id="21" name="Text 19"/>
          <p:cNvSpPr/>
          <p:nvPr/>
        </p:nvSpPr>
        <p:spPr>
          <a:xfrm>
            <a:off x="3931920" y="3794760"/>
            <a:ext cx="160020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size 2</a:t>
            </a:r>
            <a:endParaRPr lang="en-US" sz="1050" dirty="0"/>
          </a:p>
        </p:txBody>
      </p:sp>
      <p:sp>
        <p:nvSpPr>
          <p:cNvPr id="22" name="Text 20"/>
          <p:cNvSpPr/>
          <p:nvPr/>
        </p:nvSpPr>
        <p:spPr>
          <a:xfrm>
            <a:off x="5669280" y="1234440"/>
            <a:ext cx="1600200" cy="274320"/>
          </a:xfrm>
          <a:prstGeom prst="rect">
            <a:avLst/>
          </a:prstGeom>
          <a:noFill/>
          <a:ln/>
        </p:spPr>
        <p:txBody>
          <a:bodyPr wrap="square" lIns="0" tIns="0" rIns="0" bIns="0" rtlCol="0" anchor="ctr"/>
          <a:lstStyle/>
          <a:p>
            <a:pPr marL="0" indent="0" algn="ctr">
              <a:buNone/>
            </a:pPr>
            <a:r>
              <a:rPr lang="en-US" sz="1150" b="1" dirty="0">
                <a:solidFill>
                  <a:srgbClr val="1E2761"/>
                </a:solidFill>
                <a:latin typeface="Courier New" pitchFamily="34" charset="0"/>
                <a:ea typeface="Courier New" pitchFamily="34" charset="-122"/>
                <a:cs typeface="Courier New" pitchFamily="34" charset="-120"/>
              </a:rPr>
              <a:t>push(30)</a:t>
            </a:r>
            <a:endParaRPr lang="en-US" sz="1150" dirty="0"/>
          </a:p>
        </p:txBody>
      </p:sp>
      <p:sp>
        <p:nvSpPr>
          <p:cNvPr id="23" name="Shape 21"/>
          <p:cNvSpPr/>
          <p:nvPr/>
        </p:nvSpPr>
        <p:spPr>
          <a:xfrm>
            <a:off x="5925312" y="1600200"/>
            <a:ext cx="1097280" cy="475488"/>
          </a:xfrm>
          <a:prstGeom prst="rect">
            <a:avLst/>
          </a:prstGeom>
          <a:solidFill>
            <a:srgbClr val="D4A017"/>
          </a:solidFill>
          <a:ln w="12700">
            <a:solidFill>
              <a:srgbClr val="1E2761"/>
            </a:solidFill>
            <a:prstDash val="solid"/>
          </a:ln>
        </p:spPr>
        <p:txBody>
          <a:bodyPr/>
          <a:lstStyle/>
          <a:p>
            <a:endParaRPr lang="en-IN"/>
          </a:p>
        </p:txBody>
      </p:sp>
      <p:sp>
        <p:nvSpPr>
          <p:cNvPr id="24" name="Text 22"/>
          <p:cNvSpPr/>
          <p:nvPr/>
        </p:nvSpPr>
        <p:spPr>
          <a:xfrm>
            <a:off x="5925312" y="1600200"/>
            <a:ext cx="1097280" cy="475488"/>
          </a:xfrm>
          <a:prstGeom prst="rect">
            <a:avLst/>
          </a:prstGeom>
          <a:noFill/>
          <a:ln/>
        </p:spPr>
        <p:txBody>
          <a:bodyPr wrap="square" lIns="0" tIns="0" rIns="0" bIns="0" rtlCol="0" anchor="ctr"/>
          <a:lstStyle/>
          <a:p>
            <a:pPr marL="0" indent="0" algn="ctr">
              <a:buNone/>
            </a:pPr>
            <a:r>
              <a:rPr lang="en-US" sz="1300" b="1" dirty="0">
                <a:solidFill>
                  <a:srgbClr val="1E2761"/>
                </a:solidFill>
                <a:latin typeface="Courier New" pitchFamily="34" charset="0"/>
                <a:ea typeface="Courier New" pitchFamily="34" charset="-122"/>
                <a:cs typeface="Courier New" pitchFamily="34" charset="-120"/>
              </a:rPr>
              <a:t>30</a:t>
            </a:r>
            <a:endParaRPr lang="en-US" sz="1300" dirty="0"/>
          </a:p>
        </p:txBody>
      </p:sp>
      <p:sp>
        <p:nvSpPr>
          <p:cNvPr id="25" name="Text 23"/>
          <p:cNvSpPr/>
          <p:nvPr/>
        </p:nvSpPr>
        <p:spPr>
          <a:xfrm>
            <a:off x="5925312" y="1984248"/>
            <a:ext cx="109728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a:t>
            </a:r>
            <a:endParaRPr lang="en-US" sz="1300" dirty="0"/>
          </a:p>
        </p:txBody>
      </p:sp>
      <p:sp>
        <p:nvSpPr>
          <p:cNvPr id="26" name="Shape 24"/>
          <p:cNvSpPr/>
          <p:nvPr/>
        </p:nvSpPr>
        <p:spPr>
          <a:xfrm>
            <a:off x="5925312" y="2167128"/>
            <a:ext cx="1097280" cy="475488"/>
          </a:xfrm>
          <a:prstGeom prst="rect">
            <a:avLst/>
          </a:prstGeom>
          <a:solidFill>
            <a:srgbClr val="028090"/>
          </a:solidFill>
          <a:ln w="12700">
            <a:solidFill>
              <a:srgbClr val="1E2761"/>
            </a:solidFill>
            <a:prstDash val="solid"/>
          </a:ln>
        </p:spPr>
        <p:txBody>
          <a:bodyPr/>
          <a:lstStyle/>
          <a:p>
            <a:endParaRPr lang="en-IN"/>
          </a:p>
        </p:txBody>
      </p:sp>
      <p:sp>
        <p:nvSpPr>
          <p:cNvPr id="27" name="Text 25"/>
          <p:cNvSpPr/>
          <p:nvPr/>
        </p:nvSpPr>
        <p:spPr>
          <a:xfrm>
            <a:off x="5925312" y="2167128"/>
            <a:ext cx="10972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20</a:t>
            </a:r>
            <a:endParaRPr lang="en-US" sz="1300" dirty="0"/>
          </a:p>
        </p:txBody>
      </p:sp>
      <p:sp>
        <p:nvSpPr>
          <p:cNvPr id="28" name="Text 26"/>
          <p:cNvSpPr/>
          <p:nvPr/>
        </p:nvSpPr>
        <p:spPr>
          <a:xfrm>
            <a:off x="5925312" y="2551176"/>
            <a:ext cx="109728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a:t>
            </a:r>
            <a:endParaRPr lang="en-US" sz="1300" dirty="0"/>
          </a:p>
        </p:txBody>
      </p:sp>
      <p:sp>
        <p:nvSpPr>
          <p:cNvPr id="29" name="Shape 27"/>
          <p:cNvSpPr/>
          <p:nvPr/>
        </p:nvSpPr>
        <p:spPr>
          <a:xfrm>
            <a:off x="5925312" y="2734056"/>
            <a:ext cx="1097280" cy="475488"/>
          </a:xfrm>
          <a:prstGeom prst="rect">
            <a:avLst/>
          </a:prstGeom>
          <a:solidFill>
            <a:srgbClr val="028090"/>
          </a:solidFill>
          <a:ln w="12700">
            <a:solidFill>
              <a:srgbClr val="1E2761"/>
            </a:solidFill>
            <a:prstDash val="solid"/>
          </a:ln>
        </p:spPr>
        <p:txBody>
          <a:bodyPr/>
          <a:lstStyle/>
          <a:p>
            <a:endParaRPr lang="en-IN"/>
          </a:p>
        </p:txBody>
      </p:sp>
      <p:sp>
        <p:nvSpPr>
          <p:cNvPr id="30" name="Text 28"/>
          <p:cNvSpPr/>
          <p:nvPr/>
        </p:nvSpPr>
        <p:spPr>
          <a:xfrm>
            <a:off x="5925312" y="2734056"/>
            <a:ext cx="10972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10</a:t>
            </a:r>
            <a:endParaRPr lang="en-US" sz="1300" dirty="0"/>
          </a:p>
        </p:txBody>
      </p:sp>
      <p:sp>
        <p:nvSpPr>
          <p:cNvPr id="31" name="Text 29"/>
          <p:cNvSpPr/>
          <p:nvPr/>
        </p:nvSpPr>
        <p:spPr>
          <a:xfrm>
            <a:off x="5925312" y="3300984"/>
            <a:ext cx="109728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Courier New" pitchFamily="34" charset="0"/>
                <a:ea typeface="Courier New" pitchFamily="34" charset="-122"/>
                <a:cs typeface="Courier New" pitchFamily="34" charset="-120"/>
              </a:rPr>
              <a:t>NULL</a:t>
            </a:r>
            <a:endParaRPr lang="en-US" sz="1050" dirty="0"/>
          </a:p>
        </p:txBody>
      </p:sp>
      <p:sp>
        <p:nvSpPr>
          <p:cNvPr id="32" name="Text 30"/>
          <p:cNvSpPr/>
          <p:nvPr/>
        </p:nvSpPr>
        <p:spPr>
          <a:xfrm>
            <a:off x="5669280" y="3794760"/>
            <a:ext cx="160020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size 3</a:t>
            </a:r>
            <a:endParaRPr lang="en-US" sz="1050" dirty="0"/>
          </a:p>
        </p:txBody>
      </p:sp>
      <p:sp>
        <p:nvSpPr>
          <p:cNvPr id="33" name="Text 31"/>
          <p:cNvSpPr/>
          <p:nvPr/>
        </p:nvSpPr>
        <p:spPr>
          <a:xfrm>
            <a:off x="7406640" y="1234440"/>
            <a:ext cx="1600200" cy="274320"/>
          </a:xfrm>
          <a:prstGeom prst="rect">
            <a:avLst/>
          </a:prstGeom>
          <a:noFill/>
          <a:ln/>
        </p:spPr>
        <p:txBody>
          <a:bodyPr wrap="square" lIns="0" tIns="0" rIns="0" bIns="0" rtlCol="0" anchor="ctr"/>
          <a:lstStyle/>
          <a:p>
            <a:pPr marL="0" indent="0" algn="ctr">
              <a:buNone/>
            </a:pPr>
            <a:r>
              <a:rPr lang="en-US" sz="1150" b="1" dirty="0">
                <a:solidFill>
                  <a:srgbClr val="1E2761"/>
                </a:solidFill>
                <a:latin typeface="Courier New" pitchFamily="34" charset="0"/>
                <a:ea typeface="Courier New" pitchFamily="34" charset="-122"/>
                <a:cs typeface="Courier New" pitchFamily="34" charset="-120"/>
              </a:rPr>
              <a:t>pop → 30</a:t>
            </a:r>
            <a:endParaRPr lang="en-US" sz="1150" dirty="0"/>
          </a:p>
        </p:txBody>
      </p:sp>
      <p:sp>
        <p:nvSpPr>
          <p:cNvPr id="34" name="Shape 32"/>
          <p:cNvSpPr/>
          <p:nvPr/>
        </p:nvSpPr>
        <p:spPr>
          <a:xfrm>
            <a:off x="7662672" y="1600200"/>
            <a:ext cx="1097280" cy="475488"/>
          </a:xfrm>
          <a:prstGeom prst="rect">
            <a:avLst/>
          </a:prstGeom>
          <a:solidFill>
            <a:srgbClr val="D4A017"/>
          </a:solidFill>
          <a:ln w="12700">
            <a:solidFill>
              <a:srgbClr val="1E2761"/>
            </a:solidFill>
            <a:prstDash val="solid"/>
          </a:ln>
        </p:spPr>
        <p:txBody>
          <a:bodyPr/>
          <a:lstStyle/>
          <a:p>
            <a:endParaRPr lang="en-IN"/>
          </a:p>
        </p:txBody>
      </p:sp>
      <p:sp>
        <p:nvSpPr>
          <p:cNvPr id="35" name="Text 33"/>
          <p:cNvSpPr/>
          <p:nvPr/>
        </p:nvSpPr>
        <p:spPr>
          <a:xfrm>
            <a:off x="7662672" y="1600200"/>
            <a:ext cx="1097280" cy="475488"/>
          </a:xfrm>
          <a:prstGeom prst="rect">
            <a:avLst/>
          </a:prstGeom>
          <a:noFill/>
          <a:ln/>
        </p:spPr>
        <p:txBody>
          <a:bodyPr wrap="square" lIns="0" tIns="0" rIns="0" bIns="0" rtlCol="0" anchor="ctr"/>
          <a:lstStyle/>
          <a:p>
            <a:pPr marL="0" indent="0" algn="ctr">
              <a:buNone/>
            </a:pPr>
            <a:r>
              <a:rPr lang="en-US" sz="1300" b="1" dirty="0">
                <a:solidFill>
                  <a:srgbClr val="1E2761"/>
                </a:solidFill>
                <a:latin typeface="Courier New" pitchFamily="34" charset="0"/>
                <a:ea typeface="Courier New" pitchFamily="34" charset="-122"/>
                <a:cs typeface="Courier New" pitchFamily="34" charset="-120"/>
              </a:rPr>
              <a:t>20</a:t>
            </a:r>
            <a:endParaRPr lang="en-US" sz="1300" dirty="0"/>
          </a:p>
        </p:txBody>
      </p:sp>
      <p:sp>
        <p:nvSpPr>
          <p:cNvPr id="36" name="Text 34"/>
          <p:cNvSpPr/>
          <p:nvPr/>
        </p:nvSpPr>
        <p:spPr>
          <a:xfrm>
            <a:off x="7662672" y="1984248"/>
            <a:ext cx="1097280" cy="274320"/>
          </a:xfrm>
          <a:prstGeom prst="rect">
            <a:avLst/>
          </a:prstGeom>
          <a:noFill/>
          <a:ln/>
        </p:spPr>
        <p:txBody>
          <a:bodyPr wrap="square" lIns="0" tIns="0" rIns="0" bIns="0" rtlCol="0" anchor="ctr"/>
          <a:lstStyle/>
          <a:p>
            <a:pPr marL="0" indent="0" algn="ctr">
              <a:buNone/>
            </a:pPr>
            <a:r>
              <a:rPr lang="en-US" sz="1300" dirty="0">
                <a:solidFill>
                  <a:srgbClr val="6B7280"/>
                </a:solidFill>
                <a:latin typeface="Calibri" pitchFamily="34" charset="0"/>
                <a:ea typeface="Calibri" pitchFamily="34" charset="-122"/>
                <a:cs typeface="Calibri" pitchFamily="34" charset="-120"/>
              </a:rPr>
              <a:t>↓</a:t>
            </a:r>
            <a:endParaRPr lang="en-US" sz="1300" dirty="0"/>
          </a:p>
        </p:txBody>
      </p:sp>
      <p:sp>
        <p:nvSpPr>
          <p:cNvPr id="37" name="Shape 35"/>
          <p:cNvSpPr/>
          <p:nvPr/>
        </p:nvSpPr>
        <p:spPr>
          <a:xfrm>
            <a:off x="7662672" y="2167128"/>
            <a:ext cx="1097280" cy="475488"/>
          </a:xfrm>
          <a:prstGeom prst="rect">
            <a:avLst/>
          </a:prstGeom>
          <a:solidFill>
            <a:srgbClr val="028090"/>
          </a:solidFill>
          <a:ln w="12700">
            <a:solidFill>
              <a:srgbClr val="1E2761"/>
            </a:solidFill>
            <a:prstDash val="solid"/>
          </a:ln>
        </p:spPr>
        <p:txBody>
          <a:bodyPr/>
          <a:lstStyle/>
          <a:p>
            <a:endParaRPr lang="en-IN"/>
          </a:p>
        </p:txBody>
      </p:sp>
      <p:sp>
        <p:nvSpPr>
          <p:cNvPr id="38" name="Text 36"/>
          <p:cNvSpPr/>
          <p:nvPr/>
        </p:nvSpPr>
        <p:spPr>
          <a:xfrm>
            <a:off x="7662672" y="2167128"/>
            <a:ext cx="10972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10</a:t>
            </a:r>
            <a:endParaRPr lang="en-US" sz="1300" dirty="0"/>
          </a:p>
        </p:txBody>
      </p:sp>
      <p:sp>
        <p:nvSpPr>
          <p:cNvPr id="39" name="Text 37"/>
          <p:cNvSpPr/>
          <p:nvPr/>
        </p:nvSpPr>
        <p:spPr>
          <a:xfrm>
            <a:off x="7662672" y="2734056"/>
            <a:ext cx="109728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Courier New" pitchFamily="34" charset="0"/>
                <a:ea typeface="Courier New" pitchFamily="34" charset="-122"/>
                <a:cs typeface="Courier New" pitchFamily="34" charset="-120"/>
              </a:rPr>
              <a:t>NULL</a:t>
            </a:r>
            <a:endParaRPr lang="en-US" sz="1050" dirty="0"/>
          </a:p>
        </p:txBody>
      </p:sp>
      <p:sp>
        <p:nvSpPr>
          <p:cNvPr id="40" name="Text 38"/>
          <p:cNvSpPr/>
          <p:nvPr/>
        </p:nvSpPr>
        <p:spPr>
          <a:xfrm>
            <a:off x="7406640" y="3794760"/>
            <a:ext cx="160020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node freed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One program exercises every function</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188720"/>
            <a:ext cx="4754880" cy="3520440"/>
          </a:xfrm>
          <a:prstGeom prst="roundRect">
            <a:avLst>
              <a:gd name="adj" fmla="val 1818"/>
            </a:avLst>
          </a:prstGeom>
          <a:solidFill>
            <a:srgbClr val="16213E"/>
          </a:solidFill>
          <a:ln w="12700">
            <a:solidFill>
              <a:srgbClr val="16213E"/>
            </a:solidFill>
            <a:prstDash val="solid"/>
          </a:ln>
        </p:spPr>
        <p:txBody>
          <a:bodyPr/>
          <a:lstStyle/>
          <a:p>
            <a:endParaRPr lang="en-IN"/>
          </a:p>
        </p:txBody>
      </p:sp>
      <p:sp>
        <p:nvSpPr>
          <p:cNvPr id="7" name="Text 5"/>
          <p:cNvSpPr/>
          <p:nvPr/>
        </p:nvSpPr>
        <p:spPr>
          <a:xfrm>
            <a:off x="594360" y="1280160"/>
            <a:ext cx="4480560" cy="3337560"/>
          </a:xfrm>
          <a:prstGeom prst="rect">
            <a:avLst/>
          </a:prstGeom>
          <a:noFill/>
          <a:ln/>
        </p:spPr>
        <p:txBody>
          <a:bodyPr wrap="square" lIns="0" tIns="0" rIns="0" bIns="0" rtlCol="0" anchor="t"/>
          <a:lstStyle/>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int main(void) {</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Stack s;</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int x;</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stackInit(&amp;s);</a:t>
            </a:r>
            <a:endParaRPr lang="en-US" sz="1100" dirty="0"/>
          </a:p>
          <a:p>
            <a:pPr marL="0" indent="0">
              <a:lnSpc>
                <a:spcPct val="100000"/>
              </a:lnSpc>
              <a:buNone/>
            </a:pP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stackPush(&amp;s, 10);</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stackPush(&amp;s, 20);</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stackPush(&amp;s, 30);</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stackDisplay(&amp;s);</a:t>
            </a:r>
            <a:endParaRPr lang="en-US" sz="1100" dirty="0"/>
          </a:p>
          <a:p>
            <a:pPr marL="0" indent="0">
              <a:lnSpc>
                <a:spcPct val="100000"/>
              </a:lnSpc>
              <a:buNone/>
            </a:pP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if (stackPeek(&amp;s, &amp;x))</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printf("Peek: %d\n", x);</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if (stackPop(&amp;s, &amp;x))</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printf("Pop:  %d\n", x);</a:t>
            </a:r>
            <a:endParaRPr lang="en-US" sz="1100" dirty="0"/>
          </a:p>
          <a:p>
            <a:pPr marL="0" indent="0">
              <a:lnSpc>
                <a:spcPct val="100000"/>
              </a:lnSpc>
              <a:buNone/>
            </a:pP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printf("Size: %zu\n", stackSize(&amp;s));</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stackClear(&amp;s);</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stackDisplay(&amp;s);</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    return 0;</a:t>
            </a:r>
            <a:endParaRPr lang="en-US" sz="1100" dirty="0"/>
          </a:p>
          <a:p>
            <a:pPr marL="0" indent="0">
              <a:lnSpc>
                <a:spcPct val="100000"/>
              </a:lnSpc>
              <a:buNone/>
            </a:pPr>
            <a:r>
              <a:rPr lang="en-US" sz="1100" dirty="0">
                <a:solidFill>
                  <a:srgbClr val="E8F1F2"/>
                </a:solidFill>
                <a:latin typeface="Courier New" pitchFamily="34" charset="0"/>
                <a:ea typeface="Courier New" pitchFamily="34" charset="-122"/>
                <a:cs typeface="Courier New" pitchFamily="34" charset="-120"/>
              </a:rPr>
              <a:t>}</a:t>
            </a:r>
            <a:endParaRPr lang="en-US" sz="1100" dirty="0"/>
          </a:p>
        </p:txBody>
      </p:sp>
      <p:sp>
        <p:nvSpPr>
          <p:cNvPr id="8" name="Shape 6"/>
          <p:cNvSpPr/>
          <p:nvPr/>
        </p:nvSpPr>
        <p:spPr>
          <a:xfrm>
            <a:off x="5440680" y="1371600"/>
            <a:ext cx="3246120" cy="1965960"/>
          </a:xfrm>
          <a:prstGeom prst="roundRect">
            <a:avLst>
              <a:gd name="adj" fmla="val 3256"/>
            </a:avLst>
          </a:prstGeom>
          <a:solidFill>
            <a:srgbClr val="F0F7F7"/>
          </a:solidFill>
          <a:ln w="12700">
            <a:solidFill>
              <a:srgbClr val="028090"/>
            </a:solidFill>
            <a:prstDash val="solid"/>
          </a:ln>
        </p:spPr>
        <p:txBody>
          <a:bodyPr/>
          <a:lstStyle/>
          <a:p>
            <a:endParaRPr lang="en-IN"/>
          </a:p>
        </p:txBody>
      </p:sp>
      <p:sp>
        <p:nvSpPr>
          <p:cNvPr id="9" name="Text 7"/>
          <p:cNvSpPr/>
          <p:nvPr/>
        </p:nvSpPr>
        <p:spPr>
          <a:xfrm>
            <a:off x="5605272" y="1444752"/>
            <a:ext cx="2916936" cy="1819656"/>
          </a:xfrm>
          <a:prstGeom prst="rect">
            <a:avLst/>
          </a:prstGeom>
          <a:noFill/>
          <a:ln/>
        </p:spPr>
        <p:txBody>
          <a:bodyPr wrap="square" lIns="0" tIns="0" rIns="0" bIns="0"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Program output
</a:t>
            </a:r>
            <a:r>
              <a:rPr lang="en-US" sz="1300" dirty="0">
                <a:solidFill>
                  <a:srgbClr val="2B2B2B"/>
                </a:solidFill>
                <a:latin typeface="Courier New" pitchFamily="34" charset="0"/>
                <a:ea typeface="Courier New" pitchFamily="34" charset="-122"/>
                <a:cs typeface="Courier New" pitchFamily="34" charset="-120"/>
              </a:rPr>
              <a:t>TOP -&gt; 30 20 10</a:t>
            </a:r>
            <a:endParaRPr lang="en-US" sz="1250" dirty="0"/>
          </a:p>
          <a:p>
            <a:pPr marL="0" indent="0">
              <a:buNone/>
            </a:pPr>
            <a:r>
              <a:rPr lang="en-US" sz="1300" dirty="0">
                <a:solidFill>
                  <a:srgbClr val="2B2B2B"/>
                </a:solidFill>
                <a:latin typeface="Courier New" pitchFamily="34" charset="0"/>
                <a:ea typeface="Courier New" pitchFamily="34" charset="-122"/>
                <a:cs typeface="Courier New" pitchFamily="34" charset="-120"/>
              </a:rPr>
              <a:t>Peek: 30</a:t>
            </a:r>
            <a:endParaRPr lang="en-US" sz="1250" dirty="0"/>
          </a:p>
          <a:p>
            <a:pPr marL="0" indent="0">
              <a:buNone/>
            </a:pPr>
            <a:r>
              <a:rPr lang="en-US" sz="1300" dirty="0">
                <a:solidFill>
                  <a:srgbClr val="2B2B2B"/>
                </a:solidFill>
                <a:latin typeface="Courier New" pitchFamily="34" charset="0"/>
                <a:ea typeface="Courier New" pitchFamily="34" charset="-122"/>
                <a:cs typeface="Courier New" pitchFamily="34" charset="-120"/>
              </a:rPr>
              <a:t>Pop:  30</a:t>
            </a:r>
            <a:endParaRPr lang="en-US" sz="1250" dirty="0"/>
          </a:p>
          <a:p>
            <a:pPr marL="0" indent="0">
              <a:buNone/>
            </a:pPr>
            <a:r>
              <a:rPr lang="en-US" sz="1300" dirty="0">
                <a:solidFill>
                  <a:srgbClr val="2B2B2B"/>
                </a:solidFill>
                <a:latin typeface="Courier New" pitchFamily="34" charset="0"/>
                <a:ea typeface="Courier New" pitchFamily="34" charset="-122"/>
                <a:cs typeface="Courier New" pitchFamily="34" charset="-120"/>
              </a:rPr>
              <a:t>Size: 2</a:t>
            </a:r>
            <a:endParaRPr lang="en-US" sz="1250" dirty="0"/>
          </a:p>
          <a:p>
            <a:pPr marL="0" indent="0">
              <a:buNone/>
            </a:pPr>
            <a:r>
              <a:rPr lang="en-US" sz="1300" dirty="0">
                <a:solidFill>
                  <a:srgbClr val="2B2B2B"/>
                </a:solidFill>
                <a:latin typeface="Courier New" pitchFamily="34" charset="0"/>
                <a:ea typeface="Courier New" pitchFamily="34" charset="-122"/>
                <a:cs typeface="Courier New" pitchFamily="34" charset="-120"/>
              </a:rPr>
              <a:t>[empty]</a:t>
            </a:r>
            <a:endParaRPr lang="en-US" sz="1250" dirty="0"/>
          </a:p>
        </p:txBody>
      </p:sp>
      <p:sp>
        <p:nvSpPr>
          <p:cNvPr id="10" name="Text 8"/>
          <p:cNvSpPr/>
          <p:nvPr/>
        </p:nvSpPr>
        <p:spPr>
          <a:xfrm>
            <a:off x="5440680" y="3566160"/>
            <a:ext cx="3246120" cy="73152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Identical driver code to Lecture 8 — only the representation underneath changed.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Array stack vs linked stack</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008376"/>
        </p:xfrm>
        <a:graphic>
          <a:graphicData uri="http://schemas.openxmlformats.org/drawingml/2006/table">
            <a:tbl>
              <a:tblPr/>
              <a:tblGrid>
                <a:gridCol w="19202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42976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Array (Lecture 8)</a:t>
                      </a:r>
                      <a:endParaRPr lang="en-US" sz="13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Linked (Lecture 9)</a:t>
                      </a:r>
                      <a:endParaRPr lang="en-US" sz="13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29768">
                <a:tc>
                  <a:txBody>
                    <a:bodyPr/>
                    <a:lstStyle/>
                    <a:p>
                      <a:pPr marL="0" indent="0" algn="l">
                        <a:buNone/>
                      </a:pPr>
                      <a:r>
                        <a:rPr lang="en-US" sz="1200" b="1" dirty="0">
                          <a:solidFill>
                            <a:srgbClr val="028090"/>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Fixed: STACK_CAPACITY</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Grows until heap is exhausted</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lgn="l">
                        <a:buNone/>
                      </a:pPr>
                      <a:r>
                        <a:rPr lang="en-US" sz="1200" b="1" dirty="0">
                          <a:solidFill>
                            <a:srgbClr val="028090"/>
                          </a:solidFill>
                          <a:latin typeface="Calibri" pitchFamily="34" charset="0"/>
                          <a:ea typeface="Calibri" pitchFamily="34" charset="-122"/>
                          <a:cs typeface="Calibri" pitchFamily="34" charset="-120"/>
                        </a:rPr>
                        <a:t>Empty test</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top == -1</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top == NULL</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lgn="l">
                        <a:buNone/>
                      </a:pPr>
                      <a:r>
                        <a:rPr lang="en-US" sz="1200" b="1" dirty="0">
                          <a:solidFill>
                            <a:srgbClr val="028090"/>
                          </a:solidFill>
                          <a:latin typeface="Calibri" pitchFamily="34" charset="0"/>
                          <a:ea typeface="Calibri" pitchFamily="34" charset="-122"/>
                          <a:cs typeface="Calibri" pitchFamily="34" charset="-120"/>
                        </a:rPr>
                        <a:t>Full test</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top == STACK_CAPACITY - 1</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malloc returns NULL</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29768">
                <a:tc>
                  <a:txBody>
                    <a:bodyPr/>
                    <a:lstStyle/>
                    <a:p>
                      <a:pPr marL="0" indent="0" algn="l">
                        <a:buNone/>
                      </a:pPr>
                      <a:r>
                        <a:rPr lang="en-US" sz="1200" b="1" dirty="0">
                          <a:solidFill>
                            <a:srgbClr val="028090"/>
                          </a:solidFill>
                          <a:latin typeface="Calibri" pitchFamily="34" charset="0"/>
                          <a:ea typeface="Calibri" pitchFamily="34" charset="-122"/>
                          <a:cs typeface="Calibri" pitchFamily="34" charset="-120"/>
                        </a:rPr>
                        <a:t>Memory per element</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One int slot</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int + next pointer + heap overhead</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429768">
                <a:tc>
                  <a:txBody>
                    <a:bodyPr/>
                    <a:lstStyle/>
                    <a:p>
                      <a:pPr marL="0" indent="0" algn="l">
                        <a:buNone/>
                      </a:pPr>
                      <a:r>
                        <a:rPr lang="en-US" sz="1200" b="1" dirty="0">
                          <a:solidFill>
                            <a:srgbClr val="028090"/>
                          </a:solidFill>
                          <a:latin typeface="Calibri" pitchFamily="34" charset="0"/>
                          <a:ea typeface="Calibri" pitchFamily="34" charset="-122"/>
                          <a:cs typeface="Calibri" pitchFamily="34" charset="-120"/>
                        </a:rPr>
                        <a:t>push / pop / peek</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429768">
                <a:tc>
                  <a:txBody>
                    <a:bodyPr/>
                    <a:lstStyle/>
                    <a:p>
                      <a:pPr marL="0" indent="0" algn="l">
                        <a:buNone/>
                      </a:pPr>
                      <a:r>
                        <a:rPr lang="en-US" sz="1200" b="1" dirty="0">
                          <a:solidFill>
                            <a:srgbClr val="028090"/>
                          </a:solidFill>
                          <a:latin typeface="Calibri" pitchFamily="34" charset="0"/>
                          <a:ea typeface="Calibri" pitchFamily="34" charset="-122"/>
                          <a:cs typeface="Calibri" pitchFamily="34" charset="-120"/>
                        </a:rPr>
                        <a:t>clear</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O(1)  (reset top)</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O(n)  (free every node)</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First application: rewriting expressions</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457200" y="1234440"/>
            <a:ext cx="493776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Humans write infix: the operator sits between operands, so A + B * C needs precedence rules and parentheses to be unambiguous.</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Machines prefer postfix (operator after operands) or prefix (operator before): no parentheses, no precedence table at run time.</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A stack of operators performs the conversion in one left-to-right scan.</a:t>
            </a:r>
            <a:endParaRPr lang="en-US" sz="1400" dirty="0"/>
          </a:p>
        </p:txBody>
      </p:sp>
      <p:sp>
        <p:nvSpPr>
          <p:cNvPr id="7" name="Shape 5"/>
          <p:cNvSpPr/>
          <p:nvPr/>
        </p:nvSpPr>
        <p:spPr>
          <a:xfrm>
            <a:off x="5623560" y="1234440"/>
            <a:ext cx="3063240" cy="868680"/>
          </a:xfrm>
          <a:prstGeom prst="roundRect">
            <a:avLst>
              <a:gd name="adj" fmla="val 7368"/>
            </a:avLst>
          </a:prstGeom>
          <a:solidFill>
            <a:srgbClr val="F0F7F7"/>
          </a:solidFill>
          <a:ln w="12700">
            <a:solidFill>
              <a:srgbClr val="028090"/>
            </a:solidFill>
            <a:prstDash val="solid"/>
          </a:ln>
        </p:spPr>
        <p:txBody>
          <a:bodyPr/>
          <a:lstStyle/>
          <a:p>
            <a:endParaRPr lang="en-IN"/>
          </a:p>
        </p:txBody>
      </p:sp>
      <p:sp>
        <p:nvSpPr>
          <p:cNvPr id="8" name="Text 6"/>
          <p:cNvSpPr/>
          <p:nvPr/>
        </p:nvSpPr>
        <p:spPr>
          <a:xfrm>
            <a:off x="5788152" y="1307592"/>
            <a:ext cx="2734056" cy="722376"/>
          </a:xfrm>
          <a:prstGeom prst="rect">
            <a:avLst/>
          </a:prstGeom>
          <a:noFill/>
          <a:ln/>
        </p:spPr>
        <p:txBody>
          <a:bodyPr wrap="square" lIns="0" tIns="0" rIns="0" bIns="0"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INFIX
</a:t>
            </a:r>
            <a:r>
              <a:rPr lang="en-US" sz="1500" b="1" dirty="0">
                <a:solidFill>
                  <a:srgbClr val="2B2B2B"/>
                </a:solidFill>
                <a:latin typeface="Courier New" pitchFamily="34" charset="0"/>
                <a:ea typeface="Courier New" pitchFamily="34" charset="-122"/>
                <a:cs typeface="Courier New" pitchFamily="34" charset="-120"/>
              </a:rPr>
              <a:t>A + B * C</a:t>
            </a:r>
            <a:endParaRPr lang="en-US" sz="1250" dirty="0"/>
          </a:p>
        </p:txBody>
      </p:sp>
      <p:sp>
        <p:nvSpPr>
          <p:cNvPr id="9" name="Shape 7"/>
          <p:cNvSpPr/>
          <p:nvPr/>
        </p:nvSpPr>
        <p:spPr>
          <a:xfrm>
            <a:off x="5623560" y="2258568"/>
            <a:ext cx="3063240" cy="868680"/>
          </a:xfrm>
          <a:prstGeom prst="roundRect">
            <a:avLst>
              <a:gd name="adj" fmla="val 7368"/>
            </a:avLst>
          </a:prstGeom>
          <a:solidFill>
            <a:srgbClr val="FBF5E6"/>
          </a:solidFill>
          <a:ln w="12700">
            <a:solidFill>
              <a:srgbClr val="D4A017"/>
            </a:solidFill>
            <a:prstDash val="solid"/>
          </a:ln>
        </p:spPr>
        <p:txBody>
          <a:bodyPr/>
          <a:lstStyle/>
          <a:p>
            <a:endParaRPr lang="en-IN"/>
          </a:p>
        </p:txBody>
      </p:sp>
      <p:sp>
        <p:nvSpPr>
          <p:cNvPr id="10" name="Text 8"/>
          <p:cNvSpPr/>
          <p:nvPr/>
        </p:nvSpPr>
        <p:spPr>
          <a:xfrm>
            <a:off x="5788152" y="2331720"/>
            <a:ext cx="2734056" cy="722376"/>
          </a:xfrm>
          <a:prstGeom prst="rect">
            <a:avLst/>
          </a:prstGeom>
          <a:noFill/>
          <a:ln/>
        </p:spPr>
        <p:txBody>
          <a:bodyPr wrap="square" lIns="0" tIns="0" rIns="0" bIns="0" rtlCol="0" anchor="ctr"/>
          <a:lstStyle/>
          <a:p>
            <a:pPr marL="0" indent="0">
              <a:buNone/>
            </a:pPr>
            <a:r>
              <a:rPr lang="en-US" sz="1250" b="1" dirty="0">
                <a:solidFill>
                  <a:srgbClr val="D4A017"/>
                </a:solidFill>
                <a:latin typeface="Calibri" pitchFamily="34" charset="0"/>
                <a:ea typeface="Calibri" pitchFamily="34" charset="-122"/>
                <a:cs typeface="Calibri" pitchFamily="34" charset="-120"/>
              </a:rPr>
              <a:t>POSTFIX
</a:t>
            </a:r>
            <a:r>
              <a:rPr lang="en-US" sz="1500" b="1" dirty="0">
                <a:solidFill>
                  <a:srgbClr val="2B2B2B"/>
                </a:solidFill>
                <a:latin typeface="Courier New" pitchFamily="34" charset="0"/>
                <a:ea typeface="Courier New" pitchFamily="34" charset="-122"/>
                <a:cs typeface="Courier New" pitchFamily="34" charset="-120"/>
              </a:rPr>
              <a:t>A B C * +</a:t>
            </a:r>
            <a:endParaRPr lang="en-US" sz="1250" dirty="0"/>
          </a:p>
        </p:txBody>
      </p:sp>
      <p:sp>
        <p:nvSpPr>
          <p:cNvPr id="11" name="Shape 9"/>
          <p:cNvSpPr/>
          <p:nvPr/>
        </p:nvSpPr>
        <p:spPr>
          <a:xfrm>
            <a:off x="5623560" y="3282696"/>
            <a:ext cx="3063240" cy="868680"/>
          </a:xfrm>
          <a:prstGeom prst="roundRect">
            <a:avLst>
              <a:gd name="adj" fmla="val 7368"/>
            </a:avLst>
          </a:prstGeom>
          <a:solidFill>
            <a:srgbClr val="EEF3FB"/>
          </a:solidFill>
          <a:ln w="12700">
            <a:solidFill>
              <a:srgbClr val="1E2761"/>
            </a:solidFill>
            <a:prstDash val="solid"/>
          </a:ln>
        </p:spPr>
        <p:txBody>
          <a:bodyPr/>
          <a:lstStyle/>
          <a:p>
            <a:endParaRPr lang="en-IN"/>
          </a:p>
        </p:txBody>
      </p:sp>
      <p:sp>
        <p:nvSpPr>
          <p:cNvPr id="12" name="Text 10"/>
          <p:cNvSpPr/>
          <p:nvPr/>
        </p:nvSpPr>
        <p:spPr>
          <a:xfrm>
            <a:off x="5788152" y="3355848"/>
            <a:ext cx="2734056" cy="722376"/>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PREFIX
</a:t>
            </a:r>
            <a:r>
              <a:rPr lang="en-US" sz="1500" b="1" dirty="0">
                <a:solidFill>
                  <a:srgbClr val="2B2B2B"/>
                </a:solidFill>
                <a:latin typeface="Courier New" pitchFamily="34" charset="0"/>
                <a:ea typeface="Courier New" pitchFamily="34" charset="-122"/>
                <a:cs typeface="Courier New" pitchFamily="34" charset="-120"/>
              </a:rPr>
              <a:t>+ A * B C</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Infix → postfix: the operator-stack rules</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457200" y="1289304"/>
            <a:ext cx="384048" cy="384048"/>
          </a:xfrm>
          <a:prstGeom prst="ellipse">
            <a:avLst/>
          </a:prstGeom>
          <a:solidFill>
            <a:srgbClr val="028090"/>
          </a:solidFill>
          <a:ln w="12700">
            <a:solidFill>
              <a:srgbClr val="1E2761"/>
            </a:solidFill>
            <a:prstDash val="solid"/>
          </a:ln>
        </p:spPr>
        <p:txBody>
          <a:bodyPr/>
          <a:lstStyle/>
          <a:p>
            <a:endParaRPr lang="en-IN"/>
          </a:p>
        </p:txBody>
      </p:sp>
      <p:sp>
        <p:nvSpPr>
          <p:cNvPr id="7" name="Text 5"/>
          <p:cNvSpPr/>
          <p:nvPr/>
        </p:nvSpPr>
        <p:spPr>
          <a:xfrm>
            <a:off x="457200" y="128930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05840" y="1234440"/>
            <a:ext cx="7680960" cy="566928"/>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Operand   </a:t>
            </a:r>
            <a:r>
              <a:rPr lang="en-US" sz="1250" dirty="0">
                <a:solidFill>
                  <a:srgbClr val="2B2B2B"/>
                </a:solidFill>
                <a:latin typeface="Calibri" pitchFamily="34" charset="0"/>
                <a:ea typeface="Calibri" pitchFamily="34" charset="-122"/>
                <a:cs typeface="Calibri" pitchFamily="34" charset="-120"/>
              </a:rPr>
              <a:t>Append it straight to the output.</a:t>
            </a:r>
            <a:endParaRPr lang="en-US" sz="1300" dirty="0"/>
          </a:p>
        </p:txBody>
      </p:sp>
      <p:sp>
        <p:nvSpPr>
          <p:cNvPr id="9" name="Shape 7"/>
          <p:cNvSpPr/>
          <p:nvPr/>
        </p:nvSpPr>
        <p:spPr>
          <a:xfrm>
            <a:off x="457200" y="1947672"/>
            <a:ext cx="384048" cy="384048"/>
          </a:xfrm>
          <a:prstGeom prst="ellipse">
            <a:avLst/>
          </a:prstGeom>
          <a:solidFill>
            <a:srgbClr val="028090"/>
          </a:solidFill>
          <a:ln w="12700">
            <a:solidFill>
              <a:srgbClr val="1E2761"/>
            </a:solidFill>
            <a:prstDash val="solid"/>
          </a:ln>
        </p:spPr>
        <p:txBody>
          <a:bodyPr/>
          <a:lstStyle/>
          <a:p>
            <a:endParaRPr lang="en-IN"/>
          </a:p>
        </p:txBody>
      </p:sp>
      <p:sp>
        <p:nvSpPr>
          <p:cNvPr id="10" name="Text 8"/>
          <p:cNvSpPr/>
          <p:nvPr/>
        </p:nvSpPr>
        <p:spPr>
          <a:xfrm>
            <a:off x="457200" y="19476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005840" y="1892808"/>
            <a:ext cx="7680960" cy="566928"/>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   </a:t>
            </a:r>
            <a:r>
              <a:rPr lang="en-US" sz="1250" dirty="0">
                <a:solidFill>
                  <a:srgbClr val="2B2B2B"/>
                </a:solidFill>
                <a:latin typeface="Calibri" pitchFamily="34" charset="0"/>
                <a:ea typeface="Calibri" pitchFamily="34" charset="-122"/>
                <a:cs typeface="Calibri" pitchFamily="34" charset="-120"/>
              </a:rPr>
              <a:t>Push it; it waits for its matching ).</a:t>
            </a:r>
            <a:endParaRPr lang="en-US" sz="1300" dirty="0"/>
          </a:p>
        </p:txBody>
      </p:sp>
      <p:sp>
        <p:nvSpPr>
          <p:cNvPr id="12" name="Shape 10"/>
          <p:cNvSpPr/>
          <p:nvPr/>
        </p:nvSpPr>
        <p:spPr>
          <a:xfrm>
            <a:off x="457200" y="2606040"/>
            <a:ext cx="384048" cy="384048"/>
          </a:xfrm>
          <a:prstGeom prst="ellipse">
            <a:avLst/>
          </a:prstGeom>
          <a:solidFill>
            <a:srgbClr val="D4A017"/>
          </a:solidFill>
          <a:ln w="12700">
            <a:solidFill>
              <a:srgbClr val="1E2761"/>
            </a:solidFill>
            <a:prstDash val="solid"/>
          </a:ln>
        </p:spPr>
        <p:txBody>
          <a:bodyPr/>
          <a:lstStyle/>
          <a:p>
            <a:endParaRPr lang="en-IN"/>
          </a:p>
        </p:txBody>
      </p:sp>
      <p:sp>
        <p:nvSpPr>
          <p:cNvPr id="13" name="Text 11"/>
          <p:cNvSpPr/>
          <p:nvPr/>
        </p:nvSpPr>
        <p:spPr>
          <a:xfrm>
            <a:off x="457200" y="2606040"/>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005840" y="2551176"/>
            <a:ext cx="7680960" cy="566928"/>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Operator   </a:t>
            </a:r>
            <a:r>
              <a:rPr lang="en-US" sz="1250" dirty="0">
                <a:solidFill>
                  <a:srgbClr val="2B2B2B"/>
                </a:solidFill>
                <a:latin typeface="Calibri" pitchFamily="34" charset="0"/>
                <a:ea typeface="Calibri" pitchFamily="34" charset="-122"/>
                <a:cs typeface="Calibri" pitchFamily="34" charset="-120"/>
              </a:rPr>
              <a:t>Pop to output while the stack top has higher precedence, or equal precedence and the operator is left-associative; then push it.</a:t>
            </a:r>
            <a:endParaRPr lang="en-US" sz="1300" dirty="0"/>
          </a:p>
        </p:txBody>
      </p:sp>
      <p:sp>
        <p:nvSpPr>
          <p:cNvPr id="15" name="Shape 13"/>
          <p:cNvSpPr/>
          <p:nvPr/>
        </p:nvSpPr>
        <p:spPr>
          <a:xfrm>
            <a:off x="457200" y="3264408"/>
            <a:ext cx="384048" cy="384048"/>
          </a:xfrm>
          <a:prstGeom prst="ellipse">
            <a:avLst/>
          </a:prstGeom>
          <a:solidFill>
            <a:srgbClr val="028090"/>
          </a:solidFill>
          <a:ln w="12700">
            <a:solidFill>
              <a:srgbClr val="1E2761"/>
            </a:solidFill>
            <a:prstDash val="solid"/>
          </a:ln>
        </p:spPr>
        <p:txBody>
          <a:bodyPr/>
          <a:lstStyle/>
          <a:p>
            <a:endParaRPr lang="en-IN"/>
          </a:p>
        </p:txBody>
      </p:sp>
      <p:sp>
        <p:nvSpPr>
          <p:cNvPr id="16" name="Text 14"/>
          <p:cNvSpPr/>
          <p:nvPr/>
        </p:nvSpPr>
        <p:spPr>
          <a:xfrm>
            <a:off x="457200" y="32644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005840" y="3209544"/>
            <a:ext cx="7680960" cy="566928"/>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   </a:t>
            </a:r>
            <a:r>
              <a:rPr lang="en-US" sz="1250" dirty="0">
                <a:solidFill>
                  <a:srgbClr val="2B2B2B"/>
                </a:solidFill>
                <a:latin typeface="Calibri" pitchFamily="34" charset="0"/>
                <a:ea typeface="Calibri" pitchFamily="34" charset="-122"/>
                <a:cs typeface="Calibri" pitchFamily="34" charset="-120"/>
              </a:rPr>
              <a:t>Pop to output until ( appears; discard the pair.</a:t>
            </a:r>
            <a:endParaRPr lang="en-US" sz="1300" dirty="0"/>
          </a:p>
        </p:txBody>
      </p:sp>
      <p:sp>
        <p:nvSpPr>
          <p:cNvPr id="18" name="Shape 16"/>
          <p:cNvSpPr/>
          <p:nvPr/>
        </p:nvSpPr>
        <p:spPr>
          <a:xfrm>
            <a:off x="457200" y="3922776"/>
            <a:ext cx="384048" cy="384048"/>
          </a:xfrm>
          <a:prstGeom prst="ellipse">
            <a:avLst/>
          </a:prstGeom>
          <a:solidFill>
            <a:srgbClr val="028090"/>
          </a:solidFill>
          <a:ln w="12700">
            <a:solidFill>
              <a:srgbClr val="1E2761"/>
            </a:solidFill>
            <a:prstDash val="solid"/>
          </a:ln>
        </p:spPr>
        <p:txBody>
          <a:bodyPr/>
          <a:lstStyle/>
          <a:p>
            <a:endParaRPr lang="en-IN"/>
          </a:p>
        </p:txBody>
      </p:sp>
      <p:sp>
        <p:nvSpPr>
          <p:cNvPr id="19" name="Text 17"/>
          <p:cNvSpPr/>
          <p:nvPr/>
        </p:nvSpPr>
        <p:spPr>
          <a:xfrm>
            <a:off x="457200" y="39227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005840" y="3867912"/>
            <a:ext cx="7680960" cy="566928"/>
          </a:xfrm>
          <a:prstGeom prst="rect">
            <a:avLst/>
          </a:prstGeom>
          <a:noFill/>
          <a:ln/>
        </p:spPr>
        <p:txBody>
          <a:bodyPr wrap="square" lIns="0" tIns="0" rIns="0" bIns="0" rtlCol="0" anchor="ctr"/>
          <a:lstStyle/>
          <a:p>
            <a:pPr marL="0" indent="0">
              <a:buNone/>
            </a:pPr>
            <a:r>
              <a:rPr lang="en-US" sz="1300" b="1" dirty="0">
                <a:solidFill>
                  <a:srgbClr val="1E2761"/>
                </a:solidFill>
                <a:latin typeface="Courier New" pitchFamily="34" charset="0"/>
                <a:ea typeface="Courier New" pitchFamily="34" charset="-122"/>
                <a:cs typeface="Courier New" pitchFamily="34" charset="-120"/>
              </a:rPr>
              <a:t>End of input   </a:t>
            </a:r>
            <a:r>
              <a:rPr lang="en-US" sz="1250" dirty="0">
                <a:solidFill>
                  <a:srgbClr val="2B2B2B"/>
                </a:solidFill>
                <a:latin typeface="Calibri" pitchFamily="34" charset="0"/>
                <a:ea typeface="Calibri" pitchFamily="34" charset="-122"/>
                <a:cs typeface="Calibri" pitchFamily="34" charset="-120"/>
              </a:rPr>
              <a:t>Pop everything that remains to the output.</a:t>
            </a:r>
            <a:endParaRPr lang="en-US" sz="1300" dirty="0"/>
          </a:p>
        </p:txBody>
      </p:sp>
      <p:sp>
        <p:nvSpPr>
          <p:cNvPr id="21" name="Text 19"/>
          <p:cNvSpPr/>
          <p:nvPr/>
        </p:nvSpPr>
        <p:spPr>
          <a:xfrm>
            <a:off x="457200" y="4572000"/>
            <a:ext cx="8229600" cy="27432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Precedence:  ^  &gt;  *  /  &gt;  +  −        ^ is right-associative; the rest are left-associative.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Worked example: A + B * C − D</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91840"/>
        </p:xfrm>
        <a:graphic>
          <a:graphicData uri="http://schemas.openxmlformats.org/drawingml/2006/table">
            <a:tbl>
              <a:tblPr/>
              <a:tblGrid>
                <a:gridCol w="1005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65760">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Symbol</a:t>
                      </a:r>
                      <a:endParaRPr lang="en-US" sz="12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Action</a:t>
                      </a:r>
                      <a:endParaRPr lang="en-US" sz="12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Stack</a:t>
                      </a:r>
                      <a:endParaRPr lang="en-US" sz="12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operand → output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stack empty → push</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B</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operand → output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 B</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 higher than + → push</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 *</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 B</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C</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operand → output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 *</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 B C</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pop * then + (≥ prec) → push −</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 B C * +</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D</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operand → output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A B C * + D</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150" dirty="0">
                          <a:solidFill>
                            <a:srgbClr val="2B2B2B"/>
                          </a:solidFill>
                          <a:latin typeface="Courier New" pitchFamily="34" charset="0"/>
                          <a:ea typeface="Courier New" pitchFamily="34" charset="-122"/>
                          <a:cs typeface="Courier New" pitchFamily="34" charset="-120"/>
                        </a:rPr>
                        <a:t>end</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pop the rest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50" b="1" dirty="0">
                          <a:solidFill>
                            <a:srgbClr val="D4A017"/>
                          </a:solidFill>
                          <a:latin typeface="Courier New" pitchFamily="34" charset="0"/>
                          <a:ea typeface="Courier New" pitchFamily="34" charset="-122"/>
                          <a:cs typeface="Courier New" pitchFamily="34" charset="-120"/>
                        </a:rPr>
                        <a:t>A B C * + D −</a:t>
                      </a:r>
                      <a:endParaRPr lang="en-US" sz="115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01168"/>
            <a:ext cx="8229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9</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Infix → prefix: reverse, convert, reverse</a:t>
            </a:r>
            <a:endParaRPr lang="en-US" sz="26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344168"/>
            <a:ext cx="384048" cy="384048"/>
          </a:xfrm>
          <a:prstGeom prst="ellipse">
            <a:avLst/>
          </a:prstGeom>
          <a:solidFill>
            <a:srgbClr val="028090"/>
          </a:solidFill>
          <a:ln w="12700">
            <a:solidFill>
              <a:srgbClr val="1E2761"/>
            </a:solidFill>
            <a:prstDash val="solid"/>
          </a:ln>
        </p:spPr>
        <p:txBody>
          <a:bodyPr/>
          <a:lstStyle/>
          <a:p>
            <a:endParaRPr lang="en-IN"/>
          </a:p>
        </p:txBody>
      </p:sp>
      <p:sp>
        <p:nvSpPr>
          <p:cNvPr id="7" name="Text 5"/>
          <p:cNvSpPr/>
          <p:nvPr/>
        </p:nvSpPr>
        <p:spPr>
          <a:xfrm>
            <a:off x="457200" y="13441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05840" y="1234440"/>
            <a:ext cx="4572000" cy="86868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Reverse the infix string and swap every ( with ).</a:t>
            </a:r>
            <a:endParaRPr lang="en-US" sz="1250" dirty="0"/>
          </a:p>
        </p:txBody>
      </p:sp>
      <p:sp>
        <p:nvSpPr>
          <p:cNvPr id="9" name="Text 7"/>
          <p:cNvSpPr/>
          <p:nvPr/>
        </p:nvSpPr>
        <p:spPr>
          <a:xfrm>
            <a:off x="5669280" y="1234440"/>
            <a:ext cx="3017520" cy="868680"/>
          </a:xfrm>
          <a:prstGeom prst="rect">
            <a:avLst/>
          </a:prstGeom>
          <a:noFill/>
          <a:ln/>
        </p:spPr>
        <p:txBody>
          <a:bodyPr wrap="square" lIns="0" tIns="0" rIns="0" bIns="0" rtlCol="0" anchor="ctr"/>
          <a:lstStyle/>
          <a:p>
            <a:pPr marL="0" indent="0">
              <a:buNone/>
            </a:pPr>
            <a:r>
              <a:rPr lang="en-US" sz="1150" dirty="0">
                <a:solidFill>
                  <a:srgbClr val="1E2761"/>
                </a:solidFill>
                <a:latin typeface="Courier New" pitchFamily="34" charset="0"/>
                <a:ea typeface="Courier New" pitchFamily="34" charset="-122"/>
                <a:cs typeface="Courier New" pitchFamily="34" charset="-120"/>
              </a:rPr>
              <a:t>A + B * C − D</a:t>
            </a:r>
            <a:endParaRPr lang="en-US" sz="1150" dirty="0"/>
          </a:p>
          <a:p>
            <a:pPr marL="0" indent="0">
              <a:buNone/>
            </a:pPr>
            <a:r>
              <a:rPr lang="en-US" sz="1150" dirty="0">
                <a:solidFill>
                  <a:srgbClr val="1E2761"/>
                </a:solidFill>
                <a:latin typeface="Courier New" pitchFamily="34" charset="0"/>
                <a:ea typeface="Courier New" pitchFamily="34" charset="-122"/>
                <a:cs typeface="Courier New" pitchFamily="34" charset="-120"/>
              </a:rPr>
              <a:t>→  D − C * B + A</a:t>
            </a:r>
            <a:endParaRPr lang="en-US" sz="1150" dirty="0"/>
          </a:p>
        </p:txBody>
      </p:sp>
      <p:sp>
        <p:nvSpPr>
          <p:cNvPr id="10" name="Shape 8"/>
          <p:cNvSpPr/>
          <p:nvPr/>
        </p:nvSpPr>
        <p:spPr>
          <a:xfrm>
            <a:off x="457200" y="2304288"/>
            <a:ext cx="384048" cy="384048"/>
          </a:xfrm>
          <a:prstGeom prst="ellipse">
            <a:avLst/>
          </a:prstGeom>
          <a:solidFill>
            <a:srgbClr val="028090"/>
          </a:solidFill>
          <a:ln w="12700">
            <a:solidFill>
              <a:srgbClr val="1E2761"/>
            </a:solidFill>
            <a:prstDash val="solid"/>
          </a:ln>
        </p:spPr>
        <p:txBody>
          <a:bodyPr/>
          <a:lstStyle/>
          <a:p>
            <a:endParaRPr lang="en-IN"/>
          </a:p>
        </p:txBody>
      </p:sp>
      <p:sp>
        <p:nvSpPr>
          <p:cNvPr id="11" name="Text 9"/>
          <p:cNvSpPr/>
          <p:nvPr/>
        </p:nvSpPr>
        <p:spPr>
          <a:xfrm>
            <a:off x="457200" y="23042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005840" y="2194560"/>
            <a:ext cx="4572000" cy="86868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Run the postfix algorithm; on equal precedence, push instead of pop.</a:t>
            </a:r>
            <a:endParaRPr lang="en-US" sz="1250" dirty="0"/>
          </a:p>
        </p:txBody>
      </p:sp>
      <p:sp>
        <p:nvSpPr>
          <p:cNvPr id="13" name="Text 11"/>
          <p:cNvSpPr/>
          <p:nvPr/>
        </p:nvSpPr>
        <p:spPr>
          <a:xfrm>
            <a:off x="5669280" y="2194560"/>
            <a:ext cx="3017520" cy="868680"/>
          </a:xfrm>
          <a:prstGeom prst="rect">
            <a:avLst/>
          </a:prstGeom>
          <a:noFill/>
          <a:ln/>
        </p:spPr>
        <p:txBody>
          <a:bodyPr wrap="square" lIns="0" tIns="0" rIns="0" bIns="0" rtlCol="0" anchor="ctr"/>
          <a:lstStyle/>
          <a:p>
            <a:pPr marL="0" indent="0">
              <a:buNone/>
            </a:pPr>
            <a:r>
              <a:rPr lang="en-US" sz="1150" dirty="0">
                <a:solidFill>
                  <a:srgbClr val="1E2761"/>
                </a:solidFill>
                <a:latin typeface="Courier New" pitchFamily="34" charset="0"/>
                <a:ea typeface="Courier New" pitchFamily="34" charset="-122"/>
                <a:cs typeface="Courier New" pitchFamily="34" charset="-120"/>
              </a:rPr>
              <a:t>gives:</a:t>
            </a:r>
            <a:endParaRPr lang="en-US" sz="1150" dirty="0"/>
          </a:p>
          <a:p>
            <a:pPr marL="0" indent="0">
              <a:buNone/>
            </a:pPr>
            <a:r>
              <a:rPr lang="en-US" sz="1150" dirty="0">
                <a:solidFill>
                  <a:srgbClr val="1E2761"/>
                </a:solidFill>
                <a:latin typeface="Courier New" pitchFamily="34" charset="0"/>
                <a:ea typeface="Courier New" pitchFamily="34" charset="-122"/>
                <a:cs typeface="Courier New" pitchFamily="34" charset="-120"/>
              </a:rPr>
              <a:t>D C B * + A −</a:t>
            </a:r>
            <a:endParaRPr lang="en-US" sz="1150" dirty="0"/>
          </a:p>
        </p:txBody>
      </p:sp>
      <p:sp>
        <p:nvSpPr>
          <p:cNvPr id="14" name="Shape 12"/>
          <p:cNvSpPr/>
          <p:nvPr/>
        </p:nvSpPr>
        <p:spPr>
          <a:xfrm>
            <a:off x="457200" y="3264408"/>
            <a:ext cx="384048" cy="384048"/>
          </a:xfrm>
          <a:prstGeom prst="ellipse">
            <a:avLst/>
          </a:prstGeom>
          <a:solidFill>
            <a:srgbClr val="028090"/>
          </a:solidFill>
          <a:ln w="12700">
            <a:solidFill>
              <a:srgbClr val="1E2761"/>
            </a:solidFill>
            <a:prstDash val="solid"/>
          </a:ln>
        </p:spPr>
        <p:txBody>
          <a:bodyPr/>
          <a:lstStyle/>
          <a:p>
            <a:endParaRPr lang="en-IN"/>
          </a:p>
        </p:txBody>
      </p:sp>
      <p:sp>
        <p:nvSpPr>
          <p:cNvPr id="15" name="Text 13"/>
          <p:cNvSpPr/>
          <p:nvPr/>
        </p:nvSpPr>
        <p:spPr>
          <a:xfrm>
            <a:off x="457200" y="32644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005840" y="3154680"/>
            <a:ext cx="4572000" cy="86868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Reverse the result — this is the prefix form.</a:t>
            </a:r>
            <a:endParaRPr lang="en-US" sz="1250" dirty="0"/>
          </a:p>
        </p:txBody>
      </p:sp>
      <p:sp>
        <p:nvSpPr>
          <p:cNvPr id="17" name="Text 15"/>
          <p:cNvSpPr/>
          <p:nvPr/>
        </p:nvSpPr>
        <p:spPr>
          <a:xfrm>
            <a:off x="5669280" y="3154680"/>
            <a:ext cx="3017520" cy="868680"/>
          </a:xfrm>
          <a:prstGeom prst="rect">
            <a:avLst/>
          </a:prstGeom>
          <a:noFill/>
          <a:ln/>
        </p:spPr>
        <p:txBody>
          <a:bodyPr wrap="square" lIns="0" tIns="0" rIns="0" bIns="0" rtlCol="0" anchor="ctr"/>
          <a:lstStyle/>
          <a:p>
            <a:pPr marL="0" indent="0">
              <a:buNone/>
            </a:pPr>
            <a:r>
              <a:rPr lang="en-US" sz="1150" dirty="0">
                <a:solidFill>
                  <a:srgbClr val="1E2761"/>
                </a:solidFill>
                <a:latin typeface="Courier New" pitchFamily="34" charset="0"/>
                <a:ea typeface="Courier New" pitchFamily="34" charset="-122"/>
                <a:cs typeface="Courier New" pitchFamily="34" charset="-120"/>
              </a:rPr>
              <a:t>− + A * B C D</a:t>
            </a:r>
            <a:endParaRPr lang="en-US" sz="1150" dirty="0"/>
          </a:p>
        </p:txBody>
      </p:sp>
      <p:sp>
        <p:nvSpPr>
          <p:cNvPr id="18" name="Shape 16"/>
          <p:cNvSpPr/>
          <p:nvPr/>
        </p:nvSpPr>
        <p:spPr>
          <a:xfrm>
            <a:off x="457200" y="4160520"/>
            <a:ext cx="8229600" cy="548640"/>
          </a:xfrm>
          <a:prstGeom prst="roundRect">
            <a:avLst>
              <a:gd name="adj" fmla="val 11667"/>
            </a:avLst>
          </a:prstGeom>
          <a:solidFill>
            <a:srgbClr val="FBF5E6"/>
          </a:solidFill>
          <a:ln w="12700">
            <a:solidFill>
              <a:srgbClr val="D4A017"/>
            </a:solidFill>
            <a:prstDash val="solid"/>
          </a:ln>
        </p:spPr>
        <p:txBody>
          <a:bodyPr/>
          <a:lstStyle/>
          <a:p>
            <a:endParaRPr lang="en-IN"/>
          </a:p>
        </p:txBody>
      </p:sp>
      <p:sp>
        <p:nvSpPr>
          <p:cNvPr id="19" name="Text 17"/>
          <p:cNvSpPr/>
          <p:nvPr/>
        </p:nvSpPr>
        <p:spPr>
          <a:xfrm>
            <a:off x="621792" y="4233672"/>
            <a:ext cx="7900416" cy="402336"/>
          </a:xfrm>
          <a:prstGeom prst="rect">
            <a:avLst/>
          </a:prstGeom>
          <a:noFill/>
          <a:ln/>
        </p:spPr>
        <p:txBody>
          <a:bodyPr wrap="square" lIns="0" tIns="0" rIns="0" bIns="0" rtlCol="0" anchor="ctr"/>
          <a:lstStyle/>
          <a:p>
            <a:pPr marL="0" indent="0">
              <a:buNone/>
            </a:pPr>
            <a:r>
              <a:rPr lang="en-US" sz="1250" b="1" dirty="0">
                <a:solidFill>
                  <a:srgbClr val="D4A017"/>
                </a:solidFill>
                <a:latin typeface="Calibri" pitchFamily="34" charset="0"/>
                <a:ea typeface="Calibri" pitchFamily="34" charset="-122"/>
                <a:cs typeface="Calibri" pitchFamily="34" charset="-120"/>
              </a:rPr>
              <a:t>
</a:t>
            </a:r>
            <a:r>
              <a:rPr lang="en-US" sz="1250" dirty="0">
                <a:solidFill>
                  <a:srgbClr val="2B2B2B"/>
                </a:solidFill>
                <a:latin typeface="Calibri" pitchFamily="34" charset="0"/>
                <a:ea typeface="Calibri" pitchFamily="34" charset="-122"/>
                <a:cs typeface="Calibri" pitchFamily="34" charset="-120"/>
              </a:rPr>
              <a:t>Check:  − + A * B C D  reads as  (A + (B × C)) − D — the same expression, operators in front.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411480"/>
            <a:ext cx="7863840" cy="274320"/>
          </a:xfrm>
          <a:prstGeom prst="rect">
            <a:avLst/>
          </a:prstGeom>
          <a:noFill/>
          <a:ln/>
        </p:spPr>
        <p:txBody>
          <a:bodyPr wrap="square" lIns="0" tIns="0" rIns="0" bIns="0" rtlCol="0" anchor="ctr"/>
          <a:lstStyle/>
          <a:p>
            <a:pPr marL="0" indent="0">
              <a:buNone/>
            </a:pPr>
            <a:r>
              <a:rPr lang="en-US" sz="1100" b="1" kern="0" spc="200" dirty="0">
                <a:solidFill>
                  <a:srgbClr val="D4A017"/>
                </a:solidFill>
                <a:latin typeface="Calibri" pitchFamily="34" charset="0"/>
                <a:ea typeface="Calibri" pitchFamily="34" charset="-122"/>
                <a:cs typeface="Calibri" pitchFamily="34" charset="-120"/>
              </a:rPr>
              <a:t>LECTURE 9  •  SUMMARY</a:t>
            </a:r>
            <a:endParaRPr lang="en-US" sz="1100" dirty="0"/>
          </a:p>
        </p:txBody>
      </p:sp>
      <p:sp>
        <p:nvSpPr>
          <p:cNvPr id="3" name="Text 1"/>
          <p:cNvSpPr/>
          <p:nvPr/>
        </p:nvSpPr>
        <p:spPr>
          <a:xfrm>
            <a:off x="640080" y="713232"/>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One interface, two representations, one application</a:t>
            </a:r>
            <a:endParaRPr lang="en-US" sz="2600" dirty="0"/>
          </a:p>
        </p:txBody>
      </p:sp>
      <p:sp>
        <p:nvSpPr>
          <p:cNvPr id="4" name="Text 2"/>
          <p:cNvSpPr/>
          <p:nvPr/>
        </p:nvSpPr>
        <p:spPr>
          <a:xfrm>
            <a:off x="640080" y="1417320"/>
            <a:ext cx="786384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A linked stack keeps the Lecture 8 interface but swaps the array for malloc'd nodes: top == NULL is empty, malloc failure is the only "full".</a:t>
            </a:r>
            <a:endParaRPr lang="en-US" sz="1400" dirty="0"/>
          </a:p>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push links the new node before moving top; pop saves the node, moves top, then frees it — order matters in both.</a:t>
            </a:r>
            <a:endParaRPr lang="en-US" sz="1400" dirty="0"/>
          </a:p>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clear must free every node (O(n)); display walks with its own pointer and changes nothing.</a:t>
            </a:r>
            <a:endParaRPr lang="en-US" sz="1400" dirty="0"/>
          </a:p>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An operator stack converts infix to postfix in one scan; prefix is reverse → convert → reverse.</a:t>
            </a:r>
            <a:endParaRPr lang="en-US" sz="1400" dirty="0"/>
          </a:p>
        </p:txBody>
      </p:sp>
      <p:sp>
        <p:nvSpPr>
          <p:cNvPr id="5" name="Shape 3"/>
          <p:cNvSpPr/>
          <p:nvPr/>
        </p:nvSpPr>
        <p:spPr>
          <a:xfrm>
            <a:off x="640080" y="3657600"/>
            <a:ext cx="7863840" cy="1051560"/>
          </a:xfrm>
          <a:prstGeom prst="roundRect">
            <a:avLst>
              <a:gd name="adj" fmla="val 6087"/>
            </a:avLst>
          </a:prstGeom>
          <a:solidFill>
            <a:srgbClr val="2A3575"/>
          </a:solidFill>
          <a:ln w="12700">
            <a:solidFill>
              <a:srgbClr val="D4A017"/>
            </a:solidFill>
            <a:prstDash val="solid"/>
          </a:ln>
        </p:spPr>
        <p:txBody>
          <a:bodyPr/>
          <a:lstStyle/>
          <a:p>
            <a:endParaRPr lang="en-IN"/>
          </a:p>
        </p:txBody>
      </p:sp>
      <p:sp>
        <p:nvSpPr>
          <p:cNvPr id="6" name="Text 4"/>
          <p:cNvSpPr/>
          <p:nvPr/>
        </p:nvSpPr>
        <p:spPr>
          <a:xfrm>
            <a:off x="868680" y="3749040"/>
            <a:ext cx="7406640" cy="868680"/>
          </a:xfrm>
          <a:prstGeom prst="rect">
            <a:avLst/>
          </a:prstGeom>
          <a:noFill/>
          <a:ln/>
        </p:spPr>
        <p:txBody>
          <a:bodyPr wrap="square" lIns="0" tIns="0" rIns="0" bIns="0" rtlCol="0" anchor="ctr"/>
          <a:lstStyle/>
          <a:p>
            <a:pPr marL="0" indent="0">
              <a:buNone/>
            </a:pPr>
            <a:r>
              <a:rPr lang="en-US" sz="1300" b="1" dirty="0">
                <a:solidFill>
                  <a:srgbClr val="D4A017"/>
                </a:solidFill>
                <a:latin typeface="Calibri" pitchFamily="34" charset="0"/>
                <a:ea typeface="Calibri" pitchFamily="34" charset="-122"/>
                <a:cs typeface="Calibri" pitchFamily="34" charset="-120"/>
              </a:rPr>
              <a:t>EXIT TICKET   </a:t>
            </a:r>
            <a:r>
              <a:rPr lang="en-US" sz="1350" dirty="0">
                <a:solidFill>
                  <a:srgbClr val="FFFFFF"/>
                </a:solidFill>
                <a:latin typeface="Calibri" pitchFamily="34" charset="0"/>
                <a:ea typeface="Calibri" pitchFamily="34" charset="-122"/>
                <a:cs typeface="Calibri" pitchFamily="34" charset="-120"/>
              </a:rPr>
              <a:t>Convert  ( A + B ) * C − D / E  to postfix and prefix, showing the stack at each step.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2629</Words>
  <Application>Microsoft Macintosh PowerPoint</Application>
  <PresentationFormat>On-screen Show (16:9)</PresentationFormat>
  <Paragraphs>365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SC22D012-Manoj Kaushik 2022-PHD-Earth&amp;SpaceScience</cp:lastModifiedBy>
  <cp:revision>2</cp:revision>
  <dcterms:created xsi:type="dcterms:W3CDTF">2026-07-27T01:23:17Z</dcterms:created>
  <dcterms:modified xsi:type="dcterms:W3CDTF">2026-09-03T10:24:42Z</dcterms:modified>
</cp:coreProperties>
</file>