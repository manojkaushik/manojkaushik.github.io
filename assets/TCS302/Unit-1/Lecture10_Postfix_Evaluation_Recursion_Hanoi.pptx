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95A42B-D61F-473E-B38F-E84170C7A712}" v="2" dt="2026-07-31T04:26:36.6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custSel modSld">
      <pc:chgData name="SC22D012-Manoj Kaushik 2022-PHD-Earth&amp;SpaceScience" userId="78d50035-fc00-4ea2-995b-b881e10649a1" providerId="ADAL" clId="{29B47332-549A-4FC0-A3ED-D31212E60846}" dt="2026-07-31T04:27:23.211" v="36" actId="14100"/>
      <pc:docMkLst>
        <pc:docMk/>
      </pc:docMkLst>
      <pc:sldChg chg="delSp modSp mod">
        <pc:chgData name="SC22D012-Manoj Kaushik 2022-PHD-Earth&amp;SpaceScience" userId="78d50035-fc00-4ea2-995b-b881e10649a1" providerId="ADAL" clId="{29B47332-549A-4FC0-A3ED-D31212E60846}" dt="2026-07-31T04:23:20.016" v="25" actId="1076"/>
        <pc:sldMkLst>
          <pc:docMk/>
          <pc:sldMk cId="0" sldId="258"/>
        </pc:sldMkLst>
        <pc:spChg chg="del">
          <ac:chgData name="SC22D012-Manoj Kaushik 2022-PHD-Earth&amp;SpaceScience" userId="78d50035-fc00-4ea2-995b-b881e10649a1" providerId="ADAL" clId="{29B47332-549A-4FC0-A3ED-D31212E60846}" dt="2026-07-31T04:21:48.735" v="5" actId="478"/>
          <ac:spMkLst>
            <pc:docMk/>
            <pc:sldMk cId="0" sldId="258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31T04:23:20.016" v="25" actId="1076"/>
          <ac:spMkLst>
            <pc:docMk/>
            <pc:sldMk cId="0" sldId="258"/>
            <ac:spMk id="8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1:46.483" v="4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1:44.821" v="3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1:42.727" v="2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1:39.930" v="1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1:37.792" v="0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2:00.573" v="9" actId="478"/>
          <ac:spMkLst>
            <pc:docMk/>
            <pc:sldMk cId="0" sldId="258"/>
            <ac:spMk id="15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2:04.190" v="10" actId="478"/>
          <ac:spMkLst>
            <pc:docMk/>
            <pc:sldMk cId="0" sldId="258"/>
            <ac:spMk id="16" creationId="{00000000-0000-0000-0000-000000000000}"/>
          </ac:spMkLst>
        </pc:spChg>
      </pc:sldChg>
      <pc:sldChg chg="delSp modSp mod">
        <pc:chgData name="SC22D012-Manoj Kaushik 2022-PHD-Earth&amp;SpaceScience" userId="78d50035-fc00-4ea2-995b-b881e10649a1" providerId="ADAL" clId="{29B47332-549A-4FC0-A3ED-D31212E60846}" dt="2026-07-31T04:27:23.211" v="36" actId="14100"/>
        <pc:sldMkLst>
          <pc:docMk/>
          <pc:sldMk cId="0" sldId="266"/>
        </pc:sldMkLst>
        <pc:spChg chg="del">
          <ac:chgData name="SC22D012-Manoj Kaushik 2022-PHD-Earth&amp;SpaceScience" userId="78d50035-fc00-4ea2-995b-b881e10649a1" providerId="ADAL" clId="{29B47332-549A-4FC0-A3ED-D31212E60846}" dt="2026-07-31T04:26:55.264" v="29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6:55.264" v="29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6:58.381" v="30" actId="478"/>
          <ac:spMkLst>
            <pc:docMk/>
            <pc:sldMk cId="0" sldId="266"/>
            <ac:spMk id="8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6:55.264" v="29" actId="478"/>
          <ac:spMkLst>
            <pc:docMk/>
            <pc:sldMk cId="0" sldId="266"/>
            <ac:spMk id="9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6:55.264" v="29" actId="478"/>
          <ac:spMkLst>
            <pc:docMk/>
            <pc:sldMk cId="0" sldId="266"/>
            <ac:spMk id="10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7:00.437" v="31" actId="478"/>
          <ac:spMkLst>
            <pc:docMk/>
            <pc:sldMk cId="0" sldId="266"/>
            <ac:spMk id="11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6:55.264" v="29" actId="478"/>
          <ac:spMkLst>
            <pc:docMk/>
            <pc:sldMk cId="0" sldId="266"/>
            <ac:spMk id="12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6:55.264" v="29" actId="478"/>
          <ac:spMkLst>
            <pc:docMk/>
            <pc:sldMk cId="0" sldId="266"/>
            <ac:spMk id="13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31T04:27:03.557" v="32" actId="478"/>
          <ac:spMkLst>
            <pc:docMk/>
            <pc:sldMk cId="0" sldId="266"/>
            <ac:spMk id="14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31T04:27:13.085" v="34" actId="1076"/>
          <ac:spMkLst>
            <pc:docMk/>
            <pc:sldMk cId="0" sldId="266"/>
            <ac:spMk id="15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31T04:27:23.211" v="36" actId="14100"/>
          <ac:spMkLst>
            <pc:docMk/>
            <pc:sldMk cId="0" sldId="266"/>
            <ac:spMk id="1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282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lecture of Unit I. Lecture 9 produced postfix; today a stack consumes it. Then recursion is revealed as stack behaviour too: the call stack. Hanoi is the trace exercise, tail recursion the closing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precedence and parentheses disappear — the order of symbols already encodes the order of work. That is why one simple scan suffices.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with Lecture 9's five conversion rules: evaluation is simpler because postfix already encodes the order. The stack now holds numbers, not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this row by row, drawing the stack vertically on the board. The multiplication happens before the addition automatically — not because we checked precedence, but because postfix placed *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overflow check in push (expression with &gt;100 operands) and underflow check in pop (malformed postfix like "+ 2"). Keeping the demo code minimal keeps attention on the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Verified: "2 3 4 * + 5 -" returns 9. Explain ch - '0' carefully: characters are small numbers (ASCII), and digit characters sit in a row, so subtracting '0' gives the numeric value. Single digits only — a deliberate simplification.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students predict 6 2 / with the pops swapped before revealing. The commuting operators hiding the bug is why students believe their broken code works — until the first subtraction.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is recursion in the stack unit? Next slide answers it. Emphasise the two-part anatomy — every recursive function students ever write must show both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5, and n + 1 in general — the space cost of recursion is O(n). The unwind multiplication chain on the board: 1, then 1×1, 2×1, 3×2, 4×6 =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answer: disk 1 from A to C — because disk 3 must eventually go A→C, which needs the two smaller disks parked on B first, and that sub-task starts by moving disk 1 to C. Let them struggle for two minutes; the struggle sells the recursive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parameters just relabel the pegs: in step 1 the helper becomes the destination. Nobody plans 7 moves — the recursion discovers them. That is the power being demonstrated.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three pegs and perform the 7 moves physically as the table is revealed. Move 4 (gold row) is the single printf of the outermost call; moves 1–3 and 5–7 are the two recursive halves.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Trace: (4,1) (3,4) (2,12) (1,24) (0,24) → 24. The answer builds on the way DOWN, not on the way back up. Both versions verified to return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out before the exit ticket. The unit's arc: build the tool two ways, then watch the machine itself use it. Next lecture opens Unit II with queues — the opposite discipline, FIFO.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answers: (a) 5 1 2 + 4 * + 3 − → stack: 5 | 5,1 | 5,1,2 | 5,3 | 5,3,4 | 5,12 | 17 | 17,3 | 14. Answer 14. (b) 2⁴ − 1 = 15 moves; move #8 is the largest disk, disk 4, A → C — the middle move, same pattern as move 4 for n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DATA STRUCTURES WITH 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 at 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Postfix Evaluation, Recursion &amp; Tower of Hanoi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I  •  Lecture 10  (final lecture of Unit I)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postfix  •  recursion in C  •  the call stack  •  Tower of Hanoi  •  tail recursion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4206240"/>
            <a:ext cx="10972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94944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49440" y="3703320"/>
            <a:ext cx="10972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949440" y="3703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949440" y="3200400"/>
            <a:ext cx="1097280" cy="457200"/>
          </a:xfrm>
          <a:prstGeom prst="rect">
            <a:avLst/>
          </a:prstGeom>
          <a:solidFill>
            <a:srgbClr val="D4A01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949440" y="3200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 time we made postfix — today we use 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07592"/>
            <a:ext cx="7900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Lecture 9 (conversion):  A + B * C − D  →  A B C * + D −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" y="2404872"/>
            <a:ext cx="7900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Lecture 10 (evaluation):  2 3 4 * + 5 −  →  9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expression shape, but now the letters are numbers — so we can compute.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stacked operators; evaluation stacks operands. Two stacks, two jobs.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postfix easier for a machine than infix?  (Hint: what two things disappear?)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algorithm: two rules only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979793"/>
            <a:ext cx="8229600" cy="35067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 b="1" dirty="0"/>
              <a:t>Algorithm: Infix to Postfix</a:t>
            </a:r>
            <a:r>
              <a:rPr lang="en-IN" sz="1400" dirty="0"/>
              <a:t> </a:t>
            </a:r>
          </a:p>
          <a:p>
            <a:endParaRPr lang="en-IN" sz="1400" dirty="0"/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Start with an empty stack and empty output.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Read the infix expression left to right, one symbol at a time.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If the symbol is an </a:t>
            </a:r>
            <a:r>
              <a:rPr lang="en-IN" sz="1400" b="1" dirty="0"/>
              <a:t>operand</a:t>
            </a:r>
            <a:r>
              <a:rPr lang="en-IN" sz="1400" dirty="0"/>
              <a:t> → add it to the output.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If the symbol is </a:t>
            </a:r>
            <a:r>
              <a:rPr lang="en-IN" b="1" dirty="0"/>
              <a:t>(</a:t>
            </a:r>
            <a:r>
              <a:rPr lang="en-IN" sz="1400" dirty="0"/>
              <a:t> → push it onto the stack.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If the symbol is an </a:t>
            </a:r>
            <a:r>
              <a:rPr lang="en-IN" sz="1400" b="1" dirty="0"/>
              <a:t>operator</a:t>
            </a:r>
            <a:r>
              <a:rPr lang="en-IN" sz="1400" dirty="0"/>
              <a:t> → pop to output while the stack top has </a:t>
            </a:r>
            <a:r>
              <a:rPr lang="en-IN" sz="1400" b="1" dirty="0"/>
              <a:t>higher or equal</a:t>
            </a:r>
            <a:r>
              <a:rPr lang="en-IN" sz="1400" dirty="0"/>
              <a:t> precedence (for </a:t>
            </a:r>
            <a:r>
              <a:rPr lang="en-IN" dirty="0"/>
              <a:t>^</a:t>
            </a:r>
            <a:r>
              <a:rPr lang="en-IN" sz="1400" dirty="0"/>
              <a:t>, only higher); then push the operator.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If the symbol is </a:t>
            </a:r>
            <a:r>
              <a:rPr lang="en-IN" b="1" dirty="0"/>
              <a:t>)</a:t>
            </a:r>
            <a:r>
              <a:rPr lang="en-IN" sz="1400" dirty="0"/>
              <a:t> → pop to output until </a:t>
            </a:r>
            <a:r>
              <a:rPr lang="en-IN" dirty="0"/>
              <a:t>(</a:t>
            </a:r>
            <a:r>
              <a:rPr lang="en-IN" sz="1400" dirty="0"/>
              <a:t> is found; discard both parentheses.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After the last symbol → pop all remaining operators to the output.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dirty="0"/>
              <a:t>The output is the postfix expression. Stop.</a:t>
            </a:r>
          </a:p>
        </p:txBody>
      </p:sp>
      <p:sp>
        <p:nvSpPr>
          <p:cNvPr id="13" name="Text 11"/>
          <p:cNvSpPr/>
          <p:nvPr/>
        </p:nvSpPr>
        <p:spPr>
          <a:xfrm>
            <a:off x="457200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Trace:  2 3 4 * + 5 −      (infix: 2 + 3 × 4 − 5)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2918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after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2  3  4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4, pop 3 → 3 × 4 = 12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2  12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12, pop 2 → 2 + 12 = 14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14  5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 5, pop 14 → 14 − 5 = 9 → push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left — the answer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simplest stack we can write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297680" cy="3520440"/>
          </a:xfrm>
          <a:prstGeom prst="roundRect">
            <a:avLst>
              <a:gd name="adj" fmla="val 18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0233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stack[100];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top = -1;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push(int x)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 = top + 1;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stack[top] = x;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pop(void)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 = stack[top];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 = top - 1;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x;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83480" y="13258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bare: no struct, no guards — the Lecture 8 array stack stripped to its engine.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enough here because our expressions are small and well-formed.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lab version you should add the isEmpty and isFull checks from Lecture 8.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983480" y="3931920"/>
            <a:ext cx="3703320" cy="777240"/>
          </a:xfrm>
          <a:prstGeom prst="roundRect">
            <a:avLst>
              <a:gd name="adj" fmla="val 8235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166360" y="393192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two safety checks did we leave out, and when exactly would each one save us?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evaluatePostfix — the two rules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120640" cy="3611880"/>
          </a:xfrm>
          <a:prstGeom prst="roundRect">
            <a:avLst>
              <a:gd name="adj" fmla="val 1772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846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evaluatePostfix(char expr[])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expr[i] != '\0'; i++)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 ch = expr[i];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 == ' ')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/* skip spaces */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 &gt;= '0' &amp;&amp; ch &lt;= '9')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push(ch - '0');  /* rule 1 */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int right = pop();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int left  = pop();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'+') push(left + right);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'-') push(left - right);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'*') push(left * right);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(ch == '/') push(left / right);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pop();            /* the answer */</a:t>
            </a:r>
            <a:endParaRPr lang="en-US" sz="10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60720" y="13258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scan of the string; '\0' marks its end.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- '0' turns the character '7' into the number 7.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branch is rule 2: pop two, apply, push one.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pop returns the last number standing.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trap: which pop is which?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846320" cy="1554480"/>
          </a:xfrm>
          <a:prstGeom prst="roundRect">
            <a:avLst>
              <a:gd name="adj" fmla="val 4118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right = pop();   /* popped FIRST  */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left  = pop();   /* popped SECOND */</a:t>
            </a: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endParaRPr lang="en-US" sz="13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push(left / right);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4846320" cy="1600200"/>
          </a:xfrm>
          <a:prstGeom prst="roundRect">
            <a:avLst>
              <a:gd name="adj" fmla="val 4000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" y="3044952"/>
            <a:ext cx="451713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 6 2 /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6, push 2. On '/': first pop gives 2 (right), second gives 6 (left).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= 6 / 2 = 3   ✓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 and you compute 2 / 6 = 0   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577840" y="13258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reverses order: the second operand is on top, so it pops out first.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+ and * the mistake hides (they commute). Division and subtraction expose it.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most common lab bug in postfix evaluation — name the variables left and right and it disappears.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Recursion: a function that calls itself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754880" cy="2286000"/>
          </a:xfrm>
          <a:prstGeom prst="roundRect">
            <a:avLst>
              <a:gd name="adj" fmla="val 28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factorial(int n)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         /* base case */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factorial(n - 1);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/* recursive case */</a:t>
            </a:r>
            <a:endParaRPr lang="en-US" sz="12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the input so small the answer is known directly. Every recursion must have one.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case: solve for n by using the answer for n − 1.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 case → the calls never stop → the program crashes (we will see exactly why next).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4754880" cy="1005840"/>
          </a:xfrm>
          <a:prstGeom prst="roundRect">
            <a:avLst>
              <a:gd name="adj" fmla="val 6364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21792" y="3730752"/>
            <a:ext cx="44256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 mathematics
</a:t>
            </a: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4! = 4 × 3!,   3! = 3 × 2!,  …  0! = 1.  The code is the definition, line for line.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recursion lives: the call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108960" cy="475488"/>
          </a:xfrm>
          <a:prstGeom prst="rect">
            <a:avLst/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factorial(0)  → 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892808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factorial(1)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459736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48640" y="245973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factorial(2)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26664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302666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factorial(3)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93592"/>
            <a:ext cx="3108960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48640" y="35935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factorial(4)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32588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PUSHES a frame (its n, its return address). Every return POPS one.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factorial(4) stacks five frames, then they unwind: 1 → 1 → 2 → 6 → 24.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recursion belongs in the stack unit — the machine runs it on a stack.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 case = pushes never stop = the stack fills up: stack overflow.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frames are on the stack at the deepest moment of factorial(4)?  Of factorial(n)?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Tower of Hanoi: 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243584" y="1554480"/>
            <a:ext cx="73152" cy="14630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1463040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0058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" y="2697480"/>
            <a:ext cx="1325880" cy="274320"/>
          </a:xfrm>
          <a:prstGeom prst="roundRect">
            <a:avLst>
              <a:gd name="adj" fmla="val 16667"/>
            </a:avLst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777240" y="2386584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028090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37260" y="2075688"/>
            <a:ext cx="685800" cy="274320"/>
          </a:xfrm>
          <a:prstGeom prst="roundRect">
            <a:avLst>
              <a:gd name="adj" fmla="val 16667"/>
            </a:avLst>
          </a:prstGeom>
          <a:solidFill>
            <a:srgbClr val="D4A017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843784" y="1554480"/>
            <a:ext cx="73152" cy="14630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148840" y="3017520"/>
            <a:ext cx="1463040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6060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43984" y="1554480"/>
            <a:ext cx="73152" cy="14630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3749040" y="3017520"/>
            <a:ext cx="1463040" cy="109728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20624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0" y="132588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all disks from peg A to peg C, using B as a helper.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1: move one disk at a time — always the top disk of a peg.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2: a larger disk may never sit on a smaller disk.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moves for n disks: 2ⁿ − 1.  For n = 3, that is 7 moves.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12727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theory — try to move 3 disks yourself. What is the FIRST move, and why?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recursive insight: three steps, whatever n 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1031887"/>
            <a:ext cx="6400800" cy="3749040"/>
          </a:xfrm>
          <a:prstGeom prst="roundRect">
            <a:avLst>
              <a:gd name="adj" fmla="val 37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08215" y="124358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dirty="0">
                <a:solidFill>
                  <a:schemeClr val="bg1"/>
                </a:solidFill>
              </a:rPr>
              <a:t>ALGORITHM Hanoi(n, A, C, B)</a:t>
            </a:r>
          </a:p>
          <a:p>
            <a:r>
              <a:rPr lang="en-US" sz="1050" dirty="0">
                <a:solidFill>
                  <a:schemeClr val="bg1"/>
                </a:solidFill>
              </a:rPr>
              <a:t>// Moves n disks from peg A to peg C, using peg B as helper.</a:t>
            </a:r>
          </a:p>
          <a:p>
            <a:r>
              <a:rPr lang="en-US" sz="1050" dirty="0">
                <a:solidFill>
                  <a:schemeClr val="bg1"/>
                </a:solidFill>
              </a:rPr>
              <a:t>// Parameter order: (disks, source, destination, auxiliary)</a:t>
            </a:r>
          </a:p>
          <a:p>
            <a:endParaRPr lang="en-US" sz="1050" dirty="0">
              <a:solidFill>
                <a:schemeClr val="bg1"/>
              </a:solidFill>
            </a:endParaRPr>
          </a:p>
          <a:p>
            <a:r>
              <a:rPr lang="en-US" sz="1050" dirty="0">
                <a:solidFill>
                  <a:schemeClr val="bg1"/>
                </a:solidFill>
              </a:rPr>
              <a:t>1.  IF n = 1 THEN</a:t>
            </a:r>
          </a:p>
          <a:p>
            <a:r>
              <a:rPr lang="en-US" sz="1050" dirty="0">
                <a:solidFill>
                  <a:schemeClr val="bg1"/>
                </a:solidFill>
              </a:rPr>
              <a:t>2.      PRINT "Move disk 1 from A to C"</a:t>
            </a:r>
          </a:p>
          <a:p>
            <a:r>
              <a:rPr lang="en-US" sz="1050" dirty="0">
                <a:solidFill>
                  <a:schemeClr val="bg1"/>
                </a:solidFill>
              </a:rPr>
              <a:t>3.      RETURN</a:t>
            </a:r>
          </a:p>
          <a:p>
            <a:r>
              <a:rPr lang="en-US" sz="1050" dirty="0">
                <a:solidFill>
                  <a:schemeClr val="bg1"/>
                </a:solidFill>
              </a:rPr>
              <a:t>4.  END IF</a:t>
            </a:r>
          </a:p>
          <a:p>
            <a:endParaRPr lang="en-US" sz="1050" dirty="0">
              <a:solidFill>
                <a:schemeClr val="bg1"/>
              </a:solidFill>
            </a:endParaRPr>
          </a:p>
          <a:p>
            <a:r>
              <a:rPr lang="en-US" sz="1050" dirty="0">
                <a:solidFill>
                  <a:schemeClr val="bg1"/>
                </a:solidFill>
              </a:rPr>
              <a:t>5.  Hanoi(n - 1, A, B, C)</a:t>
            </a:r>
          </a:p>
          <a:p>
            <a:r>
              <a:rPr lang="en-US" sz="1050" dirty="0">
                <a:solidFill>
                  <a:schemeClr val="bg1"/>
                </a:solidFill>
              </a:rPr>
              <a:t>        // Step 1: move top n-1 disks from A</a:t>
            </a:r>
          </a:p>
          <a:p>
            <a:r>
              <a:rPr lang="en-US" sz="1050" dirty="0">
                <a:solidFill>
                  <a:schemeClr val="bg1"/>
                </a:solidFill>
              </a:rPr>
              <a:t>        //         onto the middle peg B (C is the helper now)</a:t>
            </a:r>
          </a:p>
          <a:p>
            <a:endParaRPr lang="en-US" sz="1050" dirty="0">
              <a:solidFill>
                <a:schemeClr val="bg1"/>
              </a:solidFill>
            </a:endParaRPr>
          </a:p>
          <a:p>
            <a:r>
              <a:rPr lang="en-US" sz="1050" dirty="0">
                <a:solidFill>
                  <a:schemeClr val="bg1"/>
                </a:solidFill>
              </a:rPr>
              <a:t>6.  PRINT "Move disk n from A to C"</a:t>
            </a:r>
          </a:p>
          <a:p>
            <a:r>
              <a:rPr lang="en-US" sz="1050" dirty="0">
                <a:solidFill>
                  <a:schemeClr val="bg1"/>
                </a:solidFill>
              </a:rPr>
              <a:t>        // Step 2: the largest disk goes straight home</a:t>
            </a:r>
          </a:p>
          <a:p>
            <a:endParaRPr lang="en-US" sz="1050" dirty="0">
              <a:solidFill>
                <a:schemeClr val="bg1"/>
              </a:solidFill>
            </a:endParaRPr>
          </a:p>
          <a:p>
            <a:r>
              <a:rPr lang="en-US" sz="1050" dirty="0">
                <a:solidFill>
                  <a:schemeClr val="bg1"/>
                </a:solidFill>
              </a:rPr>
              <a:t>7.  Hanoi(n - 1, B, C, A)</a:t>
            </a:r>
          </a:p>
          <a:p>
            <a:r>
              <a:rPr lang="en-US" sz="1050" dirty="0">
                <a:solidFill>
                  <a:schemeClr val="bg1"/>
                </a:solidFill>
              </a:rPr>
              <a:t>        // Step 3: move the n-1 disks from B</a:t>
            </a:r>
          </a:p>
          <a:p>
            <a:r>
              <a:rPr lang="en-US" sz="1050" dirty="0">
                <a:solidFill>
                  <a:schemeClr val="bg1"/>
                </a:solidFill>
              </a:rPr>
              <a:t>        //         onto C (A is the helper now)</a:t>
            </a:r>
          </a:p>
          <a:p>
            <a:endParaRPr lang="en-US" sz="1050" dirty="0">
              <a:solidFill>
                <a:schemeClr val="bg1"/>
              </a:solidFill>
            </a:endParaRPr>
          </a:p>
          <a:p>
            <a:r>
              <a:rPr lang="en-US" sz="1050" dirty="0">
                <a:solidFill>
                  <a:schemeClr val="bg1"/>
                </a:solidFill>
              </a:rPr>
              <a:t>END ALGORITHM</a:t>
            </a:r>
          </a:p>
        </p:txBody>
      </p:sp>
      <p:sp>
        <p:nvSpPr>
          <p:cNvPr id="17" name="Shape 15"/>
          <p:cNvSpPr/>
          <p:nvPr/>
        </p:nvSpPr>
        <p:spPr>
          <a:xfrm>
            <a:off x="7040880" y="3063240"/>
            <a:ext cx="1645920" cy="1691640"/>
          </a:xfrm>
          <a:prstGeom prst="roundRect">
            <a:avLst>
              <a:gd name="adj" fmla="val 3889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205472" y="3136392"/>
            <a:ext cx="131673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3 are the SAME problem, one disk smaller — that is the recursion.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for n = 3: the 7 moves appear by themselves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printed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came from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A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hanoi(1, A, C, 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2:  A →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hanoi(2, A, B, 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C → 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disk rejoins on 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D4A0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3:  A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big move — middle of hanoi(3)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B → 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unstack the pair again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2:  B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hanoi(2, B, C, 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Move disk 1:  A → 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— tower rebuilt on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2³ − 1 = 7 moves — and this is the program's real output, not a hand-made list.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 recursion: when the call is the last act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3258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normal: work AFTER the call */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factorial(int n)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1;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factorial(n - 1);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800600" y="13258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tail: the call IS the answer */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factorialTail(int n, int result)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result;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factorialTail(n - 1,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n * result);</a:t>
            </a:r>
            <a:endParaRPr lang="en-US" sz="115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E8F1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version: after factorial(n−1) returns, we still multiply by n — so the frame must wait on the stack.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version: the answer is carried along in result; when the call returns, there is nothing left to do.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with nothing left to do need not be kept — compilers can reuse it, making the recursion run like a loop.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EEF3FB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  </a:t>
            </a:r>
            <a:r>
              <a:rPr lang="en-US" sz="125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it as factorialTail(4, 1). Trace the two arguments at each call — where does the answer build up?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idea ran through the whole unit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4846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TCS302  •  UNIT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21792" y="13533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 8  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ADT on an array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0F7F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21792" y="22677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 9  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ADT on linked nodes + infix → postfix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FBF5E6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21792" y="3182112"/>
            <a:ext cx="7900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 10  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 at work: evaluation + the call stack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is not a toy: it evaluates every expression your compiler sees and runs every function call your program makes.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  • 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I complete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Postfix evaluation: numbers push, operators pop two and push one; pop order is right first, then left.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Recursion = base case + recursive case, executed on the call stack: every call pushes a frame, every return pops one.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of Hanoi: move n − 1 away, move the largest, move n − 1 back — 2ⁿ − 1 moves emerge on their own.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recursion carries the answer downward, so the frame has nothing left to do when the call returns.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7863840" cy="1051560"/>
          </a:xfrm>
          <a:prstGeom prst="roundRect">
            <a:avLst>
              <a:gd name="adj" fmla="val 6087"/>
            </a:avLst>
          </a:prstGeom>
          <a:solidFill>
            <a:srgbClr val="2A3575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3749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 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Evaluate  5 1 2 + 4 * + 3 −  showing the stack.   (b) How many moves for 4 Hanoi disks, and what is move #8?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800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II — queues: FIFO, the opposite discipline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2678</Words>
  <Application>Microsoft Office PowerPoint</Application>
  <PresentationFormat>On-screen Show (16:9)</PresentationFormat>
  <Paragraphs>298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2026-07-29T17:23:34Z</dcterms:created>
  <dcterms:modified xsi:type="dcterms:W3CDTF">2026-07-31T04:27:23Z</dcterms:modified>
</cp:coreProperties>
</file>