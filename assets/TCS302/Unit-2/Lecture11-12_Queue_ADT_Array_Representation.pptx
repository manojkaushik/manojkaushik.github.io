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4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22D012-Manoj Kaushik 2022-PHD-Earth&amp;SpaceScience" userId="78d50035-fc00-4ea2-995b-b881e10649a1" providerId="ADAL" clId="{29B47332-549A-4FC0-A3ED-D31212E60846}"/>
    <pc:docChg chg="modSld">
      <pc:chgData name="SC22D012-Manoj Kaushik 2022-PHD-Earth&amp;SpaceScience" userId="78d50035-fc00-4ea2-995b-b881e10649a1" providerId="ADAL" clId="{29B47332-549A-4FC0-A3ED-D31212E60846}" dt="2026-08-04T02:17:38.805" v="8" actId="20577"/>
      <pc:docMkLst>
        <pc:docMk/>
      </pc:docMkLst>
      <pc:sldChg chg="modSp mod">
        <pc:chgData name="SC22D012-Manoj Kaushik 2022-PHD-Earth&amp;SpaceScience" userId="78d50035-fc00-4ea2-995b-b881e10649a1" providerId="ADAL" clId="{29B47332-549A-4FC0-A3ED-D31212E60846}" dt="2026-08-04T02:17:38.805" v="8" actId="20577"/>
        <pc:sldMkLst>
          <pc:docMk/>
          <pc:sldMk cId="0" sldId="259"/>
        </pc:sldMkLst>
        <pc:spChg chg="mod">
          <ac:chgData name="SC22D012-Manoj Kaushik 2022-PHD-Earth&amp;SpaceScience" userId="78d50035-fc00-4ea2-995b-b881e10649a1" providerId="ADAL" clId="{29B47332-549A-4FC0-A3ED-D31212E60846}" dt="2026-08-04T02:17:10.585" v="0" actId="1076"/>
          <ac:spMkLst>
            <pc:docMk/>
            <pc:sldMk cId="0" sldId="259"/>
            <ac:spMk id="7" creationId="{00000000-0000-0000-0000-000000000000}"/>
          </ac:spMkLst>
        </pc:spChg>
        <pc:graphicFrameChg chg="modGraphic">
          <ac:chgData name="SC22D012-Manoj Kaushik 2022-PHD-Earth&amp;SpaceScience" userId="78d50035-fc00-4ea2-995b-b881e10649a1" providerId="ADAL" clId="{29B47332-549A-4FC0-A3ED-D31212E60846}" dt="2026-08-04T02:17:38.805" v="8" actId="20577"/>
          <ac:graphicFrameMkLst>
            <pc:docMk/>
            <pc:sldMk cId="0" sldId="259"/>
            <ac:graphicFrameMk id="6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9547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II opens. The one-sentence pitch: the stack served from the same end it filled; the queue is fair — it serves from the opposite end. Everything today is that sentence made precise.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stack reverses the order (10th first), queue preserves it (1st first). That single difference decides which structure fits a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the most recently submitted job would print first — someone who queued a big job first could wait forever (starvation). Fairness is the queue's whole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map each row onto the stack table from Lecture 8 slide 3. The vocabulary changes (enqueue/dequeue), the discipline changes (FIFO), the interface pattern is identical — the ADT habit transfers.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 the seed: front chases rear. Both only ever increase in this simple version. Ask what must eventually happen — they run off the right edge. That is Lecture 13's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flaw teaser is deliberate — slide 10 pays it off. In the simple linear queue, isFull only checks the right edge, ignoring space freed at the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isEmpty still sees front == -1, so dequeue reports underflow even though the array holds 10 — the data is there but unreachable. One forgotten line, invisible until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Symmetry worth naming: enqueue has a first-element special case, dequeue has a last-element special case. Both exist because front = -1 is doing double duty as the empty flag.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trace is the verified output of the demo program. The dots are dead slots — keep pointing at them; the next slide turns them into the unit's central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exact state comes from the verified demo run: front=2, rear=4, enqueue(60) prints Queue Overflow. Let a student propose fixes; shifting all elements left works but costs O(n) per operation — wrapping the index is the O(1) answer, coming in Lecture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peek always shows what the next removal will return — and removal takes the newest from a stack, the oldest from a queue. Peek's meaning follows the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question per row keeps this interactive. The last row previews the course: BFS in Unit V will be the queue's star application, just as recursion was the stack's.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"play next" (jumps ahead of everything) behaves like a stack push; "up next" (waits its turn) is a queue. Everyday software mixes both disciplines constantly.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 answer: e(5) f=0,r=0 [5,-,-,-]; e(8) r=1 [5,8,-,-]; dq→5 f=1; e(2) r=2 [·,8,2,-]; e(7) r=3 [·,8,2,7]; dq→8 f=2; e(9) → OVERFLOW with slots 0 and 1 free — false overflow strikes at the last step. Preview Lecture 12/13.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DATA STRUCTURES WITH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Queues: First In, First Out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ADT, Terminology &amp; Array Representation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•  Lecture 11  (first lecture of Unit II)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FIFO discipline  •  front &amp; rear  •  enqueue &amp; dequeue  •  array implementation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08960" y="3977640"/>
            <a:ext cx="86868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108960" y="39776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69080" y="3977640"/>
            <a:ext cx="8686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069080" y="39776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3977640"/>
            <a:ext cx="8686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0" y="39776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977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OUT (front)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8076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(rear) ←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LIFO to FIFO: what changes?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1554480"/>
          </a:xfrm>
          <a:prstGeom prst="roundRect">
            <a:avLst>
              <a:gd name="adj" fmla="val 4118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1792" y="1307592"/>
            <a:ext cx="369417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(Unit I)
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end. Last In, First Out.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pile of plates — the newest plate leaves first.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1554480"/>
          </a:xfrm>
          <a:prstGeom prst="roundRect">
            <a:avLst>
              <a:gd name="adj" fmla="val 4118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28032" y="1307592"/>
            <a:ext cx="369417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(Unit II)
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ends. First In, First Out.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ticket line — the person waiting longest is served first.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happens only at the REAR; deletion happens only at the FRONT.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access points means two markers to manage — the stack needed only top.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course pattern as Unit I: define the ADT first, then build it on an array, then on linked nodes.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Queue ADT: a fair waiting 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868680" cy="548640"/>
          </a:xfrm>
          <a:prstGeom prst="rect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600200" y="1691640"/>
            <a:ext cx="86868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600200" y="16916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560320" y="1691640"/>
            <a:ext cx="86868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60320" y="16916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520440" y="1691640"/>
            <a:ext cx="86868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520440" y="16916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480560" y="1691640"/>
            <a:ext cx="86868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23317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(serve here)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20440" y="23317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(join here)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1325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dequeue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1325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132588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structure where insertion and deletion happen at OPPOSITE ends.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element waiting longest is always served next — fairness by design.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queues everywhere: printer jobs, CPU scheduling, call-centre lines, keyboard buffer.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8229600" cy="685800"/>
          </a:xfrm>
          <a:prstGeom prst="roundRect">
            <a:avLst>
              <a:gd name="adj" fmla="val 9333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21792" y="3319272"/>
            <a:ext cx="790041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to note: a queue is a linear list in which insertions are made at one end (rear) and deletions at the other end (front) — First In, First Out (FIFO).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 ADT — the operation 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823466"/>
              </p:ext>
            </p:extLst>
          </p:nvPr>
        </p:nvGraphicFramePr>
        <p:xfrm>
          <a:off x="457200" y="1234440"/>
          <a:ext cx="8229600" cy="3200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enqueue(x)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x at the REAR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dequeue()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and return the FRONT element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peek()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the front element without removing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isEmpty()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whether the queue has no elements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isFull()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whether the queue is full (array only)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display()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all elements, front </a:t>
                      </a:r>
                      <a:r>
                        <a:rPr lang="en-US" sz="130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rear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5034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interface shape as the stack — push/pop became enqueue/dequeue, and both ends now have names.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representation: two markers instead of 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572000" cy="2103120"/>
          </a:xfrm>
          <a:prstGeom prst="roundRect">
            <a:avLst>
              <a:gd name="adj" fmla="val 3043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4297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3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MAX 5</a:t>
            </a:r>
            <a:endParaRPr lang="en-US" sz="1350" dirty="0"/>
          </a:p>
          <a:p>
            <a:pPr marL="0" indent="0">
              <a:lnSpc>
                <a:spcPct val="100000"/>
              </a:lnSpc>
              <a:buNone/>
            </a:pPr>
            <a:endParaRPr lang="en-US" sz="13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queue[MAX];</a:t>
            </a:r>
            <a:endParaRPr lang="en-US" sz="13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front = -1;   /* serving end */</a:t>
            </a:r>
            <a:endParaRPr lang="en-US" sz="13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rear  = -1;   /* joining end */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257800" y="1325880"/>
            <a:ext cx="3429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is the index of the element to serve next.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is the index of the most recently joined element.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-1 means the queue is empty — the same sentinel idea as the stack's top = -1.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always occupy the slice queue[front] .. queue[rear].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4572000" cy="1051560"/>
          </a:xfrm>
          <a:prstGeom prst="roundRect">
            <a:avLst>
              <a:gd name="adj" fmla="val 6087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1792" y="3639312"/>
            <a:ext cx="424281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difficulty
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grew and shrank at ONE end, so one index was enough. A queue moves at BOTH ends — front chases rear across the array.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isEmpty( ) and isFull( ) — the guard functions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1417320"/>
          </a:xfrm>
          <a:prstGeom prst="roundRect">
            <a:avLst>
              <a:gd name="adj" fmla="val 4516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isEmpty(void)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front == -1;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1417320"/>
          </a:xfrm>
          <a:prstGeom prst="roundRect">
            <a:avLst>
              <a:gd name="adj" fmla="val 4516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00600" y="137160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isFull(void)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rear == MAX - 1;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1792" y="3044952"/>
            <a:ext cx="369417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Underflow guard
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 on an empty queue is queue underflow — checked before every removal.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297180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28032" y="3044952"/>
            <a:ext cx="369417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guard — with a flaw
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== MAX - 1 says "full". But is the array really full when front has moved forward? Hold that thought.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enqueue( ) — join at the rear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754880" cy="3520440"/>
          </a:xfrm>
          <a:prstGeom prst="roundRect">
            <a:avLst>
              <a:gd name="adj" fmla="val 1818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44805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enqueue(int x)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(isFull())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printf("Queue Overflow\n");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(front == -1)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front = 0;    /* first element */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rear = rear + 1;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queue[rear] = x;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0" y="132588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first: overflow check, exactly as push did.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special line: the FIRST enqueue must also wake front up from -1 to 0 — otherwise the queue holds data that front cannot see.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familiar pair: advance rear, store at rear.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dequeue( ) — serve from the front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754880" cy="3611880"/>
          </a:xfrm>
          <a:prstGeom prst="roundRect">
            <a:avLst>
              <a:gd name="adj" fmla="val 1772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44805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dequeue(void)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(isEmpty())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printf("Queue Underflow\n");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-1;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x = queue[front];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(front == rear)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front = -1;   /* last element */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rear  = -1;   /* reset both  */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front = front + 1;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0" y="132588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front element, then move the marker — the value is not erased, just left behind.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special case mirrors enqueue's: removing the LAST element resets both markers to -1, restoring the true empty state.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reset, front would overtake rear — a state that means nothing.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Trace: watch front chase rear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918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[0..4]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start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  –  –  –  –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enqueue(10)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 –  –  –  –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enqueue(20)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 20  –  –  –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enqueue(30)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 20  30  –  –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dequeue() → 10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·  20  30  –  –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dequeue() → 20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·  ·  30  –  –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enqueue(40)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·  ·  30  40  –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enqueue(50)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·  ·  30  40  50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marks a slot whose value was served — the data is still there, but front has moved past it.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flaw revealed: false overflow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86868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00200" y="1600200"/>
            <a:ext cx="86868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600200" y="16002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600200"/>
            <a:ext cx="86868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60320" y="16002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520440" y="1600200"/>
            <a:ext cx="86868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520440" y="16002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480560" y="1600200"/>
            <a:ext cx="86868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480560" y="16002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6032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=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= 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4846320" cy="1737360"/>
          </a:xfrm>
          <a:prstGeom prst="roundRect">
            <a:avLst>
              <a:gd name="adj" fmla="val 3684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21792" y="2816352"/>
            <a:ext cx="451713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enqueue(60) now says "Queue Overflow"
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== MAX - 1, so isFull() answers yes — while two slots stand empty on the left. The queue is "full" and 40% empty at the same time.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0" y="27432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and rear only ever move right; served slots are never reused.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FALSE overflow — the defining defect of the linear array queue.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preview (Lecture 13): let the indices wrap around to slot 0 — the circular queue.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peek( ) and display( 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2651760"/>
          </a:xfrm>
          <a:prstGeom prst="roundRect">
            <a:avLst>
              <a:gd name="adj" fmla="val 2414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peek(void)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(isEmpty())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printf("Queue is Empty\n");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-1;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queue[front];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2651760"/>
          </a:xfrm>
          <a:prstGeom prst="roundRect">
            <a:avLst>
              <a:gd name="adj" fmla="val 2414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00600" y="132588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display(void)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(isEmpty())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printf("Queue is Empty\n");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printf("FRONT -&gt; ");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front; i &lt;= rear; i++)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printf("%d ", queue[i]);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printf("&lt;- REAR\n");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 reads queue[front] — the next to be served, not the last to arrive.  display walks the live slice front..rear in O(n).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vs Queue — side by side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85292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Discipline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LIFO — last in, first 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FIFO — first in, first 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ends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(top)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(front and rear)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/ 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/ pop, both at 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enqueue at rear / dequeue at front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Markers (array)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= -1 when empty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= rear = -1 when empty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Undo, recursion, expressions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Scheduling, buffering, BFS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queues run your computer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1234440"/>
          </a:xfrm>
          <a:prstGeom prst="roundRect">
            <a:avLst>
              <a:gd name="adj" fmla="val 5185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1792" y="1353312"/>
            <a:ext cx="369417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 spooler
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print in the order submitted — the canonical FIFO.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1234440"/>
          </a:xfrm>
          <a:prstGeom prst="roundRect">
            <a:avLst>
              <a:gd name="adj" fmla="val 5185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28032" y="1353312"/>
            <a:ext cx="369417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scheduling
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processes wait in a queue for their turn on the processor.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4023360" cy="1234440"/>
          </a:xfrm>
          <a:prstGeom prst="roundRect">
            <a:avLst>
              <a:gd name="adj" fmla="val 5185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1792" y="2770632"/>
            <a:ext cx="369417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buffer
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Keystrokes are queued so none are lost while the CPU is busy.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2697480"/>
            <a:ext cx="4023360" cy="1234440"/>
          </a:xfrm>
          <a:prstGeom prst="roundRect">
            <a:avLst>
              <a:gd name="adj" fmla="val 5185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28032" y="2770632"/>
            <a:ext cx="369417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traversal (Unit V)
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 search explores a graph level by level using a queue.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  • 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queue: fairness as a data structure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inserts at the rear and deletes at the front — FIFO, the opposite discipline to the stack.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version: two markers, front and rear, both -1 when empty; elements live in the slice front..rear.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special cases: the first enqueue wakes front to 0; removing the last element resets both to -1.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linear queue's defect is false overflow — "full" at rear == MAX - 1 while served slots sit empty on the left.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7863840" cy="1051560"/>
          </a:xfrm>
          <a:prstGeom prst="roundRect">
            <a:avLst>
              <a:gd name="adj" fmla="val 6087"/>
            </a:avLst>
          </a:prstGeom>
          <a:solidFill>
            <a:srgbClr val="2A3575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374904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MAX = 4, trace: enqueue(5), enqueue(8), dequeue, enqueue(2), enqueue(7), dequeue, enqueue(9). Show front, rear and the array after each step. Where does false overflow strike?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2226</Words>
  <Application>Microsoft Macintosh PowerPoint</Application>
  <PresentationFormat>On-screen Show (16:9)</PresentationFormat>
  <Paragraphs>289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SC22D012-Manoj Kaushik 2022-PHD-Earth&amp;SpaceScience</cp:lastModifiedBy>
  <cp:revision>2</cp:revision>
  <dcterms:created xsi:type="dcterms:W3CDTF">2026-08-02T17:03:26Z</dcterms:created>
  <dcterms:modified xsi:type="dcterms:W3CDTF">2026-09-03T10:33:38Z</dcterms:modified>
</cp:coreProperties>
</file>