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609D0-0073-432D-B766-868FB1E78F94}" v="1" dt="2026-07-29T02:22:30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undo custSel modSld">
      <pc:chgData name="SC22D012-Manoj Kaushik 2022-PHD-Earth&amp;SpaceScience" userId="78d50035-fc00-4ea2-995b-b881e10649a1" providerId="ADAL" clId="{29B47332-549A-4FC0-A3ED-D31212E60846}" dt="2026-07-29T02:22:58.962" v="93" actId="20577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7-28T02:33:20.036" v="6" actId="20577"/>
        <pc:sldMkLst>
          <pc:docMk/>
          <pc:sldMk cId="0" sldId="259"/>
        </pc:sldMkLst>
        <pc:spChg chg="mod">
          <ac:chgData name="SC22D012-Manoj Kaushik 2022-PHD-Earth&amp;SpaceScience" userId="78d50035-fc00-4ea2-995b-b881e10649a1" providerId="ADAL" clId="{29B47332-549A-4FC0-A3ED-D31212E60846}" dt="2026-07-28T02:33:20.036" v="6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8T02:34:52.655" v="14" actId="20577"/>
        <pc:sldMkLst>
          <pc:docMk/>
          <pc:sldMk cId="0" sldId="260"/>
        </pc:sldMkLst>
        <pc:graphicFrameChg chg="modGraphic">
          <ac:chgData name="SC22D012-Manoj Kaushik 2022-PHD-Earth&amp;SpaceScience" userId="78d50035-fc00-4ea2-995b-b881e10649a1" providerId="ADAL" clId="{29B47332-549A-4FC0-A3ED-D31212E60846}" dt="2026-07-28T02:34:52.655" v="14" actId="20577"/>
          <ac:graphicFrameMkLst>
            <pc:docMk/>
            <pc:sldMk cId="0" sldId="260"/>
            <ac:graphicFrameMk id="8" creationId="{00000000-0000-0000-0000-000000000000}"/>
          </ac:graphicFrameMkLst>
        </pc:graphicFrameChg>
      </pc:sldChg>
      <pc:sldChg chg="modSp mod">
        <pc:chgData name="SC22D012-Manoj Kaushik 2022-PHD-Earth&amp;SpaceScience" userId="78d50035-fc00-4ea2-995b-b881e10649a1" providerId="ADAL" clId="{29B47332-549A-4FC0-A3ED-D31212E60846}" dt="2026-07-29T02:13:51.670" v="37" actId="20577"/>
        <pc:sldMkLst>
          <pc:docMk/>
          <pc:sldMk cId="0" sldId="261"/>
        </pc:sldMkLst>
        <pc:spChg chg="mod">
          <ac:chgData name="SC22D012-Manoj Kaushik 2022-PHD-Earth&amp;SpaceScience" userId="78d50035-fc00-4ea2-995b-b881e10649a1" providerId="ADAL" clId="{29B47332-549A-4FC0-A3ED-D31212E60846}" dt="2026-07-29T02:13:51.670" v="37" actId="20577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13:58.751" v="39" actId="20577"/>
        <pc:sldMkLst>
          <pc:docMk/>
          <pc:sldMk cId="0" sldId="262"/>
        </pc:sldMkLst>
        <pc:spChg chg="mod">
          <ac:chgData name="SC22D012-Manoj Kaushik 2022-PHD-Earth&amp;SpaceScience" userId="78d50035-fc00-4ea2-995b-b881e10649a1" providerId="ADAL" clId="{29B47332-549A-4FC0-A3ED-D31212E60846}" dt="2026-07-29T02:13:58.751" v="39" actId="20577"/>
          <ac:spMkLst>
            <pc:docMk/>
            <pc:sldMk cId="0" sldId="262"/>
            <ac:spMk id="6" creationId="{00000000-0000-0000-0000-000000000000}"/>
          </ac:spMkLst>
        </pc:spChg>
      </pc:sldChg>
      <pc:sldChg chg="addSp delSp modSp mod">
        <pc:chgData name="SC22D012-Manoj Kaushik 2022-PHD-Earth&amp;SpaceScience" userId="78d50035-fc00-4ea2-995b-b881e10649a1" providerId="ADAL" clId="{29B47332-549A-4FC0-A3ED-D31212E60846}" dt="2026-07-29T02:14:06.601" v="41" actId="20577"/>
        <pc:sldMkLst>
          <pc:docMk/>
          <pc:sldMk cId="0" sldId="263"/>
        </pc:sldMkLst>
        <pc:spChg chg="mod">
          <ac:chgData name="SC22D012-Manoj Kaushik 2022-PHD-Earth&amp;SpaceScience" userId="78d50035-fc00-4ea2-995b-b881e10649a1" providerId="ADAL" clId="{29B47332-549A-4FC0-A3ED-D31212E60846}" dt="2026-07-29T02:14:06.601" v="41" actId="20577"/>
          <ac:spMkLst>
            <pc:docMk/>
            <pc:sldMk cId="0" sldId="263"/>
            <ac:spMk id="6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29T02:02:41.535" v="19" actId="478"/>
          <ac:spMkLst>
            <pc:docMk/>
            <pc:sldMk cId="0" sldId="263"/>
            <ac:spMk id="8" creationId="{00000000-0000-0000-0000-000000000000}"/>
          </ac:spMkLst>
        </pc:spChg>
        <pc:graphicFrameChg chg="mod">
          <ac:chgData name="SC22D012-Manoj Kaushik 2022-PHD-Earth&amp;SpaceScience" userId="78d50035-fc00-4ea2-995b-b881e10649a1" providerId="ADAL" clId="{29B47332-549A-4FC0-A3ED-D31212E60846}" dt="2026-07-29T02:03:06.066" v="31" actId="1035"/>
          <ac:graphicFrameMkLst>
            <pc:docMk/>
            <pc:sldMk cId="0" sldId="263"/>
            <ac:graphicFrameMk id="9" creationId="{00000000-0000-0000-0000-000000000000}"/>
          </ac:graphicFrameMkLst>
        </pc:graphicFrameChg>
        <pc:graphicFrameChg chg="add mod">
          <ac:chgData name="SC22D012-Manoj Kaushik 2022-PHD-Earth&amp;SpaceScience" userId="78d50035-fc00-4ea2-995b-b881e10649a1" providerId="ADAL" clId="{29B47332-549A-4FC0-A3ED-D31212E60846}" dt="2026-07-29T02:02:51.315" v="21" actId="1076"/>
          <ac:graphicFrameMkLst>
            <pc:docMk/>
            <pc:sldMk cId="0" sldId="263"/>
            <ac:graphicFrameMk id="12" creationId="{BEF8BDAF-0E4E-D856-3DE8-B9F2D878063B}"/>
          </ac:graphicFrameMkLst>
        </pc:graphicFrameChg>
      </pc:sldChg>
      <pc:sldChg chg="modSp mod">
        <pc:chgData name="SC22D012-Manoj Kaushik 2022-PHD-Earth&amp;SpaceScience" userId="78d50035-fc00-4ea2-995b-b881e10649a1" providerId="ADAL" clId="{29B47332-549A-4FC0-A3ED-D31212E60846}" dt="2026-07-29T02:14:22.534" v="45" actId="20577"/>
        <pc:sldMkLst>
          <pc:docMk/>
          <pc:sldMk cId="0" sldId="264"/>
        </pc:sldMkLst>
        <pc:spChg chg="mod">
          <ac:chgData name="SC22D012-Manoj Kaushik 2022-PHD-Earth&amp;SpaceScience" userId="78d50035-fc00-4ea2-995b-b881e10649a1" providerId="ADAL" clId="{29B47332-549A-4FC0-A3ED-D31212E60846}" dt="2026-07-29T02:14:22.534" v="45" actId="20577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14:38.878" v="49" actId="20577"/>
        <pc:sldMkLst>
          <pc:docMk/>
          <pc:sldMk cId="0" sldId="266"/>
        </pc:sldMkLst>
        <pc:spChg chg="mod">
          <ac:chgData name="SC22D012-Manoj Kaushik 2022-PHD-Earth&amp;SpaceScience" userId="78d50035-fc00-4ea2-995b-b881e10649a1" providerId="ADAL" clId="{29B47332-549A-4FC0-A3ED-D31212E60846}" dt="2026-07-29T02:14:38.878" v="49" actId="20577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14:45.975" v="51" actId="20577"/>
        <pc:sldMkLst>
          <pc:docMk/>
          <pc:sldMk cId="0" sldId="267"/>
        </pc:sldMkLst>
        <pc:spChg chg="mod">
          <ac:chgData name="SC22D012-Manoj Kaushik 2022-PHD-Earth&amp;SpaceScience" userId="78d50035-fc00-4ea2-995b-b881e10649a1" providerId="ADAL" clId="{29B47332-549A-4FC0-A3ED-D31212E60846}" dt="2026-07-29T02:14:45.975" v="51" actId="20577"/>
          <ac:spMkLst>
            <pc:docMk/>
            <pc:sldMk cId="0" sldId="267"/>
            <ac:spMk id="6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14:57.501" v="55" actId="20577"/>
        <pc:sldMkLst>
          <pc:docMk/>
          <pc:sldMk cId="0" sldId="268"/>
        </pc:sldMkLst>
        <pc:spChg chg="mod">
          <ac:chgData name="SC22D012-Manoj Kaushik 2022-PHD-Earth&amp;SpaceScience" userId="78d50035-fc00-4ea2-995b-b881e10649a1" providerId="ADAL" clId="{29B47332-549A-4FC0-A3ED-D31212E60846}" dt="2026-07-29T02:14:57.501" v="55" actId="20577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20:10.515" v="73" actId="20577"/>
        <pc:sldMkLst>
          <pc:docMk/>
          <pc:sldMk cId="0" sldId="269"/>
        </pc:sldMkLst>
        <pc:spChg chg="mod">
          <ac:chgData name="SC22D012-Manoj Kaushik 2022-PHD-Earth&amp;SpaceScience" userId="78d50035-fc00-4ea2-995b-b881e10649a1" providerId="ADAL" clId="{29B47332-549A-4FC0-A3ED-D31212E60846}" dt="2026-07-29T02:19:49.730" v="72" actId="404"/>
          <ac:spMkLst>
            <pc:docMk/>
            <pc:sldMk cId="0" sldId="269"/>
            <ac:spMk id="7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9T02:20:10.515" v="73" actId="20577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15:22.474" v="64" actId="20577"/>
        <pc:sldMkLst>
          <pc:docMk/>
          <pc:sldMk cId="0" sldId="271"/>
        </pc:sldMkLst>
        <pc:spChg chg="mod">
          <ac:chgData name="SC22D012-Manoj Kaushik 2022-PHD-Earth&amp;SpaceScience" userId="78d50035-fc00-4ea2-995b-b881e10649a1" providerId="ADAL" clId="{29B47332-549A-4FC0-A3ED-D31212E60846}" dt="2026-07-29T02:15:22.474" v="64" actId="20577"/>
          <ac:spMkLst>
            <pc:docMk/>
            <pc:sldMk cId="0" sldId="271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15:35.736" v="68" actId="20577"/>
        <pc:sldMkLst>
          <pc:docMk/>
          <pc:sldMk cId="0" sldId="272"/>
        </pc:sldMkLst>
        <pc:spChg chg="mod">
          <ac:chgData name="SC22D012-Manoj Kaushik 2022-PHD-Earth&amp;SpaceScience" userId="78d50035-fc00-4ea2-995b-b881e10649a1" providerId="ADAL" clId="{29B47332-549A-4FC0-A3ED-D31212E60846}" dt="2026-07-29T02:15:35.736" v="68" actId="20577"/>
          <ac:spMkLst>
            <pc:docMk/>
            <pc:sldMk cId="0" sldId="272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02:22:58.962" v="93" actId="20577"/>
        <pc:sldMkLst>
          <pc:docMk/>
          <pc:sldMk cId="0" sldId="273"/>
        </pc:sldMkLst>
        <pc:spChg chg="mod">
          <ac:chgData name="SC22D012-Manoj Kaushik 2022-PHD-Earth&amp;SpaceScience" userId="78d50035-fc00-4ea2-995b-b881e10649a1" providerId="ADAL" clId="{29B47332-549A-4FC0-A3ED-D31212E60846}" dt="2026-07-29T02:22:58.962" v="93" actId="20577"/>
          <ac:spMkLst>
            <pc:docMk/>
            <pc:sldMk cId="0" sldId="27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5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115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Lectures 6 &amp;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Measuring Bias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Defining Fairness in 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subgroup analysis and confusion-matrix measures that detect bias, to the formal group and individual notions of fairness that define what a fair outcome should look like.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work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Subgroup Analysis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work/ico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Confusion-Matrix Metrics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/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Fairness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work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Fairness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This combined session bridges bias detection (Lecture 6) with fairness theory (Lecture 7) in the approved Unit I sequence.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Lectures 6 &amp;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we in Unit I?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97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1: Introduction to AI ethics, Responsible AI and ethical AI development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2: Ethics, morality, law and fundamental ethical principles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3: Common ethical dilemmas and stakeholder-oriented ethical analysis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4: Historical, data, sampling, measurement and label bias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5: Algorithmic, interactional, feedback-loop and deployment bias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Lectures 6 &amp; 7 (Today): Detecting bias with subgroup analysis and confusion-matrix measures; defining group and individual fairness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This session spans two lecture slots — pace roughly 20–22 minutes per topic, or split across two class periods as scheduled.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Lectures 6 &amp;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Outcomes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 subgroup analysis to detect performance gaps hidden by overall accuracy.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confusion-matrix-based measures — TPR, FPR and FNR — for each subgroup.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 numerical evidence of bias using a worked example.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group fairness (demographic parity, equal opportunity, equalized odds) and individual fairness.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fairness notions and recognise the trade-offs between them.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Emphasise that detection (Lecture 6) motivates the formal fairness definitions (Lecture 7) — one leads into the other.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What is Subgroup Analysis?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Subgroup analysis evaluates model performance separately for defined groups </a:t>
            </a:r>
            <a:r>
              <a:rPr lang="en-US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such as gender, age or region - instead of relying on one overall average.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model can look highly accurate overall while performing poorly for a particular subgroup.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Groups are usually defined using protected or sensitive attributes relevant to the application.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goal is to surface disparities in accuracy, error rates or outcomes before a model is deployed.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Contrast one aggregate accuracy figure with subgroup-wise accuracy to show how averages can hide bias.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Confusion Matrix Recap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subgroup-wise bias measure is built from one tool: the confusion matrix of a binary classifier (e.g., loan approved / not approved).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540019"/>
              </p:ext>
            </p:extLst>
          </p:nvPr>
        </p:nvGraphicFramePr>
        <p:xfrm>
          <a:off x="1463040" y="2331720"/>
          <a:ext cx="9235440" cy="19202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Predicted: Positive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Predicted: Negative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Actual: Positive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 - True Positive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FN - False Negative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Actual: Negative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 - False Positive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TN - </a:t>
                      </a: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True Negative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Draw the 2x2 confusion matrix on the board before introducing its subgroup-wise version.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Confusion-Matrix-Based Bias Measures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Positive Rate  FPR = FP / (FP + TN)  - how often the model wrongly predicts the positive outcome.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Negative Rate  FNR = FN / (FN + TP)  - how often the model misses a true positive.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Positive Rate  TPR = TP / (TP + FN)  - also called recall or sensitivity.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large gap in these rates between subgroups signals potential bias, even when overall accuracy looks high.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Ask which rate matters most in a given application — e.g., FNR is critical in medical screening.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Worked Example - Scenario Setup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bank's AI model predicts loan approval. We evaluate it on 200 test applicants split into two demographic groups of 100 each, with 40 genuinely creditworthy applicants per group.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60320"/>
          <a:ext cx="10972800" cy="1737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Sample Size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Actually Creditworthy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B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Keep the numbers simple and round so students can verify each calculation in class.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Worked Example - Computing the Metrics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the confusion-matrix values from the previous slide: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453023"/>
              </p:ext>
            </p:extLst>
          </p:nvPr>
        </p:nvGraphicFramePr>
        <p:xfrm>
          <a:off x="1074420" y="4073652"/>
          <a:ext cx="9601200" cy="2423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TPR (Recall)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32/40 = 80%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20/40 = 50%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 pts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12/60 = 20%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12/60 = 20%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pts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FNR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8/40 = 20%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20/40 = 50%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 pts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BEF8BDAF-0E4E-D856-3DE8-B9F2D8780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162178"/>
              </p:ext>
            </p:extLst>
          </p:nvPr>
        </p:nvGraphicFramePr>
        <p:xfrm>
          <a:off x="594360" y="1975104"/>
          <a:ext cx="10972800" cy="1737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Sample Size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Actually Creditworthy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B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Interpreting Bias from the Numbers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groups share the same FPR (20%) - but TPR and FNR differ sharply between them.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creditworthy Group B applicant is far more likely to be wrongly denied a loan: FNR of 50% versus 20% for Group 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 FPR alone does not guarantee a fair outcome - the TPR/FNR gap reveals unequal opportunity.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numeric gap is exactly what the group-fairness definitions in the next part are designed to formalise and measure.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This slide is the pivot point of the session — bias detection leads directly into the fairness definitions next.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Tools for Bias Detection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Fairlearn (Microsoft): a Python library for assessing and mitigating fairness issues in ML models.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IBM AI Fairness 360 (AIF360): an open-source toolkit offering 70+ fairness metrics and bias-mitigation algorithms.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Aequitas: an audit toolkit that generates subgroup-wise bias reports directly from model predictions.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tools automate the same subgroup and confusion-matrix analysis performed manually in this lecture.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Mention that these tools resurface in the Unit IV self-learning assignment alongside LIME and SHAP.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From Detecting Bias to Defining Fairness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Detecting a numeric gap tells us bias exists - it does not tell us what a "fair" outcome should look like.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Fairness in AI is the formal, mathematical attempt to define equitable treatment across individuals and groups.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single universal definition of fairness - the appropriate notion depends on context and stakes.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rest of this session introduces the two broad families: group fairness and individual fairness.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Stress that choosing a fairness definition is a value judgement, not a purely technical decision.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Group Fairness - Demographic Parity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fairness checks whether a chosen statistical measure is equal across defined subgroups.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Demographic parity (statistical parity): the positive-prediction rate should be equal across groups, regardless of actual outcomes.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Formally: P(prediction = positive | Group A) = P(prediction = positive | Group B).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Limitation: demographic parity can conflict with accuracy when groups genuinely differ in their base rates.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Link back to the worked example — ask whether Group A and B would need equal approval rates.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Equal Opportunity &amp; Equalized Odds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 opportunity: TPR should be equal across groups - qualified individuals get an equal chance of a positive outcome.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Equalized odds: both TPR and FPR should be equal across groups - a stricter condition than equal opportunity alone.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definitions directly reuse the confusion-matrix measures computed earlier in this session.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deeper look at these metrics and their trade-offs follows in Lecture 8.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Keep this introductory — the full trade-off analysis is reserved for Lecture 8, so avoid over-extending here.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Individual Fairness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fairness requires that similar individuals receive similar predictions, regardless of group membership.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Fairness is defined at the level of a person, not a demographic category.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depends on a similarity metric - deciding which individuals count as "similar" is itself a design choice.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fairness can conflict with group fairness even when both are pursued in good faith.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Two applicants with near-identical profiles should receive near-identical decisions.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Choosing the Right Fairness Notion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3931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Fairness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Individual Fairness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Focus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Subgroups defined by sensitive attributes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Similarity between individuals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Question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Are outcomes balanced across groups?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Are similar people treated similarly?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Common Metrics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Demographic parity, equal opportunity, equalized odds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Similarity-based consistency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 Risk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 still treat some individuals within a group unfairly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 allow group-level disparities to persist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Ask students which notion suits a hiring AI versus a healthcare triage AI, and why.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Lectures 6 &amp;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Classroom Activity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 groups of 3- 4 students.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the worked loan-approval example from this session (or choose a new AI system).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the subgroup-wise TPR, FPR and FNR for the given numbers.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Decide which group-fairness notion - demographic parity, equal opportunity or equalized odds - is satisfied or violated.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group shares one key finding in 1 minute.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This activity checks whether students can move from numeric detection to a fairness judgement.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Lectures 6 &amp;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 and Exit Questions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97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Subgroup analysis reveals performance gaps that overall accuracy can hide; TPR, FPR and FNR quantify them numerically.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fairness - demographic parity, equal opportunity, equalized odds - formalises equitable treatment across groups.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fairness requires that similar people receive similar outcomes.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can two groups share equal FPR but have very different FNR?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What is the difference between equal opportunity and equalized odds?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Give one example where individual and group fairness might conflict.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Lecture: Fairness metrics and trade-offs — equal opportunity, equalized odds and predictive parity.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82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Lectures 6 &amp;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Self-Learning &amp; Team Activity (Unit I)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Self-Learning Activity: Review a real AI failure and identify the ethical issue, source of bias, affected stakeholders and relevant fairness concerns.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Activity: Analyse an AI application used in daily life and propose measures to make it fairer and safer.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Suggested reading: Denis Rothman, "Hands-On Explainable AI (XAI) with Python" (Packt, 2020); Fairlearn and AIF360 documentation. </a:t>
            </a:r>
            <a:r>
              <a:rPr lang="en-US" sz="180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Link: </a:t>
            </a:r>
            <a:r>
              <a:rPr lang="en-US">
                <a:solidFill>
                  <a:srgbClr val="3333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</a:t>
            </a:r>
            <a:r>
              <a:rPr lang="en-US" dirty="0">
                <a:solidFill>
                  <a:srgbClr val="3333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://aif360.readthedocs.io/en/stable/</a:t>
            </a:r>
            <a:endParaRPr lang="en-US" sz="1800" dirty="0">
              <a:solidFill>
                <a:srgbClr val="3333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cue: These are the official Unit I self-learning and team activities — assign as homework or an in-class wrap-up.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1984</Words>
  <Application>Microsoft Office PowerPoint</Application>
  <PresentationFormat>Widescreen</PresentationFormat>
  <Paragraphs>301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1</cp:revision>
  <dcterms:created xsi:type="dcterms:W3CDTF">2026-07-27T01:49:29Z</dcterms:created>
  <dcterms:modified xsi:type="dcterms:W3CDTF">2026-07-29T02:23:02Z</dcterms:modified>
</cp:coreProperties>
</file>