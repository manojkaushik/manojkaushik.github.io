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undo custSel modSld">
      <pc:chgData name="SC22D012-Manoj Kaushik 2022-PHD-Earth&amp;SpaceScience" userId="78d50035-fc00-4ea2-995b-b881e10649a1" providerId="ADAL" clId="{275C7A75-CDE0-511A-B56E-A781402A3859}" dt="2026-08-13T10:42:09.119" v="28" actId="34476"/>
      <pc:docMkLst>
        <pc:docMk/>
      </pc:docMkLst>
      <pc:sldChg chg="modSp mod">
        <pc:chgData name="SC22D012-Manoj Kaushik 2022-PHD-Earth&amp;SpaceScience" userId="78d50035-fc00-4ea2-995b-b881e10649a1" providerId="ADAL" clId="{275C7A75-CDE0-511A-B56E-A781402A3859}" dt="2026-08-13T10:39:21.589" v="9" actId="1035"/>
        <pc:sldMkLst>
          <pc:docMk/>
          <pc:sldMk cId="0" sldId="260"/>
        </pc:sldMkLst>
        <pc:spChg chg="mod">
          <ac:chgData name="SC22D012-Manoj Kaushik 2022-PHD-Earth&amp;SpaceScience" userId="78d50035-fc00-4ea2-995b-b881e10649a1" providerId="ADAL" clId="{275C7A75-CDE0-511A-B56E-A781402A3859}" dt="2026-08-13T10:39:21.589" v="9" actId="1035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3T10:39:21.589" v="9" actId="1035"/>
          <ac:spMkLst>
            <pc:docMk/>
            <pc:sldMk cId="0" sldId="260"/>
            <ac:spMk id="12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75C7A75-CDE0-511A-B56E-A781402A3859}" dt="2026-08-13T10:40:00.216" v="10" actId="14100"/>
        <pc:sldMkLst>
          <pc:docMk/>
          <pc:sldMk cId="0" sldId="261"/>
        </pc:sldMkLst>
        <pc:spChg chg="mod">
          <ac:chgData name="SC22D012-Manoj Kaushik 2022-PHD-Earth&amp;SpaceScience" userId="78d50035-fc00-4ea2-995b-b881e10649a1" providerId="ADAL" clId="{275C7A75-CDE0-511A-B56E-A781402A3859}" dt="2026-08-13T10:40:00.216" v="10" actId="14100"/>
          <ac:spMkLst>
            <pc:docMk/>
            <pc:sldMk cId="0" sldId="261"/>
            <ac:spMk id="6" creationId="{00000000-0000-0000-0000-000000000000}"/>
          </ac:spMkLst>
        </pc:spChg>
      </pc:sldChg>
      <pc:sldChg chg="modSp mod modShow">
        <pc:chgData name="SC22D012-Manoj Kaushik 2022-PHD-Earth&amp;SpaceScience" userId="78d50035-fc00-4ea2-995b-b881e10649a1" providerId="ADAL" clId="{275C7A75-CDE0-511A-B56E-A781402A3859}" dt="2026-08-13T10:42:09.119" v="28" actId="34476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75C7A75-CDE0-511A-B56E-A781402A3859}" dt="2026-08-13T10:41:11.361" v="26" actId="1036"/>
          <ac:spMkLst>
            <pc:docMk/>
            <pc:sldMk cId="0" sldId="262"/>
            <ac:spMk id="9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3T10:41:11.361" v="26" actId="103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3T10:41:11.361" v="26" actId="103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3T10:41:11.361" v="26" actId="1036"/>
          <ac:spMkLst>
            <pc:docMk/>
            <pc:sldMk cId="0" sldId="262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7535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lecture on linked lists proper. Students have already met nodes twice — linked stack (L9), linked queue (L14 Part C) — but always wrapped inside a bigger structure. Today the list itself is the star: no push, no enqueue, just nodes and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the linked stack (Lecture 9) and the linked queue (Lecture 14, Part C). Today generalises that idea, stripped of any push/pop or enqueue/dequeue discipline — just the list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scattered-memory picture explicitly: unlike an array, node 20 might live at a much lower or higher address than node 10. Only the pointers create the order — physical memory layout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deliberate repetition — by the third time seeing this exact struct, it should feel completely automatic. If it does not yet, this is the moment to re-explain the self-referential pointer.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stackPush (Node, Lecture 9) and qEnqueue (Node, Lecture 14). Every malloc so far has created exactly the struct on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NULL guard pattern seen inside stackPush and qEnqueue, now shown standalone as its own topic rather than buried inside a bigger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one-node list — a completely valid linked list, just a short one. Emphasise: a linked list of size 1 needs no special case in this code, unlike some array edge cases seen earlier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line, head-&gt;next = second, IS linking in its purest form — no push/pop machinery around it. Make sure students see this is the same idea as node-&gt;next = s-&gt;top from the linked stack, just written the other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third-&gt;next — always the CURRENT last node. This observation is exactly what Lecture 16 turns into a loop using a 'tail' or 'current' pointer instead of hand-naming head/second/third.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it becomes unreachable — nothing in the program points at it any more, so it can never be freed. This is the linked list's version of the stack's 'link first, then move' trap: losing the one pointer that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is the single most important pattern for the rest of the unit — creation, searching, insertion, and deletion in Lectures 16-18 are all variations of this walk. Have students recite the three loop parts from memory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 recall check: ask students to name which row explains why Lecture 11's queue had the false-overflow problem (row 1, fixed size) and why the linked queue in L14 did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answer: struct Node *fourth = malloc(sizeof(struct Node)); fourth-&gt;data = 40; fourth-&gt;next = NULL; third-&gt;next = fourth; — identical pattern to steps 2 and 3, reinforcing that the pattern repeats indefinitely, which is precisely what Lecture 16's loop automates.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Linked Lists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Structure &amp; Dynamic Memory Allocation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 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3794760"/>
            <a:ext cx="91440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938528" y="379476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71600" y="37947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38528" y="3794760"/>
            <a:ext cx="347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88920" y="3794760"/>
            <a:ext cx="9144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55848" y="379476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88920" y="37947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3794760"/>
            <a:ext cx="347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06240" y="3794760"/>
            <a:ext cx="9144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73168" y="379476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06240" y="37947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73168" y="3794760"/>
            <a:ext cx="347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1188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66360" y="37947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the two things arrays cannot do well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369417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1: fixed size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arr[100]; commits to 100 slots whether you use them or not. Too small and you're stuck; too big and you waste memory.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28032" y="1307592"/>
            <a:ext cx="369417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2: costly insert/delete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Inserting in the middle means SHIFTING every element after it — O(n) work just to make room.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saw the array's answer to problem 1 fail: Lecture 11's linear queue ran out of room on the right while the left sat empty.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list solves BOTH problems at once: it grows one node at a time, and inserting is just rewiring two pointers — no shifting.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built a chain of malloc'd nodes twice this unit. Where?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linked list?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09728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28954" y="1645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68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28954" y="1645920"/>
            <a:ext cx="4169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0972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46274" y="1645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965960" y="1645920"/>
            <a:ext cx="68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46274" y="1645920"/>
            <a:ext cx="4169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10972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63594" y="1645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83280" y="1645920"/>
            <a:ext cx="68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3594" y="1645920"/>
            <a:ext cx="4169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16459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16459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343400" y="16459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1280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| link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49240" y="1325880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of NODES, each storing data plus the address of the next node.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list is reachable from ONE pointer, called head.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node's link is NULL — the signpost that says "stop here".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NOT next to each other in memory — only the arrows make it a sequence.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24612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1792" y="3319272"/>
            <a:ext cx="79004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to note: a linked list is a linear collection of nodes, where each node points to the next, and the list is accessed through a single head pointer.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node: one struct, two jobs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554480"/>
          </a:xfrm>
          <a:prstGeom prst="roundRect">
            <a:avLst>
              <a:gd name="adj" fmla="val 41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data;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*next;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holds the actual value — here a plain int, but it could be any type.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holds the ADDRESS of the following node, or NULL if this is the last one.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 Node *next is legal INSIDE the struct's own definition because a pointer only needs to know an address's size, not the whole struct's size.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977640" cy="1554480"/>
          </a:xfrm>
          <a:prstGeom prst="roundRect">
            <a:avLst>
              <a:gd name="adj" fmla="val 4118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73752" y="1307592"/>
            <a:ext cx="36484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you built before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the linked stack's Node (L9) and the linked queue's Node (L14). This struct is the one idea underneath every linked structure in the course.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memory allocation: the concept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828800"/>
          </a:xfrm>
          <a:prstGeom prst="roundRect">
            <a:avLst>
              <a:gd name="adj" fmla="val 350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369417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(arrays)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arr[100];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fixed at COMPILE time. Memory reserved the moment the program starts, whether used or not.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828800"/>
          </a:xfrm>
          <a:prstGeom prst="roundRect">
            <a:avLst>
              <a:gd name="adj" fmla="val 35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28032" y="1307592"/>
            <a:ext cx="369417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(linked list)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malloc(...)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requested at RUN time, exactly when a node is needed. The program decides its own memory size while running.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comes from a region called the HEAP — separate from the stack where ordinary local variables live.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 matter: malloc (request memory), free (return memory), and the NULL check (did the request succeed?).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343398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434339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used malloc twice already this unit. In which two functions, and for which struct?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malloc( ) up close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2294313"/>
          </a:xfrm>
          <a:prstGeom prst="roundRect">
            <a:avLst>
              <a:gd name="adj" fmla="val 2333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*head;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= malloc(sizeof(struct Node));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(head == NULL)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printf("Allocation failed\n");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1;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sizeof(struct Node) tells malloc exactly how many bytes one node needs.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 returns the ADDRESS of that memory — store it in a pointer.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 can fail (heap exhausted) and returns NULL — always check before using the pointer.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0" y="3703320"/>
            <a:ext cx="3200400" cy="960120"/>
          </a:xfrm>
          <a:prstGeom prst="roundRect">
            <a:avLst>
              <a:gd name="adj" fmla="val 666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50992" y="3776472"/>
            <a:ext cx="2871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#include &lt;stdlib.h&gt; is required — that is where malloc and free are declared.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list by hand — step 1: one node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754880" cy="1737360"/>
          </a:xfrm>
          <a:prstGeom prst="roundRect">
            <a:avLst>
              <a:gd name="adj" fmla="val 36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*head = NULL;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= malloc(sizeof(struct Node));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head-&gt;data = 10;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NULL;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3246120"/>
            <a:ext cx="128016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08099" y="32461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7936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08099" y="3246120"/>
            <a:ext cx="4864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3246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49240" y="132588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starts as NULL — no list yet, exactly like top = NULL or front = NULL before.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malloc creates one node.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= NULL because right now this node is BOTH the first and the last.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add a second node by hand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120640" cy="1965960"/>
          </a:xfrm>
          <a:prstGeom prst="roundRect">
            <a:avLst>
              <a:gd name="adj" fmla="val 3256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*second =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malloc(sizeof(struct Node));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second-&gt;data = 20;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second-&gt;next = NULL;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second;   /* link them */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3246120"/>
            <a:ext cx="118872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51406" y="32461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7370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51406" y="3246120"/>
            <a:ext cx="4517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246120"/>
            <a:ext cx="11887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51606" y="32461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14600" y="3246120"/>
            <a:ext cx="7370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51606" y="3246120"/>
            <a:ext cx="4517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03120" y="32461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794760" y="3246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2880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57800" y="1371600"/>
            <a:ext cx="3429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is built exactly like head was — malloc, fill data, next = NULL.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new line: head-&gt;next = second. This is what turns two separate nodes into one connected list.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head itself never changes — it still points at the node holding 10.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a third node completes the list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120640" cy="1965960"/>
          </a:xfrm>
          <a:prstGeom prst="roundRect">
            <a:avLst>
              <a:gd name="adj" fmla="val 3256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*third =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malloc(sizeof(struct Node));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third-&gt;data = 30;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third-&gt;next = NULL;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second-&gt;next = third;   /* link them */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3246120"/>
            <a:ext cx="118872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51406" y="32461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7370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51406" y="3246120"/>
            <a:ext cx="4517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246120"/>
            <a:ext cx="11887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51606" y="32461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14600" y="3246120"/>
            <a:ext cx="7370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51606" y="3246120"/>
            <a:ext cx="4517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0" y="3246120"/>
            <a:ext cx="11887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51806" y="32461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0" y="3246120"/>
            <a:ext cx="7370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1806" y="3246120"/>
            <a:ext cx="4517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03120" y="32461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03320" y="32461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94960" y="3246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880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57800" y="14630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 third time: malloc, fill, link the PREVIOUS node to this one.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3-node list needed exactly 3 mallocs and 2 linking lines — the pattern scales by repetition, which is exactly what a loop will do in Lecture 16.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57800" y="3977640"/>
            <a:ext cx="3429000" cy="777240"/>
          </a:xfrm>
          <a:prstGeom prst="roundRect">
            <a:avLst>
              <a:gd name="adj" fmla="val 8235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40680" y="39776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a FOURTH node, which single pointer's -&gt;next would you set?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head is the only pointer you must never lose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188720"/>
          </a:xfrm>
          <a:prstGeom prst="roundRect">
            <a:avLst>
              <a:gd name="adj" fmla="val 53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79004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list lives behind one address
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and third are just local variables — useful for building the list by hand, but not required to KEEP it. Once head-&gt;next-&gt;next reaches node 3, second and third can disappear and the list is still complete and reachable.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head-&gt;data is 10.  head-&gt;next-&gt;data is 20.  head-&gt;next-&gt;next-&gt;data is 30.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head is ever overwritten or lost, EVERY node becomes unreachable memory — not deleted, just lost (a memory leak).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the same responsibility top carried for the stack, and front carried for the queue.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wrote head = second; right now, what happens to the node holding 10?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Traversal: the loop that replaces hand-naming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2377440"/>
          </a:xfrm>
          <a:prstGeom prst="roundRect">
            <a:avLst>
              <a:gd name="adj" fmla="val 269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(struct Node *p = head;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 != NULL;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 = p-&gt;next)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printf("%d -&gt; ", p-&gt;data);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printf("NULL\n");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is a temporary walking pointer — head itself never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head, stop when NULL is reached, step forward with p = p-&gt;next each time.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loop pattern from stackDisplay (L9) and qDisplay (L14) — same idea, no stack or queue rules attached.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3867912"/>
            <a:ext cx="79004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 our 3-node list: 10 -&gt; 20 -&gt; 30 -&gt; NULL — verified by compiling and running this exact code.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 vs Linked List — the comparison that started today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 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at compile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one node at a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layout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Contiguous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Scattered, joined by pointers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element 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arr[i] — O(1)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 from head — O(n)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/ delete middle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elements — O(n)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Rewire two pointers — O(1) once 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memory per element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pointer (next)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wins outright — each is faster at exactly what the other is slow at. Lecture 16 builds this properly with a loop.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Nodes, links, and one pointer called head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list is a chain of nodes (data + next), reachable through a single head pointer, ending in NULL.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 requests heap memory at run time; always check for NULL before using the result.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is one line: previousNode-&gt;next = newNode — building a list is just repeating this pattern.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head loses the entire list (a memory leak) — it is the one pointer that must never be overwritten carelessly.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 walks with a temporary pointer, head untouched — the pattern every future list operation builds 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7863840" cy="914400"/>
          </a:xfrm>
          <a:prstGeom prst="roundRect">
            <a:avLst>
              <a:gd name="adj" fmla="val 7000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388620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hand, write the malloc + linking code for a 4th node holding 40, added after the node holding 30.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280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building lists with a loop, traversal, and searching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2151</Words>
  <Application>Microsoft Macintosh PowerPoint</Application>
  <PresentationFormat>On-screen Show (16:9)</PresentationFormat>
  <Paragraphs>227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2026-08-13T10:20:19Z</dcterms:created>
  <dcterms:modified xsi:type="dcterms:W3CDTF">2026-08-13T10:42:11Z</dcterms:modified>
</cp:coreProperties>
</file>