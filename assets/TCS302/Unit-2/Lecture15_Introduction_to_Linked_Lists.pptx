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4" d="100"/>
          <a:sy n="154" d="100"/>
        </p:scale>
        <p:origin x="46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C22D012-Manoj Kaushik 2022-PHD-Earth&amp;SpaceScience" userId="78d50035-fc00-4ea2-995b-b881e10649a1" providerId="ADAL" clId="{275C7A75-CDE0-511A-B56E-A781402A3859}"/>
    <pc:docChg chg="undo custSel modSld">
      <pc:chgData name="SC22D012-Manoj Kaushik 2022-PHD-Earth&amp;SpaceScience" userId="78d50035-fc00-4ea2-995b-b881e10649a1" providerId="ADAL" clId="{275C7A75-CDE0-511A-B56E-A781402A3859}" dt="2026-08-13T10:42:09.119" v="28" actId="34476"/>
      <pc:docMkLst>
        <pc:docMk/>
      </pc:docMkLst>
      <pc:sldChg chg="modSp mod">
        <pc:chgData name="SC22D012-Manoj Kaushik 2022-PHD-Earth&amp;SpaceScience" userId="78d50035-fc00-4ea2-995b-b881e10649a1" providerId="ADAL" clId="{275C7A75-CDE0-511A-B56E-A781402A3859}" dt="2026-08-13T10:39:21.589" v="9" actId="1035"/>
        <pc:sldMkLst>
          <pc:docMk/>
          <pc:sldMk cId="0" sldId="260"/>
        </pc:sldMkLst>
        <pc:spChg chg="mod">
          <ac:chgData name="SC22D012-Manoj Kaushik 2022-PHD-Earth&amp;SpaceScience" userId="78d50035-fc00-4ea2-995b-b881e10649a1" providerId="ADAL" clId="{275C7A75-CDE0-511A-B56E-A781402A3859}" dt="2026-08-13T10:39:21.589" v="9" actId="1035"/>
          <ac:spMkLst>
            <pc:docMk/>
            <pc:sldMk cId="0" sldId="260"/>
            <ac:spMk id="11" creationId="{00000000-0000-0000-0000-000000000000}"/>
          </ac:spMkLst>
        </pc:spChg>
        <pc:spChg chg="mod">
          <ac:chgData name="SC22D012-Manoj Kaushik 2022-PHD-Earth&amp;SpaceScience" userId="78d50035-fc00-4ea2-995b-b881e10649a1" providerId="ADAL" clId="{275C7A75-CDE0-511A-B56E-A781402A3859}" dt="2026-08-13T10:39:21.589" v="9" actId="1035"/>
          <ac:spMkLst>
            <pc:docMk/>
            <pc:sldMk cId="0" sldId="260"/>
            <ac:spMk id="12" creationId="{00000000-0000-0000-0000-000000000000}"/>
          </ac:spMkLst>
        </pc:spChg>
      </pc:sldChg>
      <pc:sldChg chg="modSp mod">
        <pc:chgData name="SC22D012-Manoj Kaushik 2022-PHD-Earth&amp;SpaceScience" userId="78d50035-fc00-4ea2-995b-b881e10649a1" providerId="ADAL" clId="{275C7A75-CDE0-511A-B56E-A781402A3859}" dt="2026-08-13T10:40:00.216" v="10" actId="14100"/>
        <pc:sldMkLst>
          <pc:docMk/>
          <pc:sldMk cId="0" sldId="261"/>
        </pc:sldMkLst>
        <pc:spChg chg="mod">
          <ac:chgData name="SC22D012-Manoj Kaushik 2022-PHD-Earth&amp;SpaceScience" userId="78d50035-fc00-4ea2-995b-b881e10649a1" providerId="ADAL" clId="{275C7A75-CDE0-511A-B56E-A781402A3859}" dt="2026-08-13T10:40:00.216" v="10" actId="14100"/>
          <ac:spMkLst>
            <pc:docMk/>
            <pc:sldMk cId="0" sldId="261"/>
            <ac:spMk id="6" creationId="{00000000-0000-0000-0000-000000000000}"/>
          </ac:spMkLst>
        </pc:spChg>
      </pc:sldChg>
      <pc:sldChg chg="modSp mod modShow">
        <pc:chgData name="SC22D012-Manoj Kaushik 2022-PHD-Earth&amp;SpaceScience" userId="78d50035-fc00-4ea2-995b-b881e10649a1" providerId="ADAL" clId="{275C7A75-CDE0-511A-B56E-A781402A3859}" dt="2026-08-13T10:42:09.119" v="28" actId="34476"/>
        <pc:sldMkLst>
          <pc:docMk/>
          <pc:sldMk cId="0" sldId="262"/>
        </pc:sldMkLst>
        <pc:spChg chg="mod">
          <ac:chgData name="SC22D012-Manoj Kaushik 2022-PHD-Earth&amp;SpaceScience" userId="78d50035-fc00-4ea2-995b-b881e10649a1" providerId="ADAL" clId="{275C7A75-CDE0-511A-B56E-A781402A3859}" dt="2026-08-13T10:41:11.361" v="26" actId="1036"/>
          <ac:spMkLst>
            <pc:docMk/>
            <pc:sldMk cId="0" sldId="262"/>
            <ac:spMk id="9" creationId="{00000000-0000-0000-0000-000000000000}"/>
          </ac:spMkLst>
        </pc:spChg>
        <pc:spChg chg="mod">
          <ac:chgData name="SC22D012-Manoj Kaushik 2022-PHD-Earth&amp;SpaceScience" userId="78d50035-fc00-4ea2-995b-b881e10649a1" providerId="ADAL" clId="{275C7A75-CDE0-511A-B56E-A781402A3859}" dt="2026-08-13T10:41:11.361" v="26" actId="1036"/>
          <ac:spMkLst>
            <pc:docMk/>
            <pc:sldMk cId="0" sldId="262"/>
            <ac:spMk id="10" creationId="{00000000-0000-0000-0000-000000000000}"/>
          </ac:spMkLst>
        </pc:spChg>
        <pc:spChg chg="mod">
          <ac:chgData name="SC22D012-Manoj Kaushik 2022-PHD-Earth&amp;SpaceScience" userId="78d50035-fc00-4ea2-995b-b881e10649a1" providerId="ADAL" clId="{275C7A75-CDE0-511A-B56E-A781402A3859}" dt="2026-08-13T10:41:11.361" v="26" actId="1036"/>
          <ac:spMkLst>
            <pc:docMk/>
            <pc:sldMk cId="0" sldId="262"/>
            <ac:spMk id="12" creationId="{00000000-0000-0000-0000-000000000000}"/>
          </ac:spMkLst>
        </pc:spChg>
        <pc:spChg chg="mod">
          <ac:chgData name="SC22D012-Manoj Kaushik 2022-PHD-Earth&amp;SpaceScience" userId="78d50035-fc00-4ea2-995b-b881e10649a1" providerId="ADAL" clId="{275C7A75-CDE0-511A-B56E-A781402A3859}" dt="2026-08-13T10:41:11.361" v="26" actId="1036"/>
          <ac:spMkLst>
            <pc:docMk/>
            <pc:sldMk cId="0" sldId="262"/>
            <ac:spMk id="1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7535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 lecture on linked lists proper. Students have already met nodes twice — linked stack (L9), linked queue (L14 Part C) — but always wrapped inside a bigger structure. Today the list itself is the star: no push, no enqueue, just nodes and links.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answer: the linked stack (Lecture 9) and the linked queue (Lecture 14, Part C). Today generalises that idea, stripped of any push/pop or enqueue/dequeue discipline — just the list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the scattered-memory picture explicitly: unlike an array, node 20 might live at a much lower or higher address than node 10. Only the pointers create the order — physical memory layout does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deliberate repetition — by the third time seeing this exact struct, it should feel completely automatic. If it does not yet, this is the moment to re-explain the self-referential pointer.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answer: stackPush (Node, Lecture 9) and qEnqueue (Node, Lecture 14). Every malloc so far has created exactly the struct on the previous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same NULL guard pattern seen inside stackPush and qEnqueue, now shown standalone as its own topic rather than buried inside a bigger function.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one-node list — a completely valid linked list, just a short one. Emphasise: a linked list of size 1 needs no special case in this code, unlike some array edge cases seen earlier in the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single line, head-&gt;next = second, IS linking in its purest form — no push/pop machinery around it. Make sure students see this is the same idea as node-&gt;next = s-&gt;top from the linked stack, just written the other direction.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answer: third-&gt;next — always the CURRENT last node. This observation is exactly what Lecture 16 turns into a loop using a 'tail' or 'current' pointer instead of hand-naming head/second/third.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answer: it becomes unreachable — nothing in the program points at it any more, so it can never be freed. This is the linked list's version of the stack's 'link first, then move' trap: losing the one pointer that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loop is the single most important pattern for the rest of the unit — creation, searching, insertion, and deletion in Lectures 16-18 are all variations of this walk. Have students recite the three loop parts from memory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Fast recall check: ask students to name which row explains why Lecture 11's queue had the false-overflow problem (row 1, fixed size) and why the linked queue in L14 did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ticket answer: struct Node *fourth = malloc(sizeof(struct Node)); fourth-&gt;data = 40; fourth-&gt;next = NULL; third-&gt;next = fourth; — identical pattern to steps 2 and 3, reinforcing that the pattern repeats indefinitely, which is precisely what Lecture 16's loop automates.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77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 •  DATA STRUCTURES WITH C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Linked Lists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Structure &amp; Dynamic Memory Allocation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II  •  Lecture 15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371600" y="3794760"/>
            <a:ext cx="914400" cy="502920"/>
          </a:xfrm>
          <a:prstGeom prst="rect">
            <a:avLst/>
          </a:prstGeom>
          <a:solidFill>
            <a:srgbClr val="D4A017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938528" y="3794760"/>
            <a:ext cx="0" cy="502920"/>
          </a:xfrm>
          <a:prstGeom prst="line">
            <a:avLst/>
          </a:prstGeom>
          <a:noFill/>
          <a:ln w="952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371600" y="3794760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938528" y="3794760"/>
            <a:ext cx="347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88920" y="3794760"/>
            <a:ext cx="91440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355848" y="3794760"/>
            <a:ext cx="0" cy="502920"/>
          </a:xfrm>
          <a:prstGeom prst="line">
            <a:avLst/>
          </a:prstGeom>
          <a:noFill/>
          <a:ln w="952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88920" y="3794760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55848" y="3794760"/>
            <a:ext cx="347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206240" y="3794760"/>
            <a:ext cx="91440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773168" y="3794760"/>
            <a:ext cx="0" cy="502920"/>
          </a:xfrm>
          <a:prstGeom prst="line">
            <a:avLst/>
          </a:prstGeom>
          <a:noFill/>
          <a:ln w="952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206240" y="3794760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73168" y="3794760"/>
            <a:ext cx="347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19456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61188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166360" y="379476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NULL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371600" y="34290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Recap: the two things arrays cannot do well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 •  UNIT 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023360" cy="1737360"/>
          </a:xfrm>
          <a:prstGeom prst="roundRect">
            <a:avLst>
              <a:gd name="adj" fmla="val 3684"/>
            </a:avLst>
          </a:prstGeom>
          <a:solidFill>
            <a:srgbClr val="F0F7F7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21792" y="1307592"/>
            <a:ext cx="3694176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1: fixed size
</a:t>
            </a: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arr[100]; commits to 100 slots whether you use them or not. Too small and you're stuck; too big and you waste memory.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663440" y="1234440"/>
            <a:ext cx="4023360" cy="1737360"/>
          </a:xfrm>
          <a:prstGeom prst="roundRect">
            <a:avLst>
              <a:gd name="adj" fmla="val 3684"/>
            </a:avLst>
          </a:prstGeom>
          <a:solidFill>
            <a:srgbClr val="FBF5E6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28032" y="1307592"/>
            <a:ext cx="3694176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2: costly insert/delete
</a:t>
            </a: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Inserting in the middle means SHIFTING every element after it — O(n) work just to make room.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3200400"/>
            <a:ext cx="8229600" cy="1022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already saw the array's answer to problem 1 fail: Lecture 11's linear queue ran out of room on the right while the left sat empty.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linked list solves BOTH problems at once: it grows one node at a time, and inserting is just rewiring two pointers — no shifting.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linked list?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 •  UNIT 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1097280" cy="502920"/>
          </a:xfrm>
          <a:prstGeom prst="rect">
            <a:avLst/>
          </a:prstGeom>
          <a:solidFill>
            <a:srgbClr val="D4A017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228954" y="1645920"/>
            <a:ext cx="0" cy="502920"/>
          </a:xfrm>
          <a:prstGeom prst="line">
            <a:avLst/>
          </a:prstGeom>
          <a:noFill/>
          <a:ln w="952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1645920"/>
            <a:ext cx="68031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28954" y="1645920"/>
            <a:ext cx="41696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965960" y="1645920"/>
            <a:ext cx="109728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646274" y="1645920"/>
            <a:ext cx="0" cy="502920"/>
          </a:xfrm>
          <a:prstGeom prst="line">
            <a:avLst/>
          </a:prstGeom>
          <a:noFill/>
          <a:ln w="952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965960" y="1645920"/>
            <a:ext cx="68031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46274" y="1645920"/>
            <a:ext cx="41696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383280" y="1645920"/>
            <a:ext cx="109728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063594" y="1645920"/>
            <a:ext cx="0" cy="502920"/>
          </a:xfrm>
          <a:prstGeom prst="line">
            <a:avLst/>
          </a:prstGeom>
          <a:noFill/>
          <a:ln w="952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383280" y="1645920"/>
            <a:ext cx="68031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063594" y="1645920"/>
            <a:ext cx="41696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691640" y="1645920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108960" y="1645920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343400" y="164592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NULL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1280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22128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| link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349240" y="1325880"/>
            <a:ext cx="3337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sequence of NODES, each storing data plus the address of the next node.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list is reachable from ONE pointer, called head.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node's link is NULL — the signpost that says "stop here".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are NOT next to each other in memory — only the arrows make it a sequence.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57200" y="3246120"/>
            <a:ext cx="8229600" cy="685800"/>
          </a:xfrm>
          <a:prstGeom prst="roundRect">
            <a:avLst>
              <a:gd name="adj" fmla="val 9333"/>
            </a:avLst>
          </a:prstGeom>
          <a:solidFill>
            <a:srgbClr val="F0F7F7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21792" y="3319272"/>
            <a:ext cx="790041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to note: a linked list is a linear collection of nodes, where each node points to the next, and the list is accessed through a single head pointer.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node: one struct, two jobs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 •  UNIT 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023360" cy="1554480"/>
          </a:xfrm>
          <a:prstGeom prst="roundRect">
            <a:avLst>
              <a:gd name="adj" fmla="val 4118"/>
            </a:avLst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32588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Node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data;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struct Node *next;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97180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holds the actual value — here a plain int, but it could be any type.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holds the ADDRESS of the following node, or NULL if this is the last one.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 Node *next is legal INSIDE the struct's own definition because a pointer only needs to know an address's size, not the whole struct's size.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709160" y="1234440"/>
            <a:ext cx="3977640" cy="1554480"/>
          </a:xfrm>
          <a:prstGeom prst="roundRect">
            <a:avLst>
              <a:gd name="adj" fmla="val 4118"/>
            </a:avLst>
          </a:prstGeom>
          <a:solidFill>
            <a:srgbClr val="FBF5E6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73752" y="1307592"/>
            <a:ext cx="3648456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what you built before
</a:t>
            </a: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shape as the linked stack's Node (L9) and the linked queue's Node (L14). This struct is the one idea underneath every linked structure in the course.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memory allocation: the concept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 •  UNIT 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023360" cy="1828800"/>
          </a:xfrm>
          <a:prstGeom prst="roundRect">
            <a:avLst>
              <a:gd name="adj" fmla="val 3500"/>
            </a:avLst>
          </a:prstGeom>
          <a:solidFill>
            <a:srgbClr val="F0F7F7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21792" y="1307592"/>
            <a:ext cx="3694176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(arrays)
</a:t>
            </a: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arr[100];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fixed at COMPILE time. Memory reserved the moment the program starts, whether used or not.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663440" y="1234440"/>
            <a:ext cx="4023360" cy="1828800"/>
          </a:xfrm>
          <a:prstGeom prst="roundRect">
            <a:avLst>
              <a:gd name="adj" fmla="val 3500"/>
            </a:avLst>
          </a:prstGeom>
          <a:solidFill>
            <a:srgbClr val="FBF5E6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28032" y="1307592"/>
            <a:ext cx="3694176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(linked list)
</a:t>
            </a: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malloc(...)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requested at RUN time, exactly when a node is needed. The program decides its own memory size while running.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32004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memory comes from a region called the HEAP — separate from the stack where ordinary local variables live.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functions matter: malloc (request memory), free (return memory), and the NULL check (did the request succeed?).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malloc( ) up close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 •  UNIT 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754880" cy="2294313"/>
          </a:xfrm>
          <a:prstGeom prst="roundRect">
            <a:avLst>
              <a:gd name="adj" fmla="val 2333"/>
            </a:avLst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280160"/>
            <a:ext cx="4480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Node *head;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 = malloc(sizeof(struct Node));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(head == NULL)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printf("Allocation failed\n");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1;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0" y="1325880"/>
            <a:ext cx="3200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sizeof(struct Node) tells malloc exactly how many bytes one node needs.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malloc returns the ADDRESS of that memory — store it in a pointer.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malloc can fail (heap exhausted) and returns NULL — always check before using the pointer.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0" y="3703320"/>
            <a:ext cx="3200400" cy="960120"/>
          </a:xfrm>
          <a:prstGeom prst="roundRect">
            <a:avLst>
              <a:gd name="adj" fmla="val 6667"/>
            </a:avLst>
          </a:prstGeom>
          <a:solidFill>
            <a:srgbClr val="F0F7F7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650992" y="3776472"/>
            <a:ext cx="287121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#include &lt;stdlib.h&gt; is required — that is where malloc and free are declared.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the list by hand — step 1: one node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 •  UNIT 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754880" cy="1737360"/>
          </a:xfrm>
          <a:prstGeom prst="roundRect">
            <a:avLst>
              <a:gd name="adj" fmla="val 3684"/>
            </a:avLst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325880"/>
            <a:ext cx="4480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Node *head = NULL;</a:t>
            </a:r>
            <a:endParaRPr lang="en-US" sz="1350" dirty="0"/>
          </a:p>
          <a:p>
            <a:pPr marL="0" indent="0">
              <a:lnSpc>
                <a:spcPct val="100000"/>
              </a:lnSpc>
              <a:buNone/>
            </a:pPr>
            <a:endParaRPr lang="en-US" sz="13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 = malloc(sizeof(struct Node));</a:t>
            </a:r>
            <a:endParaRPr lang="en-US" sz="13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head-&gt;data = 10;</a:t>
            </a:r>
            <a:endParaRPr lang="en-US" sz="13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head-&gt;next = NULL;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14400" y="3246120"/>
            <a:ext cx="1280160" cy="502920"/>
          </a:xfrm>
          <a:prstGeom prst="rect">
            <a:avLst/>
          </a:prstGeom>
          <a:solidFill>
            <a:srgbClr val="D4A017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708099" y="3246120"/>
            <a:ext cx="0" cy="502920"/>
          </a:xfrm>
          <a:prstGeom prst="line">
            <a:avLst/>
          </a:prstGeom>
          <a:noFill/>
          <a:ln w="952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14400" y="3246120"/>
            <a:ext cx="79369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708099" y="3246120"/>
            <a:ext cx="48646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286000" y="32461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NULL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3017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49240" y="1325880"/>
            <a:ext cx="3337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starts as NULL — no list yet, exactly like top = NULL or front = NULL before.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malloc creates one node.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= NULL because right now this node is BOTH the first and the last.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2: add a second node by hand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 •  UNIT 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5120640" cy="1965960"/>
          </a:xfrm>
          <a:prstGeom prst="roundRect">
            <a:avLst>
              <a:gd name="adj" fmla="val 3256"/>
            </a:avLst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325880"/>
            <a:ext cx="48463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Node *second =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malloc(sizeof(struct Node));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second-&gt;data = 20;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second-&gt;next = NULL;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head-&gt;next = second;   /* link them */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914400" y="3703321"/>
            <a:ext cx="1188720" cy="502920"/>
          </a:xfrm>
          <a:prstGeom prst="rect">
            <a:avLst/>
          </a:prstGeom>
          <a:solidFill>
            <a:srgbClr val="D4A017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651406" y="3703321"/>
            <a:ext cx="0" cy="502920"/>
          </a:xfrm>
          <a:prstGeom prst="line">
            <a:avLst/>
          </a:prstGeom>
          <a:noFill/>
          <a:ln w="952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14400" y="3703321"/>
            <a:ext cx="7370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51406" y="3703321"/>
            <a:ext cx="45171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514600" y="3703321"/>
            <a:ext cx="118872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51606" y="3703321"/>
            <a:ext cx="0" cy="502920"/>
          </a:xfrm>
          <a:prstGeom prst="line">
            <a:avLst/>
          </a:prstGeom>
          <a:noFill/>
          <a:ln w="952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514600" y="3703321"/>
            <a:ext cx="7370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51606" y="3703321"/>
            <a:ext cx="45171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103120" y="3703321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794760" y="3703321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NULL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3337561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715000" y="1371600"/>
            <a:ext cx="2971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is built exactly like head was — malloc, fill data, next = NULL.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new line: head-&gt;next = second. This is what turns two separate nodes into one connected list.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head itself never changes — it still points at the node holding 10.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3: a third node completes the list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 •  UNIT 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5120640" cy="1965960"/>
          </a:xfrm>
          <a:prstGeom prst="roundRect">
            <a:avLst>
              <a:gd name="adj" fmla="val 3256"/>
            </a:avLst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325880"/>
            <a:ext cx="48463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Node *third =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malloc(sizeof(struct Node));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third-&gt;data = 30;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third-&gt;next = NULL;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second-&gt;next = third;   /* link them */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914400" y="3695008"/>
            <a:ext cx="1188720" cy="502920"/>
          </a:xfrm>
          <a:prstGeom prst="rect">
            <a:avLst/>
          </a:prstGeom>
          <a:solidFill>
            <a:srgbClr val="D4A017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651406" y="3695008"/>
            <a:ext cx="0" cy="502920"/>
          </a:xfrm>
          <a:prstGeom prst="line">
            <a:avLst/>
          </a:prstGeom>
          <a:noFill/>
          <a:ln w="952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14400" y="3695008"/>
            <a:ext cx="7370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51406" y="3695008"/>
            <a:ext cx="45171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514600" y="3695008"/>
            <a:ext cx="118872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51606" y="3695008"/>
            <a:ext cx="0" cy="502920"/>
          </a:xfrm>
          <a:prstGeom prst="line">
            <a:avLst/>
          </a:prstGeom>
          <a:noFill/>
          <a:ln w="952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514600" y="3695008"/>
            <a:ext cx="7370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51606" y="3695008"/>
            <a:ext cx="45171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114800" y="3695008"/>
            <a:ext cx="118872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851806" y="3695008"/>
            <a:ext cx="0" cy="502920"/>
          </a:xfrm>
          <a:prstGeom prst="line">
            <a:avLst/>
          </a:prstGeom>
          <a:noFill/>
          <a:ln w="952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114800" y="3695008"/>
            <a:ext cx="7370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51806" y="3695008"/>
            <a:ext cx="45171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103120" y="36950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703320" y="36950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94960" y="369500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NULL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4400" y="332924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892392" y="1463040"/>
            <a:ext cx="2794407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pattern a third time: malloc, fill, link the PREVIOUS node to this one.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3-node list needed exactly 3 mallocs and 2 linking lines — the pattern scales by repetition, which is exactly what a loop will do in Lecture 16.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head is the only pointer you must never lose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 •  UNIT 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21476"/>
            <a:ext cx="8229600" cy="764771"/>
          </a:xfrm>
          <a:prstGeom prst="roundRect">
            <a:avLst>
              <a:gd name="adj" fmla="val 5385"/>
            </a:avLst>
          </a:prstGeom>
          <a:solidFill>
            <a:srgbClr val="FBF5E6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21792" y="1307592"/>
            <a:ext cx="790041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list lives behind one address
</a:t>
            </a: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and third are just local variables — useful for building the list by hand, but not required to KEEP it. Once head-&gt;next-&gt;next reaches node 3, second and third can disappear and the list is still complete and reachable.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head-&gt;data is 10.  head-&gt;next-&gt;data is 20.  head-&gt;next-&gt;next-&gt;data is 30.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head is ever overwritten or lost, EVERY node becomes unreachable memory — not deleted, just lost (a memory leak).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the same responsibility top carried for the stack, and front carried for the queue.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Traversal: the loop that replaces hand-naming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 •  UNIT 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754880" cy="2377440"/>
          </a:xfrm>
          <a:prstGeom prst="roundRect">
            <a:avLst>
              <a:gd name="adj" fmla="val 2692"/>
            </a:avLst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280160"/>
            <a:ext cx="4480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(struct Node *p = head;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p != NULL;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p = p-&gt;next)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printf("%d -&gt; ", p-&gt;data);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printf("NULL\n");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0" y="1325880"/>
            <a:ext cx="3200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is a temporary walking pointer — head itself never moves.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at head, stop when NULL is reached, step forward with p = p-&gt;next each time.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the loop pattern from stackDisplay (L9) and qDisplay (L14) — same idea, no stack or queue rules attached.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3794760"/>
            <a:ext cx="8229600" cy="822960"/>
          </a:xfrm>
          <a:prstGeom prst="roundRect">
            <a:avLst>
              <a:gd name="adj" fmla="val 7778"/>
            </a:avLst>
          </a:prstGeom>
          <a:solidFill>
            <a:srgbClr val="F0F7F7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21792" y="3867912"/>
            <a:ext cx="790041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for our 3-node list: 10 -&gt; 20 -&gt; 30 -&gt; NULL — verified by compiling and running this exact code.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 vs Linked List — the comparison that started today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 •  UNIT 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3072384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Array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Linked List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at compile time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Grows one node at a time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 layout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Contiguous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Scattered, joined by pointers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 element 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arr[i] — O(1)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Walk from head — O(n)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 / delete middle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Shift elements — O(n)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Rewire two pointers — O(1) once found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 memory per element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pointer (next)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wins outright — each is faster at exactly what the other is slow at. Lecture 16 builds this properly with a loop.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15  •  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Nodes, links, and one pointer called head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863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linked list is a chain of nodes (data + next), reachable through a single head pointer, ending in NULL.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malloc requests heap memory at run time; always check for NULL before using the result.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Linking is one line: previousNode-&gt;next = newNode — building a list is just repeating this pattern.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Losing head loses the entire list (a memory leak) — it is the one pointer that must never be overwritten carelessly.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Traversal walks with a temporary pointer, head untouched — the pattern every future list operation builds 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3794760"/>
            <a:ext cx="7863840" cy="914400"/>
          </a:xfrm>
          <a:prstGeom prst="roundRect">
            <a:avLst>
              <a:gd name="adj" fmla="val 7000"/>
            </a:avLst>
          </a:prstGeom>
          <a:solidFill>
            <a:srgbClr val="2A3575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3886200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 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hand, write the malloc + linking code for a 4th node holding 40, added after the node holding 30.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2068</Words>
  <Application>Microsoft Macintosh PowerPoint</Application>
  <PresentationFormat>On-screen Show (16:9)</PresentationFormat>
  <Paragraphs>222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SC22D012-Manoj Kaushik 2022-PHD-Earth&amp;SpaceScience</cp:lastModifiedBy>
  <cp:revision>3</cp:revision>
  <dcterms:created xsi:type="dcterms:W3CDTF">2026-08-13T10:20:19Z</dcterms:created>
  <dcterms:modified xsi:type="dcterms:W3CDTF">2026-09-03T10:44:23Z</dcterms:modified>
</cp:coreProperties>
</file>